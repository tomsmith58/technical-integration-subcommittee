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2.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3.xml" ContentType="application/vnd.openxmlformats-officedocument.theme+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28" r:id="rId2"/>
    <p:sldMasterId id="2147483766" r:id="rId3"/>
    <p:sldMasterId id="2147483800" r:id="rId4"/>
  </p:sldMasterIdLst>
  <p:notesMasterIdLst>
    <p:notesMasterId r:id="rId84"/>
  </p:notesMasterIdLst>
  <p:sldIdLst>
    <p:sldId id="4222" r:id="rId5"/>
    <p:sldId id="2147436096" r:id="rId6"/>
    <p:sldId id="4187" r:id="rId7"/>
    <p:sldId id="2142532103" r:id="rId8"/>
    <p:sldId id="4035" r:id="rId9"/>
    <p:sldId id="4192" r:id="rId10"/>
    <p:sldId id="4191" r:id="rId11"/>
    <p:sldId id="329" r:id="rId12"/>
    <p:sldId id="2147436086" r:id="rId13"/>
    <p:sldId id="2147436102" r:id="rId14"/>
    <p:sldId id="25399" r:id="rId15"/>
    <p:sldId id="290" r:id="rId16"/>
    <p:sldId id="318" r:id="rId17"/>
    <p:sldId id="2147436097" r:id="rId18"/>
    <p:sldId id="320" r:id="rId19"/>
    <p:sldId id="2147436105" r:id="rId20"/>
    <p:sldId id="2147436106" r:id="rId21"/>
    <p:sldId id="2147436109" r:id="rId22"/>
    <p:sldId id="2147436110" r:id="rId23"/>
    <p:sldId id="2147436111" r:id="rId24"/>
    <p:sldId id="2147436112" r:id="rId25"/>
    <p:sldId id="2147436113" r:id="rId26"/>
    <p:sldId id="2147436114" r:id="rId27"/>
    <p:sldId id="2147436115" r:id="rId28"/>
    <p:sldId id="2147436116" r:id="rId29"/>
    <p:sldId id="4226" r:id="rId30"/>
    <p:sldId id="4224" r:id="rId31"/>
    <p:sldId id="2147436117" r:id="rId32"/>
    <p:sldId id="2147436118" r:id="rId33"/>
    <p:sldId id="2147436119" r:id="rId34"/>
    <p:sldId id="2147436120" r:id="rId35"/>
    <p:sldId id="2147436107" r:id="rId36"/>
    <p:sldId id="2147436108" r:id="rId37"/>
    <p:sldId id="2147436221" r:id="rId38"/>
    <p:sldId id="25395" r:id="rId39"/>
    <p:sldId id="2098149020" r:id="rId40"/>
    <p:sldId id="2147436186" r:id="rId41"/>
    <p:sldId id="258" r:id="rId42"/>
    <p:sldId id="2147436167" r:id="rId43"/>
    <p:sldId id="2147436178" r:id="rId44"/>
    <p:sldId id="2147436189" r:id="rId45"/>
    <p:sldId id="2147436181" r:id="rId46"/>
    <p:sldId id="2147436180" r:id="rId47"/>
    <p:sldId id="2147436191" r:id="rId48"/>
    <p:sldId id="2147436211" r:id="rId49"/>
    <p:sldId id="2147436188" r:id="rId50"/>
    <p:sldId id="25378" r:id="rId51"/>
    <p:sldId id="25389" r:id="rId52"/>
    <p:sldId id="2147436220" r:id="rId53"/>
    <p:sldId id="272" r:id="rId54"/>
    <p:sldId id="2147436217" r:id="rId55"/>
    <p:sldId id="2147436216" r:id="rId56"/>
    <p:sldId id="2147436205" r:id="rId57"/>
    <p:sldId id="2147436203" r:id="rId58"/>
    <p:sldId id="273" r:id="rId59"/>
    <p:sldId id="410" r:id="rId60"/>
    <p:sldId id="416" r:id="rId61"/>
    <p:sldId id="408" r:id="rId62"/>
    <p:sldId id="2147436212" r:id="rId63"/>
    <p:sldId id="2147436090" r:id="rId64"/>
    <p:sldId id="2147436218" r:id="rId65"/>
    <p:sldId id="2147436219" r:id="rId66"/>
    <p:sldId id="2147436206" r:id="rId67"/>
    <p:sldId id="2147436207" r:id="rId68"/>
    <p:sldId id="2147436099" r:id="rId69"/>
    <p:sldId id="2147436100" r:id="rId70"/>
    <p:sldId id="2147436209" r:id="rId71"/>
    <p:sldId id="2147436091" r:id="rId72"/>
    <p:sldId id="2098149024" r:id="rId73"/>
    <p:sldId id="332" r:id="rId74"/>
    <p:sldId id="417" r:id="rId75"/>
    <p:sldId id="269" r:id="rId76"/>
    <p:sldId id="4188" r:id="rId77"/>
    <p:sldId id="280" r:id="rId78"/>
    <p:sldId id="279" r:id="rId79"/>
    <p:sldId id="287" r:id="rId80"/>
    <p:sldId id="284" r:id="rId81"/>
    <p:sldId id="285" r:id="rId82"/>
    <p:sldId id="281"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A88434-E061-34C3-AD8D-8A2EBDB21C45}" name="Dr. Lesley A Weitz" initials="LW" userId="S::LWEITZ@MITRE.ORG::6ed395b4-86dc-4bcd-9616-33b40b23faa6" providerId="AD"/>
  <p188:author id="{C8C28282-375F-F7C7-DB95-1A9271E957F3}" name="Michael Lagana" initials="ML" userId="S::michaell_aiaa.org#ext#@aiaateams.onmicrosoft.com::874ed2dd-6046-4b00-b035-148755e206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BFBFBF"/>
    <a:srgbClr val="76B2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6068" autoAdjust="0"/>
  </p:normalViewPr>
  <p:slideViewPr>
    <p:cSldViewPr snapToGrid="0">
      <p:cViewPr varScale="1">
        <p:scale>
          <a:sx n="102" d="100"/>
          <a:sy n="102" d="100"/>
        </p:scale>
        <p:origin x="81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notesMaster" Target="notesMasters/notesMaster1.xml"/><Relationship Id="rId89" Type="http://schemas.microsoft.com/office/2018/10/relationships/authors" Target="author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9E27C5-DC2A-4320-A8CC-CB6A707BD8C6}" type="datetimeFigureOut">
              <a:rPr lang="en-US" smtClean="0"/>
              <a:t>5/20/2026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22D7E0-4B34-44FA-A16E-D54AB2ED5975}" type="slidenum">
              <a:rPr lang="en-US" smtClean="0"/>
              <a:t>‹#›</a:t>
            </a:fld>
            <a:endParaRPr lang="en-US" dirty="0"/>
          </a:p>
        </p:txBody>
      </p:sp>
    </p:spTree>
    <p:extLst>
      <p:ext uri="{BB962C8B-B14F-4D97-AF65-F5344CB8AC3E}">
        <p14:creationId xmlns:p14="http://schemas.microsoft.com/office/powerpoint/2010/main" val="890698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7B05DEF-6DE7-4BF9-8DBB-FF904A788E50}" type="slidenum">
              <a:rPr kumimoji="0" lang="en-US" sz="1200" b="0" i="0" u="none" strike="noStrike" kern="1200" cap="none" spc="0" normalizeH="0" baseline="0" noProof="0" smtClean="0">
                <a:ln>
                  <a:noFill/>
                </a:ln>
                <a:solidFill>
                  <a:srgbClr val="000000"/>
                </a:solidFill>
                <a:effectLst/>
                <a:uLnTx/>
                <a:uFillTx/>
                <a:latin typeface="Arial" charset="0"/>
                <a:ea typeface="ＭＳ Ｐゴシック" pitchFamily="80"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US" sz="12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endParaRPr>
          </a:p>
        </p:txBody>
      </p:sp>
    </p:spTree>
    <p:extLst>
      <p:ext uri="{BB962C8B-B14F-4D97-AF65-F5344CB8AC3E}">
        <p14:creationId xmlns:p14="http://schemas.microsoft.com/office/powerpoint/2010/main" val="3459500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7B05DEF-6DE7-4BF9-8DBB-FF904A788E50}" type="slidenum">
              <a:rPr kumimoji="0" lang="en-US" sz="1200" b="0" i="0" u="none" strike="noStrike" kern="1200" cap="none" spc="0" normalizeH="0" baseline="0" noProof="0" smtClean="0">
                <a:ln>
                  <a:noFill/>
                </a:ln>
                <a:solidFill>
                  <a:srgbClr val="000000"/>
                </a:solidFill>
                <a:effectLst/>
                <a:uLnTx/>
                <a:uFillTx/>
                <a:latin typeface="Arial" charset="0"/>
                <a:ea typeface="ＭＳ Ｐゴシック" pitchFamily="80"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en-US" sz="12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endParaRPr>
          </a:p>
        </p:txBody>
      </p:sp>
    </p:spTree>
    <p:extLst>
      <p:ext uri="{BB962C8B-B14F-4D97-AF65-F5344CB8AC3E}">
        <p14:creationId xmlns:p14="http://schemas.microsoft.com/office/powerpoint/2010/main" val="512304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endParaRPr lang="en-US" dirty="0"/>
          </a:p>
          <a:p>
            <a:pPr>
              <a:defRPr/>
            </a:pPr>
            <a:r>
              <a:rPr lang="en-US" dirty="0"/>
              <a:t>                                                  </a:t>
            </a:r>
          </a:p>
        </p:txBody>
      </p:sp>
      <p:sp>
        <p:nvSpPr>
          <p:cNvPr id="5" name="Footer Placeholder 4"/>
          <p:cNvSpPr>
            <a:spLocks noGrp="1"/>
          </p:cNvSpPr>
          <p:nvPr>
            <p:ph type="ftr" sz="quarter" idx="4"/>
          </p:nvPr>
        </p:nvSpPr>
        <p:spPr/>
        <p:txBody>
          <a:bodyPr/>
          <a:lstStyle/>
          <a:p>
            <a:pPr>
              <a:defRPr/>
            </a:pPr>
            <a:r>
              <a:rPr lang="en-US" dirty="0"/>
              <a:t>                                  </a:t>
            </a:r>
          </a:p>
        </p:txBody>
      </p:sp>
      <p:sp>
        <p:nvSpPr>
          <p:cNvPr id="6" name="Slide Number Placeholder 5"/>
          <p:cNvSpPr>
            <a:spLocks noGrp="1"/>
          </p:cNvSpPr>
          <p:nvPr>
            <p:ph type="sldNum" sz="quarter" idx="5"/>
          </p:nvPr>
        </p:nvSpPr>
        <p:spPr/>
        <p:txBody>
          <a:bodyPr/>
          <a:lstStyle/>
          <a:p>
            <a:pPr>
              <a:defRPr/>
            </a:pPr>
            <a:fld id="{B7B05DEF-6DE7-4BF9-8DBB-FF904A788E50}" type="slidenum">
              <a:rPr lang="en-US" smtClean="0"/>
              <a:pPr>
                <a:defRPr/>
              </a:pPr>
              <a:t>7</a:t>
            </a:fld>
            <a:endParaRPr lang="en-US" dirty="0"/>
          </a:p>
        </p:txBody>
      </p:sp>
    </p:spTree>
    <p:extLst>
      <p:ext uri="{BB962C8B-B14F-4D97-AF65-F5344CB8AC3E}">
        <p14:creationId xmlns:p14="http://schemas.microsoft.com/office/powerpoint/2010/main" val="934762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12D1A7-0F1D-4A40-88F4-52C9023A442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3431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buSzPts val="1000"/>
              <a:buFont typeface="Symbol" panose="05050102010706020507" pitchFamily="18" charset="2"/>
              <a:buNone/>
              <a:tabLst>
                <a:tab pos="457200" algn="l"/>
              </a:tabLst>
            </a:pPr>
            <a:endParaRPr lang="en-US" sz="1800" dirty="0">
              <a:effectLst/>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C737ED-91F0-304C-9BA9-15438344D6C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7447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midpoint of FY26, the Institute is in a strong financial position, delivering results on budget. The Institute Portfolio continues to materially exceed required reserves and provide significant growth in investment income.</a:t>
            </a:r>
          </a:p>
          <a:p>
            <a:r>
              <a:rPr lang="en-US" dirty="0"/>
              <a:t>Year‑to‑date operating revenue of $12.9M is fully on budget, with overall revenue consistent with prior year when adjusted for the DEFENSE timing difference. </a:t>
            </a:r>
          </a:p>
          <a:p>
            <a:r>
              <a:rPr lang="en-US" dirty="0"/>
              <a:t>First half expenses totaled $12.6M, coming in 1% better than budget and included some offsetting variances. Overall spending remains aligned with FY26 budget.</a:t>
            </a:r>
          </a:p>
          <a:p>
            <a:r>
              <a:rPr lang="en-US" dirty="0"/>
              <a:t>The resulting Net Revenue less Expense is </a:t>
            </a:r>
            <a:r>
              <a:rPr lang="en-US" b="1" dirty="0"/>
              <a:t>positive</a:t>
            </a:r>
            <a:r>
              <a:rPr lang="en-US" dirty="0"/>
              <a:t> and represents 2% of revenue.</a:t>
            </a:r>
          </a:p>
          <a:p>
            <a:r>
              <a:rPr lang="en-US" dirty="0"/>
              <a:t>Strategic initiatives funded from the portfolio totaled $951K in the first half of FY26 (38% of the approved $2.5M FY26 strategic initiative budget). Spending focused on the AMS system and international growth priorities, including support for the IAC 2029 bid.</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12D1A7-0F1D-4A40-88F4-52C9023A442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20645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Please designate someone from your TC to review membership applications, preferably your membership subcommittee chair. They can recruit 2-3 additional people to help.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12D1A7-0F1D-4A40-88F4-52C9023A442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14167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212121"/>
                </a:solidFill>
              </a:rPr>
              <a:t>We are looking for volunteers to help serve as Deputy Forum Technical Chairs (FTC) for AVIATION 2027.  The FTCs are responsible for coordinating the overall technical program, including ensuring all participating TCs have representation, managing session room allocations, and resolving scheduling conflicts across the program. Within their Group/IOD, FTCs help guide Deputy FTCs, assist with the Call for Papers process, and monitor progress on paper reviews, decisions, and session development. Please reach out to Michael Lagana if you are interested in serving as the Deputy for one of these areas in 2027 – with the position then serving as Forum Technical Chair in 2028.</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12D1A7-0F1D-4A40-88F4-52C9023A442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1065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7560A-FE67-9D7C-44D3-2F1509B12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804D9E-1434-103A-BB62-40A81EC8B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1B9C1-D78E-B5C9-8087-A3E1E97AF4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38A705-4D63-6A75-D00F-E97BDAD6BFE9}"/>
              </a:ext>
            </a:extLst>
          </p:cNvPr>
          <p:cNvSpPr>
            <a:spLocks noGrp="1"/>
          </p:cNvSpPr>
          <p:nvPr>
            <p:ph type="sldNum" sz="quarter" idx="5"/>
          </p:nvPr>
        </p:nvSpPr>
        <p:spPr/>
        <p:txBody>
          <a:bodyPr/>
          <a:lstStyle/>
          <a:p>
            <a:fld id="{7B12D1A7-0F1D-4A40-88F4-52C9023A4423}" type="slidenum">
              <a:rPr lang="en-US" smtClean="0"/>
              <a:t>49</a:t>
            </a:fld>
            <a:endParaRPr lang="en-US" dirty="0"/>
          </a:p>
        </p:txBody>
      </p:sp>
    </p:spTree>
    <p:extLst>
      <p:ext uri="{BB962C8B-B14F-4D97-AF65-F5344CB8AC3E}">
        <p14:creationId xmlns:p14="http://schemas.microsoft.com/office/powerpoint/2010/main" val="313916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A2D6B-18D8-53B6-9F3B-CC0BE6600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E4B22-4885-8AD8-57A6-2953415ADB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08AE0-1BF3-C289-F431-C30AB0346817}"/>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6A5B6D0A-7156-4C4F-7F51-BD2D59C46258}"/>
              </a:ext>
            </a:extLst>
          </p:cNvPr>
          <p:cNvSpPr>
            <a:spLocks noGrp="1"/>
          </p:cNvSpPr>
          <p:nvPr>
            <p:ph type="hdr" sz="quarter"/>
          </p:nvPr>
        </p:nvSpPr>
        <p:spPr/>
        <p:txBody>
          <a:bodyPr/>
          <a:lstStyle/>
          <a:p>
            <a:pPr>
              <a:defRPr/>
            </a:pPr>
            <a:endParaRPr lang="en-US" dirty="0"/>
          </a:p>
          <a:p>
            <a:pPr>
              <a:defRPr/>
            </a:pPr>
            <a:r>
              <a:rPr lang="en-US" dirty="0"/>
              <a:t>                                                  </a:t>
            </a:r>
          </a:p>
        </p:txBody>
      </p:sp>
      <p:sp>
        <p:nvSpPr>
          <p:cNvPr id="5" name="Footer Placeholder 4">
            <a:extLst>
              <a:ext uri="{FF2B5EF4-FFF2-40B4-BE49-F238E27FC236}">
                <a16:creationId xmlns:a16="http://schemas.microsoft.com/office/drawing/2014/main" id="{D6762117-EA18-B23F-C3B4-0520952E77C0}"/>
              </a:ext>
            </a:extLst>
          </p:cNvPr>
          <p:cNvSpPr>
            <a:spLocks noGrp="1"/>
          </p:cNvSpPr>
          <p:nvPr>
            <p:ph type="ftr" sz="quarter" idx="4"/>
          </p:nvPr>
        </p:nvSpPr>
        <p:spPr/>
        <p:txBody>
          <a:bodyPr/>
          <a:lstStyle/>
          <a:p>
            <a:pPr>
              <a:defRPr/>
            </a:pPr>
            <a:r>
              <a:rPr lang="en-US" dirty="0"/>
              <a:t>                                  </a:t>
            </a:r>
          </a:p>
        </p:txBody>
      </p:sp>
      <p:sp>
        <p:nvSpPr>
          <p:cNvPr id="6" name="Slide Number Placeholder 5">
            <a:extLst>
              <a:ext uri="{FF2B5EF4-FFF2-40B4-BE49-F238E27FC236}">
                <a16:creationId xmlns:a16="http://schemas.microsoft.com/office/drawing/2014/main" id="{65CCF86F-0DFD-C988-3DE1-0C52ACFEC584}"/>
              </a:ext>
            </a:extLst>
          </p:cNvPr>
          <p:cNvSpPr>
            <a:spLocks noGrp="1"/>
          </p:cNvSpPr>
          <p:nvPr>
            <p:ph type="sldNum" sz="quarter" idx="5"/>
          </p:nvPr>
        </p:nvSpPr>
        <p:spPr/>
        <p:txBody>
          <a:bodyPr/>
          <a:lstStyle/>
          <a:p>
            <a:pPr>
              <a:defRPr/>
            </a:pPr>
            <a:fld id="{B7B05DEF-6DE7-4BF9-8DBB-FF904A788E50}" type="slidenum">
              <a:rPr lang="en-US" smtClean="0"/>
              <a:pPr>
                <a:defRPr/>
              </a:pPr>
              <a:t>51</a:t>
            </a:fld>
            <a:endParaRPr lang="en-US" dirty="0"/>
          </a:p>
        </p:txBody>
      </p:sp>
    </p:spTree>
    <p:extLst>
      <p:ext uri="{BB962C8B-B14F-4D97-AF65-F5344CB8AC3E}">
        <p14:creationId xmlns:p14="http://schemas.microsoft.com/office/powerpoint/2010/main" val="24649718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12D1A7-0F1D-4A40-88F4-52C9023A442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52870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12D1A7-0F1D-4A40-88F4-52C9023A4423}" type="slidenum">
              <a:rPr lang="en-US" smtClean="0"/>
              <a:t>61</a:t>
            </a:fld>
            <a:endParaRPr lang="en-US" dirty="0"/>
          </a:p>
        </p:txBody>
      </p:sp>
    </p:spTree>
    <p:extLst>
      <p:ext uri="{BB962C8B-B14F-4D97-AF65-F5344CB8AC3E}">
        <p14:creationId xmlns:p14="http://schemas.microsoft.com/office/powerpoint/2010/main" val="1180112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12D1A7-0F1D-4A40-88F4-52C9023A442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96493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12D1A7-0F1D-4A40-88F4-52C9023A4423}" type="slidenum">
              <a:rPr lang="en-US" smtClean="0"/>
              <a:t>69</a:t>
            </a:fld>
            <a:endParaRPr lang="en-US" dirty="0"/>
          </a:p>
        </p:txBody>
      </p:sp>
    </p:spTree>
    <p:extLst>
      <p:ext uri="{BB962C8B-B14F-4D97-AF65-F5344CB8AC3E}">
        <p14:creationId xmlns:p14="http://schemas.microsoft.com/office/powerpoint/2010/main" val="3051132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3" name="Title 1">
            <a:extLst>
              <a:ext uri="{FF2B5EF4-FFF2-40B4-BE49-F238E27FC236}">
                <a16:creationId xmlns:a16="http://schemas.microsoft.com/office/drawing/2014/main" id="{BA0A17DC-774F-3210-530A-47E7C3473B84}"/>
              </a:ext>
            </a:extLst>
          </p:cNvPr>
          <p:cNvSpPr>
            <a:spLocks noGrp="1"/>
          </p:cNvSpPr>
          <p:nvPr>
            <p:ph type="title"/>
          </p:nvPr>
        </p:nvSpPr>
        <p:spPr>
          <a:xfrm>
            <a:off x="831849" y="2355743"/>
            <a:ext cx="8017683" cy="2445200"/>
          </a:xfrm>
          <a:prstGeom prst="rect">
            <a:avLst/>
          </a:prstGeom>
        </p:spPr>
        <p:txBody>
          <a:bodyPr lIns="0" tIns="0" rIns="0" bIns="0" anchor="ctr"/>
          <a:lstStyle>
            <a:lvl1pPr>
              <a:lnSpc>
                <a:spcPct val="80000"/>
              </a:lnSpc>
              <a:defRPr sz="6000" b="1" i="0">
                <a:solidFill>
                  <a:schemeClr val="bg1"/>
                </a:solidFill>
                <a:latin typeface="Figtree" pitchFamily="2" charset="0"/>
              </a:defRPr>
            </a:lvl1pPr>
          </a:lstStyle>
          <a:p>
            <a:r>
              <a:rPr lang="en-US"/>
              <a:t>Click to edit Master title style</a:t>
            </a:r>
          </a:p>
        </p:txBody>
      </p:sp>
      <p:sp>
        <p:nvSpPr>
          <p:cNvPr id="6" name="Text Placeholder 2">
            <a:extLst>
              <a:ext uri="{FF2B5EF4-FFF2-40B4-BE49-F238E27FC236}">
                <a16:creationId xmlns:a16="http://schemas.microsoft.com/office/drawing/2014/main" id="{7BBBDC11-29FC-667E-0F89-DBB03CF05217}"/>
              </a:ext>
            </a:extLst>
          </p:cNvPr>
          <p:cNvSpPr>
            <a:spLocks noGrp="1"/>
          </p:cNvSpPr>
          <p:nvPr>
            <p:ph type="body" idx="1"/>
          </p:nvPr>
        </p:nvSpPr>
        <p:spPr>
          <a:xfrm>
            <a:off x="831849" y="5017003"/>
            <a:ext cx="8017683" cy="497660"/>
          </a:xfrm>
          <a:prstGeom prst="rect">
            <a:avLst/>
          </a:prstGeom>
        </p:spPr>
        <p:txBody>
          <a:bodyPr lIns="0" tIns="0" rIns="0" bIns="0">
            <a:normAutofit/>
          </a:bodyPr>
          <a:lstStyle>
            <a:lvl1pPr marL="0" indent="0">
              <a:buNone/>
              <a:defRPr sz="2000" b="0" i="0">
                <a:solidFill>
                  <a:schemeClr val="bg1"/>
                </a:solidFill>
                <a:latin typeface="Figtree Light" pitchFamily="2" charset="0"/>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pic>
        <p:nvPicPr>
          <p:cNvPr id="2" name="Picture 1" descr="A white letters on a black background&#10;&#10;AI-generated content may be incorrect.">
            <a:extLst>
              <a:ext uri="{FF2B5EF4-FFF2-40B4-BE49-F238E27FC236}">
                <a16:creationId xmlns:a16="http://schemas.microsoft.com/office/drawing/2014/main" id="{31241472-1619-5F10-102F-682E29E56B4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1851" y="705080"/>
            <a:ext cx="3398627" cy="944553"/>
          </a:xfrm>
          <a:prstGeom prst="rect">
            <a:avLst/>
          </a:prstGeom>
        </p:spPr>
      </p:pic>
      <p:pic>
        <p:nvPicPr>
          <p:cNvPr id="4" name="Picture 3" descr="A white logo with a black background&#10;&#10;AI-generated content may be incorrect.">
            <a:extLst>
              <a:ext uri="{FF2B5EF4-FFF2-40B4-BE49-F238E27FC236}">
                <a16:creationId xmlns:a16="http://schemas.microsoft.com/office/drawing/2014/main" id="{A99F799A-08AA-7FCE-CB4F-6222F344339B}"/>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pic>
        <p:nvPicPr>
          <p:cNvPr id="5" name="Picture 4" descr="A white letters on a black background&#10;&#10;AI-generated content may be incorrect.">
            <a:extLst>
              <a:ext uri="{FF2B5EF4-FFF2-40B4-BE49-F238E27FC236}">
                <a16:creationId xmlns:a16="http://schemas.microsoft.com/office/drawing/2014/main" id="{CA0325AF-D2D0-C6FD-DEC0-028611C03D9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1851" y="705080"/>
            <a:ext cx="3398627" cy="944553"/>
          </a:xfrm>
          <a:prstGeom prst="rect">
            <a:avLst/>
          </a:prstGeom>
        </p:spPr>
      </p:pic>
    </p:spTree>
    <p:extLst>
      <p:ext uri="{BB962C8B-B14F-4D97-AF65-F5344CB8AC3E}">
        <p14:creationId xmlns:p14="http://schemas.microsoft.com/office/powerpoint/2010/main" val="2672026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Divider (Navy)">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6" name="Picture 15" descr="A white logo with a black background&#10;&#10;AI-generated content may be incorrect.">
            <a:extLst>
              <a:ext uri="{FF2B5EF4-FFF2-40B4-BE49-F238E27FC236}">
                <a16:creationId xmlns:a16="http://schemas.microsoft.com/office/drawing/2014/main" id="{0E47ED36-DE2D-02CA-3151-94658797C72C}"/>
              </a:ext>
            </a:extLst>
          </p:cNvPr>
          <p:cNvPicPr>
            <a:picLocks noChangeAspect="1"/>
          </p:cNvPicPr>
          <p:nvPr/>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1" y="1446126"/>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1" y="4463371"/>
            <a:ext cx="10515600" cy="777515"/>
          </a:xfrm>
          <a:prstGeom prst="rect">
            <a:avLst/>
          </a:prstGeom>
        </p:spPr>
        <p:txBody>
          <a:bodyPr lIns="0" tIns="0" rIns="0" bIns="0"/>
          <a:lstStyle>
            <a:lvl1pPr marL="0" indent="0">
              <a:buNone/>
              <a:defRPr sz="2400" b="0" i="0">
                <a:solidFill>
                  <a:schemeClr val="bg1"/>
                </a:solidFill>
                <a:latin typeface="Figtree" pitchFamily="2" charset="0"/>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4" name="Picture 3" descr="A white logo with a black background&#10;&#10;AI-generated content may be incorrect.">
            <a:extLst>
              <a:ext uri="{FF2B5EF4-FFF2-40B4-BE49-F238E27FC236}">
                <a16:creationId xmlns:a16="http://schemas.microsoft.com/office/drawing/2014/main" id="{798F9058-C159-D5BD-AC5D-4ADAACCFE2A7}"/>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cxnSp>
        <p:nvCxnSpPr>
          <p:cNvPr id="5" name="Straight Connector 4">
            <a:extLst>
              <a:ext uri="{FF2B5EF4-FFF2-40B4-BE49-F238E27FC236}">
                <a16:creationId xmlns:a16="http://schemas.microsoft.com/office/drawing/2014/main" id="{D9670D17-24E2-4E0A-5375-6C3DFC6018C2}"/>
              </a:ext>
            </a:extLst>
          </p:cNvPr>
          <p:cNvCxnSpPr>
            <a:cxnSpLocks/>
          </p:cNvCxnSpPr>
          <p:nvPr userDrawn="1"/>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02DA3430-7087-80A4-076B-0A9E6C2DD9A9}"/>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spTree>
    <p:extLst>
      <p:ext uri="{BB962C8B-B14F-4D97-AF65-F5344CB8AC3E}">
        <p14:creationId xmlns:p14="http://schemas.microsoft.com/office/powerpoint/2010/main" val="715350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ivider (Blue)">
    <p:bg>
      <p:bgPr>
        <a:gradFill>
          <a:gsLst>
            <a:gs pos="0">
              <a:schemeClr val="tx2"/>
            </a:gs>
            <a:gs pos="52000">
              <a:schemeClr val="accent2"/>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73C2AF56-22FA-B24C-961E-DCF6032B059B}"/>
              </a:ext>
            </a:extLst>
          </p:cNvPr>
          <p:cNvPicPr>
            <a:picLocks noChangeAspect="1"/>
          </p:cNvPicPr>
          <p:nvPr/>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1" y="1446126"/>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1" y="4463371"/>
            <a:ext cx="10515600" cy="777515"/>
          </a:xfrm>
          <a:prstGeom prst="rect">
            <a:avLst/>
          </a:prstGeom>
        </p:spPr>
        <p:txBody>
          <a:bodyPr lIns="0" tIns="0" rIns="0" bIns="0"/>
          <a:lstStyle>
            <a:lvl1pPr marL="0" indent="0">
              <a:buNone/>
              <a:defRPr sz="2400" b="0" i="0">
                <a:solidFill>
                  <a:schemeClr val="bg1"/>
                </a:solidFill>
                <a:latin typeface="Figtree" pitchFamily="2" charset="0"/>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4" name="Picture 3" descr="A white logo with a black background&#10;&#10;AI-generated content may be incorrect.">
            <a:extLst>
              <a:ext uri="{FF2B5EF4-FFF2-40B4-BE49-F238E27FC236}">
                <a16:creationId xmlns:a16="http://schemas.microsoft.com/office/drawing/2014/main" id="{D238ABAD-3898-50B6-C64A-13984887686D}"/>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cxnSp>
        <p:nvCxnSpPr>
          <p:cNvPr id="6" name="Straight Connector 5">
            <a:extLst>
              <a:ext uri="{FF2B5EF4-FFF2-40B4-BE49-F238E27FC236}">
                <a16:creationId xmlns:a16="http://schemas.microsoft.com/office/drawing/2014/main" id="{3BAABFB3-7386-3E9C-18B2-C43C4987A041}"/>
              </a:ext>
            </a:extLst>
          </p:cNvPr>
          <p:cNvCxnSpPr>
            <a:cxnSpLocks/>
          </p:cNvCxnSpPr>
          <p:nvPr userDrawn="1"/>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F06E7771-8361-C51E-BC0F-20E2A211AF9C}"/>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1866079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Divider (Plum)">
    <p:bg>
      <p:bgPr>
        <a:gradFill>
          <a:gsLst>
            <a:gs pos="0">
              <a:schemeClr val="accent2"/>
            </a:gs>
            <a:gs pos="60000">
              <a:schemeClr val="accent3"/>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D2903859-44FB-9388-776B-28F8C4D42520}"/>
              </a:ext>
            </a:extLst>
          </p:cNvPr>
          <p:cNvPicPr>
            <a:picLocks noChangeAspect="1"/>
          </p:cNvPicPr>
          <p:nvPr/>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1" y="1446126"/>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1" y="4463371"/>
            <a:ext cx="10515600" cy="777515"/>
          </a:xfrm>
          <a:prstGeom prst="rect">
            <a:avLst/>
          </a:prstGeom>
        </p:spPr>
        <p:txBody>
          <a:bodyPr lIns="0" tIns="0" rIns="0" bIns="0"/>
          <a:lstStyle>
            <a:lvl1pPr marL="0" indent="0">
              <a:buNone/>
              <a:defRPr sz="2400" b="0" i="0">
                <a:solidFill>
                  <a:schemeClr val="bg1"/>
                </a:solidFill>
                <a:latin typeface="Figtree" pitchFamily="2" charset="0"/>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4" name="Picture 3" descr="A white logo with a black background&#10;&#10;AI-generated content may be incorrect.">
            <a:extLst>
              <a:ext uri="{FF2B5EF4-FFF2-40B4-BE49-F238E27FC236}">
                <a16:creationId xmlns:a16="http://schemas.microsoft.com/office/drawing/2014/main" id="{4B8321AA-424B-160D-9AF6-53A8E8E00841}"/>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cxnSp>
        <p:nvCxnSpPr>
          <p:cNvPr id="6" name="Straight Connector 5">
            <a:extLst>
              <a:ext uri="{FF2B5EF4-FFF2-40B4-BE49-F238E27FC236}">
                <a16:creationId xmlns:a16="http://schemas.microsoft.com/office/drawing/2014/main" id="{7C9A1D33-F8AF-E211-4741-0F0429D8890D}"/>
              </a:ext>
            </a:extLst>
          </p:cNvPr>
          <p:cNvCxnSpPr>
            <a:cxnSpLocks/>
          </p:cNvCxnSpPr>
          <p:nvPr userDrawn="1"/>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EBF2A3A8-DB6C-5A71-82A4-3F158D8618F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749026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Divider (Gold)">
    <p:bg>
      <p:bgPr>
        <a:gradFill>
          <a:gsLst>
            <a:gs pos="0">
              <a:schemeClr val="accent6"/>
            </a:gs>
            <a:gs pos="54000">
              <a:schemeClr val="accent4"/>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D7892FEC-EC22-36F7-8617-D9A11538518C}"/>
              </a:ext>
            </a:extLst>
          </p:cNvPr>
          <p:cNvPicPr>
            <a:picLocks noChangeAspect="1"/>
          </p:cNvPicPr>
          <p:nvPr/>
        </p:nvPicPr>
        <p:blipFill>
          <a:blip r:embed="rId2" cstate="email">
            <a:alphaModFix amt="10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1" y="1446126"/>
            <a:ext cx="10515600" cy="2852737"/>
          </a:xfrm>
          <a:prstGeom prst="rect">
            <a:avLst/>
          </a:prstGeom>
        </p:spPr>
        <p:txBody>
          <a:bodyPr lIns="0" tIns="0" rIns="0" bIns="0" anchor="b"/>
          <a:lstStyle>
            <a:lvl1pPr>
              <a:lnSpc>
                <a:spcPct val="90000"/>
              </a:lnSpc>
              <a:defRPr sz="6000" b="1" i="0">
                <a:solidFill>
                  <a:schemeClr val="tx2">
                    <a:lumMod val="50000"/>
                  </a:schemeClr>
                </a:solidFill>
                <a:latin typeface="Figtree SemiBold" pitchFamily="2"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1" y="4463371"/>
            <a:ext cx="10515600" cy="777515"/>
          </a:xfrm>
          <a:prstGeom prst="rect">
            <a:avLst/>
          </a:prstGeom>
        </p:spPr>
        <p:txBody>
          <a:bodyPr lIns="0" tIns="0" rIns="0" bIns="0"/>
          <a:lstStyle>
            <a:lvl1pPr marL="0" indent="0">
              <a:buNone/>
              <a:defRPr sz="2400" b="0" i="0">
                <a:solidFill>
                  <a:schemeClr val="tx2">
                    <a:lumMod val="50000"/>
                  </a:schemeClr>
                </a:solidFill>
                <a:latin typeface="Figtree" pitchFamily="2" charset="0"/>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p:nvCxnSpPr>
        <p:spPr>
          <a:xfrm>
            <a:off x="11491993" y="6454131"/>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4" name="Picture 3" descr="A white logo with a black background&#10;&#10;AI-generated content may be incorrect.">
            <a:extLst>
              <a:ext uri="{FF2B5EF4-FFF2-40B4-BE49-F238E27FC236}">
                <a16:creationId xmlns:a16="http://schemas.microsoft.com/office/drawing/2014/main" id="{90C792A5-FBAF-1440-F376-0051AFB2B706}"/>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cxnSp>
        <p:nvCxnSpPr>
          <p:cNvPr id="6" name="Straight Connector 5">
            <a:extLst>
              <a:ext uri="{FF2B5EF4-FFF2-40B4-BE49-F238E27FC236}">
                <a16:creationId xmlns:a16="http://schemas.microsoft.com/office/drawing/2014/main" id="{4DB5A154-A6D7-1924-655B-3E1E2287019A}"/>
              </a:ext>
            </a:extLst>
          </p:cNvPr>
          <p:cNvCxnSpPr>
            <a:cxnSpLocks/>
          </p:cNvCxnSpPr>
          <p:nvPr userDrawn="1"/>
        </p:nvCxnSpPr>
        <p:spPr>
          <a:xfrm>
            <a:off x="11491993" y="6454131"/>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D5872519-4A14-0A0A-6063-14178EF1A5D7}"/>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3333973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Divider (Green)">
    <p:bg>
      <p:bgPr>
        <a:gradFill>
          <a:gsLst>
            <a:gs pos="0">
              <a:schemeClr val="accent2"/>
            </a:gs>
            <a:gs pos="54000">
              <a:schemeClr val="accent5"/>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F8558375-69BD-2093-A170-A82E307F81A5}"/>
              </a:ext>
            </a:extLst>
          </p:cNvPr>
          <p:cNvPicPr>
            <a:picLocks noChangeAspect="1"/>
          </p:cNvPicPr>
          <p:nvPr/>
        </p:nvPicPr>
        <p:blipFill>
          <a:blip r:embed="rId2" cstate="email">
            <a:alphaModFix amt="8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1" y="1446126"/>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1" y="4463371"/>
            <a:ext cx="10515600" cy="777515"/>
          </a:xfrm>
          <a:prstGeom prst="rect">
            <a:avLst/>
          </a:prstGeom>
        </p:spPr>
        <p:txBody>
          <a:bodyPr lIns="0" tIns="0" rIns="0" bIns="0"/>
          <a:lstStyle>
            <a:lvl1pPr marL="0" indent="0">
              <a:buNone/>
              <a:defRPr sz="2400" b="0" i="0">
                <a:solidFill>
                  <a:schemeClr val="bg1"/>
                </a:solidFill>
                <a:latin typeface="Figtree" pitchFamily="2" charset="0"/>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p:nvCxnSpPr>
        <p:spPr>
          <a:xfrm>
            <a:off x="11491993" y="6454131"/>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4" name="Picture 3" descr="A white logo with a black background&#10;&#10;AI-generated content may be incorrect.">
            <a:extLst>
              <a:ext uri="{FF2B5EF4-FFF2-40B4-BE49-F238E27FC236}">
                <a16:creationId xmlns:a16="http://schemas.microsoft.com/office/drawing/2014/main" id="{6F77077F-418C-C008-ED0E-BE3C19029928}"/>
              </a:ext>
            </a:extLst>
          </p:cNvPr>
          <p:cNvPicPr>
            <a:picLocks noChangeAspect="1"/>
          </p:cNvPicPr>
          <p:nvPr userDrawn="1"/>
        </p:nvPicPr>
        <p:blipFill>
          <a:blip r:embed="rId2" cstate="email">
            <a:alphaModFix amt="8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cxnSp>
        <p:nvCxnSpPr>
          <p:cNvPr id="6" name="Straight Connector 5">
            <a:extLst>
              <a:ext uri="{FF2B5EF4-FFF2-40B4-BE49-F238E27FC236}">
                <a16:creationId xmlns:a16="http://schemas.microsoft.com/office/drawing/2014/main" id="{D4E082F3-39F2-2D92-28C2-EC78C81699DD}"/>
              </a:ext>
            </a:extLst>
          </p:cNvPr>
          <p:cNvCxnSpPr>
            <a:cxnSpLocks/>
          </p:cNvCxnSpPr>
          <p:nvPr userDrawn="1"/>
        </p:nvCxnSpPr>
        <p:spPr>
          <a:xfrm>
            <a:off x="11491993" y="6454131"/>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589DF846-716E-AE82-3F21-0B724BAF3DF6}"/>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2747342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Divider (Orange)">
    <p:bg>
      <p:bgPr>
        <a:gradFill>
          <a:gsLst>
            <a:gs pos="0">
              <a:schemeClr val="accent3"/>
            </a:gs>
            <a:gs pos="54000">
              <a:schemeClr val="accent6"/>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04F190B7-3ED6-8872-7F8C-4E5A01527E9A}"/>
              </a:ext>
            </a:extLst>
          </p:cNvPr>
          <p:cNvPicPr>
            <a:picLocks noChangeAspect="1"/>
          </p:cNvPicPr>
          <p:nvPr/>
        </p:nvPicPr>
        <p:blipFill>
          <a:blip r:embed="rId2" cstate="email">
            <a:alphaModFix amt="8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1" y="1446126"/>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1" y="4463371"/>
            <a:ext cx="10515600" cy="777515"/>
          </a:xfrm>
          <a:prstGeom prst="rect">
            <a:avLst/>
          </a:prstGeom>
        </p:spPr>
        <p:txBody>
          <a:bodyPr lIns="0" tIns="0" rIns="0" bIns="0"/>
          <a:lstStyle>
            <a:lvl1pPr marL="0" indent="0">
              <a:buNone/>
              <a:defRPr sz="2400" b="0" i="0">
                <a:solidFill>
                  <a:schemeClr val="bg1"/>
                </a:solidFill>
                <a:latin typeface="Figtree" pitchFamily="2" charset="0"/>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4" name="Picture 3" descr="A white logo with a black background&#10;&#10;AI-generated content may be incorrect.">
            <a:extLst>
              <a:ext uri="{FF2B5EF4-FFF2-40B4-BE49-F238E27FC236}">
                <a16:creationId xmlns:a16="http://schemas.microsoft.com/office/drawing/2014/main" id="{91665A1C-71A1-3EE7-F50E-A08FA0F7B151}"/>
              </a:ext>
            </a:extLst>
          </p:cNvPr>
          <p:cNvPicPr>
            <a:picLocks noChangeAspect="1"/>
          </p:cNvPicPr>
          <p:nvPr userDrawn="1"/>
        </p:nvPicPr>
        <p:blipFill>
          <a:blip r:embed="rId2" cstate="email">
            <a:alphaModFix amt="8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cxnSp>
        <p:nvCxnSpPr>
          <p:cNvPr id="6" name="Straight Connector 5">
            <a:extLst>
              <a:ext uri="{FF2B5EF4-FFF2-40B4-BE49-F238E27FC236}">
                <a16:creationId xmlns:a16="http://schemas.microsoft.com/office/drawing/2014/main" id="{31BF1A6F-7D42-FA3B-BD5A-3493043F594B}"/>
              </a:ext>
            </a:extLst>
          </p:cNvPr>
          <p:cNvCxnSpPr>
            <a:cxnSpLocks/>
          </p:cNvCxnSpPr>
          <p:nvPr userDrawn="1"/>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3E95DF0C-D270-BEA7-10B0-E6E753EE4E2B}"/>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2240039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 Content (Dark)">
    <p:bg>
      <p:bgPr>
        <a:solidFill>
          <a:schemeClr val="tx2"/>
        </a:solidFill>
        <a:effectLst/>
      </p:bgPr>
    </p:bg>
    <p:spTree>
      <p:nvGrpSpPr>
        <p:cNvPr id="1" name=""/>
        <p:cNvGrpSpPr/>
        <p:nvPr/>
      </p:nvGrpSpPr>
      <p:grpSpPr>
        <a:xfrm>
          <a:off x="0" y="0"/>
          <a:ext cx="0" cy="0"/>
          <a:chOff x="0" y="0"/>
          <a:chExt cx="0" cy="0"/>
        </a:xfrm>
      </p:grpSpPr>
      <p:pic>
        <p:nvPicPr>
          <p:cNvPr id="4" name="Picture 3" descr="A white logo with a black background&#10;&#10;AI-generated content may be incorrect.">
            <a:extLst>
              <a:ext uri="{FF2B5EF4-FFF2-40B4-BE49-F238E27FC236}">
                <a16:creationId xmlns:a16="http://schemas.microsoft.com/office/drawing/2014/main" id="{6009C2D0-8476-5C7C-3698-64F13A93B821}"/>
              </a:ext>
            </a:extLst>
          </p:cNvPr>
          <p:cNvPicPr>
            <a:picLocks noChangeAspect="1"/>
          </p:cNvPicPr>
          <p:nvPr/>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566929" y="447042"/>
            <a:ext cx="11491993"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566928" y="1825624"/>
            <a:ext cx="10515600" cy="4125723"/>
          </a:xfrm>
          <a:prstGeom prst="rect">
            <a:avLst/>
          </a:prstGeom>
        </p:spPr>
        <p:txBody>
          <a:bodyPr lIns="0" tIns="0" rIns="0" bIns="0">
            <a:noAutofit/>
          </a:bodyPr>
          <a:lstStyle>
            <a:lvl1pPr marL="0" indent="0">
              <a:buFontTx/>
              <a:buNone/>
              <a:defRPr sz="1800" b="0" i="0">
                <a:solidFill>
                  <a:schemeClr val="bg1"/>
                </a:solidFill>
                <a:latin typeface="Figtree" pitchFamily="2" charset="0"/>
              </a:defRPr>
            </a:lvl1pPr>
            <a:lvl2pPr marL="742932" indent="-285744">
              <a:buFont typeface="Arial" panose="020B0604020202020204" pitchFamily="34" charset="0"/>
              <a:buChar char="•"/>
              <a:defRPr sz="1800" b="0" i="0">
                <a:solidFill>
                  <a:schemeClr val="bg1"/>
                </a:solidFill>
                <a:latin typeface="Figtree" pitchFamily="2" charset="0"/>
              </a:defRPr>
            </a:lvl2pPr>
            <a:lvl3pPr marL="1200121" indent="-285744">
              <a:buFont typeface="Arial" panose="020B0604020202020204" pitchFamily="34" charset="0"/>
              <a:buChar char="•"/>
              <a:defRPr sz="1800" b="0" i="0">
                <a:solidFill>
                  <a:schemeClr val="bg1"/>
                </a:solidFill>
                <a:latin typeface="Figtree" pitchFamily="2" charset="0"/>
              </a:defRPr>
            </a:lvl3pPr>
            <a:lvl4pPr marL="1657309" indent="-285744">
              <a:buFont typeface="Arial" panose="020B0604020202020204" pitchFamily="34" charset="0"/>
              <a:buChar char="•"/>
              <a:defRPr sz="1800" b="0" i="0">
                <a:solidFill>
                  <a:schemeClr val="bg1"/>
                </a:solidFill>
                <a:latin typeface="Figtree" pitchFamily="2" charset="0"/>
              </a:defRPr>
            </a:lvl4pPr>
            <a:lvl5pPr marL="2114498" indent="-285744">
              <a:buFont typeface="Arial" panose="020B0604020202020204" pitchFamily="34" charset="0"/>
              <a:buChar char="•"/>
              <a:defRPr sz="1800" b="0" i="0">
                <a:solidFill>
                  <a:schemeClr val="bg1"/>
                </a:solidFill>
                <a:latin typeface="Figtree"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94F72188-A0A9-5F3A-CF20-6B8F5FE585F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5" name="Picture 4" descr="A white logo with a black background&#10;&#10;AI-generated content may be incorrect.">
            <a:extLst>
              <a:ext uri="{FF2B5EF4-FFF2-40B4-BE49-F238E27FC236}">
                <a16:creationId xmlns:a16="http://schemas.microsoft.com/office/drawing/2014/main" id="{C484C669-BBD9-50FA-3420-55FDCF4B6F7C}"/>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cxnSp>
        <p:nvCxnSpPr>
          <p:cNvPr id="7" name="Straight Connector 6">
            <a:extLst>
              <a:ext uri="{FF2B5EF4-FFF2-40B4-BE49-F238E27FC236}">
                <a16:creationId xmlns:a16="http://schemas.microsoft.com/office/drawing/2014/main" id="{A2FB1A57-C9CC-115F-C325-C95F8CA0EF9F}"/>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1CF23098-19B3-ED51-7772-90AF586CF91B}"/>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3149374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 Image Blue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1" y="1"/>
            <a:ext cx="6862619"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3" name="Freeform 2">
            <a:extLst>
              <a:ext uri="{FF2B5EF4-FFF2-40B4-BE49-F238E27FC236}">
                <a16:creationId xmlns:a16="http://schemas.microsoft.com/office/drawing/2014/main" id="{ABE42761-35EA-CA25-0900-63712C3225FA}"/>
              </a:ext>
            </a:extLst>
          </p:cNvPr>
          <p:cNvSpPr/>
          <p:nvPr/>
        </p:nvSpPr>
        <p:spPr>
          <a:xfrm>
            <a:off x="4830121" y="-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DC6E9646-0773-63D6-3562-8964A218F530}"/>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6" name="Freeform 5">
            <a:extLst>
              <a:ext uri="{FF2B5EF4-FFF2-40B4-BE49-F238E27FC236}">
                <a16:creationId xmlns:a16="http://schemas.microsoft.com/office/drawing/2014/main" id="{166AA6E9-6E6E-CD83-0AEE-1EA01280BFA0}"/>
              </a:ext>
            </a:extLst>
          </p:cNvPr>
          <p:cNvSpPr/>
          <p:nvPr userDrawn="1"/>
        </p:nvSpPr>
        <p:spPr>
          <a:xfrm>
            <a:off x="4830121" y="-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7" name="Straight Connector 6">
            <a:extLst>
              <a:ext uri="{FF2B5EF4-FFF2-40B4-BE49-F238E27FC236}">
                <a16:creationId xmlns:a16="http://schemas.microsoft.com/office/drawing/2014/main" id="{2F2EEB74-B485-BF4C-1614-B05DDC97F95E}"/>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553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 Image Plum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1" y="1"/>
            <a:ext cx="6862619"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Freeform 4">
            <a:extLst>
              <a:ext uri="{FF2B5EF4-FFF2-40B4-BE49-F238E27FC236}">
                <a16:creationId xmlns:a16="http://schemas.microsoft.com/office/drawing/2014/main" id="{5673909B-51BC-79F1-247B-509034849961}"/>
              </a:ext>
            </a:extLst>
          </p:cNvPr>
          <p:cNvSpPr/>
          <p:nvPr/>
        </p:nvSpPr>
        <p:spPr>
          <a:xfrm>
            <a:off x="4830121" y="-862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3" name="Picture 2">
            <a:extLst>
              <a:ext uri="{FF2B5EF4-FFF2-40B4-BE49-F238E27FC236}">
                <a16:creationId xmlns:a16="http://schemas.microsoft.com/office/drawing/2014/main" id="{5233FE9D-4F57-5194-3D43-E75A937807F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cxnSp>
        <p:nvCxnSpPr>
          <p:cNvPr id="6" name="Straight Connector 5">
            <a:extLst>
              <a:ext uri="{FF2B5EF4-FFF2-40B4-BE49-F238E27FC236}">
                <a16:creationId xmlns:a16="http://schemas.microsoft.com/office/drawing/2014/main" id="{917A2E63-6756-8D24-F0FA-2F0B72445094}"/>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Freeform 6">
            <a:extLst>
              <a:ext uri="{FF2B5EF4-FFF2-40B4-BE49-F238E27FC236}">
                <a16:creationId xmlns:a16="http://schemas.microsoft.com/office/drawing/2014/main" id="{966A7F6B-FE8D-823E-2A8D-45DF07A1A702}"/>
              </a:ext>
            </a:extLst>
          </p:cNvPr>
          <p:cNvSpPr/>
          <p:nvPr userDrawn="1"/>
        </p:nvSpPr>
        <p:spPr>
          <a:xfrm>
            <a:off x="4830121" y="-862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783479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ext + Image Gold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1" y="1"/>
            <a:ext cx="6862619"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Freeform 5">
            <a:extLst>
              <a:ext uri="{FF2B5EF4-FFF2-40B4-BE49-F238E27FC236}">
                <a16:creationId xmlns:a16="http://schemas.microsoft.com/office/drawing/2014/main" id="{2FFD7DA3-43D8-D09F-83E0-0AEAB25439B7}"/>
              </a:ext>
            </a:extLst>
          </p:cNvPr>
          <p:cNvSpPr/>
          <p:nvPr/>
        </p:nvSpPr>
        <p:spPr>
          <a:xfrm>
            <a:off x="4830121" y="-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3" name="Picture 2">
            <a:extLst>
              <a:ext uri="{FF2B5EF4-FFF2-40B4-BE49-F238E27FC236}">
                <a16:creationId xmlns:a16="http://schemas.microsoft.com/office/drawing/2014/main" id="{FFCFA18D-DA29-BDC1-5ACF-07C62EC2C9E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cxnSp>
        <p:nvCxnSpPr>
          <p:cNvPr id="5" name="Straight Connector 4">
            <a:extLst>
              <a:ext uri="{FF2B5EF4-FFF2-40B4-BE49-F238E27FC236}">
                <a16:creationId xmlns:a16="http://schemas.microsoft.com/office/drawing/2014/main" id="{D8610D5A-7842-DCBF-E36C-71BF86070E2C}"/>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Freeform 6">
            <a:extLst>
              <a:ext uri="{FF2B5EF4-FFF2-40B4-BE49-F238E27FC236}">
                <a16:creationId xmlns:a16="http://schemas.microsoft.com/office/drawing/2014/main" id="{7002CE02-A9AF-E942-0AA6-F3D26A719EF0}"/>
              </a:ext>
            </a:extLst>
          </p:cNvPr>
          <p:cNvSpPr/>
          <p:nvPr userDrawn="1"/>
        </p:nvSpPr>
        <p:spPr>
          <a:xfrm>
            <a:off x="4830121" y="-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224055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 Image Green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1" y="1"/>
            <a:ext cx="6862619"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FC5B0D56-4627-AC4F-11C1-0BC865D7A1E5}"/>
              </a:ext>
            </a:extLst>
          </p:cNvPr>
          <p:cNvSpPr/>
          <p:nvPr/>
        </p:nvSpPr>
        <p:spPr>
          <a:xfrm>
            <a:off x="4830121" y="-5"/>
            <a:ext cx="3566904"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5" name="Picture 4">
            <a:extLst>
              <a:ext uri="{FF2B5EF4-FFF2-40B4-BE49-F238E27FC236}">
                <a16:creationId xmlns:a16="http://schemas.microsoft.com/office/drawing/2014/main" id="{3F08CC3B-A5B5-B3A7-1555-9B9BD8AA76E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cxnSp>
        <p:nvCxnSpPr>
          <p:cNvPr id="6" name="Straight Connector 5">
            <a:extLst>
              <a:ext uri="{FF2B5EF4-FFF2-40B4-BE49-F238E27FC236}">
                <a16:creationId xmlns:a16="http://schemas.microsoft.com/office/drawing/2014/main" id="{7101FAAE-1314-3634-644A-EE7559A50427}"/>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Freeform 6">
            <a:extLst>
              <a:ext uri="{FF2B5EF4-FFF2-40B4-BE49-F238E27FC236}">
                <a16:creationId xmlns:a16="http://schemas.microsoft.com/office/drawing/2014/main" id="{C6F08C24-0FA8-FF52-02F6-6852BDAAC7D0}"/>
              </a:ext>
            </a:extLst>
          </p:cNvPr>
          <p:cNvSpPr/>
          <p:nvPr userDrawn="1"/>
        </p:nvSpPr>
        <p:spPr>
          <a:xfrm>
            <a:off x="4830121" y="-5"/>
            <a:ext cx="3566904"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279611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 + Image Gold (Orange)">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1" y="1"/>
            <a:ext cx="6862619"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8CECBD81-6D94-EBB2-5099-28510DA055F7}"/>
              </a:ext>
            </a:extLst>
          </p:cNvPr>
          <p:cNvSpPr/>
          <p:nvPr/>
        </p:nvSpPr>
        <p:spPr>
          <a:xfrm>
            <a:off x="4830121" y="-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5" name="Picture 4">
            <a:extLst>
              <a:ext uri="{FF2B5EF4-FFF2-40B4-BE49-F238E27FC236}">
                <a16:creationId xmlns:a16="http://schemas.microsoft.com/office/drawing/2014/main" id="{EC20E1B2-DCD8-9DA9-EB76-4A049098918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cxnSp>
        <p:nvCxnSpPr>
          <p:cNvPr id="6" name="Straight Connector 5">
            <a:extLst>
              <a:ext uri="{FF2B5EF4-FFF2-40B4-BE49-F238E27FC236}">
                <a16:creationId xmlns:a16="http://schemas.microsoft.com/office/drawing/2014/main" id="{057B8D63-5F35-1D93-9D12-F118E97DE37A}"/>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Freeform 6">
            <a:extLst>
              <a:ext uri="{FF2B5EF4-FFF2-40B4-BE49-F238E27FC236}">
                <a16:creationId xmlns:a16="http://schemas.microsoft.com/office/drawing/2014/main" id="{25FDCCA8-4B22-37E2-C2AC-F8EAA5318BDC}"/>
              </a:ext>
            </a:extLst>
          </p:cNvPr>
          <p:cNvSpPr/>
          <p:nvPr userDrawn="1"/>
        </p:nvSpPr>
        <p:spPr>
          <a:xfrm>
            <a:off x="4830121" y="-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172403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pecial Visual 1">
    <p:bg>
      <p:bgPr>
        <a:solidFill>
          <a:schemeClr val="tx2"/>
        </a:solidFill>
        <a:effectLst/>
      </p:bgPr>
    </p:bg>
    <p:spTree>
      <p:nvGrpSpPr>
        <p:cNvPr id="1" name=""/>
        <p:cNvGrpSpPr/>
        <p:nvPr/>
      </p:nvGrpSpPr>
      <p:grpSpPr>
        <a:xfrm>
          <a:off x="0" y="0"/>
          <a:ext cx="0" cy="0"/>
          <a:chOff x="0" y="0"/>
          <a:chExt cx="0" cy="0"/>
        </a:xfrm>
      </p:grpSpPr>
      <p:pic>
        <p:nvPicPr>
          <p:cNvPr id="9" name="Picture 8" descr="A spiral galaxy in space&#10;&#10;AI-generated content may be incorrect.">
            <a:extLst>
              <a:ext uri="{FF2B5EF4-FFF2-40B4-BE49-F238E27FC236}">
                <a16:creationId xmlns:a16="http://schemas.microsoft.com/office/drawing/2014/main" id="{B4257FEA-E4BB-4184-2551-6E913CF483E4}"/>
              </a:ext>
            </a:extLst>
          </p:cNvPr>
          <p:cNvPicPr>
            <a:picLocks noChangeAspect="1"/>
          </p:cNvPicPr>
          <p:nvPr/>
        </p:nvPicPr>
        <p:blipFill>
          <a:blip r:embed="rId2" cstate="email">
            <a:alphaModFix amt="30000"/>
            <a:extLst>
              <a:ext uri="{28A0092B-C50C-407E-A947-70E740481C1C}">
                <a14:useLocalDpi xmlns:a14="http://schemas.microsoft.com/office/drawing/2010/main"/>
              </a:ext>
            </a:extLst>
          </a:blip>
          <a:srcRect/>
          <a:stretch/>
        </p:blipFill>
        <p:spPr>
          <a:xfrm>
            <a:off x="-1" y="-1"/>
            <a:ext cx="12192001"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12" name="Content Placeholder 2">
            <a:extLst>
              <a:ext uri="{FF2B5EF4-FFF2-40B4-BE49-F238E27FC236}">
                <a16:creationId xmlns:a16="http://schemas.microsoft.com/office/drawing/2014/main" id="{A4013314-73E8-EBCE-C957-B401AB4F5C75}"/>
              </a:ext>
            </a:extLst>
          </p:cNvPr>
          <p:cNvSpPr>
            <a:spLocks noGrp="1"/>
          </p:cNvSpPr>
          <p:nvPr>
            <p:ph idx="1"/>
          </p:nvPr>
        </p:nvSpPr>
        <p:spPr>
          <a:xfrm>
            <a:off x="838200" y="1825624"/>
            <a:ext cx="10515600" cy="4125723"/>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32" indent="-285744">
              <a:buFont typeface="Arial" panose="020B0604020202020204" pitchFamily="34" charset="0"/>
              <a:buChar char="•"/>
              <a:defRPr sz="2400" b="0" i="0">
                <a:solidFill>
                  <a:schemeClr val="bg1"/>
                </a:solidFill>
                <a:latin typeface="Figtree" pitchFamily="2" charset="0"/>
              </a:defRPr>
            </a:lvl2pPr>
            <a:lvl3pPr marL="1200121" indent="-285744">
              <a:buFont typeface="Arial" panose="020B0604020202020204" pitchFamily="34" charset="0"/>
              <a:buChar char="•"/>
              <a:defRPr sz="2400" b="0" i="0">
                <a:solidFill>
                  <a:schemeClr val="bg1"/>
                </a:solidFill>
                <a:latin typeface="Figtree" pitchFamily="2" charset="0"/>
              </a:defRPr>
            </a:lvl3pPr>
            <a:lvl4pPr marL="1657309" indent="-285744">
              <a:buFont typeface="Arial" panose="020B0604020202020204" pitchFamily="34" charset="0"/>
              <a:buChar char="•"/>
              <a:defRPr sz="2400" b="0" i="0">
                <a:solidFill>
                  <a:schemeClr val="bg1"/>
                </a:solidFill>
                <a:latin typeface="Figtree" pitchFamily="2" charset="0"/>
              </a:defRPr>
            </a:lvl4pPr>
            <a:lvl5pPr marL="2114498" indent="-285744">
              <a:buFont typeface="Arial" panose="020B0604020202020204" pitchFamily="34" charset="0"/>
              <a:buChar char="•"/>
              <a:defRPr sz="2400" b="0" i="0">
                <a:solidFill>
                  <a:schemeClr val="bg1"/>
                </a:solidFill>
                <a:latin typeface="Figtree"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spiral galaxy in space&#10;&#10;AI-generated content may be incorrect.">
            <a:extLst>
              <a:ext uri="{FF2B5EF4-FFF2-40B4-BE49-F238E27FC236}">
                <a16:creationId xmlns:a16="http://schemas.microsoft.com/office/drawing/2014/main" id="{F4F528CD-1564-4E9D-F195-B07879E800AF}"/>
              </a:ext>
            </a:extLst>
          </p:cNvPr>
          <p:cNvPicPr>
            <a:picLocks noChangeAspect="1"/>
          </p:cNvPicPr>
          <p:nvPr/>
        </p:nvPicPr>
        <p:blipFill>
          <a:blip r:embed="rId2" cstate="email">
            <a:alphaModFix amt="30000"/>
            <a:extLst>
              <a:ext uri="{28A0092B-C50C-407E-A947-70E740481C1C}">
                <a14:useLocalDpi xmlns:a14="http://schemas.microsoft.com/office/drawing/2010/main"/>
              </a:ext>
            </a:extLst>
          </a:blip>
          <a:srcRect/>
          <a:stretch/>
        </p:blipFill>
        <p:spPr>
          <a:xfrm>
            <a:off x="-1" y="1"/>
            <a:ext cx="12192001" cy="6858001"/>
          </a:xfrm>
          <a:prstGeom prst="rect">
            <a:avLst/>
          </a:prstGeom>
        </p:spPr>
      </p:pic>
      <p:sp>
        <p:nvSpPr>
          <p:cNvPr id="3" name="Title 1">
            <a:extLst>
              <a:ext uri="{FF2B5EF4-FFF2-40B4-BE49-F238E27FC236}">
                <a16:creationId xmlns:a16="http://schemas.microsoft.com/office/drawing/2014/main" id="{F372B8E0-5DB9-2DD5-1E39-68250E440527}"/>
              </a:ext>
            </a:extLst>
          </p:cNvPr>
          <p:cNvSpPr>
            <a:spLocks noGrp="1"/>
          </p:cNvSpPr>
          <p:nvPr>
            <p:ph type="title"/>
          </p:nvPr>
        </p:nvSpPr>
        <p:spPr>
          <a:xfrm>
            <a:off x="566929" y="447042"/>
            <a:ext cx="11491993"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a:t>Click to edit Master title style</a:t>
            </a:r>
            <a:endParaRPr lang="en-US" dirty="0"/>
          </a:p>
        </p:txBody>
      </p:sp>
      <p:pic>
        <p:nvPicPr>
          <p:cNvPr id="4" name="Picture 3" descr="A spiral galaxy in space&#10;&#10;AI-generated content may be incorrect.">
            <a:extLst>
              <a:ext uri="{FF2B5EF4-FFF2-40B4-BE49-F238E27FC236}">
                <a16:creationId xmlns:a16="http://schemas.microsoft.com/office/drawing/2014/main" id="{F9C8279D-461E-97B0-E073-9CCC019FF4CC}"/>
              </a:ext>
            </a:extLst>
          </p:cNvPr>
          <p:cNvPicPr>
            <a:picLocks noChangeAspect="1"/>
          </p:cNvPicPr>
          <p:nvPr userDrawn="1"/>
        </p:nvPicPr>
        <p:blipFill>
          <a:blip r:embed="rId2" cstate="email">
            <a:alphaModFix amt="30000"/>
            <a:extLst>
              <a:ext uri="{28A0092B-C50C-407E-A947-70E740481C1C}">
                <a14:useLocalDpi xmlns:a14="http://schemas.microsoft.com/office/drawing/2010/main"/>
              </a:ext>
            </a:extLst>
          </a:blip>
          <a:srcRect/>
          <a:stretch/>
        </p:blipFill>
        <p:spPr>
          <a:xfrm>
            <a:off x="-1" y="-1"/>
            <a:ext cx="12192001" cy="6858001"/>
          </a:xfrm>
          <a:prstGeom prst="rect">
            <a:avLst/>
          </a:prstGeom>
        </p:spPr>
      </p:pic>
      <p:cxnSp>
        <p:nvCxnSpPr>
          <p:cNvPr id="7" name="Straight Connector 6">
            <a:extLst>
              <a:ext uri="{FF2B5EF4-FFF2-40B4-BE49-F238E27FC236}">
                <a16:creationId xmlns:a16="http://schemas.microsoft.com/office/drawing/2014/main" id="{4846695B-40ED-D7EC-FB0F-A96440A2257F}"/>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FBA0F3BB-E274-8529-655D-AF37FC7ABE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11" name="Picture 10" descr="A spiral galaxy in space&#10;&#10;AI-generated content may be incorrect.">
            <a:extLst>
              <a:ext uri="{FF2B5EF4-FFF2-40B4-BE49-F238E27FC236}">
                <a16:creationId xmlns:a16="http://schemas.microsoft.com/office/drawing/2014/main" id="{7D320154-AA85-29F6-BFDE-E713FF0B83C0}"/>
              </a:ext>
            </a:extLst>
          </p:cNvPr>
          <p:cNvPicPr>
            <a:picLocks noChangeAspect="1"/>
          </p:cNvPicPr>
          <p:nvPr userDrawn="1"/>
        </p:nvPicPr>
        <p:blipFill>
          <a:blip r:embed="rId2" cstate="email">
            <a:alphaModFix amt="30000"/>
            <a:extLst>
              <a:ext uri="{28A0092B-C50C-407E-A947-70E740481C1C}">
                <a14:useLocalDpi xmlns:a14="http://schemas.microsoft.com/office/drawing/2010/main"/>
              </a:ext>
            </a:extLst>
          </a:blip>
          <a:srcRect/>
          <a:stretch/>
        </p:blipFill>
        <p:spPr>
          <a:xfrm>
            <a:off x="-1" y="1"/>
            <a:ext cx="12192001" cy="6858001"/>
          </a:xfrm>
          <a:prstGeom prst="rect">
            <a:avLst/>
          </a:prstGeom>
        </p:spPr>
      </p:pic>
    </p:spTree>
    <p:extLst>
      <p:ext uri="{BB962C8B-B14F-4D97-AF65-F5344CB8AC3E}">
        <p14:creationId xmlns:p14="http://schemas.microsoft.com/office/powerpoint/2010/main" val="3537245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pecial Visual 2">
    <p:bg>
      <p:bgPr>
        <a:solidFill>
          <a:schemeClr val="tx2"/>
        </a:solidFill>
        <a:effectLst/>
      </p:bgPr>
    </p:bg>
    <p:spTree>
      <p:nvGrpSpPr>
        <p:cNvPr id="1" name=""/>
        <p:cNvGrpSpPr/>
        <p:nvPr/>
      </p:nvGrpSpPr>
      <p:grpSpPr>
        <a:xfrm>
          <a:off x="0" y="0"/>
          <a:ext cx="0" cy="0"/>
          <a:chOff x="0" y="0"/>
          <a:chExt cx="0" cy="0"/>
        </a:xfrm>
      </p:grpSpPr>
      <p:pic>
        <p:nvPicPr>
          <p:cNvPr id="11" name="Picture 10" descr="A blue sky with stars&#10;&#10;AI-generated content may be incorrect.">
            <a:extLst>
              <a:ext uri="{FF2B5EF4-FFF2-40B4-BE49-F238E27FC236}">
                <a16:creationId xmlns:a16="http://schemas.microsoft.com/office/drawing/2014/main" id="{58E6D3C4-DD7C-11D1-CC5C-C7C19C2E03FC}"/>
              </a:ext>
            </a:extLst>
          </p:cNvPr>
          <p:cNvPicPr>
            <a:picLocks noChangeAspect="1"/>
          </p:cNvPicPr>
          <p:nvPr/>
        </p:nvPicPr>
        <p:blipFill>
          <a:blip r:embed="rId2" cstate="email">
            <a:alphaModFix amt="40000"/>
            <a:extLst>
              <a:ext uri="{28A0092B-C50C-407E-A947-70E740481C1C}">
                <a14:useLocalDpi xmlns:a14="http://schemas.microsoft.com/office/drawing/2010/main"/>
              </a:ext>
            </a:extLst>
          </a:blip>
          <a:srcRect/>
          <a:stretch/>
        </p:blipFill>
        <p:spPr>
          <a:xfrm>
            <a:off x="0" y="-1"/>
            <a:ext cx="12165488"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13" name="Content Placeholder 2">
            <a:extLst>
              <a:ext uri="{FF2B5EF4-FFF2-40B4-BE49-F238E27FC236}">
                <a16:creationId xmlns:a16="http://schemas.microsoft.com/office/drawing/2014/main" id="{CA605919-F812-D6B7-6733-93A21095D65A}"/>
              </a:ext>
            </a:extLst>
          </p:cNvPr>
          <p:cNvSpPr>
            <a:spLocks noGrp="1"/>
          </p:cNvSpPr>
          <p:nvPr>
            <p:ph idx="1"/>
          </p:nvPr>
        </p:nvSpPr>
        <p:spPr>
          <a:xfrm>
            <a:off x="838200" y="1825624"/>
            <a:ext cx="10515600" cy="4125723"/>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32" indent="-285744">
              <a:buFont typeface="Arial" panose="020B0604020202020204" pitchFamily="34" charset="0"/>
              <a:buChar char="•"/>
              <a:defRPr sz="2400" b="0" i="0">
                <a:solidFill>
                  <a:schemeClr val="bg1"/>
                </a:solidFill>
                <a:latin typeface="Figtree" pitchFamily="2" charset="0"/>
              </a:defRPr>
            </a:lvl2pPr>
            <a:lvl3pPr marL="1200121" indent="-285744">
              <a:buFont typeface="Arial" panose="020B0604020202020204" pitchFamily="34" charset="0"/>
              <a:buChar char="•"/>
              <a:defRPr sz="2400" b="0" i="0">
                <a:solidFill>
                  <a:schemeClr val="bg1"/>
                </a:solidFill>
                <a:latin typeface="Figtree" pitchFamily="2" charset="0"/>
              </a:defRPr>
            </a:lvl3pPr>
            <a:lvl4pPr marL="1657309" indent="-285744">
              <a:buFont typeface="Arial" panose="020B0604020202020204" pitchFamily="34" charset="0"/>
              <a:buChar char="•"/>
              <a:defRPr sz="2400" b="0" i="0">
                <a:solidFill>
                  <a:schemeClr val="bg1"/>
                </a:solidFill>
                <a:latin typeface="Figtree" pitchFamily="2" charset="0"/>
              </a:defRPr>
            </a:lvl4pPr>
            <a:lvl5pPr marL="2114498" indent="-285744">
              <a:buFont typeface="Arial" panose="020B0604020202020204" pitchFamily="34" charset="0"/>
              <a:buChar char="•"/>
              <a:defRPr sz="2400" b="0" i="0">
                <a:solidFill>
                  <a:schemeClr val="bg1"/>
                </a:solidFill>
                <a:latin typeface="Figtree"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blue sky with stars&#10;&#10;AI-generated content may be incorrect.">
            <a:extLst>
              <a:ext uri="{FF2B5EF4-FFF2-40B4-BE49-F238E27FC236}">
                <a16:creationId xmlns:a16="http://schemas.microsoft.com/office/drawing/2014/main" id="{1E061CFA-FF0E-F37B-7C9F-811BE2571535}"/>
              </a:ext>
            </a:extLst>
          </p:cNvPr>
          <p:cNvPicPr>
            <a:picLocks noChangeAspect="1"/>
          </p:cNvPicPr>
          <p:nvPr/>
        </p:nvPicPr>
        <p:blipFill>
          <a:blip r:embed="rId2" cstate="email">
            <a:alphaModFix amt="40000"/>
            <a:extLst>
              <a:ext uri="{28A0092B-C50C-407E-A947-70E740481C1C}">
                <a14:useLocalDpi xmlns:a14="http://schemas.microsoft.com/office/drawing/2010/main"/>
              </a:ext>
            </a:extLst>
          </a:blip>
          <a:srcRect/>
          <a:stretch/>
        </p:blipFill>
        <p:spPr>
          <a:xfrm>
            <a:off x="0" y="1"/>
            <a:ext cx="12165488" cy="6858001"/>
          </a:xfrm>
          <a:prstGeom prst="rect">
            <a:avLst/>
          </a:prstGeom>
        </p:spPr>
      </p:pic>
      <p:sp>
        <p:nvSpPr>
          <p:cNvPr id="4" name="Title 1">
            <a:extLst>
              <a:ext uri="{FF2B5EF4-FFF2-40B4-BE49-F238E27FC236}">
                <a16:creationId xmlns:a16="http://schemas.microsoft.com/office/drawing/2014/main" id="{F73CF796-DC11-7A9D-1EDA-BA7F5D2B9A81}"/>
              </a:ext>
            </a:extLst>
          </p:cNvPr>
          <p:cNvSpPr>
            <a:spLocks noGrp="1"/>
          </p:cNvSpPr>
          <p:nvPr>
            <p:ph type="title"/>
          </p:nvPr>
        </p:nvSpPr>
        <p:spPr>
          <a:xfrm>
            <a:off x="566929" y="447042"/>
            <a:ext cx="11491993"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a:t>Click to edit Master title style</a:t>
            </a:r>
            <a:endParaRPr lang="en-US" dirty="0"/>
          </a:p>
        </p:txBody>
      </p:sp>
      <p:pic>
        <p:nvPicPr>
          <p:cNvPr id="3" name="Picture 2" descr="A blue sky with stars&#10;&#10;AI-generated content may be incorrect.">
            <a:extLst>
              <a:ext uri="{FF2B5EF4-FFF2-40B4-BE49-F238E27FC236}">
                <a16:creationId xmlns:a16="http://schemas.microsoft.com/office/drawing/2014/main" id="{7329211D-CB94-7458-42A8-6CF61732EA25}"/>
              </a:ext>
            </a:extLst>
          </p:cNvPr>
          <p:cNvPicPr>
            <a:picLocks noChangeAspect="1"/>
          </p:cNvPicPr>
          <p:nvPr userDrawn="1"/>
        </p:nvPicPr>
        <p:blipFill>
          <a:blip r:embed="rId2" cstate="email">
            <a:alphaModFix amt="40000"/>
            <a:extLst>
              <a:ext uri="{28A0092B-C50C-407E-A947-70E740481C1C}">
                <a14:useLocalDpi xmlns:a14="http://schemas.microsoft.com/office/drawing/2010/main"/>
              </a:ext>
            </a:extLst>
          </a:blip>
          <a:srcRect/>
          <a:stretch/>
        </p:blipFill>
        <p:spPr>
          <a:xfrm>
            <a:off x="0" y="-1"/>
            <a:ext cx="12165488" cy="6858001"/>
          </a:xfrm>
          <a:prstGeom prst="rect">
            <a:avLst/>
          </a:prstGeom>
        </p:spPr>
      </p:pic>
      <p:cxnSp>
        <p:nvCxnSpPr>
          <p:cNvPr id="7" name="Straight Connector 6">
            <a:extLst>
              <a:ext uri="{FF2B5EF4-FFF2-40B4-BE49-F238E27FC236}">
                <a16:creationId xmlns:a16="http://schemas.microsoft.com/office/drawing/2014/main" id="{4C4DE43B-890E-8C39-903F-D6EAAD07D011}"/>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3321330A-9C78-4003-CED1-9E59C3EC97BE}"/>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9" name="Picture 8" descr="A blue sky with stars&#10;&#10;AI-generated content may be incorrect.">
            <a:extLst>
              <a:ext uri="{FF2B5EF4-FFF2-40B4-BE49-F238E27FC236}">
                <a16:creationId xmlns:a16="http://schemas.microsoft.com/office/drawing/2014/main" id="{5B8032FE-1432-91A3-0EE9-E165CDF9D59C}"/>
              </a:ext>
            </a:extLst>
          </p:cNvPr>
          <p:cNvPicPr>
            <a:picLocks noChangeAspect="1"/>
          </p:cNvPicPr>
          <p:nvPr userDrawn="1"/>
        </p:nvPicPr>
        <p:blipFill>
          <a:blip r:embed="rId2" cstate="email">
            <a:alphaModFix amt="40000"/>
            <a:extLst>
              <a:ext uri="{28A0092B-C50C-407E-A947-70E740481C1C}">
                <a14:useLocalDpi xmlns:a14="http://schemas.microsoft.com/office/drawing/2010/main"/>
              </a:ext>
            </a:extLst>
          </a:blip>
          <a:srcRect/>
          <a:stretch/>
        </p:blipFill>
        <p:spPr>
          <a:xfrm>
            <a:off x="0" y="1"/>
            <a:ext cx="12165488" cy="6858001"/>
          </a:xfrm>
          <a:prstGeom prst="rect">
            <a:avLst/>
          </a:prstGeom>
        </p:spPr>
      </p:pic>
    </p:spTree>
    <p:extLst>
      <p:ext uri="{BB962C8B-B14F-4D97-AF65-F5344CB8AC3E}">
        <p14:creationId xmlns:p14="http://schemas.microsoft.com/office/powerpoint/2010/main" val="21171064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pecial Visual 3">
    <p:bg>
      <p:bgPr>
        <a:solidFill>
          <a:schemeClr val="tx2"/>
        </a:solidFill>
        <a:effectLst/>
      </p:bgPr>
    </p:bg>
    <p:spTree>
      <p:nvGrpSpPr>
        <p:cNvPr id="1" name=""/>
        <p:cNvGrpSpPr/>
        <p:nvPr/>
      </p:nvGrpSpPr>
      <p:grpSpPr>
        <a:xfrm>
          <a:off x="0" y="0"/>
          <a:ext cx="0" cy="0"/>
          <a:chOff x="0" y="0"/>
          <a:chExt cx="0" cy="0"/>
        </a:xfrm>
      </p:grpSpPr>
      <p:pic>
        <p:nvPicPr>
          <p:cNvPr id="9" name="Picture 8" descr="An astronaut floating in space&#10;&#10;AI-generated content may be incorrect.">
            <a:extLst>
              <a:ext uri="{FF2B5EF4-FFF2-40B4-BE49-F238E27FC236}">
                <a16:creationId xmlns:a16="http://schemas.microsoft.com/office/drawing/2014/main" id="{9DA1DE89-B1B4-0B78-BA7D-98605CF2B49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229484" y="1"/>
            <a:ext cx="6962517" cy="6858001"/>
          </a:xfrm>
          <a:prstGeom prst="rect">
            <a:avLst/>
          </a:prstGeom>
        </p:spPr>
      </p:pic>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24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3" name="Picture 2" descr="An astronaut floating in space&#10;&#10;AI-generated content may be incorrect.">
            <a:extLst>
              <a:ext uri="{FF2B5EF4-FFF2-40B4-BE49-F238E27FC236}">
                <a16:creationId xmlns:a16="http://schemas.microsoft.com/office/drawing/2014/main" id="{E0635C41-ADDE-ECFD-4A89-39798BF0057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229484" y="1"/>
            <a:ext cx="6962517" cy="6858001"/>
          </a:xfrm>
          <a:prstGeom prst="rect">
            <a:avLst/>
          </a:prstGeom>
        </p:spPr>
      </p:pic>
      <p:cxnSp>
        <p:nvCxnSpPr>
          <p:cNvPr id="7" name="Straight Connector 6">
            <a:extLst>
              <a:ext uri="{FF2B5EF4-FFF2-40B4-BE49-F238E27FC236}">
                <a16:creationId xmlns:a16="http://schemas.microsoft.com/office/drawing/2014/main" id="{1350B019-159D-5D74-7F62-08D23C2E0578}"/>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44CF9F98-AE97-450F-F84A-CE7D084224FC}"/>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2261858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pecial Visual 4">
    <p:bg>
      <p:bgPr>
        <a:solidFill>
          <a:schemeClr val="tx2"/>
        </a:solidFill>
        <a:effectLst/>
      </p:bgPr>
    </p:bg>
    <p:spTree>
      <p:nvGrpSpPr>
        <p:cNvPr id="1" name=""/>
        <p:cNvGrpSpPr/>
        <p:nvPr/>
      </p:nvGrpSpPr>
      <p:grpSpPr>
        <a:xfrm>
          <a:off x="0" y="0"/>
          <a:ext cx="0" cy="0"/>
          <a:chOff x="0" y="0"/>
          <a:chExt cx="0" cy="0"/>
        </a:xfrm>
      </p:grpSpPr>
      <p:pic>
        <p:nvPicPr>
          <p:cNvPr id="11" name="Picture 10" descr="A blue planet with a bright light&#10;&#10;AI-generated content may be incorrect.">
            <a:extLst>
              <a:ext uri="{FF2B5EF4-FFF2-40B4-BE49-F238E27FC236}">
                <a16:creationId xmlns:a16="http://schemas.microsoft.com/office/drawing/2014/main" id="{5928C9F9-2416-28F6-1432-DDAFD45C885C}"/>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317712" y="-1"/>
            <a:ext cx="6874288" cy="6853357"/>
          </a:xfrm>
          <a:prstGeom prst="rect">
            <a:avLst/>
          </a:prstGeom>
        </p:spPr>
      </p:pic>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24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3" name="Picture 2" descr="A blue planet with a bright light&#10;&#10;AI-generated content may be incorrect.">
            <a:extLst>
              <a:ext uri="{FF2B5EF4-FFF2-40B4-BE49-F238E27FC236}">
                <a16:creationId xmlns:a16="http://schemas.microsoft.com/office/drawing/2014/main" id="{D656D498-2092-D1EC-81FD-3FFAFC888F3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317712" y="-1"/>
            <a:ext cx="6874288" cy="6853357"/>
          </a:xfrm>
          <a:prstGeom prst="rect">
            <a:avLst/>
          </a:prstGeom>
        </p:spPr>
      </p:pic>
      <p:cxnSp>
        <p:nvCxnSpPr>
          <p:cNvPr id="7" name="Straight Connector 6">
            <a:extLst>
              <a:ext uri="{FF2B5EF4-FFF2-40B4-BE49-F238E27FC236}">
                <a16:creationId xmlns:a16="http://schemas.microsoft.com/office/drawing/2014/main" id="{F96886E9-AD9A-E9DF-BAAA-372184439C16}"/>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2D3FBC09-2080-6866-3439-648B6C2B5D29}"/>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40733201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Slide Number Placeholder 5">
            <a:extLst>
              <a:ext uri="{FF2B5EF4-FFF2-40B4-BE49-F238E27FC236}">
                <a16:creationId xmlns:a16="http://schemas.microsoft.com/office/drawing/2014/main" id="{FF8F2ECD-EA50-2550-0B02-4B2C953442E4}"/>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4" name="Picture 3">
            <a:extLst>
              <a:ext uri="{FF2B5EF4-FFF2-40B4-BE49-F238E27FC236}">
                <a16:creationId xmlns:a16="http://schemas.microsoft.com/office/drawing/2014/main" id="{2153AC61-82C3-E5FF-66C1-161CB2EFC3C7}"/>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5" name="Title 1">
            <a:extLst>
              <a:ext uri="{FF2B5EF4-FFF2-40B4-BE49-F238E27FC236}">
                <a16:creationId xmlns:a16="http://schemas.microsoft.com/office/drawing/2014/main" id="{B091CAAF-7201-F093-551D-F03CEB9F5778}"/>
              </a:ext>
            </a:extLst>
          </p:cNvPr>
          <p:cNvSpPr>
            <a:spLocks noGrp="1"/>
          </p:cNvSpPr>
          <p:nvPr>
            <p:ph type="title"/>
          </p:nvPr>
        </p:nvSpPr>
        <p:spPr>
          <a:xfrm>
            <a:off x="566929" y="447042"/>
            <a:ext cx="11491993"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a:t>Click to edit Master title style</a:t>
            </a:r>
            <a:endParaRPr lang="en-US" dirty="0"/>
          </a:p>
        </p:txBody>
      </p:sp>
      <p:cxnSp>
        <p:nvCxnSpPr>
          <p:cNvPr id="2" name="Straight Connector 1">
            <a:extLst>
              <a:ext uri="{FF2B5EF4-FFF2-40B4-BE49-F238E27FC236}">
                <a16:creationId xmlns:a16="http://schemas.microsoft.com/office/drawing/2014/main" id="{2D79AD59-79F4-E588-BCFA-3D38C296F0B9}"/>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2258D118-1155-161B-6428-1447988C00C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32583749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ll Quote Blu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p:nvPicPr>
        <p:blipFill>
          <a:blip r:embed="rId2" cstate="email">
            <a:alphaModFix amt="6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189" indent="0">
              <a:buFontTx/>
              <a:buNone/>
              <a:defRPr b="0" i="0">
                <a:solidFill>
                  <a:schemeClr val="bg1"/>
                </a:solidFill>
                <a:latin typeface="Figtree Medium" pitchFamily="2" charset="0"/>
              </a:defRPr>
            </a:lvl2pPr>
            <a:lvl3pPr marL="914377" indent="0">
              <a:buFontTx/>
              <a:buNone/>
              <a:defRPr b="0" i="0">
                <a:solidFill>
                  <a:schemeClr val="bg1"/>
                </a:solidFill>
                <a:latin typeface="Figtree Medium" pitchFamily="2" charset="0"/>
              </a:defRPr>
            </a:lvl3pPr>
            <a:lvl4pPr marL="1371566" indent="0">
              <a:buFontTx/>
              <a:buNone/>
              <a:defRPr b="0" i="0">
                <a:solidFill>
                  <a:schemeClr val="bg1"/>
                </a:solidFill>
                <a:latin typeface="Figtree Medium" pitchFamily="2" charset="0"/>
              </a:defRPr>
            </a:lvl4pPr>
            <a:lvl5pPr marL="1828754"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sp>
        <p:nvSpPr>
          <p:cNvPr id="10" name="Slide Number Placeholder 5">
            <a:extLst>
              <a:ext uri="{FF2B5EF4-FFF2-40B4-BE49-F238E27FC236}">
                <a16:creationId xmlns:a16="http://schemas.microsoft.com/office/drawing/2014/main" id="{7F502D63-98F2-0192-9694-5687D8D05AD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1" name="Straight Connector 10">
            <a:extLst>
              <a:ext uri="{FF2B5EF4-FFF2-40B4-BE49-F238E27FC236}">
                <a16:creationId xmlns:a16="http://schemas.microsoft.com/office/drawing/2014/main" id="{80622538-DB89-0185-9E98-C8D31813769B}"/>
              </a:ext>
            </a:extLst>
          </p:cNvPr>
          <p:cNvCxnSpPr>
            <a:cxnSpLocks/>
          </p:cNvCxnSpPr>
          <p:nvPr/>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F0FF596D-CC26-E4B0-EC5C-182E1E7E40D3}"/>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3" name="Picture 2" descr="A white logo with a black background&#10;&#10;AI-generated content may be incorrect.">
            <a:extLst>
              <a:ext uri="{FF2B5EF4-FFF2-40B4-BE49-F238E27FC236}">
                <a16:creationId xmlns:a16="http://schemas.microsoft.com/office/drawing/2014/main" id="{DE5C1D8D-7390-3A27-6AA7-F9D11AA94221}"/>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pic>
        <p:nvPicPr>
          <p:cNvPr id="5" name="Picture 4">
            <a:extLst>
              <a:ext uri="{FF2B5EF4-FFF2-40B4-BE49-F238E27FC236}">
                <a16:creationId xmlns:a16="http://schemas.microsoft.com/office/drawing/2014/main" id="{7ACCAA77-C8F5-484A-E99A-C5CAA88F2A70}"/>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cxnSp>
        <p:nvCxnSpPr>
          <p:cNvPr id="6" name="Straight Connector 5">
            <a:extLst>
              <a:ext uri="{FF2B5EF4-FFF2-40B4-BE49-F238E27FC236}">
                <a16:creationId xmlns:a16="http://schemas.microsoft.com/office/drawing/2014/main" id="{1A31CA6A-A983-C9EA-D464-A0099A3465C0}"/>
              </a:ext>
            </a:extLst>
          </p:cNvPr>
          <p:cNvCxnSpPr>
            <a:cxnSpLocks/>
          </p:cNvCxnSpPr>
          <p:nvPr userDrawn="1"/>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1B425EAC-0B99-A193-E6DF-4A3FB4D35CF4}"/>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22061583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ull Quote Plum">
    <p:bg>
      <p:bgPr>
        <a:gradFill>
          <a:gsLst>
            <a:gs pos="0">
              <a:schemeClr val="accent2"/>
            </a:gs>
            <a:gs pos="54000">
              <a:schemeClr val="accent3"/>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p:nvPicPr>
        <p:blipFill>
          <a:blip r:embed="rId2" cstate="email">
            <a:alphaModFix amt="5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189" indent="0">
              <a:buFontTx/>
              <a:buNone/>
              <a:defRPr b="0" i="0">
                <a:solidFill>
                  <a:schemeClr val="bg1"/>
                </a:solidFill>
                <a:latin typeface="Figtree Medium" pitchFamily="2" charset="0"/>
              </a:defRPr>
            </a:lvl2pPr>
            <a:lvl3pPr marL="914377" indent="0">
              <a:buFontTx/>
              <a:buNone/>
              <a:defRPr b="0" i="0">
                <a:solidFill>
                  <a:schemeClr val="bg1"/>
                </a:solidFill>
                <a:latin typeface="Figtree Medium" pitchFamily="2" charset="0"/>
              </a:defRPr>
            </a:lvl3pPr>
            <a:lvl4pPr marL="1371566" indent="0">
              <a:buFontTx/>
              <a:buNone/>
              <a:defRPr b="0" i="0">
                <a:solidFill>
                  <a:schemeClr val="bg1"/>
                </a:solidFill>
                <a:latin typeface="Figtree Medium" pitchFamily="2" charset="0"/>
              </a:defRPr>
            </a:lvl4pPr>
            <a:lvl5pPr marL="1828754"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sp>
        <p:nvSpPr>
          <p:cNvPr id="5" name="Slide Number Placeholder 5">
            <a:extLst>
              <a:ext uri="{FF2B5EF4-FFF2-40B4-BE49-F238E27FC236}">
                <a16:creationId xmlns:a16="http://schemas.microsoft.com/office/drawing/2014/main" id="{FE1CE688-D74E-8D3C-C8FB-273D204479BC}"/>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56F17F2-AAEF-FEEE-FEB8-8DF375D781F2}"/>
              </a:ext>
            </a:extLst>
          </p:cNvPr>
          <p:cNvCxnSpPr>
            <a:cxnSpLocks/>
          </p:cNvCxnSpPr>
          <p:nvPr/>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BE6E5B02-D478-7B84-9936-C8A086849FBA}"/>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3" name="Picture 2" descr="A white logo with a black background&#10;&#10;AI-generated content may be incorrect.">
            <a:extLst>
              <a:ext uri="{FF2B5EF4-FFF2-40B4-BE49-F238E27FC236}">
                <a16:creationId xmlns:a16="http://schemas.microsoft.com/office/drawing/2014/main" id="{7327AAFF-19A2-9015-6B3D-DB278806BC44}"/>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pic>
        <p:nvPicPr>
          <p:cNvPr id="9" name="Picture 8">
            <a:extLst>
              <a:ext uri="{FF2B5EF4-FFF2-40B4-BE49-F238E27FC236}">
                <a16:creationId xmlns:a16="http://schemas.microsoft.com/office/drawing/2014/main" id="{70852F9B-36C1-D494-5E4D-40040A3F1807}"/>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cxnSp>
        <p:nvCxnSpPr>
          <p:cNvPr id="10" name="Straight Connector 9">
            <a:extLst>
              <a:ext uri="{FF2B5EF4-FFF2-40B4-BE49-F238E27FC236}">
                <a16:creationId xmlns:a16="http://schemas.microsoft.com/office/drawing/2014/main" id="{728DF152-62B2-3BD4-6110-3D10C5AE2687}"/>
              </a:ext>
            </a:extLst>
          </p:cNvPr>
          <p:cNvCxnSpPr>
            <a:cxnSpLocks/>
          </p:cNvCxnSpPr>
          <p:nvPr userDrawn="1"/>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4A19AF4C-B81C-3974-F9F6-FE83655AB5C4}"/>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42092327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ll Quote Gold">
    <p:bg>
      <p:bgPr>
        <a:gradFill>
          <a:gsLst>
            <a:gs pos="0">
              <a:schemeClr val="accent6"/>
            </a:gs>
            <a:gs pos="54000">
              <a:schemeClr val="accent4"/>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p:nvPicPr>
        <p:blipFill>
          <a:blip r:embed="rId2" cstate="email">
            <a:alphaModFix amt="10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189" indent="0">
              <a:buFontTx/>
              <a:buNone/>
              <a:defRPr b="0" i="0">
                <a:solidFill>
                  <a:schemeClr val="bg1"/>
                </a:solidFill>
                <a:latin typeface="Figtree Medium" pitchFamily="2" charset="0"/>
              </a:defRPr>
            </a:lvl2pPr>
            <a:lvl3pPr marL="914377" indent="0">
              <a:buFontTx/>
              <a:buNone/>
              <a:defRPr b="0" i="0">
                <a:solidFill>
                  <a:schemeClr val="bg1"/>
                </a:solidFill>
                <a:latin typeface="Figtree Medium" pitchFamily="2" charset="0"/>
              </a:defRPr>
            </a:lvl3pPr>
            <a:lvl4pPr marL="1371566" indent="0">
              <a:buFontTx/>
              <a:buNone/>
              <a:defRPr b="0" i="0">
                <a:solidFill>
                  <a:schemeClr val="bg1"/>
                </a:solidFill>
                <a:latin typeface="Figtree Medium" pitchFamily="2" charset="0"/>
              </a:defRPr>
            </a:lvl4pPr>
            <a:lvl5pPr marL="1828754"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sp>
        <p:nvSpPr>
          <p:cNvPr id="5" name="Slide Number Placeholder 5">
            <a:extLst>
              <a:ext uri="{FF2B5EF4-FFF2-40B4-BE49-F238E27FC236}">
                <a16:creationId xmlns:a16="http://schemas.microsoft.com/office/drawing/2014/main" id="{EEFF9B6A-2657-DE51-519D-1E20B3FDA186}"/>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8AD89207-345D-F496-AF0B-592807269139}"/>
              </a:ext>
            </a:extLst>
          </p:cNvPr>
          <p:cNvCxnSpPr>
            <a:cxnSpLocks/>
          </p:cNvCxnSpPr>
          <p:nvPr/>
        </p:nvCxnSpPr>
        <p:spPr>
          <a:xfrm>
            <a:off x="11491993" y="6454131"/>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07A89A59-A76B-D96F-9CE2-1086D4C06B3C}"/>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3" name="Picture 2" descr="A white logo with a black background&#10;&#10;AI-generated content may be incorrect.">
            <a:extLst>
              <a:ext uri="{FF2B5EF4-FFF2-40B4-BE49-F238E27FC236}">
                <a16:creationId xmlns:a16="http://schemas.microsoft.com/office/drawing/2014/main" id="{04643F79-5D7E-16C7-8E1C-E74F77FB2B71}"/>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pic>
        <p:nvPicPr>
          <p:cNvPr id="9" name="Picture 8">
            <a:extLst>
              <a:ext uri="{FF2B5EF4-FFF2-40B4-BE49-F238E27FC236}">
                <a16:creationId xmlns:a16="http://schemas.microsoft.com/office/drawing/2014/main" id="{A1F0C819-BF83-0B94-B516-FE978DD2EDC7}"/>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cxnSp>
        <p:nvCxnSpPr>
          <p:cNvPr id="10" name="Straight Connector 9">
            <a:extLst>
              <a:ext uri="{FF2B5EF4-FFF2-40B4-BE49-F238E27FC236}">
                <a16:creationId xmlns:a16="http://schemas.microsoft.com/office/drawing/2014/main" id="{F205AD62-2A60-2A80-DA70-8D8E0609D1CC}"/>
              </a:ext>
            </a:extLst>
          </p:cNvPr>
          <p:cNvCxnSpPr>
            <a:cxnSpLocks/>
          </p:cNvCxnSpPr>
          <p:nvPr userDrawn="1"/>
        </p:nvCxnSpPr>
        <p:spPr>
          <a:xfrm>
            <a:off x="11491993" y="6454131"/>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8E6AC88C-AF2E-5667-5E18-FFB1D4825AED}"/>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35772890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ll Quote Green">
    <p:bg>
      <p:bgPr>
        <a:gradFill>
          <a:gsLst>
            <a:gs pos="0">
              <a:schemeClr val="accent2"/>
            </a:gs>
            <a:gs pos="54000">
              <a:schemeClr val="accent5"/>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p:nvPicPr>
        <p:blipFill>
          <a:blip r:embed="rId2" cstate="email">
            <a:alphaModFix amt="6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189" indent="0">
              <a:buFontTx/>
              <a:buNone/>
              <a:defRPr b="0" i="0">
                <a:solidFill>
                  <a:schemeClr val="bg1"/>
                </a:solidFill>
                <a:latin typeface="Figtree Medium" pitchFamily="2" charset="0"/>
              </a:defRPr>
            </a:lvl2pPr>
            <a:lvl3pPr marL="914377" indent="0">
              <a:buFontTx/>
              <a:buNone/>
              <a:defRPr b="0" i="0">
                <a:solidFill>
                  <a:schemeClr val="bg1"/>
                </a:solidFill>
                <a:latin typeface="Figtree Medium" pitchFamily="2" charset="0"/>
              </a:defRPr>
            </a:lvl3pPr>
            <a:lvl4pPr marL="1371566" indent="0">
              <a:buFontTx/>
              <a:buNone/>
              <a:defRPr b="0" i="0">
                <a:solidFill>
                  <a:schemeClr val="bg1"/>
                </a:solidFill>
                <a:latin typeface="Figtree Medium" pitchFamily="2" charset="0"/>
              </a:defRPr>
            </a:lvl4pPr>
            <a:lvl5pPr marL="1828754"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sp>
        <p:nvSpPr>
          <p:cNvPr id="5" name="Slide Number Placeholder 5">
            <a:extLst>
              <a:ext uri="{FF2B5EF4-FFF2-40B4-BE49-F238E27FC236}">
                <a16:creationId xmlns:a16="http://schemas.microsoft.com/office/drawing/2014/main" id="{1507A87D-5CC5-BF86-C0AA-3E1DDCEA194D}"/>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6BBC947-4C17-284C-CC69-494D42DEE5CC}"/>
              </a:ext>
            </a:extLst>
          </p:cNvPr>
          <p:cNvCxnSpPr>
            <a:cxnSpLocks/>
          </p:cNvCxnSpPr>
          <p:nvPr/>
        </p:nvCxnSpPr>
        <p:spPr>
          <a:xfrm>
            <a:off x="11491993" y="6454131"/>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87BA6484-6E55-DD5F-9E5D-1E9FEF47CF2F}"/>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3" name="Picture 2" descr="A white logo with a black background&#10;&#10;AI-generated content may be incorrect.">
            <a:extLst>
              <a:ext uri="{FF2B5EF4-FFF2-40B4-BE49-F238E27FC236}">
                <a16:creationId xmlns:a16="http://schemas.microsoft.com/office/drawing/2014/main" id="{ACB5222A-7EFE-715B-E9E8-7F1D9592D41A}"/>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pic>
        <p:nvPicPr>
          <p:cNvPr id="9" name="Picture 8">
            <a:extLst>
              <a:ext uri="{FF2B5EF4-FFF2-40B4-BE49-F238E27FC236}">
                <a16:creationId xmlns:a16="http://schemas.microsoft.com/office/drawing/2014/main" id="{E4F380DE-7F95-AD23-E0AD-750F7CF8949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cxnSp>
        <p:nvCxnSpPr>
          <p:cNvPr id="10" name="Straight Connector 9">
            <a:extLst>
              <a:ext uri="{FF2B5EF4-FFF2-40B4-BE49-F238E27FC236}">
                <a16:creationId xmlns:a16="http://schemas.microsoft.com/office/drawing/2014/main" id="{3118B792-08C2-CDF3-F064-E8458B15E64E}"/>
              </a:ext>
            </a:extLst>
          </p:cNvPr>
          <p:cNvCxnSpPr>
            <a:cxnSpLocks/>
          </p:cNvCxnSpPr>
          <p:nvPr userDrawn="1"/>
        </p:nvCxnSpPr>
        <p:spPr>
          <a:xfrm>
            <a:off x="11491993" y="6454131"/>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0E8E7BC3-133A-4FAB-C190-A1EC8F6BF105}"/>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41172944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ull Quote Orange">
    <p:bg>
      <p:bgPr>
        <a:gradFill>
          <a:gsLst>
            <a:gs pos="0">
              <a:schemeClr val="accent3"/>
            </a:gs>
            <a:gs pos="54000">
              <a:schemeClr val="accent6"/>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p:nvPicPr>
        <p:blipFill>
          <a:blip r:embed="rId2" cstate="email">
            <a:alphaModFix amt="6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189" indent="0">
              <a:buFontTx/>
              <a:buNone/>
              <a:defRPr b="0" i="0">
                <a:solidFill>
                  <a:schemeClr val="bg1"/>
                </a:solidFill>
                <a:latin typeface="Figtree Medium" pitchFamily="2" charset="0"/>
              </a:defRPr>
            </a:lvl2pPr>
            <a:lvl3pPr marL="914377" indent="0">
              <a:buFontTx/>
              <a:buNone/>
              <a:defRPr b="0" i="0">
                <a:solidFill>
                  <a:schemeClr val="bg1"/>
                </a:solidFill>
                <a:latin typeface="Figtree Medium" pitchFamily="2" charset="0"/>
              </a:defRPr>
            </a:lvl3pPr>
            <a:lvl4pPr marL="1371566" indent="0">
              <a:buFontTx/>
              <a:buNone/>
              <a:defRPr b="0" i="0">
                <a:solidFill>
                  <a:schemeClr val="bg1"/>
                </a:solidFill>
                <a:latin typeface="Figtree Medium" pitchFamily="2" charset="0"/>
              </a:defRPr>
            </a:lvl4pPr>
            <a:lvl5pPr marL="1828754"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sp>
        <p:nvSpPr>
          <p:cNvPr id="5" name="Slide Number Placeholder 5">
            <a:extLst>
              <a:ext uri="{FF2B5EF4-FFF2-40B4-BE49-F238E27FC236}">
                <a16:creationId xmlns:a16="http://schemas.microsoft.com/office/drawing/2014/main" id="{0260A482-67B1-88FD-50A7-98D6A2DC1F3F}"/>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7334E67-BF46-822A-CDA7-B19153C5567B}"/>
              </a:ext>
            </a:extLst>
          </p:cNvPr>
          <p:cNvCxnSpPr>
            <a:cxnSpLocks/>
          </p:cNvCxnSpPr>
          <p:nvPr/>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97922417-E2C6-1B89-E477-CE2A211BCE6C}"/>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pic>
        <p:nvPicPr>
          <p:cNvPr id="3" name="Picture 2" descr="A white logo with a black background&#10;&#10;AI-generated content may be incorrect.">
            <a:extLst>
              <a:ext uri="{FF2B5EF4-FFF2-40B4-BE49-F238E27FC236}">
                <a16:creationId xmlns:a16="http://schemas.microsoft.com/office/drawing/2014/main" id="{6E960383-2494-ADEF-03D5-FDC144A682B8}"/>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pic>
        <p:nvPicPr>
          <p:cNvPr id="9" name="Picture 8">
            <a:extLst>
              <a:ext uri="{FF2B5EF4-FFF2-40B4-BE49-F238E27FC236}">
                <a16:creationId xmlns:a16="http://schemas.microsoft.com/office/drawing/2014/main" id="{F852DD25-5943-4273-8EDC-C49016F1015B}"/>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cxnSp>
        <p:nvCxnSpPr>
          <p:cNvPr id="10" name="Straight Connector 9">
            <a:extLst>
              <a:ext uri="{FF2B5EF4-FFF2-40B4-BE49-F238E27FC236}">
                <a16:creationId xmlns:a16="http://schemas.microsoft.com/office/drawing/2014/main" id="{56966A03-E8E9-C7C0-240D-3C0DA03607C6}"/>
              </a:ext>
            </a:extLst>
          </p:cNvPr>
          <p:cNvCxnSpPr>
            <a:cxnSpLocks/>
          </p:cNvCxnSpPr>
          <p:nvPr userDrawn="1"/>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8D1B71EC-4B4E-11AE-F77A-93C69C847CFD}"/>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16707116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Content">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DF5FA7B-72FB-B64A-A69A-D4755A185809}"/>
              </a:ext>
            </a:extLst>
          </p:cNvPr>
          <p:cNvPicPr>
            <a:picLocks noChangeAspect="1"/>
          </p:cNvPicPr>
          <p:nvPr/>
        </p:nvPicPr>
        <p:blipFill>
          <a:blip r:embed="rId2" cstate="email">
            <a:alphaModFix amt="6000"/>
            <a:extLst>
              <a:ext uri="{28A0092B-C50C-407E-A947-70E740481C1C}">
                <a14:useLocalDpi xmlns:a14="http://schemas.microsoft.com/office/drawing/2010/main"/>
              </a:ext>
            </a:extLst>
          </a:blip>
          <a:srcRect t="-132"/>
          <a:stretch/>
        </p:blipFill>
        <p:spPr>
          <a:xfrm>
            <a:off x="5897661" y="1502251"/>
            <a:ext cx="6294340" cy="5348660"/>
          </a:xfrm>
          <a:prstGeom prst="rect">
            <a:avLst/>
          </a:prstGeom>
        </p:spPr>
      </p:pic>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4"/>
            <a:ext cx="10515600" cy="4125723"/>
          </a:xfrm>
          <a:prstGeom prst="rect">
            <a:avLst/>
          </a:prstGeom>
        </p:spPr>
        <p:txBody>
          <a:bodyPr lIns="0" tIns="0" rIns="0" bIns="0">
            <a:noAutofit/>
          </a:bodyPr>
          <a:lstStyle>
            <a:lvl1pPr marL="0" indent="0">
              <a:buFontTx/>
              <a:buNone/>
              <a:defRPr sz="1800" b="0" i="0">
                <a:solidFill>
                  <a:schemeClr val="tx2"/>
                </a:solidFill>
                <a:latin typeface="Figtree" pitchFamily="2" charset="0"/>
              </a:defRPr>
            </a:lvl1pPr>
            <a:lvl2pPr marL="742932" indent="-285744">
              <a:buFont typeface="Arial" panose="020B0604020202020204" pitchFamily="34" charset="0"/>
              <a:buChar char="•"/>
              <a:defRPr sz="1800" b="0" i="0">
                <a:solidFill>
                  <a:schemeClr val="tx2"/>
                </a:solidFill>
                <a:latin typeface="Figtree" pitchFamily="2" charset="0"/>
              </a:defRPr>
            </a:lvl2pPr>
            <a:lvl3pPr marL="1200121" indent="-285744">
              <a:buFont typeface="Arial" panose="020B0604020202020204" pitchFamily="34" charset="0"/>
              <a:buChar char="•"/>
              <a:defRPr sz="1800" b="0" i="0">
                <a:solidFill>
                  <a:schemeClr val="tx2"/>
                </a:solidFill>
                <a:latin typeface="Figtree" pitchFamily="2" charset="0"/>
              </a:defRPr>
            </a:lvl3pPr>
            <a:lvl4pPr marL="1657309" indent="-285744">
              <a:buFont typeface="Arial" panose="020B0604020202020204" pitchFamily="34" charset="0"/>
              <a:buChar char="•"/>
              <a:defRPr sz="1800" b="0" i="0">
                <a:solidFill>
                  <a:schemeClr val="tx2"/>
                </a:solidFill>
                <a:latin typeface="Figtree" pitchFamily="2" charset="0"/>
              </a:defRPr>
            </a:lvl4pPr>
            <a:lvl5pPr marL="2114498" indent="-285744">
              <a:buFont typeface="Arial" panose="020B0604020202020204" pitchFamily="34" charset="0"/>
              <a:buChar char="•"/>
              <a:defRPr sz="1800" b="0" i="0">
                <a:solidFill>
                  <a:schemeClr val="tx2"/>
                </a:solidFill>
                <a:latin typeface="Figtree"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descr="A blue and black logo&#10;&#10;AI-generated content may be incorrect.">
            <a:extLst>
              <a:ext uri="{FF2B5EF4-FFF2-40B4-BE49-F238E27FC236}">
                <a16:creationId xmlns:a16="http://schemas.microsoft.com/office/drawing/2014/main" id="{94F72188-A0A9-5F3A-CF20-6B8F5FE585F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4" name="Title 1">
            <a:extLst>
              <a:ext uri="{FF2B5EF4-FFF2-40B4-BE49-F238E27FC236}">
                <a16:creationId xmlns:a16="http://schemas.microsoft.com/office/drawing/2014/main" id="{389A7721-0515-B5AB-B13F-0EC5D1B59AAC}"/>
              </a:ext>
            </a:extLst>
          </p:cNvPr>
          <p:cNvSpPr txBox="1">
            <a:spLocks/>
          </p:cNvSpPr>
          <p:nvPr/>
        </p:nvSpPr>
        <p:spPr>
          <a:xfrm>
            <a:off x="566929" y="447042"/>
            <a:ext cx="11491993" cy="1169207"/>
          </a:xfrm>
          <a:prstGeom prst="rect">
            <a:avLst/>
          </a:prstGeom>
        </p:spPr>
        <p:txBody>
          <a:bodyPr lIns="0" tIns="0" rIns="0" bIns="0" anchor="ctr">
            <a:noAutofit/>
          </a:bodyPr>
          <a:lstStyle>
            <a:lvl1pPr algn="l" defTabSz="914400" rtl="0" eaLnBrk="1" latinLnBrk="0" hangingPunct="1">
              <a:lnSpc>
                <a:spcPct val="80000"/>
              </a:lnSpc>
              <a:spcBef>
                <a:spcPct val="0"/>
              </a:spcBef>
              <a:buNone/>
              <a:defRPr sz="4000" b="1" i="0" kern="1200">
                <a:solidFill>
                  <a:schemeClr val="bg1"/>
                </a:solidFill>
                <a:latin typeface="Figtree SemiBold" pitchFamily="2" charset="0"/>
                <a:ea typeface="+mj-ea"/>
                <a:cs typeface="+mj-cs"/>
              </a:defRPr>
            </a:lvl1pPr>
          </a:lstStyle>
          <a:p>
            <a:r>
              <a:rPr lang="en-US" sz="4000" dirty="0">
                <a:solidFill>
                  <a:srgbClr val="2E7BA8"/>
                </a:solidFill>
              </a:rPr>
              <a:t>Click to edit Master title style</a:t>
            </a:r>
          </a:p>
        </p:txBody>
      </p:sp>
      <p:pic>
        <p:nvPicPr>
          <p:cNvPr id="2" name="Picture 1">
            <a:extLst>
              <a:ext uri="{FF2B5EF4-FFF2-40B4-BE49-F238E27FC236}">
                <a16:creationId xmlns:a16="http://schemas.microsoft.com/office/drawing/2014/main" id="{8A1E6E0A-4656-97A5-E8FD-5842D41D5AC9}"/>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t="-132"/>
          <a:stretch/>
        </p:blipFill>
        <p:spPr>
          <a:xfrm>
            <a:off x="5897661" y="1502251"/>
            <a:ext cx="6294340" cy="5348660"/>
          </a:xfrm>
          <a:prstGeom prst="rect">
            <a:avLst/>
          </a:prstGeom>
        </p:spPr>
      </p:pic>
      <p:cxnSp>
        <p:nvCxnSpPr>
          <p:cNvPr id="5" name="Straight Connector 4">
            <a:extLst>
              <a:ext uri="{FF2B5EF4-FFF2-40B4-BE49-F238E27FC236}">
                <a16:creationId xmlns:a16="http://schemas.microsoft.com/office/drawing/2014/main" id="{6915CB8E-8A6E-BE9C-28B5-69E00B39696D}"/>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7" name="Picture 6" descr="A blue and black logo&#10;&#10;AI-generated content may be incorrect.">
            <a:extLst>
              <a:ext uri="{FF2B5EF4-FFF2-40B4-BE49-F238E27FC236}">
                <a16:creationId xmlns:a16="http://schemas.microsoft.com/office/drawing/2014/main" id="{D3733672-CF6E-5CB5-3144-4D899F38CA7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8" name="Title 1">
            <a:extLst>
              <a:ext uri="{FF2B5EF4-FFF2-40B4-BE49-F238E27FC236}">
                <a16:creationId xmlns:a16="http://schemas.microsoft.com/office/drawing/2014/main" id="{F0BA5101-7D51-0C98-629F-B243C0680740}"/>
              </a:ext>
            </a:extLst>
          </p:cNvPr>
          <p:cNvSpPr txBox="1">
            <a:spLocks/>
          </p:cNvSpPr>
          <p:nvPr userDrawn="1"/>
        </p:nvSpPr>
        <p:spPr>
          <a:xfrm>
            <a:off x="566929" y="447042"/>
            <a:ext cx="11491993" cy="1169207"/>
          </a:xfrm>
          <a:prstGeom prst="rect">
            <a:avLst/>
          </a:prstGeom>
        </p:spPr>
        <p:txBody>
          <a:bodyPr lIns="0" tIns="0" rIns="0" bIns="0" anchor="ctr">
            <a:noAutofit/>
          </a:bodyPr>
          <a:lstStyle>
            <a:lvl1pPr algn="l" defTabSz="914400" rtl="0" eaLnBrk="1" latinLnBrk="0" hangingPunct="1">
              <a:lnSpc>
                <a:spcPct val="80000"/>
              </a:lnSpc>
              <a:spcBef>
                <a:spcPct val="0"/>
              </a:spcBef>
              <a:buNone/>
              <a:defRPr sz="4000" b="1" i="0" kern="1200">
                <a:solidFill>
                  <a:schemeClr val="bg1"/>
                </a:solidFill>
                <a:latin typeface="Figtree SemiBold" pitchFamily="2" charset="0"/>
                <a:ea typeface="+mj-ea"/>
                <a:cs typeface="+mj-cs"/>
              </a:defRPr>
            </a:lvl1pPr>
          </a:lstStyle>
          <a:p>
            <a:r>
              <a:rPr lang="en-US" sz="4000" dirty="0">
                <a:solidFill>
                  <a:srgbClr val="2E7BA8"/>
                </a:solidFill>
              </a:rPr>
              <a:t>Click to edit Master title style</a:t>
            </a:r>
          </a:p>
        </p:txBody>
      </p:sp>
    </p:spTree>
    <p:extLst>
      <p:ext uri="{BB962C8B-B14F-4D97-AF65-F5344CB8AC3E}">
        <p14:creationId xmlns:p14="http://schemas.microsoft.com/office/powerpoint/2010/main" val="1196264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 Image Blue">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77975A2F-3139-064B-C4DB-834F5B6D5EA1}"/>
              </a:ext>
            </a:extLst>
          </p:cNvPr>
          <p:cNvSpPr>
            <a:spLocks noGrp="1"/>
          </p:cNvSpPr>
          <p:nvPr>
            <p:ph type="pic" idx="1"/>
          </p:nvPr>
        </p:nvSpPr>
        <p:spPr>
          <a:xfrm>
            <a:off x="5300658" y="1"/>
            <a:ext cx="6891343"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17" name="Freeform 16">
            <a:extLst>
              <a:ext uri="{FF2B5EF4-FFF2-40B4-BE49-F238E27FC236}">
                <a16:creationId xmlns:a16="http://schemas.microsoft.com/office/drawing/2014/main" id="{43C4FB2F-E7D0-EBC7-4DDB-6CC86298818F}"/>
              </a:ext>
            </a:extLst>
          </p:cNvPr>
          <p:cNvSpPr/>
          <p:nvPr/>
        </p:nvSpPr>
        <p:spPr>
          <a:xfrm>
            <a:off x="4809511" y="-5"/>
            <a:ext cx="3605100"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5" name="Straight Connector 4">
            <a:extLst>
              <a:ext uri="{FF2B5EF4-FFF2-40B4-BE49-F238E27FC236}">
                <a16:creationId xmlns:a16="http://schemas.microsoft.com/office/drawing/2014/main" id="{7894C0AB-3E04-CE5A-B263-947602916FE6}"/>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6" name="Picture 5" descr="A blue and black logo&#10;&#10;AI-generated content may be incorrect.">
            <a:extLst>
              <a:ext uri="{FF2B5EF4-FFF2-40B4-BE49-F238E27FC236}">
                <a16:creationId xmlns:a16="http://schemas.microsoft.com/office/drawing/2014/main" id="{911E5E9D-61A4-7E04-87FE-A8BFF118FC4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7" name="Freeform 6">
            <a:extLst>
              <a:ext uri="{FF2B5EF4-FFF2-40B4-BE49-F238E27FC236}">
                <a16:creationId xmlns:a16="http://schemas.microsoft.com/office/drawing/2014/main" id="{B0FCF71B-3ED3-8DA6-4977-F9FFFDA88268}"/>
              </a:ext>
            </a:extLst>
          </p:cNvPr>
          <p:cNvSpPr/>
          <p:nvPr userDrawn="1"/>
        </p:nvSpPr>
        <p:spPr>
          <a:xfrm>
            <a:off x="4809511" y="-5"/>
            <a:ext cx="3605100"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5169377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 Image Plum">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69C6E8A-1D0A-512B-A944-81B2539A1EDA}"/>
              </a:ext>
            </a:extLst>
          </p:cNvPr>
          <p:cNvSpPr>
            <a:spLocks noGrp="1"/>
          </p:cNvSpPr>
          <p:nvPr>
            <p:ph type="pic" idx="1"/>
          </p:nvPr>
        </p:nvSpPr>
        <p:spPr>
          <a:xfrm>
            <a:off x="5300658" y="1"/>
            <a:ext cx="6891343"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3" name="Freeform 2">
            <a:extLst>
              <a:ext uri="{FF2B5EF4-FFF2-40B4-BE49-F238E27FC236}">
                <a16:creationId xmlns:a16="http://schemas.microsoft.com/office/drawing/2014/main" id="{63078809-296D-371D-64D3-36C8022650B2}"/>
              </a:ext>
            </a:extLst>
          </p:cNvPr>
          <p:cNvSpPr/>
          <p:nvPr/>
        </p:nvSpPr>
        <p:spPr>
          <a:xfrm>
            <a:off x="4847710" y="-5"/>
            <a:ext cx="3566903" cy="6858001"/>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6" name="Straight Connector 5">
            <a:extLst>
              <a:ext uri="{FF2B5EF4-FFF2-40B4-BE49-F238E27FC236}">
                <a16:creationId xmlns:a16="http://schemas.microsoft.com/office/drawing/2014/main" id="{BD341E90-4D37-64FA-B433-3FCC5E4B7902}"/>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7" name="Picture 6" descr="A blue and black logo&#10;&#10;AI-generated content may be incorrect.">
            <a:extLst>
              <a:ext uri="{FF2B5EF4-FFF2-40B4-BE49-F238E27FC236}">
                <a16:creationId xmlns:a16="http://schemas.microsoft.com/office/drawing/2014/main" id="{2D59FE28-F5DC-BD71-577B-B3EA1038F29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8" name="Freeform 7">
            <a:extLst>
              <a:ext uri="{FF2B5EF4-FFF2-40B4-BE49-F238E27FC236}">
                <a16:creationId xmlns:a16="http://schemas.microsoft.com/office/drawing/2014/main" id="{12CCFE36-B375-DD5C-8F41-5A0D52870CA0}"/>
              </a:ext>
            </a:extLst>
          </p:cNvPr>
          <p:cNvSpPr/>
          <p:nvPr userDrawn="1"/>
        </p:nvSpPr>
        <p:spPr>
          <a:xfrm>
            <a:off x="4847710" y="-5"/>
            <a:ext cx="3566903" cy="6858001"/>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7694902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 Image G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3"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5" name="Freeform 4">
            <a:extLst>
              <a:ext uri="{FF2B5EF4-FFF2-40B4-BE49-F238E27FC236}">
                <a16:creationId xmlns:a16="http://schemas.microsoft.com/office/drawing/2014/main" id="{F06610B9-8C48-9789-3124-8DB88AA039B6}"/>
              </a:ext>
            </a:extLst>
          </p:cNvPr>
          <p:cNvSpPr/>
          <p:nvPr/>
        </p:nvSpPr>
        <p:spPr>
          <a:xfrm>
            <a:off x="4855811" y="-5"/>
            <a:ext cx="35588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3" name="Straight Connector 2">
            <a:extLst>
              <a:ext uri="{FF2B5EF4-FFF2-40B4-BE49-F238E27FC236}">
                <a16:creationId xmlns:a16="http://schemas.microsoft.com/office/drawing/2014/main" id="{340A1FCB-FC17-E09B-8495-F9E817853547}"/>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6" name="Picture 5" descr="A blue and black logo&#10;&#10;AI-generated content may be incorrect.">
            <a:extLst>
              <a:ext uri="{FF2B5EF4-FFF2-40B4-BE49-F238E27FC236}">
                <a16:creationId xmlns:a16="http://schemas.microsoft.com/office/drawing/2014/main" id="{923BD87E-CEE4-BDB7-30FA-219388A7C54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7" name="Freeform 6">
            <a:extLst>
              <a:ext uri="{FF2B5EF4-FFF2-40B4-BE49-F238E27FC236}">
                <a16:creationId xmlns:a16="http://schemas.microsoft.com/office/drawing/2014/main" id="{26F8B5DC-42A4-6BF2-970C-112FFD747018}"/>
              </a:ext>
            </a:extLst>
          </p:cNvPr>
          <p:cNvSpPr/>
          <p:nvPr userDrawn="1"/>
        </p:nvSpPr>
        <p:spPr>
          <a:xfrm>
            <a:off x="4855811" y="-5"/>
            <a:ext cx="35588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2845298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 Image Gree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13821" y="0"/>
            <a:ext cx="6891343" cy="6868957"/>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3" name="Freeform 2">
            <a:extLst>
              <a:ext uri="{FF2B5EF4-FFF2-40B4-BE49-F238E27FC236}">
                <a16:creationId xmlns:a16="http://schemas.microsoft.com/office/drawing/2014/main" id="{CB73E4F5-5916-13A5-64C5-8C77558117BD}"/>
              </a:ext>
            </a:extLst>
          </p:cNvPr>
          <p:cNvSpPr/>
          <p:nvPr/>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5" name="Straight Connector 4">
            <a:extLst>
              <a:ext uri="{FF2B5EF4-FFF2-40B4-BE49-F238E27FC236}">
                <a16:creationId xmlns:a16="http://schemas.microsoft.com/office/drawing/2014/main" id="{FAA2C066-69F0-8954-1986-CC888253E971}"/>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6" name="Picture 5" descr="A blue and black logo&#10;&#10;AI-generated content may be incorrect.">
            <a:extLst>
              <a:ext uri="{FF2B5EF4-FFF2-40B4-BE49-F238E27FC236}">
                <a16:creationId xmlns:a16="http://schemas.microsoft.com/office/drawing/2014/main" id="{6A767172-79EB-6E07-E9E9-FD7BA14CA4B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7" name="Freeform 6">
            <a:extLst>
              <a:ext uri="{FF2B5EF4-FFF2-40B4-BE49-F238E27FC236}">
                <a16:creationId xmlns:a16="http://schemas.microsoft.com/office/drawing/2014/main" id="{26E93A91-E4C0-DEC0-3E6B-1D980AECB365}"/>
              </a:ext>
            </a:extLst>
          </p:cNvPr>
          <p:cNvSpPr/>
          <p:nvPr userDrawn="1"/>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9786455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 Image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3"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5" name="Freeform 4">
            <a:extLst>
              <a:ext uri="{FF2B5EF4-FFF2-40B4-BE49-F238E27FC236}">
                <a16:creationId xmlns:a16="http://schemas.microsoft.com/office/drawing/2014/main" id="{CFD3A720-686E-513F-0664-2531C8B0201E}"/>
              </a:ext>
            </a:extLst>
          </p:cNvPr>
          <p:cNvSpPr/>
          <p:nvPr/>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3" name="Straight Connector 2">
            <a:extLst>
              <a:ext uri="{FF2B5EF4-FFF2-40B4-BE49-F238E27FC236}">
                <a16:creationId xmlns:a16="http://schemas.microsoft.com/office/drawing/2014/main" id="{A9FC9BC3-0C7A-253E-1FE9-73F7BD10C3C0}"/>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6" name="Picture 5" descr="A blue and black logo&#10;&#10;AI-generated content may be incorrect.">
            <a:extLst>
              <a:ext uri="{FF2B5EF4-FFF2-40B4-BE49-F238E27FC236}">
                <a16:creationId xmlns:a16="http://schemas.microsoft.com/office/drawing/2014/main" id="{D429AB69-158C-85E6-56FD-6308BE8F2E2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7" name="Freeform 6">
            <a:extLst>
              <a:ext uri="{FF2B5EF4-FFF2-40B4-BE49-F238E27FC236}">
                <a16:creationId xmlns:a16="http://schemas.microsoft.com/office/drawing/2014/main" id="{B65EE6FC-0CD5-DE2E-90E6-3D425EE08277}"/>
              </a:ext>
            </a:extLst>
          </p:cNvPr>
          <p:cNvSpPr/>
          <p:nvPr userDrawn="1"/>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3400866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2" name="Title 1">
            <a:extLst>
              <a:ext uri="{FF2B5EF4-FFF2-40B4-BE49-F238E27FC236}">
                <a16:creationId xmlns:a16="http://schemas.microsoft.com/office/drawing/2014/main" id="{A6912BB0-C26D-14BE-F673-A20A6F1FD5E8}"/>
              </a:ext>
            </a:extLst>
          </p:cNvPr>
          <p:cNvSpPr txBox="1">
            <a:spLocks/>
          </p:cNvSpPr>
          <p:nvPr/>
        </p:nvSpPr>
        <p:spPr>
          <a:xfrm>
            <a:off x="566929" y="447042"/>
            <a:ext cx="11491993" cy="1169207"/>
          </a:xfrm>
          <a:prstGeom prst="rect">
            <a:avLst/>
          </a:prstGeom>
        </p:spPr>
        <p:txBody>
          <a:bodyPr lIns="0" tIns="0" rIns="0" bIns="0" anchor="ctr">
            <a:noAutofit/>
          </a:bodyPr>
          <a:lstStyle>
            <a:lvl1pPr algn="l" defTabSz="914400" rtl="0" eaLnBrk="1" latinLnBrk="0" hangingPunct="1">
              <a:lnSpc>
                <a:spcPct val="80000"/>
              </a:lnSpc>
              <a:spcBef>
                <a:spcPct val="0"/>
              </a:spcBef>
              <a:buNone/>
              <a:defRPr sz="4000" b="1" i="0" kern="1200">
                <a:solidFill>
                  <a:schemeClr val="bg1"/>
                </a:solidFill>
                <a:latin typeface="Figtree SemiBold" pitchFamily="2" charset="0"/>
                <a:ea typeface="+mj-ea"/>
                <a:cs typeface="+mj-cs"/>
              </a:defRPr>
            </a:lvl1pPr>
          </a:lstStyle>
          <a:p>
            <a:r>
              <a:rPr lang="en-US" sz="4000" dirty="0">
                <a:solidFill>
                  <a:srgbClr val="2E7BA8"/>
                </a:solidFill>
              </a:rPr>
              <a:t>Click to edit Master title style</a:t>
            </a:r>
          </a:p>
        </p:txBody>
      </p:sp>
      <p:cxnSp>
        <p:nvCxnSpPr>
          <p:cNvPr id="3" name="Straight Connector 2">
            <a:extLst>
              <a:ext uri="{FF2B5EF4-FFF2-40B4-BE49-F238E27FC236}">
                <a16:creationId xmlns:a16="http://schemas.microsoft.com/office/drawing/2014/main" id="{7C1A54F1-EBA1-0AD5-0BCC-26473FB0A739}"/>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4" name="Picture 3" descr="A blue and black logo&#10;&#10;AI-generated content may be incorrect.">
            <a:extLst>
              <a:ext uri="{FF2B5EF4-FFF2-40B4-BE49-F238E27FC236}">
                <a16:creationId xmlns:a16="http://schemas.microsoft.com/office/drawing/2014/main" id="{BE8E3A7A-FD73-85EE-697E-9C4D67C4ED9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5" name="Title 1">
            <a:extLst>
              <a:ext uri="{FF2B5EF4-FFF2-40B4-BE49-F238E27FC236}">
                <a16:creationId xmlns:a16="http://schemas.microsoft.com/office/drawing/2014/main" id="{48C1A177-C61D-1275-C921-E94FDC25BA88}"/>
              </a:ext>
            </a:extLst>
          </p:cNvPr>
          <p:cNvSpPr txBox="1">
            <a:spLocks/>
          </p:cNvSpPr>
          <p:nvPr userDrawn="1"/>
        </p:nvSpPr>
        <p:spPr>
          <a:xfrm>
            <a:off x="566929" y="447042"/>
            <a:ext cx="11491993" cy="1169207"/>
          </a:xfrm>
          <a:prstGeom prst="rect">
            <a:avLst/>
          </a:prstGeom>
        </p:spPr>
        <p:txBody>
          <a:bodyPr lIns="0" tIns="0" rIns="0" bIns="0" anchor="ctr">
            <a:noAutofit/>
          </a:bodyPr>
          <a:lstStyle>
            <a:lvl1pPr algn="l" defTabSz="914400" rtl="0" eaLnBrk="1" latinLnBrk="0" hangingPunct="1">
              <a:lnSpc>
                <a:spcPct val="80000"/>
              </a:lnSpc>
              <a:spcBef>
                <a:spcPct val="0"/>
              </a:spcBef>
              <a:buNone/>
              <a:defRPr sz="4000" b="1" i="0" kern="1200">
                <a:solidFill>
                  <a:schemeClr val="bg1"/>
                </a:solidFill>
                <a:latin typeface="Figtree SemiBold" pitchFamily="2" charset="0"/>
                <a:ea typeface="+mj-ea"/>
                <a:cs typeface="+mj-cs"/>
              </a:defRPr>
            </a:lvl1pPr>
          </a:lstStyle>
          <a:p>
            <a:r>
              <a:rPr lang="en-US" sz="4000" dirty="0">
                <a:solidFill>
                  <a:srgbClr val="2E7BA8"/>
                </a:solidFill>
              </a:rPr>
              <a:t>Click to edit Master title style</a:t>
            </a:r>
          </a:p>
        </p:txBody>
      </p:sp>
    </p:spTree>
    <p:extLst>
      <p:ext uri="{BB962C8B-B14F-4D97-AF65-F5344CB8AC3E}">
        <p14:creationId xmlns:p14="http://schemas.microsoft.com/office/powerpoint/2010/main" val="2668297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oter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cxnSp>
        <p:nvCxnSpPr>
          <p:cNvPr id="2" name="Straight Connector 1">
            <a:extLst>
              <a:ext uri="{FF2B5EF4-FFF2-40B4-BE49-F238E27FC236}">
                <a16:creationId xmlns:a16="http://schemas.microsoft.com/office/drawing/2014/main" id="{AF8D5EFB-213D-F88C-68FC-B7CB5BA72E49}"/>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3" name="Picture 2" descr="A blue and black logo&#10;&#10;AI-generated content may be incorrect.">
            <a:extLst>
              <a:ext uri="{FF2B5EF4-FFF2-40B4-BE49-F238E27FC236}">
                <a16:creationId xmlns:a16="http://schemas.microsoft.com/office/drawing/2014/main" id="{42304EFF-93FE-9417-7409-EA9A9DB6671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Tree>
    <p:extLst>
      <p:ext uri="{BB962C8B-B14F-4D97-AF65-F5344CB8AC3E}">
        <p14:creationId xmlns:p14="http://schemas.microsoft.com/office/powerpoint/2010/main" val="11890856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losing Slid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7" name="TextBox 6">
            <a:extLst>
              <a:ext uri="{FF2B5EF4-FFF2-40B4-BE49-F238E27FC236}">
                <a16:creationId xmlns:a16="http://schemas.microsoft.com/office/drawing/2014/main" id="{77674F01-5FF3-D372-A30F-3AA70A84088C}"/>
              </a:ext>
            </a:extLst>
          </p:cNvPr>
          <p:cNvSpPr txBox="1"/>
          <p:nvPr/>
        </p:nvSpPr>
        <p:spPr>
          <a:xfrm>
            <a:off x="777608" y="4118432"/>
            <a:ext cx="3950762" cy="1107996"/>
          </a:xfrm>
          <a:prstGeom prst="rect">
            <a:avLst/>
          </a:prstGeom>
          <a:noFill/>
        </p:spPr>
        <p:txBody>
          <a:bodyPr wrap="none" lIns="0" tIns="0" rIns="0" bIns="0" rtlCol="0">
            <a:spAutoFit/>
          </a:bodyPr>
          <a:lstStyle/>
          <a:p>
            <a:r>
              <a:rPr lang="en-US" sz="7200" b="1" i="0" dirty="0">
                <a:solidFill>
                  <a:schemeClr val="bg1"/>
                </a:solidFill>
                <a:latin typeface="Figtree" pitchFamily="2" charset="0"/>
              </a:rPr>
              <a:t>Thank You</a:t>
            </a:r>
          </a:p>
        </p:txBody>
      </p:sp>
      <p:pic>
        <p:nvPicPr>
          <p:cNvPr id="2" name="Picture 1" descr="A white letters on a black background&#10;&#10;AI-generated content may be incorrect.">
            <a:extLst>
              <a:ext uri="{FF2B5EF4-FFF2-40B4-BE49-F238E27FC236}">
                <a16:creationId xmlns:a16="http://schemas.microsoft.com/office/drawing/2014/main" id="{E75CDDDC-A96F-BAF7-E204-A505ACE5890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1851" y="705080"/>
            <a:ext cx="3398627" cy="944553"/>
          </a:xfrm>
          <a:prstGeom prst="rect">
            <a:avLst/>
          </a:prstGeom>
        </p:spPr>
      </p:pic>
      <p:pic>
        <p:nvPicPr>
          <p:cNvPr id="3" name="Picture 2" descr="A white logo with a black background&#10;&#10;AI-generated content may be incorrect.">
            <a:extLst>
              <a:ext uri="{FF2B5EF4-FFF2-40B4-BE49-F238E27FC236}">
                <a16:creationId xmlns:a16="http://schemas.microsoft.com/office/drawing/2014/main" id="{024DEBB4-0262-B208-14F3-0D63C49EAB21}"/>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4" name="TextBox 3">
            <a:extLst>
              <a:ext uri="{FF2B5EF4-FFF2-40B4-BE49-F238E27FC236}">
                <a16:creationId xmlns:a16="http://schemas.microsoft.com/office/drawing/2014/main" id="{31682CA2-6431-8AA5-A118-0FFEEA1B07F0}"/>
              </a:ext>
            </a:extLst>
          </p:cNvPr>
          <p:cNvSpPr txBox="1"/>
          <p:nvPr userDrawn="1"/>
        </p:nvSpPr>
        <p:spPr>
          <a:xfrm>
            <a:off x="777608" y="4118432"/>
            <a:ext cx="3950762" cy="1107996"/>
          </a:xfrm>
          <a:prstGeom prst="rect">
            <a:avLst/>
          </a:prstGeom>
          <a:noFill/>
        </p:spPr>
        <p:txBody>
          <a:bodyPr wrap="none" lIns="0" tIns="0" rIns="0" bIns="0" rtlCol="0">
            <a:spAutoFit/>
          </a:bodyPr>
          <a:lstStyle/>
          <a:p>
            <a:r>
              <a:rPr lang="en-US" sz="7200" b="1" i="0" dirty="0">
                <a:solidFill>
                  <a:schemeClr val="bg1"/>
                </a:solidFill>
                <a:latin typeface="Figtree" pitchFamily="2" charset="0"/>
              </a:rPr>
              <a:t>Thank You</a:t>
            </a:r>
          </a:p>
        </p:txBody>
      </p:sp>
      <p:pic>
        <p:nvPicPr>
          <p:cNvPr id="5" name="Picture 4" descr="A white letters on a black background&#10;&#10;AI-generated content may be incorrect.">
            <a:extLst>
              <a:ext uri="{FF2B5EF4-FFF2-40B4-BE49-F238E27FC236}">
                <a16:creationId xmlns:a16="http://schemas.microsoft.com/office/drawing/2014/main" id="{B740A346-0AC9-AE99-A6A4-E554572824F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1851" y="705080"/>
            <a:ext cx="3398627" cy="944553"/>
          </a:xfrm>
          <a:prstGeom prst="rect">
            <a:avLst/>
          </a:prstGeom>
        </p:spPr>
      </p:pic>
    </p:spTree>
    <p:extLst>
      <p:ext uri="{BB962C8B-B14F-4D97-AF65-F5344CB8AC3E}">
        <p14:creationId xmlns:p14="http://schemas.microsoft.com/office/powerpoint/2010/main" val="42192241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Title Slide">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3" name="Title 1">
            <a:extLst>
              <a:ext uri="{FF2B5EF4-FFF2-40B4-BE49-F238E27FC236}">
                <a16:creationId xmlns:a16="http://schemas.microsoft.com/office/drawing/2014/main" id="{BA0A17DC-774F-3210-530A-47E7C3473B84}"/>
              </a:ext>
            </a:extLst>
          </p:cNvPr>
          <p:cNvSpPr>
            <a:spLocks noGrp="1"/>
          </p:cNvSpPr>
          <p:nvPr>
            <p:ph type="title"/>
          </p:nvPr>
        </p:nvSpPr>
        <p:spPr>
          <a:xfrm>
            <a:off x="831849" y="2355743"/>
            <a:ext cx="8017683" cy="2445200"/>
          </a:xfrm>
          <a:prstGeom prst="rect">
            <a:avLst/>
          </a:prstGeom>
        </p:spPr>
        <p:txBody>
          <a:bodyPr lIns="0" tIns="0" rIns="0" bIns="0" anchor="ctr"/>
          <a:lstStyle>
            <a:lvl1pPr>
              <a:lnSpc>
                <a:spcPct val="80000"/>
              </a:lnSpc>
              <a:defRPr sz="6000" b="1" i="0">
                <a:solidFill>
                  <a:schemeClr val="bg1"/>
                </a:solidFill>
                <a:latin typeface="Figtree" pitchFamily="2" charset="0"/>
              </a:defRPr>
            </a:lvl1pPr>
          </a:lstStyle>
          <a:p>
            <a:r>
              <a:rPr lang="en-US"/>
              <a:t>Click to edit Master title style</a:t>
            </a:r>
          </a:p>
        </p:txBody>
      </p:sp>
      <p:sp>
        <p:nvSpPr>
          <p:cNvPr id="6" name="Text Placeholder 2">
            <a:extLst>
              <a:ext uri="{FF2B5EF4-FFF2-40B4-BE49-F238E27FC236}">
                <a16:creationId xmlns:a16="http://schemas.microsoft.com/office/drawing/2014/main" id="{7BBBDC11-29FC-667E-0F89-DBB03CF05217}"/>
              </a:ext>
            </a:extLst>
          </p:cNvPr>
          <p:cNvSpPr>
            <a:spLocks noGrp="1"/>
          </p:cNvSpPr>
          <p:nvPr>
            <p:ph type="body" idx="1"/>
          </p:nvPr>
        </p:nvSpPr>
        <p:spPr>
          <a:xfrm>
            <a:off x="831849" y="5017003"/>
            <a:ext cx="8017683" cy="497660"/>
          </a:xfrm>
          <a:prstGeom prst="rect">
            <a:avLst/>
          </a:prstGeom>
        </p:spPr>
        <p:txBody>
          <a:bodyPr lIns="0" tIns="0" rIns="0" bIns="0">
            <a:normAutofit/>
          </a:bodyPr>
          <a:lstStyle>
            <a:lvl1pPr marL="0" indent="0">
              <a:buNone/>
              <a:defRPr sz="2000" b="0" i="0">
                <a:solidFill>
                  <a:schemeClr val="bg1"/>
                </a:solidFill>
                <a:latin typeface="Figtree Light" pitchFamily="2" charset="0"/>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pic>
        <p:nvPicPr>
          <p:cNvPr id="2" name="Picture 1" descr="A white letters on a black background&#10;&#10;AI-generated content may be incorrect.">
            <a:extLst>
              <a:ext uri="{FF2B5EF4-FFF2-40B4-BE49-F238E27FC236}">
                <a16:creationId xmlns:a16="http://schemas.microsoft.com/office/drawing/2014/main" id="{31241472-1619-5F10-102F-682E29E56B4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1851" y="705080"/>
            <a:ext cx="3398627" cy="944553"/>
          </a:xfrm>
          <a:prstGeom prst="rect">
            <a:avLst/>
          </a:prstGeom>
        </p:spPr>
      </p:pic>
    </p:spTree>
    <p:extLst>
      <p:ext uri="{BB962C8B-B14F-4D97-AF65-F5344CB8AC3E}">
        <p14:creationId xmlns:p14="http://schemas.microsoft.com/office/powerpoint/2010/main" val="23413520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 Content (Dark)">
    <p:bg>
      <p:bgPr>
        <a:solidFill>
          <a:schemeClr val="tx2"/>
        </a:solidFill>
        <a:effectLst/>
      </p:bgPr>
    </p:bg>
    <p:spTree>
      <p:nvGrpSpPr>
        <p:cNvPr id="1" name=""/>
        <p:cNvGrpSpPr/>
        <p:nvPr/>
      </p:nvGrpSpPr>
      <p:grpSpPr>
        <a:xfrm>
          <a:off x="0" y="0"/>
          <a:ext cx="0" cy="0"/>
          <a:chOff x="0" y="0"/>
          <a:chExt cx="0" cy="0"/>
        </a:xfrm>
      </p:grpSpPr>
      <p:pic>
        <p:nvPicPr>
          <p:cNvPr id="4" name="Picture 3" descr="A white logo with a black background&#10;&#10;AI-generated content may be incorrect.">
            <a:extLst>
              <a:ext uri="{FF2B5EF4-FFF2-40B4-BE49-F238E27FC236}">
                <a16:creationId xmlns:a16="http://schemas.microsoft.com/office/drawing/2014/main" id="{6009C2D0-8476-5C7C-3698-64F13A93B821}"/>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566929" y="447042"/>
            <a:ext cx="11491993"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566928" y="1825624"/>
            <a:ext cx="10515600" cy="4125723"/>
          </a:xfrm>
          <a:prstGeom prst="rect">
            <a:avLst/>
          </a:prstGeom>
        </p:spPr>
        <p:txBody>
          <a:bodyPr lIns="0" tIns="0" rIns="0" bIns="0">
            <a:noAutofit/>
          </a:bodyPr>
          <a:lstStyle>
            <a:lvl1pPr marL="0" indent="0">
              <a:buFontTx/>
              <a:buNone/>
              <a:defRPr sz="1800" b="0" i="0">
                <a:solidFill>
                  <a:schemeClr val="bg1"/>
                </a:solidFill>
                <a:latin typeface="Figtree" pitchFamily="2" charset="0"/>
              </a:defRPr>
            </a:lvl1pPr>
            <a:lvl2pPr marL="742932" indent="-285744">
              <a:buFont typeface="Arial" panose="020B0604020202020204" pitchFamily="34" charset="0"/>
              <a:buChar char="•"/>
              <a:defRPr sz="1800" b="0" i="0">
                <a:solidFill>
                  <a:schemeClr val="bg1"/>
                </a:solidFill>
                <a:latin typeface="Figtree" pitchFamily="2" charset="0"/>
              </a:defRPr>
            </a:lvl2pPr>
            <a:lvl3pPr marL="1200121" indent="-285744">
              <a:buFont typeface="Arial" panose="020B0604020202020204" pitchFamily="34" charset="0"/>
              <a:buChar char="•"/>
              <a:defRPr sz="1800" b="0" i="0">
                <a:solidFill>
                  <a:schemeClr val="bg1"/>
                </a:solidFill>
                <a:latin typeface="Figtree" pitchFamily="2" charset="0"/>
              </a:defRPr>
            </a:lvl3pPr>
            <a:lvl4pPr marL="1657309" indent="-285744">
              <a:buFont typeface="Arial" panose="020B0604020202020204" pitchFamily="34" charset="0"/>
              <a:buChar char="•"/>
              <a:defRPr sz="1800" b="0" i="0">
                <a:solidFill>
                  <a:schemeClr val="bg1"/>
                </a:solidFill>
                <a:latin typeface="Figtree" pitchFamily="2" charset="0"/>
              </a:defRPr>
            </a:lvl4pPr>
            <a:lvl5pPr marL="2114498" indent="-285744">
              <a:buFont typeface="Arial" panose="020B0604020202020204" pitchFamily="34" charset="0"/>
              <a:buChar char="•"/>
              <a:defRPr sz="1800" b="0" i="0">
                <a:solidFill>
                  <a:schemeClr val="bg1"/>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206936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ext + Image Blue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1" y="1"/>
            <a:ext cx="6862619"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3" name="Freeform 2">
            <a:extLst>
              <a:ext uri="{FF2B5EF4-FFF2-40B4-BE49-F238E27FC236}">
                <a16:creationId xmlns:a16="http://schemas.microsoft.com/office/drawing/2014/main" id="{ABE42761-35EA-CA25-0900-63712C3225FA}"/>
              </a:ext>
            </a:extLst>
          </p:cNvPr>
          <p:cNvSpPr/>
          <p:nvPr userDrawn="1"/>
        </p:nvSpPr>
        <p:spPr>
          <a:xfrm>
            <a:off x="4830121" y="-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76106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ext + Image Plum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1" y="1"/>
            <a:ext cx="6862619"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Freeform 4">
            <a:extLst>
              <a:ext uri="{FF2B5EF4-FFF2-40B4-BE49-F238E27FC236}">
                <a16:creationId xmlns:a16="http://schemas.microsoft.com/office/drawing/2014/main" id="{5673909B-51BC-79F1-247B-509034849961}"/>
              </a:ext>
            </a:extLst>
          </p:cNvPr>
          <p:cNvSpPr/>
          <p:nvPr userDrawn="1"/>
        </p:nvSpPr>
        <p:spPr>
          <a:xfrm>
            <a:off x="4830121" y="-862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42284514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ext + Image Gold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1" y="1"/>
            <a:ext cx="6862619"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Freeform 5">
            <a:extLst>
              <a:ext uri="{FF2B5EF4-FFF2-40B4-BE49-F238E27FC236}">
                <a16:creationId xmlns:a16="http://schemas.microsoft.com/office/drawing/2014/main" id="{2FFD7DA3-43D8-D09F-83E0-0AEAB25439B7}"/>
              </a:ext>
            </a:extLst>
          </p:cNvPr>
          <p:cNvSpPr/>
          <p:nvPr userDrawn="1"/>
        </p:nvSpPr>
        <p:spPr>
          <a:xfrm>
            <a:off x="4830121" y="-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474450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ext + Image Green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1" y="1"/>
            <a:ext cx="6862619"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FC5B0D56-4627-AC4F-11C1-0BC865D7A1E5}"/>
              </a:ext>
            </a:extLst>
          </p:cNvPr>
          <p:cNvSpPr/>
          <p:nvPr userDrawn="1"/>
        </p:nvSpPr>
        <p:spPr>
          <a:xfrm>
            <a:off x="4830121" y="-5"/>
            <a:ext cx="3566904"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4391244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ext + Image Gold (Orange)">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1" y="1"/>
            <a:ext cx="6862619"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8CECBD81-6D94-EBB2-5099-28510DA055F7}"/>
              </a:ext>
            </a:extLst>
          </p:cNvPr>
          <p:cNvSpPr/>
          <p:nvPr userDrawn="1"/>
        </p:nvSpPr>
        <p:spPr>
          <a:xfrm>
            <a:off x="4830121" y="-3"/>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8854805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Special Visual 1">
    <p:bg>
      <p:bgPr>
        <a:solidFill>
          <a:schemeClr val="tx2"/>
        </a:solidFill>
        <a:effectLst/>
      </p:bgPr>
    </p:bg>
    <p:spTree>
      <p:nvGrpSpPr>
        <p:cNvPr id="1" name=""/>
        <p:cNvGrpSpPr/>
        <p:nvPr/>
      </p:nvGrpSpPr>
      <p:grpSpPr>
        <a:xfrm>
          <a:off x="0" y="0"/>
          <a:ext cx="0" cy="0"/>
          <a:chOff x="0" y="0"/>
          <a:chExt cx="0" cy="0"/>
        </a:xfrm>
      </p:grpSpPr>
      <p:pic>
        <p:nvPicPr>
          <p:cNvPr id="9" name="Picture 8" descr="A spiral galaxy in space&#10;&#10;AI-generated content may be incorrect.">
            <a:extLst>
              <a:ext uri="{FF2B5EF4-FFF2-40B4-BE49-F238E27FC236}">
                <a16:creationId xmlns:a16="http://schemas.microsoft.com/office/drawing/2014/main" id="{B4257FEA-E4BB-4184-2551-6E913CF483E4}"/>
              </a:ext>
            </a:extLst>
          </p:cNvPr>
          <p:cNvPicPr>
            <a:picLocks noChangeAspect="1"/>
          </p:cNvPicPr>
          <p:nvPr userDrawn="1"/>
        </p:nvPicPr>
        <p:blipFill>
          <a:blip r:embed="rId2" cstate="email">
            <a:alphaModFix amt="30000"/>
            <a:extLst>
              <a:ext uri="{28A0092B-C50C-407E-A947-70E740481C1C}">
                <a14:useLocalDpi xmlns:a14="http://schemas.microsoft.com/office/drawing/2010/main"/>
              </a:ext>
            </a:extLst>
          </a:blip>
          <a:srcRect/>
          <a:stretch/>
        </p:blipFill>
        <p:spPr>
          <a:xfrm>
            <a:off x="-1" y="-1"/>
            <a:ext cx="12192001"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12" name="Content Placeholder 2">
            <a:extLst>
              <a:ext uri="{FF2B5EF4-FFF2-40B4-BE49-F238E27FC236}">
                <a16:creationId xmlns:a16="http://schemas.microsoft.com/office/drawing/2014/main" id="{A4013314-73E8-EBCE-C957-B401AB4F5C75}"/>
              </a:ext>
            </a:extLst>
          </p:cNvPr>
          <p:cNvSpPr>
            <a:spLocks noGrp="1"/>
          </p:cNvSpPr>
          <p:nvPr>
            <p:ph idx="1"/>
          </p:nvPr>
        </p:nvSpPr>
        <p:spPr>
          <a:xfrm>
            <a:off x="838200" y="1825624"/>
            <a:ext cx="10515600" cy="4125723"/>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32" indent="-285744">
              <a:buFont typeface="Arial" panose="020B0604020202020204" pitchFamily="34" charset="0"/>
              <a:buChar char="•"/>
              <a:defRPr sz="2400" b="0" i="0">
                <a:solidFill>
                  <a:schemeClr val="bg1"/>
                </a:solidFill>
                <a:latin typeface="Figtree" pitchFamily="2" charset="0"/>
              </a:defRPr>
            </a:lvl2pPr>
            <a:lvl3pPr marL="1200121" indent="-285744">
              <a:buFont typeface="Arial" panose="020B0604020202020204" pitchFamily="34" charset="0"/>
              <a:buChar char="•"/>
              <a:defRPr sz="2400" b="0" i="0">
                <a:solidFill>
                  <a:schemeClr val="bg1"/>
                </a:solidFill>
                <a:latin typeface="Figtree" pitchFamily="2" charset="0"/>
              </a:defRPr>
            </a:lvl3pPr>
            <a:lvl4pPr marL="1657309" indent="-285744">
              <a:buFont typeface="Arial" panose="020B0604020202020204" pitchFamily="34" charset="0"/>
              <a:buChar char="•"/>
              <a:defRPr sz="2400" b="0" i="0">
                <a:solidFill>
                  <a:schemeClr val="bg1"/>
                </a:solidFill>
                <a:latin typeface="Figtree" pitchFamily="2" charset="0"/>
              </a:defRPr>
            </a:lvl4pPr>
            <a:lvl5pPr marL="2114498" indent="-285744">
              <a:buFont typeface="Arial" panose="020B0604020202020204" pitchFamily="34" charset="0"/>
              <a:buChar char="•"/>
              <a:defRPr sz="2400" b="0" i="0">
                <a:solidFill>
                  <a:schemeClr val="bg1"/>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spiral galaxy in space&#10;&#10;AI-generated content may be incorrect.">
            <a:extLst>
              <a:ext uri="{FF2B5EF4-FFF2-40B4-BE49-F238E27FC236}">
                <a16:creationId xmlns:a16="http://schemas.microsoft.com/office/drawing/2014/main" id="{F4F528CD-1564-4E9D-F195-B07879E800AF}"/>
              </a:ext>
            </a:extLst>
          </p:cNvPr>
          <p:cNvPicPr>
            <a:picLocks noChangeAspect="1"/>
          </p:cNvPicPr>
          <p:nvPr userDrawn="1"/>
        </p:nvPicPr>
        <p:blipFill>
          <a:blip r:embed="rId2" cstate="email">
            <a:alphaModFix amt="30000"/>
            <a:extLst>
              <a:ext uri="{28A0092B-C50C-407E-A947-70E740481C1C}">
                <a14:useLocalDpi xmlns:a14="http://schemas.microsoft.com/office/drawing/2010/main"/>
              </a:ext>
            </a:extLst>
          </a:blip>
          <a:srcRect/>
          <a:stretch/>
        </p:blipFill>
        <p:spPr>
          <a:xfrm>
            <a:off x="-1" y="1"/>
            <a:ext cx="12192001" cy="6858001"/>
          </a:xfrm>
          <a:prstGeom prst="rect">
            <a:avLst/>
          </a:prstGeom>
        </p:spPr>
      </p:pic>
      <p:sp>
        <p:nvSpPr>
          <p:cNvPr id="3" name="Title 1">
            <a:extLst>
              <a:ext uri="{FF2B5EF4-FFF2-40B4-BE49-F238E27FC236}">
                <a16:creationId xmlns:a16="http://schemas.microsoft.com/office/drawing/2014/main" id="{F372B8E0-5DB9-2DD5-1E39-68250E440527}"/>
              </a:ext>
            </a:extLst>
          </p:cNvPr>
          <p:cNvSpPr>
            <a:spLocks noGrp="1"/>
          </p:cNvSpPr>
          <p:nvPr>
            <p:ph type="title"/>
          </p:nvPr>
        </p:nvSpPr>
        <p:spPr>
          <a:xfrm>
            <a:off x="566929" y="447042"/>
            <a:ext cx="11491993"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dirty="0"/>
              <a:t>Click to edit Master title style</a:t>
            </a:r>
          </a:p>
        </p:txBody>
      </p:sp>
    </p:spTree>
    <p:extLst>
      <p:ext uri="{BB962C8B-B14F-4D97-AF65-F5344CB8AC3E}">
        <p14:creationId xmlns:p14="http://schemas.microsoft.com/office/powerpoint/2010/main" val="3321227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Special Visual 2">
    <p:bg>
      <p:bgPr>
        <a:solidFill>
          <a:schemeClr val="tx2"/>
        </a:solidFill>
        <a:effectLst/>
      </p:bgPr>
    </p:bg>
    <p:spTree>
      <p:nvGrpSpPr>
        <p:cNvPr id="1" name=""/>
        <p:cNvGrpSpPr/>
        <p:nvPr/>
      </p:nvGrpSpPr>
      <p:grpSpPr>
        <a:xfrm>
          <a:off x="0" y="0"/>
          <a:ext cx="0" cy="0"/>
          <a:chOff x="0" y="0"/>
          <a:chExt cx="0" cy="0"/>
        </a:xfrm>
      </p:grpSpPr>
      <p:pic>
        <p:nvPicPr>
          <p:cNvPr id="11" name="Picture 10" descr="A blue sky with stars&#10;&#10;AI-generated content may be incorrect.">
            <a:extLst>
              <a:ext uri="{FF2B5EF4-FFF2-40B4-BE49-F238E27FC236}">
                <a16:creationId xmlns:a16="http://schemas.microsoft.com/office/drawing/2014/main" id="{58E6D3C4-DD7C-11D1-CC5C-C7C19C2E03FC}"/>
              </a:ext>
            </a:extLst>
          </p:cNvPr>
          <p:cNvPicPr>
            <a:picLocks noChangeAspect="1"/>
          </p:cNvPicPr>
          <p:nvPr userDrawn="1"/>
        </p:nvPicPr>
        <p:blipFill>
          <a:blip r:embed="rId2" cstate="email">
            <a:alphaModFix amt="40000"/>
            <a:extLst>
              <a:ext uri="{28A0092B-C50C-407E-A947-70E740481C1C}">
                <a14:useLocalDpi xmlns:a14="http://schemas.microsoft.com/office/drawing/2010/main"/>
              </a:ext>
            </a:extLst>
          </a:blip>
          <a:srcRect/>
          <a:stretch/>
        </p:blipFill>
        <p:spPr>
          <a:xfrm>
            <a:off x="0" y="-1"/>
            <a:ext cx="12165488"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13" name="Content Placeholder 2">
            <a:extLst>
              <a:ext uri="{FF2B5EF4-FFF2-40B4-BE49-F238E27FC236}">
                <a16:creationId xmlns:a16="http://schemas.microsoft.com/office/drawing/2014/main" id="{CA605919-F812-D6B7-6733-93A21095D65A}"/>
              </a:ext>
            </a:extLst>
          </p:cNvPr>
          <p:cNvSpPr>
            <a:spLocks noGrp="1"/>
          </p:cNvSpPr>
          <p:nvPr>
            <p:ph idx="1"/>
          </p:nvPr>
        </p:nvSpPr>
        <p:spPr>
          <a:xfrm>
            <a:off x="838200" y="1825624"/>
            <a:ext cx="10515600" cy="4125723"/>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32" indent="-285744">
              <a:buFont typeface="Arial" panose="020B0604020202020204" pitchFamily="34" charset="0"/>
              <a:buChar char="•"/>
              <a:defRPr sz="2400" b="0" i="0">
                <a:solidFill>
                  <a:schemeClr val="bg1"/>
                </a:solidFill>
                <a:latin typeface="Figtree" pitchFamily="2" charset="0"/>
              </a:defRPr>
            </a:lvl2pPr>
            <a:lvl3pPr marL="1200121" indent="-285744">
              <a:buFont typeface="Arial" panose="020B0604020202020204" pitchFamily="34" charset="0"/>
              <a:buChar char="•"/>
              <a:defRPr sz="2400" b="0" i="0">
                <a:solidFill>
                  <a:schemeClr val="bg1"/>
                </a:solidFill>
                <a:latin typeface="Figtree" pitchFamily="2" charset="0"/>
              </a:defRPr>
            </a:lvl3pPr>
            <a:lvl4pPr marL="1657309" indent="-285744">
              <a:buFont typeface="Arial" panose="020B0604020202020204" pitchFamily="34" charset="0"/>
              <a:buChar char="•"/>
              <a:defRPr sz="2400" b="0" i="0">
                <a:solidFill>
                  <a:schemeClr val="bg1"/>
                </a:solidFill>
                <a:latin typeface="Figtree" pitchFamily="2" charset="0"/>
              </a:defRPr>
            </a:lvl4pPr>
            <a:lvl5pPr marL="2114498" indent="-285744">
              <a:buFont typeface="Arial" panose="020B0604020202020204" pitchFamily="34" charset="0"/>
              <a:buChar char="•"/>
              <a:defRPr sz="2400" b="0" i="0">
                <a:solidFill>
                  <a:schemeClr val="bg1"/>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sky with stars&#10;&#10;AI-generated content may be incorrect.">
            <a:extLst>
              <a:ext uri="{FF2B5EF4-FFF2-40B4-BE49-F238E27FC236}">
                <a16:creationId xmlns:a16="http://schemas.microsoft.com/office/drawing/2014/main" id="{1E061CFA-FF0E-F37B-7C9F-811BE2571535}"/>
              </a:ext>
            </a:extLst>
          </p:cNvPr>
          <p:cNvPicPr>
            <a:picLocks noChangeAspect="1"/>
          </p:cNvPicPr>
          <p:nvPr userDrawn="1"/>
        </p:nvPicPr>
        <p:blipFill>
          <a:blip r:embed="rId2" cstate="email">
            <a:alphaModFix amt="40000"/>
            <a:extLst>
              <a:ext uri="{28A0092B-C50C-407E-A947-70E740481C1C}">
                <a14:useLocalDpi xmlns:a14="http://schemas.microsoft.com/office/drawing/2010/main"/>
              </a:ext>
            </a:extLst>
          </a:blip>
          <a:srcRect/>
          <a:stretch/>
        </p:blipFill>
        <p:spPr>
          <a:xfrm>
            <a:off x="0" y="1"/>
            <a:ext cx="12165488" cy="6858001"/>
          </a:xfrm>
          <a:prstGeom prst="rect">
            <a:avLst/>
          </a:prstGeom>
        </p:spPr>
      </p:pic>
      <p:sp>
        <p:nvSpPr>
          <p:cNvPr id="4" name="Title 1">
            <a:extLst>
              <a:ext uri="{FF2B5EF4-FFF2-40B4-BE49-F238E27FC236}">
                <a16:creationId xmlns:a16="http://schemas.microsoft.com/office/drawing/2014/main" id="{F73CF796-DC11-7A9D-1EDA-BA7F5D2B9A81}"/>
              </a:ext>
            </a:extLst>
          </p:cNvPr>
          <p:cNvSpPr>
            <a:spLocks noGrp="1"/>
          </p:cNvSpPr>
          <p:nvPr>
            <p:ph type="title"/>
          </p:nvPr>
        </p:nvSpPr>
        <p:spPr>
          <a:xfrm>
            <a:off x="566929" y="447042"/>
            <a:ext cx="11491993"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dirty="0"/>
              <a:t>Click to edit Master title style</a:t>
            </a:r>
          </a:p>
        </p:txBody>
      </p:sp>
    </p:spTree>
    <p:extLst>
      <p:ext uri="{BB962C8B-B14F-4D97-AF65-F5344CB8AC3E}">
        <p14:creationId xmlns:p14="http://schemas.microsoft.com/office/powerpoint/2010/main" val="37075746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Special Visual 3">
    <p:bg>
      <p:bgPr>
        <a:solidFill>
          <a:schemeClr val="tx2"/>
        </a:solidFill>
        <a:effectLst/>
      </p:bgPr>
    </p:bg>
    <p:spTree>
      <p:nvGrpSpPr>
        <p:cNvPr id="1" name=""/>
        <p:cNvGrpSpPr/>
        <p:nvPr/>
      </p:nvGrpSpPr>
      <p:grpSpPr>
        <a:xfrm>
          <a:off x="0" y="0"/>
          <a:ext cx="0" cy="0"/>
          <a:chOff x="0" y="0"/>
          <a:chExt cx="0" cy="0"/>
        </a:xfrm>
      </p:grpSpPr>
      <p:pic>
        <p:nvPicPr>
          <p:cNvPr id="9" name="Picture 8" descr="An astronaut floating in space&#10;&#10;AI-generated content may be incorrect.">
            <a:extLst>
              <a:ext uri="{FF2B5EF4-FFF2-40B4-BE49-F238E27FC236}">
                <a16:creationId xmlns:a16="http://schemas.microsoft.com/office/drawing/2014/main" id="{9DA1DE89-B1B4-0B78-BA7D-98605CF2B49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229484" y="1"/>
            <a:ext cx="6962517" cy="6858001"/>
          </a:xfrm>
          <a:prstGeom prst="rect">
            <a:avLst/>
          </a:prstGeom>
        </p:spPr>
      </p:pic>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24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1131763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Special Visual 4">
    <p:bg>
      <p:bgPr>
        <a:solidFill>
          <a:schemeClr val="tx2"/>
        </a:solidFill>
        <a:effectLst/>
      </p:bgPr>
    </p:bg>
    <p:spTree>
      <p:nvGrpSpPr>
        <p:cNvPr id="1" name=""/>
        <p:cNvGrpSpPr/>
        <p:nvPr/>
      </p:nvGrpSpPr>
      <p:grpSpPr>
        <a:xfrm>
          <a:off x="0" y="0"/>
          <a:ext cx="0" cy="0"/>
          <a:chOff x="0" y="0"/>
          <a:chExt cx="0" cy="0"/>
        </a:xfrm>
      </p:grpSpPr>
      <p:pic>
        <p:nvPicPr>
          <p:cNvPr id="11" name="Picture 10" descr="A blue planet with a bright light&#10;&#10;AI-generated content may be incorrect.">
            <a:extLst>
              <a:ext uri="{FF2B5EF4-FFF2-40B4-BE49-F238E27FC236}">
                <a16:creationId xmlns:a16="http://schemas.microsoft.com/office/drawing/2014/main" id="{5928C9F9-2416-28F6-1432-DDAFD45C885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317712" y="-1"/>
            <a:ext cx="6874288" cy="6853357"/>
          </a:xfrm>
          <a:prstGeom prst="rect">
            <a:avLst/>
          </a:prstGeom>
        </p:spPr>
      </p:pic>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2400" b="0" i="0">
                <a:solidFill>
                  <a:schemeClr val="bg1"/>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2188490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itle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Slide Number Placeholder 5">
            <a:extLst>
              <a:ext uri="{FF2B5EF4-FFF2-40B4-BE49-F238E27FC236}">
                <a16:creationId xmlns:a16="http://schemas.microsoft.com/office/drawing/2014/main" id="{FF8F2ECD-EA50-2550-0B02-4B2C953442E4}"/>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4" name="Picture 3">
            <a:extLst>
              <a:ext uri="{FF2B5EF4-FFF2-40B4-BE49-F238E27FC236}">
                <a16:creationId xmlns:a16="http://schemas.microsoft.com/office/drawing/2014/main" id="{2153AC61-82C3-E5FF-66C1-161CB2EFC3C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
        <p:nvSpPr>
          <p:cNvPr id="5" name="Title 1">
            <a:extLst>
              <a:ext uri="{FF2B5EF4-FFF2-40B4-BE49-F238E27FC236}">
                <a16:creationId xmlns:a16="http://schemas.microsoft.com/office/drawing/2014/main" id="{B091CAAF-7201-F093-551D-F03CEB9F5778}"/>
              </a:ext>
            </a:extLst>
          </p:cNvPr>
          <p:cNvSpPr>
            <a:spLocks noGrp="1"/>
          </p:cNvSpPr>
          <p:nvPr>
            <p:ph type="title"/>
          </p:nvPr>
        </p:nvSpPr>
        <p:spPr>
          <a:xfrm>
            <a:off x="566929" y="447042"/>
            <a:ext cx="11491993"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dirty="0"/>
              <a:t>Click to edit Master title style</a:t>
            </a:r>
          </a:p>
        </p:txBody>
      </p:sp>
    </p:spTree>
    <p:extLst>
      <p:ext uri="{BB962C8B-B14F-4D97-AF65-F5344CB8AC3E}">
        <p14:creationId xmlns:p14="http://schemas.microsoft.com/office/powerpoint/2010/main" val="40431643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Pull Quote Blu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189" indent="0">
              <a:buFontTx/>
              <a:buNone/>
              <a:defRPr b="0" i="0">
                <a:solidFill>
                  <a:schemeClr val="bg1"/>
                </a:solidFill>
                <a:latin typeface="Figtree Medium" pitchFamily="2" charset="0"/>
              </a:defRPr>
            </a:lvl2pPr>
            <a:lvl3pPr marL="914377" indent="0">
              <a:buFontTx/>
              <a:buNone/>
              <a:defRPr b="0" i="0">
                <a:solidFill>
                  <a:schemeClr val="bg1"/>
                </a:solidFill>
                <a:latin typeface="Figtree Medium" pitchFamily="2" charset="0"/>
              </a:defRPr>
            </a:lvl3pPr>
            <a:lvl4pPr marL="1371566" indent="0">
              <a:buFontTx/>
              <a:buNone/>
              <a:defRPr b="0" i="0">
                <a:solidFill>
                  <a:schemeClr val="bg1"/>
                </a:solidFill>
                <a:latin typeface="Figtree Medium" pitchFamily="2" charset="0"/>
              </a:defRPr>
            </a:lvl4pPr>
            <a:lvl5pPr marL="1828754"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sp>
        <p:nvSpPr>
          <p:cNvPr id="10" name="Slide Number Placeholder 5">
            <a:extLst>
              <a:ext uri="{FF2B5EF4-FFF2-40B4-BE49-F238E27FC236}">
                <a16:creationId xmlns:a16="http://schemas.microsoft.com/office/drawing/2014/main" id="{7F502D63-98F2-0192-9694-5687D8D05AD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1" name="Straight Connector 10">
            <a:extLst>
              <a:ext uri="{FF2B5EF4-FFF2-40B4-BE49-F238E27FC236}">
                <a16:creationId xmlns:a16="http://schemas.microsoft.com/office/drawing/2014/main" id="{80622538-DB89-0185-9E98-C8D31813769B}"/>
              </a:ext>
            </a:extLst>
          </p:cNvPr>
          <p:cNvCxnSpPr>
            <a:cxnSpLocks/>
          </p:cNvCxnSpPr>
          <p:nvPr userDrawn="1"/>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F0FF596D-CC26-E4B0-EC5C-182E1E7E40D3}"/>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2215584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Pull Quote Plum">
    <p:bg>
      <p:bgPr>
        <a:gradFill>
          <a:gsLst>
            <a:gs pos="0">
              <a:schemeClr val="accent2"/>
            </a:gs>
            <a:gs pos="54000">
              <a:schemeClr val="accent3"/>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189" indent="0">
              <a:buFontTx/>
              <a:buNone/>
              <a:defRPr b="0" i="0">
                <a:solidFill>
                  <a:schemeClr val="bg1"/>
                </a:solidFill>
                <a:latin typeface="Figtree Medium" pitchFamily="2" charset="0"/>
              </a:defRPr>
            </a:lvl2pPr>
            <a:lvl3pPr marL="914377" indent="0">
              <a:buFontTx/>
              <a:buNone/>
              <a:defRPr b="0" i="0">
                <a:solidFill>
                  <a:schemeClr val="bg1"/>
                </a:solidFill>
                <a:latin typeface="Figtree Medium" pitchFamily="2" charset="0"/>
              </a:defRPr>
            </a:lvl3pPr>
            <a:lvl4pPr marL="1371566" indent="0">
              <a:buFontTx/>
              <a:buNone/>
              <a:defRPr b="0" i="0">
                <a:solidFill>
                  <a:schemeClr val="bg1"/>
                </a:solidFill>
                <a:latin typeface="Figtree Medium" pitchFamily="2" charset="0"/>
              </a:defRPr>
            </a:lvl4pPr>
            <a:lvl5pPr marL="1828754"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sp>
        <p:nvSpPr>
          <p:cNvPr id="5" name="Slide Number Placeholder 5">
            <a:extLst>
              <a:ext uri="{FF2B5EF4-FFF2-40B4-BE49-F238E27FC236}">
                <a16:creationId xmlns:a16="http://schemas.microsoft.com/office/drawing/2014/main" id="{FE1CE688-D74E-8D3C-C8FB-273D204479BC}"/>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56F17F2-AAEF-FEEE-FEB8-8DF375D781F2}"/>
              </a:ext>
            </a:extLst>
          </p:cNvPr>
          <p:cNvCxnSpPr>
            <a:cxnSpLocks/>
          </p:cNvCxnSpPr>
          <p:nvPr userDrawn="1"/>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BE6E5B02-D478-7B84-9936-C8A086849FBA}"/>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19301525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Pull Quote Gold">
    <p:bg>
      <p:bgPr>
        <a:gradFill>
          <a:gsLst>
            <a:gs pos="0">
              <a:schemeClr val="accent6"/>
            </a:gs>
            <a:gs pos="54000">
              <a:schemeClr val="accent4"/>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189" indent="0">
              <a:buFontTx/>
              <a:buNone/>
              <a:defRPr b="0" i="0">
                <a:solidFill>
                  <a:schemeClr val="bg1"/>
                </a:solidFill>
                <a:latin typeface="Figtree Medium" pitchFamily="2" charset="0"/>
              </a:defRPr>
            </a:lvl2pPr>
            <a:lvl3pPr marL="914377" indent="0">
              <a:buFontTx/>
              <a:buNone/>
              <a:defRPr b="0" i="0">
                <a:solidFill>
                  <a:schemeClr val="bg1"/>
                </a:solidFill>
                <a:latin typeface="Figtree Medium" pitchFamily="2" charset="0"/>
              </a:defRPr>
            </a:lvl3pPr>
            <a:lvl4pPr marL="1371566" indent="0">
              <a:buFontTx/>
              <a:buNone/>
              <a:defRPr b="0" i="0">
                <a:solidFill>
                  <a:schemeClr val="bg1"/>
                </a:solidFill>
                <a:latin typeface="Figtree Medium" pitchFamily="2" charset="0"/>
              </a:defRPr>
            </a:lvl4pPr>
            <a:lvl5pPr marL="1828754"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sp>
        <p:nvSpPr>
          <p:cNvPr id="5" name="Slide Number Placeholder 5">
            <a:extLst>
              <a:ext uri="{FF2B5EF4-FFF2-40B4-BE49-F238E27FC236}">
                <a16:creationId xmlns:a16="http://schemas.microsoft.com/office/drawing/2014/main" id="{EEFF9B6A-2657-DE51-519D-1E20B3FDA186}"/>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8AD89207-345D-F496-AF0B-592807269139}"/>
              </a:ext>
            </a:extLst>
          </p:cNvPr>
          <p:cNvCxnSpPr>
            <a:cxnSpLocks/>
          </p:cNvCxnSpPr>
          <p:nvPr userDrawn="1"/>
        </p:nvCxnSpPr>
        <p:spPr>
          <a:xfrm>
            <a:off x="11491993" y="6454131"/>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07A89A59-A76B-D96F-9CE2-1086D4C06B3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142810276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Pull Quote Green">
    <p:bg>
      <p:bgPr>
        <a:gradFill>
          <a:gsLst>
            <a:gs pos="0">
              <a:schemeClr val="accent2"/>
            </a:gs>
            <a:gs pos="54000">
              <a:schemeClr val="accent5"/>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189" indent="0">
              <a:buFontTx/>
              <a:buNone/>
              <a:defRPr b="0" i="0">
                <a:solidFill>
                  <a:schemeClr val="bg1"/>
                </a:solidFill>
                <a:latin typeface="Figtree Medium" pitchFamily="2" charset="0"/>
              </a:defRPr>
            </a:lvl2pPr>
            <a:lvl3pPr marL="914377" indent="0">
              <a:buFontTx/>
              <a:buNone/>
              <a:defRPr b="0" i="0">
                <a:solidFill>
                  <a:schemeClr val="bg1"/>
                </a:solidFill>
                <a:latin typeface="Figtree Medium" pitchFamily="2" charset="0"/>
              </a:defRPr>
            </a:lvl3pPr>
            <a:lvl4pPr marL="1371566" indent="0">
              <a:buFontTx/>
              <a:buNone/>
              <a:defRPr b="0" i="0">
                <a:solidFill>
                  <a:schemeClr val="bg1"/>
                </a:solidFill>
                <a:latin typeface="Figtree Medium" pitchFamily="2" charset="0"/>
              </a:defRPr>
            </a:lvl4pPr>
            <a:lvl5pPr marL="1828754"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sp>
        <p:nvSpPr>
          <p:cNvPr id="5" name="Slide Number Placeholder 5">
            <a:extLst>
              <a:ext uri="{FF2B5EF4-FFF2-40B4-BE49-F238E27FC236}">
                <a16:creationId xmlns:a16="http://schemas.microsoft.com/office/drawing/2014/main" id="{1507A87D-5CC5-BF86-C0AA-3E1DDCEA194D}"/>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6BBC947-4C17-284C-CC69-494D42DEE5CC}"/>
              </a:ext>
            </a:extLst>
          </p:cNvPr>
          <p:cNvCxnSpPr>
            <a:cxnSpLocks/>
          </p:cNvCxnSpPr>
          <p:nvPr userDrawn="1"/>
        </p:nvCxnSpPr>
        <p:spPr>
          <a:xfrm>
            <a:off x="11491993" y="6454131"/>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87BA6484-6E55-DD5F-9E5D-1E9FEF47CF2F}"/>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3710582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Pull Quote Orange">
    <p:bg>
      <p:bgPr>
        <a:gradFill>
          <a:gsLst>
            <a:gs pos="0">
              <a:schemeClr val="accent3"/>
            </a:gs>
            <a:gs pos="54000">
              <a:schemeClr val="accent6"/>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1" y="456717"/>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189" indent="0">
              <a:buFontTx/>
              <a:buNone/>
              <a:defRPr b="0" i="0">
                <a:solidFill>
                  <a:schemeClr val="bg1"/>
                </a:solidFill>
                <a:latin typeface="Figtree Medium" pitchFamily="2" charset="0"/>
              </a:defRPr>
            </a:lvl2pPr>
            <a:lvl3pPr marL="914377" indent="0">
              <a:buFontTx/>
              <a:buNone/>
              <a:defRPr b="0" i="0">
                <a:solidFill>
                  <a:schemeClr val="bg1"/>
                </a:solidFill>
                <a:latin typeface="Figtree Medium" pitchFamily="2" charset="0"/>
              </a:defRPr>
            </a:lvl3pPr>
            <a:lvl4pPr marL="1371566" indent="0">
              <a:buFontTx/>
              <a:buNone/>
              <a:defRPr b="0" i="0">
                <a:solidFill>
                  <a:schemeClr val="bg1"/>
                </a:solidFill>
                <a:latin typeface="Figtree Medium" pitchFamily="2" charset="0"/>
              </a:defRPr>
            </a:lvl4pPr>
            <a:lvl5pPr marL="1828754"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30" y="1831754"/>
            <a:ext cx="1348751" cy="1039037"/>
          </a:xfrm>
          <a:prstGeom prst="rect">
            <a:avLst/>
          </a:prstGeom>
        </p:spPr>
      </p:pic>
      <p:sp>
        <p:nvSpPr>
          <p:cNvPr id="5" name="Slide Number Placeholder 5">
            <a:extLst>
              <a:ext uri="{FF2B5EF4-FFF2-40B4-BE49-F238E27FC236}">
                <a16:creationId xmlns:a16="http://schemas.microsoft.com/office/drawing/2014/main" id="{0260A482-67B1-88FD-50A7-98D6A2DC1F3F}"/>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7334E67-BF46-822A-CDA7-B19153C5567B}"/>
              </a:ext>
            </a:extLst>
          </p:cNvPr>
          <p:cNvCxnSpPr>
            <a:cxnSpLocks/>
          </p:cNvCxnSpPr>
          <p:nvPr userDrawn="1"/>
        </p:nvCxnSpPr>
        <p:spPr>
          <a:xfrm>
            <a:off x="11491993" y="6454131"/>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97922417-E2C6-1B89-E477-CE2A211BCE6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9" y="6437961"/>
            <a:ext cx="857519" cy="243268"/>
          </a:xfrm>
          <a:prstGeom prst="rect">
            <a:avLst/>
          </a:prstGeom>
        </p:spPr>
      </p:pic>
    </p:spTree>
    <p:extLst>
      <p:ext uri="{BB962C8B-B14F-4D97-AF65-F5344CB8AC3E}">
        <p14:creationId xmlns:p14="http://schemas.microsoft.com/office/powerpoint/2010/main" val="2570998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 Content">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DF5FA7B-72FB-B64A-A69A-D4755A185809}"/>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t="-132"/>
          <a:stretch/>
        </p:blipFill>
        <p:spPr>
          <a:xfrm>
            <a:off x="5897661" y="1502251"/>
            <a:ext cx="6294340" cy="5348660"/>
          </a:xfrm>
          <a:prstGeom prst="rect">
            <a:avLst/>
          </a:prstGeom>
        </p:spPr>
      </p:pic>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4"/>
            <a:ext cx="10515600" cy="4125723"/>
          </a:xfrm>
          <a:prstGeom prst="rect">
            <a:avLst/>
          </a:prstGeom>
        </p:spPr>
        <p:txBody>
          <a:bodyPr lIns="0" tIns="0" rIns="0" bIns="0">
            <a:noAutofit/>
          </a:bodyPr>
          <a:lstStyle>
            <a:lvl1pPr marL="0" indent="0">
              <a:buFontTx/>
              <a:buNone/>
              <a:defRPr sz="1800" b="0" i="0">
                <a:solidFill>
                  <a:schemeClr val="tx2"/>
                </a:solidFill>
                <a:latin typeface="Figtree" pitchFamily="2" charset="0"/>
              </a:defRPr>
            </a:lvl1pPr>
            <a:lvl2pPr marL="742932" indent="-285744">
              <a:buFont typeface="Arial" panose="020B0604020202020204" pitchFamily="34" charset="0"/>
              <a:buChar char="•"/>
              <a:defRPr sz="1800" b="0" i="0">
                <a:solidFill>
                  <a:schemeClr val="tx2"/>
                </a:solidFill>
                <a:latin typeface="Figtree" pitchFamily="2" charset="0"/>
              </a:defRPr>
            </a:lvl2pPr>
            <a:lvl3pPr marL="1200121" indent="-285744">
              <a:buFont typeface="Arial" panose="020B0604020202020204" pitchFamily="34" charset="0"/>
              <a:buChar char="•"/>
              <a:defRPr sz="1800" b="0" i="0">
                <a:solidFill>
                  <a:schemeClr val="tx2"/>
                </a:solidFill>
                <a:latin typeface="Figtree" pitchFamily="2" charset="0"/>
              </a:defRPr>
            </a:lvl3pPr>
            <a:lvl4pPr marL="1657309" indent="-285744">
              <a:buFont typeface="Arial" panose="020B0604020202020204" pitchFamily="34" charset="0"/>
              <a:buChar char="•"/>
              <a:defRPr sz="1800" b="0" i="0">
                <a:solidFill>
                  <a:schemeClr val="tx2"/>
                </a:solidFill>
                <a:latin typeface="Figtree" pitchFamily="2" charset="0"/>
              </a:defRPr>
            </a:lvl4pPr>
            <a:lvl5pPr marL="2114498" indent="-285744">
              <a:buFont typeface="Arial" panose="020B0604020202020204" pitchFamily="34" charset="0"/>
              <a:buChar char="•"/>
              <a:defRPr sz="1800" b="0" i="0">
                <a:solidFill>
                  <a:schemeClr val="tx2"/>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descr="A blue and black logo&#10;&#10;AI-generated content may be incorrect.">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21" name="Title 1">
            <a:extLst>
              <a:ext uri="{FF2B5EF4-FFF2-40B4-BE49-F238E27FC236}">
                <a16:creationId xmlns:a16="http://schemas.microsoft.com/office/drawing/2014/main" id="{DD612E32-8B24-CFBA-FD04-7AFAC14F7439}"/>
              </a:ext>
            </a:extLst>
          </p:cNvPr>
          <p:cNvSpPr>
            <a:spLocks noGrp="1"/>
          </p:cNvSpPr>
          <p:nvPr>
            <p:ph type="title"/>
          </p:nvPr>
        </p:nvSpPr>
        <p:spPr>
          <a:xfrm>
            <a:off x="566929" y="447042"/>
            <a:ext cx="11491993"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dirty="0"/>
              <a:t>Click to edit Master title style</a:t>
            </a:r>
          </a:p>
        </p:txBody>
      </p:sp>
    </p:spTree>
    <p:extLst>
      <p:ext uri="{BB962C8B-B14F-4D97-AF65-F5344CB8AC3E}">
        <p14:creationId xmlns:p14="http://schemas.microsoft.com/office/powerpoint/2010/main" val="2126779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ext + Image Blue">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77975A2F-3139-064B-C4DB-834F5B6D5EA1}"/>
              </a:ext>
            </a:extLst>
          </p:cNvPr>
          <p:cNvSpPr>
            <a:spLocks noGrp="1"/>
          </p:cNvSpPr>
          <p:nvPr>
            <p:ph type="pic" idx="1"/>
          </p:nvPr>
        </p:nvSpPr>
        <p:spPr>
          <a:xfrm>
            <a:off x="5300658" y="1"/>
            <a:ext cx="6891343"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17" name="Freeform 16">
            <a:extLst>
              <a:ext uri="{FF2B5EF4-FFF2-40B4-BE49-F238E27FC236}">
                <a16:creationId xmlns:a16="http://schemas.microsoft.com/office/drawing/2014/main" id="{43C4FB2F-E7D0-EBC7-4DDB-6CC86298818F}"/>
              </a:ext>
            </a:extLst>
          </p:cNvPr>
          <p:cNvSpPr/>
          <p:nvPr userDrawn="1"/>
        </p:nvSpPr>
        <p:spPr>
          <a:xfrm>
            <a:off x="4809511" y="-5"/>
            <a:ext cx="3605100"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9235829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ext + Image Plum">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69C6E8A-1D0A-512B-A944-81B2539A1EDA}"/>
              </a:ext>
            </a:extLst>
          </p:cNvPr>
          <p:cNvSpPr>
            <a:spLocks noGrp="1"/>
          </p:cNvSpPr>
          <p:nvPr>
            <p:ph type="pic" idx="1"/>
          </p:nvPr>
        </p:nvSpPr>
        <p:spPr>
          <a:xfrm>
            <a:off x="5300658" y="1"/>
            <a:ext cx="6891343"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3" name="Freeform 2">
            <a:extLst>
              <a:ext uri="{FF2B5EF4-FFF2-40B4-BE49-F238E27FC236}">
                <a16:creationId xmlns:a16="http://schemas.microsoft.com/office/drawing/2014/main" id="{63078809-296D-371D-64D3-36C8022650B2}"/>
              </a:ext>
            </a:extLst>
          </p:cNvPr>
          <p:cNvSpPr/>
          <p:nvPr userDrawn="1"/>
        </p:nvSpPr>
        <p:spPr>
          <a:xfrm>
            <a:off x="4847710" y="-5"/>
            <a:ext cx="3566903" cy="6858001"/>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390847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ext + Image G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3"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5" name="Freeform 4">
            <a:extLst>
              <a:ext uri="{FF2B5EF4-FFF2-40B4-BE49-F238E27FC236}">
                <a16:creationId xmlns:a16="http://schemas.microsoft.com/office/drawing/2014/main" id="{F06610B9-8C48-9789-3124-8DB88AA039B6}"/>
              </a:ext>
            </a:extLst>
          </p:cNvPr>
          <p:cNvSpPr/>
          <p:nvPr userDrawn="1"/>
        </p:nvSpPr>
        <p:spPr>
          <a:xfrm>
            <a:off x="4855811" y="-5"/>
            <a:ext cx="35588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4787044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ext + Image Gree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13821" y="0"/>
            <a:ext cx="6891343" cy="6868957"/>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3" name="Freeform 2">
            <a:extLst>
              <a:ext uri="{FF2B5EF4-FFF2-40B4-BE49-F238E27FC236}">
                <a16:creationId xmlns:a16="http://schemas.microsoft.com/office/drawing/2014/main" id="{CB73E4F5-5916-13A5-64C5-8C77558117BD}"/>
              </a:ext>
            </a:extLst>
          </p:cNvPr>
          <p:cNvSpPr/>
          <p:nvPr userDrawn="1"/>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968270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ext + Image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9" y="457200"/>
            <a:ext cx="4602999"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3"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1"/>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5" name="Freeform 4">
            <a:extLst>
              <a:ext uri="{FF2B5EF4-FFF2-40B4-BE49-F238E27FC236}">
                <a16:creationId xmlns:a16="http://schemas.microsoft.com/office/drawing/2014/main" id="{CFD3A720-686E-513F-0664-2531C8B0201E}"/>
              </a:ext>
            </a:extLst>
          </p:cNvPr>
          <p:cNvSpPr/>
          <p:nvPr userDrawn="1"/>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514359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
        <p:nvSpPr>
          <p:cNvPr id="3" name="Title 1">
            <a:extLst>
              <a:ext uri="{FF2B5EF4-FFF2-40B4-BE49-F238E27FC236}">
                <a16:creationId xmlns:a16="http://schemas.microsoft.com/office/drawing/2014/main" id="{7838763F-D0EE-C40A-01C9-6B4A286F7D02}"/>
              </a:ext>
            </a:extLst>
          </p:cNvPr>
          <p:cNvSpPr>
            <a:spLocks noGrp="1"/>
          </p:cNvSpPr>
          <p:nvPr>
            <p:ph type="title"/>
          </p:nvPr>
        </p:nvSpPr>
        <p:spPr>
          <a:xfrm>
            <a:off x="566929" y="447042"/>
            <a:ext cx="11491993"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dirty="0"/>
              <a:t>Click to edit Master title style</a:t>
            </a:r>
          </a:p>
        </p:txBody>
      </p:sp>
    </p:spTree>
    <p:extLst>
      <p:ext uri="{BB962C8B-B14F-4D97-AF65-F5344CB8AC3E}">
        <p14:creationId xmlns:p14="http://schemas.microsoft.com/office/powerpoint/2010/main" val="34034374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Footer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Tree>
    <p:extLst>
      <p:ext uri="{BB962C8B-B14F-4D97-AF65-F5344CB8AC3E}">
        <p14:creationId xmlns:p14="http://schemas.microsoft.com/office/powerpoint/2010/main" val="19746644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Closing Slid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1" y="1509339"/>
            <a:ext cx="6294340" cy="5348660"/>
          </a:xfrm>
          <a:prstGeom prst="rect">
            <a:avLst/>
          </a:prstGeom>
        </p:spPr>
      </p:pic>
      <p:sp>
        <p:nvSpPr>
          <p:cNvPr id="7" name="TextBox 6">
            <a:extLst>
              <a:ext uri="{FF2B5EF4-FFF2-40B4-BE49-F238E27FC236}">
                <a16:creationId xmlns:a16="http://schemas.microsoft.com/office/drawing/2014/main" id="{77674F01-5FF3-D372-A30F-3AA70A84088C}"/>
              </a:ext>
            </a:extLst>
          </p:cNvPr>
          <p:cNvSpPr txBox="1"/>
          <p:nvPr userDrawn="1"/>
        </p:nvSpPr>
        <p:spPr>
          <a:xfrm>
            <a:off x="777608" y="4118432"/>
            <a:ext cx="3950762" cy="1107996"/>
          </a:xfrm>
          <a:prstGeom prst="rect">
            <a:avLst/>
          </a:prstGeom>
          <a:noFill/>
        </p:spPr>
        <p:txBody>
          <a:bodyPr wrap="none" lIns="0" tIns="0" rIns="0" bIns="0" rtlCol="0">
            <a:spAutoFit/>
          </a:bodyPr>
          <a:lstStyle/>
          <a:p>
            <a:r>
              <a:rPr lang="en-US" sz="7200" b="1" i="0" dirty="0">
                <a:solidFill>
                  <a:schemeClr val="bg1"/>
                </a:solidFill>
                <a:latin typeface="Figtree" pitchFamily="2" charset="0"/>
              </a:rPr>
              <a:t>Thank You</a:t>
            </a:r>
          </a:p>
        </p:txBody>
      </p:sp>
      <p:pic>
        <p:nvPicPr>
          <p:cNvPr id="2" name="Picture 1" descr="A white letters on a black background&#10;&#10;AI-generated content may be incorrect.">
            <a:extLst>
              <a:ext uri="{FF2B5EF4-FFF2-40B4-BE49-F238E27FC236}">
                <a16:creationId xmlns:a16="http://schemas.microsoft.com/office/drawing/2014/main" id="{E75CDDDC-A96F-BAF7-E204-A505ACE5890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1851" y="705080"/>
            <a:ext cx="3398627" cy="944553"/>
          </a:xfrm>
          <a:prstGeom prst="rect">
            <a:avLst/>
          </a:prstGeom>
        </p:spPr>
      </p:pic>
    </p:spTree>
    <p:extLst>
      <p:ext uri="{BB962C8B-B14F-4D97-AF65-F5344CB8AC3E}">
        <p14:creationId xmlns:p14="http://schemas.microsoft.com/office/powerpoint/2010/main" val="28517621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Rectangle 4"/>
          <p:cNvSpPr>
            <a:spLocks noGrp="1" noChangeArrowheads="1"/>
          </p:cNvSpPr>
          <p:nvPr>
            <p:ph type="dt" sz="half" idx="10"/>
          </p:nvPr>
        </p:nvSpPr>
        <p:spPr>
          <a:xfrm>
            <a:off x="1600200" y="6183915"/>
            <a:ext cx="2133600" cy="216887"/>
          </a:xfrm>
          <a:prstGeom prst="rect">
            <a:avLst/>
          </a:prstGeom>
          <a:ln/>
        </p:spPr>
        <p:txBody>
          <a:bodyPr/>
          <a:lstStyle>
            <a:lvl1pPr>
              <a:defRPr sz="1400"/>
            </a:lvl1pPr>
          </a:lstStyle>
          <a:p>
            <a:pPr>
              <a:defRPr/>
            </a:pPr>
            <a:endParaRPr lang="en-US" dirty="0"/>
          </a:p>
        </p:txBody>
      </p:sp>
      <p:sp>
        <p:nvSpPr>
          <p:cNvPr id="7" name="Rectangle 5"/>
          <p:cNvSpPr>
            <a:spLocks noGrp="1" noChangeArrowheads="1"/>
          </p:cNvSpPr>
          <p:nvPr>
            <p:ph type="ftr" sz="quarter" idx="11"/>
          </p:nvPr>
        </p:nvSpPr>
        <p:spPr>
          <a:xfrm>
            <a:off x="3810001" y="6062247"/>
            <a:ext cx="246308" cy="338555"/>
          </a:xfrm>
          <a:prstGeom prst="rect">
            <a:avLst/>
          </a:prstGeom>
          <a:ln/>
        </p:spPr>
        <p:txBody>
          <a:bodyPr/>
          <a:lstStyle>
            <a:lvl1pPr>
              <a:defRPr sz="1400"/>
            </a:lvl1pPr>
          </a:lstStyle>
          <a:p>
            <a:pPr>
              <a:defRPr/>
            </a:pPr>
            <a:endParaRPr lang="en-US" dirty="0"/>
          </a:p>
        </p:txBody>
      </p:sp>
      <p:sp>
        <p:nvSpPr>
          <p:cNvPr id="8" name="Rectangle 6"/>
          <p:cNvSpPr>
            <a:spLocks noGrp="1" noChangeArrowheads="1"/>
          </p:cNvSpPr>
          <p:nvPr>
            <p:ph type="sldNum" sz="quarter" idx="12"/>
          </p:nvPr>
        </p:nvSpPr>
        <p:spPr>
          <a:xfrm>
            <a:off x="304800" y="6172200"/>
            <a:ext cx="1219200" cy="228600"/>
          </a:xfrm>
          <a:prstGeom prst="rect">
            <a:avLst/>
          </a:prstGeom>
          <a:ln/>
        </p:spPr>
        <p:txBody>
          <a:bodyPr/>
          <a:lstStyle>
            <a:lvl1pPr>
              <a:defRPr sz="1400"/>
            </a:lvl1pPr>
          </a:lstStyle>
          <a:p>
            <a:pPr>
              <a:defRPr/>
            </a:pPr>
            <a:fld id="{B586D440-F702-449A-AAC2-9ACFF17038B8}" type="slidenum">
              <a:rPr lang="en-US" smtClean="0"/>
              <a:pPr>
                <a:defRPr/>
              </a:pPr>
              <a:t>‹#›</a:t>
            </a:fld>
            <a:endParaRPr lang="en-US" dirty="0"/>
          </a:p>
        </p:txBody>
      </p:sp>
    </p:spTree>
    <p:extLst>
      <p:ext uri="{BB962C8B-B14F-4D97-AF65-F5344CB8AC3E}">
        <p14:creationId xmlns:p14="http://schemas.microsoft.com/office/powerpoint/2010/main" val="6281166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Blank (Dark)">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86510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8_Title + Content">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DF5FA7B-72FB-B64A-A69A-D4755A185809}"/>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t="-132"/>
          <a:stretch/>
        </p:blipFill>
        <p:spPr>
          <a:xfrm>
            <a:off x="5897661" y="1502251"/>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8" y="365126"/>
            <a:ext cx="11491993" cy="1169207"/>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4"/>
            <a:ext cx="10515600" cy="4125723"/>
          </a:xfrm>
          <a:prstGeom prst="rect">
            <a:avLst/>
          </a:prstGeom>
        </p:spPr>
        <p:txBody>
          <a:bodyPr lIns="0" tIns="0" rIns="0" bIns="0">
            <a:noAutofit/>
          </a:bodyPr>
          <a:lstStyle>
            <a:lvl1pPr marL="0" indent="0">
              <a:buFontTx/>
              <a:buNone/>
              <a:defRPr sz="1800" b="0" i="0">
                <a:solidFill>
                  <a:schemeClr val="tx2"/>
                </a:solidFill>
                <a:latin typeface="Figtree" pitchFamily="2" charset="0"/>
              </a:defRPr>
            </a:lvl1pPr>
            <a:lvl2pPr marL="742932" indent="-285744">
              <a:buFont typeface="Arial" panose="020B0604020202020204" pitchFamily="34" charset="0"/>
              <a:buChar char="•"/>
              <a:defRPr sz="1800" b="0" i="0">
                <a:solidFill>
                  <a:schemeClr val="tx2"/>
                </a:solidFill>
                <a:latin typeface="Figtree" pitchFamily="2" charset="0"/>
              </a:defRPr>
            </a:lvl2pPr>
            <a:lvl3pPr marL="1200121" indent="-285744">
              <a:buFont typeface="Arial" panose="020B0604020202020204" pitchFamily="34" charset="0"/>
              <a:buChar char="•"/>
              <a:defRPr sz="1800" b="0" i="0">
                <a:solidFill>
                  <a:schemeClr val="tx2"/>
                </a:solidFill>
                <a:latin typeface="Figtree" pitchFamily="2" charset="0"/>
              </a:defRPr>
            </a:lvl3pPr>
            <a:lvl4pPr marL="1657309" indent="-285744">
              <a:buFont typeface="Arial" panose="020B0604020202020204" pitchFamily="34" charset="0"/>
              <a:buChar char="•"/>
              <a:defRPr sz="1800" b="0" i="0">
                <a:solidFill>
                  <a:schemeClr val="tx2"/>
                </a:solidFill>
                <a:latin typeface="Figtree" pitchFamily="2" charset="0"/>
              </a:defRPr>
            </a:lvl4pPr>
            <a:lvl5pPr marL="2114498" indent="-285744">
              <a:buFont typeface="Arial" panose="020B0604020202020204" pitchFamily="34" charset="0"/>
              <a:buChar char="•"/>
              <a:defRPr sz="1800" b="0" i="0">
                <a:solidFill>
                  <a:schemeClr val="tx2"/>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C6F355BC-998E-5A09-3C72-65E885D3B876}"/>
              </a:ext>
            </a:extLst>
          </p:cNvPr>
          <p:cNvSpPr>
            <a:spLocks noGrp="1"/>
          </p:cNvSpPr>
          <p:nvPr>
            <p:ph type="ftr" sz="quarter" idx="11"/>
          </p:nvPr>
        </p:nvSpPr>
        <p:spPr>
          <a:xfrm>
            <a:off x="6096000" y="6454131"/>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descr="A blue and black logo&#10;&#10;AI-generated content may be incorrect.">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Tree>
    <p:extLst>
      <p:ext uri="{BB962C8B-B14F-4D97-AF65-F5344CB8AC3E}">
        <p14:creationId xmlns:p14="http://schemas.microsoft.com/office/powerpoint/2010/main" val="19342832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_Title + Content">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DF5FA7B-72FB-B64A-A69A-D4755A185809}"/>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t="-132"/>
          <a:stretch/>
        </p:blipFill>
        <p:spPr>
          <a:xfrm>
            <a:off x="5897661" y="1502251"/>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8" y="365126"/>
            <a:ext cx="11491993" cy="1169207"/>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4"/>
            <a:ext cx="10515600" cy="4125723"/>
          </a:xfrm>
          <a:prstGeom prst="rect">
            <a:avLst/>
          </a:prstGeom>
        </p:spPr>
        <p:txBody>
          <a:bodyPr lIns="0" tIns="0" rIns="0" bIns="0">
            <a:noAutofit/>
          </a:bodyPr>
          <a:lstStyle>
            <a:lvl1pPr marL="0" indent="0">
              <a:buFontTx/>
              <a:buNone/>
              <a:defRPr sz="1800" b="0" i="0">
                <a:solidFill>
                  <a:schemeClr val="tx2"/>
                </a:solidFill>
                <a:latin typeface="Figtree" pitchFamily="2" charset="0"/>
              </a:defRPr>
            </a:lvl1pPr>
            <a:lvl2pPr marL="742932" indent="-285744">
              <a:buFont typeface="Arial" panose="020B0604020202020204" pitchFamily="34" charset="0"/>
              <a:buChar char="•"/>
              <a:defRPr sz="1800" b="0" i="0">
                <a:solidFill>
                  <a:schemeClr val="tx2"/>
                </a:solidFill>
                <a:latin typeface="Figtree" pitchFamily="2" charset="0"/>
              </a:defRPr>
            </a:lvl2pPr>
            <a:lvl3pPr marL="1200121" indent="-285744">
              <a:buFont typeface="Arial" panose="020B0604020202020204" pitchFamily="34" charset="0"/>
              <a:buChar char="•"/>
              <a:defRPr sz="1800" b="0" i="0">
                <a:solidFill>
                  <a:schemeClr val="tx2"/>
                </a:solidFill>
                <a:latin typeface="Figtree" pitchFamily="2" charset="0"/>
              </a:defRPr>
            </a:lvl3pPr>
            <a:lvl4pPr marL="1657309" indent="-285744">
              <a:buFont typeface="Arial" panose="020B0604020202020204" pitchFamily="34" charset="0"/>
              <a:buChar char="•"/>
              <a:defRPr sz="1800" b="0" i="0">
                <a:solidFill>
                  <a:schemeClr val="tx2"/>
                </a:solidFill>
                <a:latin typeface="Figtree" pitchFamily="2" charset="0"/>
              </a:defRPr>
            </a:lvl4pPr>
            <a:lvl5pPr marL="2114498" indent="-285744">
              <a:buFont typeface="Arial" panose="020B0604020202020204" pitchFamily="34" charset="0"/>
              <a:buChar char="•"/>
              <a:defRPr sz="1800" b="0" i="0">
                <a:solidFill>
                  <a:schemeClr val="tx2"/>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C6F355BC-998E-5A09-3C72-65E885D3B876}"/>
              </a:ext>
            </a:extLst>
          </p:cNvPr>
          <p:cNvSpPr>
            <a:spLocks noGrp="1"/>
          </p:cNvSpPr>
          <p:nvPr>
            <p:ph type="ftr" sz="quarter" idx="11"/>
          </p:nvPr>
        </p:nvSpPr>
        <p:spPr>
          <a:xfrm>
            <a:off x="6096000" y="6454131"/>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descr="A blue and black logo&#10;&#10;AI-generated content may be incorrect.">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Tree>
    <p:extLst>
      <p:ext uri="{BB962C8B-B14F-4D97-AF65-F5344CB8AC3E}">
        <p14:creationId xmlns:p14="http://schemas.microsoft.com/office/powerpoint/2010/main" val="37575401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1"/>
            <a:ext cx="5303520" cy="39027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1"/>
            <a:ext cx="5303520" cy="39027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dirty="0"/>
          </a:p>
        </p:txBody>
      </p:sp>
      <p:sp>
        <p:nvSpPr>
          <p:cNvPr id="7" name="Holder 7"/>
          <p:cNvSpPr>
            <a:spLocks noGrp="1"/>
          </p:cNvSpPr>
          <p:nvPr>
            <p:ph type="sldNum" sz="quarter" idx="7"/>
          </p:nvPr>
        </p:nvSpPr>
        <p:spPr/>
        <p:txBody>
          <a:bodyPr lIns="0" tIns="0" rIns="0" bIns="0"/>
          <a:lstStyle>
            <a:lvl1pPr>
              <a:defRPr sz="1000" b="0" i="0">
                <a:solidFill>
                  <a:schemeClr val="bg1"/>
                </a:solidFill>
                <a:latin typeface="Calibri"/>
                <a:cs typeface="Calibri"/>
              </a:defRPr>
            </a:lvl1pPr>
          </a:lstStyle>
          <a:p>
            <a:pPr marL="38099">
              <a:lnSpc>
                <a:spcPts val="985"/>
              </a:lnSpc>
            </a:pPr>
            <a:fld id="{81D60167-4931-47E6-BA6A-407CBD079E47}" type="slidenum">
              <a:rPr lang="en-US" sz="900" b="1" spc="-51" smtClean="0">
                <a:solidFill>
                  <a:srgbClr val="006FC0"/>
                </a:solidFill>
              </a:rPr>
              <a:pPr marL="38099">
                <a:lnSpc>
                  <a:spcPts val="985"/>
                </a:lnSpc>
              </a:pPr>
              <a:t>‹#›</a:t>
            </a:fld>
            <a:endParaRPr lang="en-US" sz="900" dirty="0"/>
          </a:p>
        </p:txBody>
      </p:sp>
    </p:spTree>
    <p:extLst>
      <p:ext uri="{BB962C8B-B14F-4D97-AF65-F5344CB8AC3E}">
        <p14:creationId xmlns:p14="http://schemas.microsoft.com/office/powerpoint/2010/main" val="21233608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3_Title + Content">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DF5FA7B-72FB-B64A-A69A-D4755A185809}"/>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t="-132"/>
          <a:stretch/>
        </p:blipFill>
        <p:spPr>
          <a:xfrm>
            <a:off x="5897661" y="1502251"/>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8" y="365126"/>
            <a:ext cx="11491993" cy="1169207"/>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4"/>
            <a:ext cx="10515600" cy="4125723"/>
          </a:xfrm>
          <a:prstGeom prst="rect">
            <a:avLst/>
          </a:prstGeom>
        </p:spPr>
        <p:txBody>
          <a:bodyPr lIns="0" tIns="0" rIns="0" bIns="0">
            <a:noAutofit/>
          </a:bodyPr>
          <a:lstStyle>
            <a:lvl1pPr marL="0" indent="0">
              <a:buFontTx/>
              <a:buNone/>
              <a:defRPr sz="1800" b="0" i="0">
                <a:solidFill>
                  <a:schemeClr val="tx2"/>
                </a:solidFill>
                <a:latin typeface="Figtree" pitchFamily="2" charset="0"/>
              </a:defRPr>
            </a:lvl1pPr>
            <a:lvl2pPr marL="742932" indent="-285744">
              <a:buFont typeface="Arial" panose="020B0604020202020204" pitchFamily="34" charset="0"/>
              <a:buChar char="•"/>
              <a:defRPr sz="1800" b="0" i="0">
                <a:solidFill>
                  <a:schemeClr val="tx2"/>
                </a:solidFill>
                <a:latin typeface="Figtree" pitchFamily="2" charset="0"/>
              </a:defRPr>
            </a:lvl2pPr>
            <a:lvl3pPr marL="1200121" indent="-285744">
              <a:buFont typeface="Arial" panose="020B0604020202020204" pitchFamily="34" charset="0"/>
              <a:buChar char="•"/>
              <a:defRPr sz="1800" b="0" i="0">
                <a:solidFill>
                  <a:schemeClr val="tx2"/>
                </a:solidFill>
                <a:latin typeface="Figtree" pitchFamily="2" charset="0"/>
              </a:defRPr>
            </a:lvl3pPr>
            <a:lvl4pPr marL="1657309" indent="-285744">
              <a:buFont typeface="Arial" panose="020B0604020202020204" pitchFamily="34" charset="0"/>
              <a:buChar char="•"/>
              <a:defRPr sz="1800" b="0" i="0">
                <a:solidFill>
                  <a:schemeClr val="tx2"/>
                </a:solidFill>
                <a:latin typeface="Figtree" pitchFamily="2" charset="0"/>
              </a:defRPr>
            </a:lvl4pPr>
            <a:lvl5pPr marL="2114498" indent="-285744">
              <a:buFont typeface="Arial" panose="020B0604020202020204" pitchFamily="34" charset="0"/>
              <a:buChar char="•"/>
              <a:defRPr sz="1800" b="0" i="0">
                <a:solidFill>
                  <a:schemeClr val="tx2"/>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C6F355BC-998E-5A09-3C72-65E885D3B876}"/>
              </a:ext>
            </a:extLst>
          </p:cNvPr>
          <p:cNvSpPr>
            <a:spLocks noGrp="1"/>
          </p:cNvSpPr>
          <p:nvPr>
            <p:ph type="ftr" sz="quarter" idx="11"/>
          </p:nvPr>
        </p:nvSpPr>
        <p:spPr>
          <a:xfrm>
            <a:off x="6096000" y="6454131"/>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descr="A blue and black logo&#10;&#10;AI-generated content may be incorrect.">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597" y="6437961"/>
            <a:ext cx="857523" cy="243268"/>
          </a:xfrm>
          <a:prstGeom prst="rect">
            <a:avLst/>
          </a:prstGeom>
        </p:spPr>
      </p:pic>
    </p:spTree>
    <p:extLst>
      <p:ext uri="{BB962C8B-B14F-4D97-AF65-F5344CB8AC3E}">
        <p14:creationId xmlns:p14="http://schemas.microsoft.com/office/powerpoint/2010/main" val="336281444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pic>
        <p:nvPicPr>
          <p:cNvPr id="8" name="Picture 7">
            <a:extLst>
              <a:ext uri="{FF2B5EF4-FFF2-40B4-BE49-F238E27FC236}">
                <a16:creationId xmlns:a16="http://schemas.microsoft.com/office/drawing/2014/main" id="{6D8A0025-EFEF-20BF-C80C-85AC36F306C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77607" y="637104"/>
            <a:ext cx="1771864" cy="1115869"/>
          </a:xfrm>
          <a:prstGeom prst="rect">
            <a:avLst/>
          </a:prstGeom>
        </p:spPr>
      </p:pic>
      <p:sp>
        <p:nvSpPr>
          <p:cNvPr id="3" name="Title 1">
            <a:extLst>
              <a:ext uri="{FF2B5EF4-FFF2-40B4-BE49-F238E27FC236}">
                <a16:creationId xmlns:a16="http://schemas.microsoft.com/office/drawing/2014/main" id="{BA0A17DC-774F-3210-530A-47E7C3473B84}"/>
              </a:ext>
            </a:extLst>
          </p:cNvPr>
          <p:cNvSpPr>
            <a:spLocks noGrp="1"/>
          </p:cNvSpPr>
          <p:nvPr>
            <p:ph type="title"/>
          </p:nvPr>
        </p:nvSpPr>
        <p:spPr>
          <a:xfrm>
            <a:off x="831850" y="2355742"/>
            <a:ext cx="8017682" cy="2445200"/>
          </a:xfrm>
          <a:prstGeom prst="rect">
            <a:avLst/>
          </a:prstGeom>
        </p:spPr>
        <p:txBody>
          <a:bodyPr lIns="0" tIns="0" rIns="0" bIns="0" anchor="ctr"/>
          <a:lstStyle>
            <a:lvl1pPr>
              <a:lnSpc>
                <a:spcPct val="80000"/>
              </a:lnSpc>
              <a:defRPr sz="6000" b="1" i="0">
                <a:solidFill>
                  <a:schemeClr val="bg1"/>
                </a:solidFill>
                <a:latin typeface="Figtree" pitchFamily="2" charset="0"/>
              </a:defRPr>
            </a:lvl1pPr>
          </a:lstStyle>
          <a:p>
            <a:r>
              <a:rPr lang="en-US"/>
              <a:t>Click to edit Master title style</a:t>
            </a:r>
          </a:p>
        </p:txBody>
      </p:sp>
      <p:sp>
        <p:nvSpPr>
          <p:cNvPr id="5" name="TextBox 4">
            <a:extLst>
              <a:ext uri="{FF2B5EF4-FFF2-40B4-BE49-F238E27FC236}">
                <a16:creationId xmlns:a16="http://schemas.microsoft.com/office/drawing/2014/main" id="{1F48F0EC-82D2-3C68-E213-5327A1828CFA}"/>
              </a:ext>
            </a:extLst>
          </p:cNvPr>
          <p:cNvSpPr txBox="1"/>
          <p:nvPr userDrawn="1"/>
        </p:nvSpPr>
        <p:spPr>
          <a:xfrm>
            <a:off x="831850" y="6492875"/>
            <a:ext cx="461665" cy="153888"/>
          </a:xfrm>
          <a:prstGeom prst="rect">
            <a:avLst/>
          </a:prstGeom>
          <a:noFill/>
        </p:spPr>
        <p:txBody>
          <a:bodyPr wrap="none" lIns="0" tIns="0" rIns="0" bIns="0" rtlCol="0">
            <a:spAutoFit/>
          </a:bodyPr>
          <a:lstStyle/>
          <a:p>
            <a:r>
              <a:rPr lang="en-US" sz="1000" b="1" i="0" dirty="0">
                <a:solidFill>
                  <a:schemeClr val="bg1"/>
                </a:solidFill>
                <a:latin typeface="Figtree SemiBold" pitchFamily="2" charset="0"/>
              </a:rPr>
              <a:t>aiaa.org</a:t>
            </a:r>
          </a:p>
        </p:txBody>
      </p:sp>
      <p:sp>
        <p:nvSpPr>
          <p:cNvPr id="6" name="Text Placeholder 2">
            <a:extLst>
              <a:ext uri="{FF2B5EF4-FFF2-40B4-BE49-F238E27FC236}">
                <a16:creationId xmlns:a16="http://schemas.microsoft.com/office/drawing/2014/main" id="{7BBBDC11-29FC-667E-0F89-DBB03CF05217}"/>
              </a:ext>
            </a:extLst>
          </p:cNvPr>
          <p:cNvSpPr>
            <a:spLocks noGrp="1"/>
          </p:cNvSpPr>
          <p:nvPr>
            <p:ph type="body" idx="1"/>
          </p:nvPr>
        </p:nvSpPr>
        <p:spPr>
          <a:xfrm>
            <a:off x="831850" y="5017002"/>
            <a:ext cx="8017682" cy="497660"/>
          </a:xfrm>
          <a:prstGeom prst="rect">
            <a:avLst/>
          </a:prstGeom>
        </p:spPr>
        <p:txBody>
          <a:bodyPr lIns="0" tIns="0" rIns="0" bIns="0">
            <a:normAutofit/>
          </a:bodyPr>
          <a:lstStyle>
            <a:lvl1pPr marL="0" indent="0">
              <a:buNone/>
              <a:defRPr sz="2000" b="0" i="0">
                <a:solidFill>
                  <a:schemeClr val="bg1"/>
                </a:solidFill>
                <a:latin typeface="Figtree Light"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408134926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Divider (Navy)">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6" name="Picture 15" descr="A white logo with a black background&#10;&#10;AI-generated content may be incorrect.">
            <a:extLst>
              <a:ext uri="{FF2B5EF4-FFF2-40B4-BE49-F238E27FC236}">
                <a16:creationId xmlns:a16="http://schemas.microsoft.com/office/drawing/2014/main" id="{0E47ED36-DE2D-02CA-3151-94658797C72C}"/>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155531792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Divider (Blue)">
    <p:bg>
      <p:bgPr>
        <a:gradFill>
          <a:gsLst>
            <a:gs pos="0">
              <a:schemeClr val="tx2"/>
            </a:gs>
            <a:gs pos="52000">
              <a:schemeClr val="accent2"/>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73C2AF56-22FA-B24C-961E-DCF6032B059B}"/>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45646713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Divider (Plum)">
    <p:bg>
      <p:bgPr>
        <a:gradFill>
          <a:gsLst>
            <a:gs pos="0">
              <a:schemeClr val="accent2"/>
            </a:gs>
            <a:gs pos="60000">
              <a:schemeClr val="accent3"/>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D2903859-44FB-9388-776B-28F8C4D42520}"/>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55994426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Divider (Gold)">
    <p:bg>
      <p:bgPr>
        <a:gradFill>
          <a:gsLst>
            <a:gs pos="0">
              <a:schemeClr val="accent6"/>
            </a:gs>
            <a:gs pos="54000">
              <a:schemeClr val="accent4"/>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D7892FEC-EC22-36F7-8617-D9A11538518C}"/>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tx2">
                    <a:lumMod val="50000"/>
                  </a:schemeClr>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tx2">
                    <a:lumMod val="50000"/>
                  </a:schemeClr>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cxnSp>
        <p:nvCxnSpPr>
          <p:cNvPr id="12" name="Straight Connector 11">
            <a:extLst>
              <a:ext uri="{FF2B5EF4-FFF2-40B4-BE49-F238E27FC236}">
                <a16:creationId xmlns:a16="http://schemas.microsoft.com/office/drawing/2014/main" id="{1C7073A5-C96D-7387-F371-CC85F5ECE004}"/>
              </a:ext>
            </a:extLst>
          </p:cNvPr>
          <p:cNvCxnSpPr>
            <a:cxnSpLocks/>
          </p:cNvCxnSpPr>
          <p:nvPr userDrawn="1"/>
        </p:nvCxnSpPr>
        <p:spPr>
          <a:xfrm>
            <a:off x="0" y="6276814"/>
            <a:ext cx="12192000" cy="0"/>
          </a:xfrm>
          <a:prstGeom prst="line">
            <a:avLst/>
          </a:prstGeom>
          <a:ln w="9525">
            <a:solidFill>
              <a:schemeClr val="tx2">
                <a:lumMod val="40000"/>
                <a:lumOff val="60000"/>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006765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Divider (Green)">
    <p:bg>
      <p:bgPr>
        <a:gradFill>
          <a:gsLst>
            <a:gs pos="0">
              <a:schemeClr val="accent2"/>
            </a:gs>
            <a:gs pos="54000">
              <a:schemeClr val="accent5"/>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F8558375-69BD-2093-A170-A82E307F81A5}"/>
              </a:ext>
            </a:extLst>
          </p:cNvPr>
          <p:cNvPicPr>
            <a:picLocks noChangeAspect="1"/>
          </p:cNvPicPr>
          <p:nvPr userDrawn="1"/>
        </p:nvPicPr>
        <p:blipFill>
          <a:blip r:embed="rId2" cstate="email">
            <a:alphaModFix amt="8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173460191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Divider (Orange)">
    <p:bg>
      <p:bgPr>
        <a:gradFill>
          <a:gsLst>
            <a:gs pos="0">
              <a:schemeClr val="accent3"/>
            </a:gs>
            <a:gs pos="54000">
              <a:schemeClr val="accent6"/>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04F190B7-3ED6-8872-7F8C-4E5A01527E9A}"/>
              </a:ext>
            </a:extLst>
          </p:cNvPr>
          <p:cNvPicPr>
            <a:picLocks noChangeAspect="1"/>
          </p:cNvPicPr>
          <p:nvPr userDrawn="1"/>
        </p:nvPicPr>
        <p:blipFill>
          <a:blip r:embed="rId2" cstate="email">
            <a:alphaModFix amt="8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4">
            <a:extLst>
              <a:ext uri="{FF2B5EF4-FFF2-40B4-BE49-F238E27FC236}">
                <a16:creationId xmlns:a16="http://schemas.microsoft.com/office/drawing/2014/main" id="{BFCAF999-FEB3-67E0-72A0-500A97154DC0}"/>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208453852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Content (Dark)">
    <p:bg>
      <p:bgPr>
        <a:solidFill>
          <a:schemeClr val="tx2"/>
        </a:solidFill>
        <a:effectLst/>
      </p:bgPr>
    </p:bg>
    <p:spTree>
      <p:nvGrpSpPr>
        <p:cNvPr id="1" name=""/>
        <p:cNvGrpSpPr/>
        <p:nvPr/>
      </p:nvGrpSpPr>
      <p:grpSpPr>
        <a:xfrm>
          <a:off x="0" y="0"/>
          <a:ext cx="0" cy="0"/>
          <a:chOff x="0" y="0"/>
          <a:chExt cx="0" cy="0"/>
        </a:xfrm>
      </p:grpSpPr>
      <p:pic>
        <p:nvPicPr>
          <p:cNvPr id="4" name="Picture 3" descr="A white logo with a black background&#10;&#10;AI-generated content may be incorrect.">
            <a:extLst>
              <a:ext uri="{FF2B5EF4-FFF2-40B4-BE49-F238E27FC236}">
                <a16:creationId xmlns:a16="http://schemas.microsoft.com/office/drawing/2014/main" id="{6009C2D0-8476-5C7C-3698-64F13A93B821}"/>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1800" b="0" i="0">
                <a:solidFill>
                  <a:schemeClr val="bg1"/>
                </a:solidFill>
                <a:latin typeface="Figtree" pitchFamily="2" charset="0"/>
              </a:defRPr>
            </a:lvl1pPr>
            <a:lvl2pPr marL="742950" indent="-285750">
              <a:buFont typeface="Arial" panose="020B0604020202020204" pitchFamily="34" charset="0"/>
              <a:buChar char="•"/>
              <a:defRPr sz="1800" b="0" i="0">
                <a:solidFill>
                  <a:schemeClr val="bg1"/>
                </a:solidFill>
                <a:latin typeface="Figtree" pitchFamily="2" charset="0"/>
              </a:defRPr>
            </a:lvl2pPr>
            <a:lvl3pPr marL="1200150" indent="-285750">
              <a:buFont typeface="Arial" panose="020B0604020202020204" pitchFamily="34" charset="0"/>
              <a:buChar char="•"/>
              <a:defRPr sz="1800" b="0" i="0">
                <a:solidFill>
                  <a:schemeClr val="bg1"/>
                </a:solidFill>
                <a:latin typeface="Figtree" pitchFamily="2" charset="0"/>
              </a:defRPr>
            </a:lvl3pPr>
            <a:lvl4pPr marL="1657350" indent="-285750">
              <a:buFont typeface="Arial" panose="020B0604020202020204" pitchFamily="34" charset="0"/>
              <a:buChar char="•"/>
              <a:defRPr sz="1800" b="0" i="0">
                <a:solidFill>
                  <a:schemeClr val="bg1"/>
                </a:solidFill>
                <a:latin typeface="Figtree" pitchFamily="2" charset="0"/>
              </a:defRPr>
            </a:lvl4pPr>
            <a:lvl5pPr marL="2114550" indent="-285750">
              <a:buFont typeface="Arial" panose="020B0604020202020204" pitchFamily="34" charset="0"/>
              <a:buChar char="•"/>
              <a:defRPr sz="1800" b="0" i="0">
                <a:solidFill>
                  <a:schemeClr val="bg1"/>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107526037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 Image Blue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3" name="Freeform 2">
            <a:extLst>
              <a:ext uri="{FF2B5EF4-FFF2-40B4-BE49-F238E27FC236}">
                <a16:creationId xmlns:a16="http://schemas.microsoft.com/office/drawing/2014/main" id="{ABE42761-35EA-CA25-0900-63712C3225FA}"/>
              </a:ext>
            </a:extLst>
          </p:cNvPr>
          <p:cNvSpPr/>
          <p:nvPr userDrawn="1"/>
        </p:nvSpPr>
        <p:spPr>
          <a:xfrm>
            <a:off x="4830121" y="-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694044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 Image Plum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Freeform 4">
            <a:extLst>
              <a:ext uri="{FF2B5EF4-FFF2-40B4-BE49-F238E27FC236}">
                <a16:creationId xmlns:a16="http://schemas.microsoft.com/office/drawing/2014/main" id="{5673909B-51BC-79F1-247B-509034849961}"/>
              </a:ext>
            </a:extLst>
          </p:cNvPr>
          <p:cNvSpPr/>
          <p:nvPr userDrawn="1"/>
        </p:nvSpPr>
        <p:spPr>
          <a:xfrm>
            <a:off x="4830121" y="-862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8668433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 Image Gold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Freeform 5">
            <a:extLst>
              <a:ext uri="{FF2B5EF4-FFF2-40B4-BE49-F238E27FC236}">
                <a16:creationId xmlns:a16="http://schemas.microsoft.com/office/drawing/2014/main" id="{2FFD7DA3-43D8-D09F-83E0-0AEAB25439B7}"/>
              </a:ext>
            </a:extLst>
          </p:cNvPr>
          <p:cNvSpPr/>
          <p:nvPr userDrawn="1"/>
        </p:nvSpPr>
        <p:spPr>
          <a:xfrm>
            <a:off x="4830121" y="-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3983783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 Image Green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FC5B0D56-4627-AC4F-11C1-0BC865D7A1E5}"/>
              </a:ext>
            </a:extLst>
          </p:cNvPr>
          <p:cNvSpPr/>
          <p:nvPr userDrawn="1"/>
        </p:nvSpPr>
        <p:spPr>
          <a:xfrm>
            <a:off x="4830121" y="-5"/>
            <a:ext cx="3566904"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41789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 Image Gold (Orange)">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8CECBD81-6D94-EBB2-5099-28510DA055F7}"/>
              </a:ext>
            </a:extLst>
          </p:cNvPr>
          <p:cNvSpPr/>
          <p:nvPr userDrawn="1"/>
        </p:nvSpPr>
        <p:spPr>
          <a:xfrm>
            <a:off x="4830121" y="-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025717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pecial Visual 1">
    <p:bg>
      <p:bgPr>
        <a:solidFill>
          <a:schemeClr val="tx2"/>
        </a:solidFill>
        <a:effectLst/>
      </p:bgPr>
    </p:bg>
    <p:spTree>
      <p:nvGrpSpPr>
        <p:cNvPr id="1" name=""/>
        <p:cNvGrpSpPr/>
        <p:nvPr/>
      </p:nvGrpSpPr>
      <p:grpSpPr>
        <a:xfrm>
          <a:off x="0" y="0"/>
          <a:ext cx="0" cy="0"/>
          <a:chOff x="0" y="0"/>
          <a:chExt cx="0" cy="0"/>
        </a:xfrm>
      </p:grpSpPr>
      <p:pic>
        <p:nvPicPr>
          <p:cNvPr id="9" name="Picture 8" descr="A spiral galaxy in space&#10;&#10;AI-generated content may be incorrect.">
            <a:extLst>
              <a:ext uri="{FF2B5EF4-FFF2-40B4-BE49-F238E27FC236}">
                <a16:creationId xmlns:a16="http://schemas.microsoft.com/office/drawing/2014/main" id="{B4257FEA-E4BB-4184-2551-6E913CF483E4}"/>
              </a:ext>
            </a:extLst>
          </p:cNvPr>
          <p:cNvPicPr>
            <a:picLocks noChangeAspect="1"/>
          </p:cNvPicPr>
          <p:nvPr userDrawn="1"/>
        </p:nvPicPr>
        <p:blipFill>
          <a:blip r:embed="rId2" cstate="email">
            <a:alphaModFix amt="30000"/>
            <a:extLst>
              <a:ext uri="{28A0092B-C50C-407E-A947-70E740481C1C}">
                <a14:useLocalDpi xmlns:a14="http://schemas.microsoft.com/office/drawing/2010/main"/>
              </a:ext>
            </a:extLst>
          </a:blip>
          <a:srcRect/>
          <a:stretch/>
        </p:blipFill>
        <p:spPr>
          <a:xfrm>
            <a:off x="-1" y="-2"/>
            <a:ext cx="12192001"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11" name="Title 1">
            <a:extLst>
              <a:ext uri="{FF2B5EF4-FFF2-40B4-BE49-F238E27FC236}">
                <a16:creationId xmlns:a16="http://schemas.microsoft.com/office/drawing/2014/main" id="{097A2759-5262-98FC-2BA1-75A1A11F3C9B}"/>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12" name="Content Placeholder 2">
            <a:extLst>
              <a:ext uri="{FF2B5EF4-FFF2-40B4-BE49-F238E27FC236}">
                <a16:creationId xmlns:a16="http://schemas.microsoft.com/office/drawing/2014/main" id="{A4013314-73E8-EBCE-C957-B401AB4F5C75}"/>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50" indent="-285750">
              <a:buFont typeface="Arial" panose="020B0604020202020204" pitchFamily="34" charset="0"/>
              <a:buChar char="•"/>
              <a:defRPr sz="2400" b="0" i="0">
                <a:solidFill>
                  <a:schemeClr val="bg1"/>
                </a:solidFill>
                <a:latin typeface="Figtree" pitchFamily="2" charset="0"/>
              </a:defRPr>
            </a:lvl2pPr>
            <a:lvl3pPr marL="1200150" indent="-285750">
              <a:buFont typeface="Arial" panose="020B0604020202020204" pitchFamily="34" charset="0"/>
              <a:buChar char="•"/>
              <a:defRPr sz="2400" b="0" i="0">
                <a:solidFill>
                  <a:schemeClr val="bg1"/>
                </a:solidFill>
                <a:latin typeface="Figtree" pitchFamily="2" charset="0"/>
              </a:defRPr>
            </a:lvl3pPr>
            <a:lvl4pPr marL="1657350" indent="-285750">
              <a:buFont typeface="Arial" panose="020B0604020202020204" pitchFamily="34" charset="0"/>
              <a:buChar char="•"/>
              <a:defRPr sz="2400" b="0" i="0">
                <a:solidFill>
                  <a:schemeClr val="bg1"/>
                </a:solidFill>
                <a:latin typeface="Figtree" pitchFamily="2" charset="0"/>
              </a:defRPr>
            </a:lvl4pPr>
            <a:lvl5pPr marL="2114550" indent="-285750">
              <a:buFont typeface="Arial" panose="020B0604020202020204" pitchFamily="34" charset="0"/>
              <a:buChar char="•"/>
              <a:defRPr sz="2400" b="0" i="0">
                <a:solidFill>
                  <a:schemeClr val="bg1"/>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047817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pecial Visual 2">
    <p:bg>
      <p:bgPr>
        <a:solidFill>
          <a:schemeClr val="tx2"/>
        </a:solidFill>
        <a:effectLst/>
      </p:bgPr>
    </p:bg>
    <p:spTree>
      <p:nvGrpSpPr>
        <p:cNvPr id="1" name=""/>
        <p:cNvGrpSpPr/>
        <p:nvPr/>
      </p:nvGrpSpPr>
      <p:grpSpPr>
        <a:xfrm>
          <a:off x="0" y="0"/>
          <a:ext cx="0" cy="0"/>
          <a:chOff x="0" y="0"/>
          <a:chExt cx="0" cy="0"/>
        </a:xfrm>
      </p:grpSpPr>
      <p:pic>
        <p:nvPicPr>
          <p:cNvPr id="11" name="Picture 10" descr="A blue sky with stars&#10;&#10;AI-generated content may be incorrect.">
            <a:extLst>
              <a:ext uri="{FF2B5EF4-FFF2-40B4-BE49-F238E27FC236}">
                <a16:creationId xmlns:a16="http://schemas.microsoft.com/office/drawing/2014/main" id="{58E6D3C4-DD7C-11D1-CC5C-C7C19C2E03FC}"/>
              </a:ext>
            </a:extLst>
          </p:cNvPr>
          <p:cNvPicPr>
            <a:picLocks noChangeAspect="1"/>
          </p:cNvPicPr>
          <p:nvPr userDrawn="1"/>
        </p:nvPicPr>
        <p:blipFill>
          <a:blip r:embed="rId2" cstate="email">
            <a:alphaModFix amt="40000"/>
            <a:extLst>
              <a:ext uri="{28A0092B-C50C-407E-A947-70E740481C1C}">
                <a14:useLocalDpi xmlns:a14="http://schemas.microsoft.com/office/drawing/2010/main"/>
              </a:ext>
            </a:extLst>
          </a:blip>
          <a:srcRect/>
          <a:stretch/>
        </p:blipFill>
        <p:spPr>
          <a:xfrm>
            <a:off x="0" y="-1"/>
            <a:ext cx="12165488"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BB4B291A-88AF-2996-D687-D14BAEE37C8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12" name="Title 1">
            <a:extLst>
              <a:ext uri="{FF2B5EF4-FFF2-40B4-BE49-F238E27FC236}">
                <a16:creationId xmlns:a16="http://schemas.microsoft.com/office/drawing/2014/main" id="{00752B1A-76E1-75DA-9E43-9F36E6609A77}"/>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13" name="Content Placeholder 2">
            <a:extLst>
              <a:ext uri="{FF2B5EF4-FFF2-40B4-BE49-F238E27FC236}">
                <a16:creationId xmlns:a16="http://schemas.microsoft.com/office/drawing/2014/main" id="{CA605919-F812-D6B7-6733-93A21095D65A}"/>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50" indent="-285750">
              <a:buFont typeface="Arial" panose="020B0604020202020204" pitchFamily="34" charset="0"/>
              <a:buChar char="•"/>
              <a:defRPr sz="2400" b="0" i="0">
                <a:solidFill>
                  <a:schemeClr val="bg1"/>
                </a:solidFill>
                <a:latin typeface="Figtree" pitchFamily="2" charset="0"/>
              </a:defRPr>
            </a:lvl2pPr>
            <a:lvl3pPr marL="1200150" indent="-285750">
              <a:buFont typeface="Arial" panose="020B0604020202020204" pitchFamily="34" charset="0"/>
              <a:buChar char="•"/>
              <a:defRPr sz="2400" b="0" i="0">
                <a:solidFill>
                  <a:schemeClr val="bg1"/>
                </a:solidFill>
                <a:latin typeface="Figtree" pitchFamily="2" charset="0"/>
              </a:defRPr>
            </a:lvl3pPr>
            <a:lvl4pPr marL="1657350" indent="-285750">
              <a:buFont typeface="Arial" panose="020B0604020202020204" pitchFamily="34" charset="0"/>
              <a:buChar char="•"/>
              <a:defRPr sz="2400" b="0" i="0">
                <a:solidFill>
                  <a:schemeClr val="bg1"/>
                </a:solidFill>
                <a:latin typeface="Figtree" pitchFamily="2" charset="0"/>
              </a:defRPr>
            </a:lvl4pPr>
            <a:lvl5pPr marL="2114550" indent="-285750">
              <a:buFont typeface="Arial" panose="020B0604020202020204" pitchFamily="34" charset="0"/>
              <a:buChar char="•"/>
              <a:defRPr sz="2400" b="0" i="0">
                <a:solidFill>
                  <a:schemeClr val="bg1"/>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770247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pecial Visual 3">
    <p:bg>
      <p:bgPr>
        <a:solidFill>
          <a:schemeClr val="tx2"/>
        </a:solidFill>
        <a:effectLst/>
      </p:bgPr>
    </p:bg>
    <p:spTree>
      <p:nvGrpSpPr>
        <p:cNvPr id="1" name=""/>
        <p:cNvGrpSpPr/>
        <p:nvPr/>
      </p:nvGrpSpPr>
      <p:grpSpPr>
        <a:xfrm>
          <a:off x="0" y="0"/>
          <a:ext cx="0" cy="0"/>
          <a:chOff x="0" y="0"/>
          <a:chExt cx="0" cy="0"/>
        </a:xfrm>
      </p:grpSpPr>
      <p:pic>
        <p:nvPicPr>
          <p:cNvPr id="9" name="Picture 8" descr="An astronaut floating in space&#10;&#10;AI-generated content may be incorrect.">
            <a:extLst>
              <a:ext uri="{FF2B5EF4-FFF2-40B4-BE49-F238E27FC236}">
                <a16:creationId xmlns:a16="http://schemas.microsoft.com/office/drawing/2014/main" id="{9DA1DE89-B1B4-0B78-BA7D-98605CF2B49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229483" y="-1"/>
            <a:ext cx="6962517" cy="6858001"/>
          </a:xfrm>
          <a:prstGeom prst="rect">
            <a:avLst/>
          </a:prstGeom>
        </p:spPr>
      </p:pic>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BB4B291A-88AF-2996-D687-D14BAEE37C8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81166210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pecial Visual 4">
    <p:bg>
      <p:bgPr>
        <a:solidFill>
          <a:schemeClr val="tx2"/>
        </a:solidFill>
        <a:effectLst/>
      </p:bgPr>
    </p:bg>
    <p:spTree>
      <p:nvGrpSpPr>
        <p:cNvPr id="1" name=""/>
        <p:cNvGrpSpPr/>
        <p:nvPr/>
      </p:nvGrpSpPr>
      <p:grpSpPr>
        <a:xfrm>
          <a:off x="0" y="0"/>
          <a:ext cx="0" cy="0"/>
          <a:chOff x="0" y="0"/>
          <a:chExt cx="0" cy="0"/>
        </a:xfrm>
      </p:grpSpPr>
      <p:pic>
        <p:nvPicPr>
          <p:cNvPr id="11" name="Picture 10" descr="A blue planet with a bright light&#10;&#10;AI-generated content may be incorrect.">
            <a:extLst>
              <a:ext uri="{FF2B5EF4-FFF2-40B4-BE49-F238E27FC236}">
                <a16:creationId xmlns:a16="http://schemas.microsoft.com/office/drawing/2014/main" id="{5928C9F9-2416-28F6-1432-DDAFD45C885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317712" y="-1"/>
            <a:ext cx="6874288" cy="6853357"/>
          </a:xfrm>
          <a:prstGeom prst="rect">
            <a:avLst/>
          </a:prstGeom>
        </p:spPr>
      </p:pic>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BB4B291A-88AF-2996-D687-D14BAEE37C8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28050749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728F9DD8-18B8-E17F-4A81-93C4DD686CEB}"/>
              </a:ext>
            </a:extLst>
          </p:cNvPr>
          <p:cNvSpPr>
            <a:spLocks noGrp="1"/>
          </p:cNvSpPr>
          <p:nvPr>
            <p:ph type="title"/>
          </p:nvPr>
        </p:nvSpPr>
        <p:spPr>
          <a:xfrm>
            <a:off x="343597" y="365125"/>
            <a:ext cx="11491993" cy="1207953"/>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2" name="Footer Placeholder 4">
            <a:extLst>
              <a:ext uri="{FF2B5EF4-FFF2-40B4-BE49-F238E27FC236}">
                <a16:creationId xmlns:a16="http://schemas.microsoft.com/office/drawing/2014/main" id="{74E2FE70-C1DA-31EB-EEA3-F73AC1A92AD3}"/>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3" name="Slide Number Placeholder 5">
            <a:extLst>
              <a:ext uri="{FF2B5EF4-FFF2-40B4-BE49-F238E27FC236}">
                <a16:creationId xmlns:a16="http://schemas.microsoft.com/office/drawing/2014/main" id="{FF8F2ECD-EA50-2550-0B02-4B2C953442E4}"/>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4" name="Picture 3">
            <a:extLst>
              <a:ext uri="{FF2B5EF4-FFF2-40B4-BE49-F238E27FC236}">
                <a16:creationId xmlns:a16="http://schemas.microsoft.com/office/drawing/2014/main" id="{2153AC61-82C3-E5FF-66C1-161CB2EFC3C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415172575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Footer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Footer Placeholder 4">
            <a:extLst>
              <a:ext uri="{FF2B5EF4-FFF2-40B4-BE49-F238E27FC236}">
                <a16:creationId xmlns:a16="http://schemas.microsoft.com/office/drawing/2014/main" id="{4824F201-E457-E817-0DA2-9E61ACCA72D4}"/>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3" name="Slide Number Placeholder 5">
            <a:extLst>
              <a:ext uri="{FF2B5EF4-FFF2-40B4-BE49-F238E27FC236}">
                <a16:creationId xmlns:a16="http://schemas.microsoft.com/office/drawing/2014/main" id="{9EDE1051-0FED-5451-0D36-8DE7C56B7287}"/>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4" name="Picture 3">
            <a:extLst>
              <a:ext uri="{FF2B5EF4-FFF2-40B4-BE49-F238E27FC236}">
                <a16:creationId xmlns:a16="http://schemas.microsoft.com/office/drawing/2014/main" id="{C595D178-B3AE-EA2C-9A08-EB6D085096F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39825946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lank (Dark)">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01428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Pull Quote Blu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9" name="Footer Placeholder 4">
            <a:extLst>
              <a:ext uri="{FF2B5EF4-FFF2-40B4-BE49-F238E27FC236}">
                <a16:creationId xmlns:a16="http://schemas.microsoft.com/office/drawing/2014/main" id="{09FD9171-277F-DDF9-1325-B01478A3416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10" name="Slide Number Placeholder 5">
            <a:extLst>
              <a:ext uri="{FF2B5EF4-FFF2-40B4-BE49-F238E27FC236}">
                <a16:creationId xmlns:a16="http://schemas.microsoft.com/office/drawing/2014/main" id="{7F502D63-98F2-0192-9694-5687D8D05AD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1" name="Straight Connector 10">
            <a:extLst>
              <a:ext uri="{FF2B5EF4-FFF2-40B4-BE49-F238E27FC236}">
                <a16:creationId xmlns:a16="http://schemas.microsoft.com/office/drawing/2014/main" id="{80622538-DB89-0185-9E98-C8D31813769B}"/>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F0FF596D-CC26-E4B0-EC5C-182E1E7E40D3}"/>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159912944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Pull Quote Plum">
    <p:bg>
      <p:bgPr>
        <a:gradFill>
          <a:gsLst>
            <a:gs pos="0">
              <a:schemeClr val="accent2"/>
            </a:gs>
            <a:gs pos="54000">
              <a:schemeClr val="accent3"/>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04622215-CDBD-8F81-E9EA-A31736F272E0}"/>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FE1CE688-D74E-8D3C-C8FB-273D204479BC}"/>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56F17F2-AAEF-FEEE-FEB8-8DF375D781F2}"/>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BE6E5B02-D478-7B84-9936-C8A086849FBA}"/>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43574034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Pull Quote Gold">
    <p:bg>
      <p:bgPr>
        <a:gradFill>
          <a:gsLst>
            <a:gs pos="0">
              <a:schemeClr val="accent6"/>
            </a:gs>
            <a:gs pos="54000">
              <a:schemeClr val="accent4"/>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05A297F6-6D91-6866-9EAE-725714B7E546}"/>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EEFF9B6A-2657-DE51-519D-1E20B3FDA186}"/>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8AD89207-345D-F496-AF0B-592807269139}"/>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07A89A59-A76B-D96F-9CE2-1086D4C06B3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14844960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Pull Quote Green">
    <p:bg>
      <p:bgPr>
        <a:gradFill>
          <a:gsLst>
            <a:gs pos="0">
              <a:schemeClr val="accent2"/>
            </a:gs>
            <a:gs pos="54000">
              <a:schemeClr val="accent5"/>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09E71E1C-E08F-F30E-182A-6072F71D2C0E}"/>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507A87D-5CC5-BF86-C0AA-3E1DDCEA194D}"/>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6BBC947-4C17-284C-CC69-494D42DEE5CC}"/>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87BA6484-6E55-DD5F-9E5D-1E9FEF47CF2F}"/>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28792882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ull Quote Orange">
    <p:bg>
      <p:bgPr>
        <a:gradFill>
          <a:gsLst>
            <a:gs pos="0">
              <a:schemeClr val="accent3"/>
            </a:gs>
            <a:gs pos="54000">
              <a:schemeClr val="accent6"/>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894F4E8A-4281-3DD1-D18E-F1D01CE48840}"/>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0260A482-67B1-88FD-50A7-98D6A2DC1F3F}"/>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7334E67-BF46-822A-CDA7-B19153C5567B}"/>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97922417-E2C6-1B89-E477-CE2A211BCE6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41501668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DF5FA7B-72FB-B64A-A69A-D4755A185809}"/>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t="-132"/>
          <a:stretch/>
        </p:blipFill>
        <p:spPr>
          <a:xfrm>
            <a:off x="5897660" y="1502250"/>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1800" b="0" i="0">
                <a:solidFill>
                  <a:schemeClr val="tx2"/>
                </a:solidFill>
                <a:latin typeface="Figtree" pitchFamily="2" charset="0"/>
              </a:defRPr>
            </a:lvl1pPr>
            <a:lvl2pPr marL="742950" indent="-285750">
              <a:buFont typeface="Arial" panose="020B0604020202020204" pitchFamily="34" charset="0"/>
              <a:buChar char="•"/>
              <a:defRPr sz="1800" b="0" i="0">
                <a:solidFill>
                  <a:schemeClr val="tx2"/>
                </a:solidFill>
                <a:latin typeface="Figtree" pitchFamily="2" charset="0"/>
              </a:defRPr>
            </a:lvl2pPr>
            <a:lvl3pPr marL="1200150" indent="-285750">
              <a:buFont typeface="Arial" panose="020B0604020202020204" pitchFamily="34" charset="0"/>
              <a:buChar char="•"/>
              <a:defRPr sz="1800" b="0" i="0">
                <a:solidFill>
                  <a:schemeClr val="tx2"/>
                </a:solidFill>
                <a:latin typeface="Figtree" pitchFamily="2" charset="0"/>
              </a:defRPr>
            </a:lvl3pPr>
            <a:lvl4pPr marL="1657350" indent="-285750">
              <a:buFont typeface="Arial" panose="020B0604020202020204" pitchFamily="34" charset="0"/>
              <a:buChar char="•"/>
              <a:defRPr sz="1800" b="0" i="0">
                <a:solidFill>
                  <a:schemeClr val="tx2"/>
                </a:solidFill>
                <a:latin typeface="Figtree" pitchFamily="2" charset="0"/>
              </a:defRPr>
            </a:lvl4pPr>
            <a:lvl5pPr marL="2114550" indent="-285750">
              <a:buFont typeface="Arial" panose="020B0604020202020204" pitchFamily="34" charset="0"/>
              <a:buChar char="•"/>
              <a:defRPr sz="1800" b="0" i="0">
                <a:solidFill>
                  <a:schemeClr val="tx2"/>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6F355BC-998E-5A09-3C72-65E885D3B876}"/>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descr="A blue and black logo&#10;&#10;AI-generated content may be incorrect.">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Tree>
    <p:extLst>
      <p:ext uri="{BB962C8B-B14F-4D97-AF65-F5344CB8AC3E}">
        <p14:creationId xmlns:p14="http://schemas.microsoft.com/office/powerpoint/2010/main" val="393477605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xt + Image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5800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17" name="Freeform 16">
            <a:extLst>
              <a:ext uri="{FF2B5EF4-FFF2-40B4-BE49-F238E27FC236}">
                <a16:creationId xmlns:a16="http://schemas.microsoft.com/office/drawing/2014/main" id="{43C4FB2F-E7D0-EBC7-4DDB-6CC86298818F}"/>
              </a:ext>
            </a:extLst>
          </p:cNvPr>
          <p:cNvSpPr/>
          <p:nvPr userDrawn="1"/>
        </p:nvSpPr>
        <p:spPr>
          <a:xfrm>
            <a:off x="4809511" y="-5"/>
            <a:ext cx="3605100"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5101520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ext + Image Pl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57996"/>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3" name="Freeform 2">
            <a:extLst>
              <a:ext uri="{FF2B5EF4-FFF2-40B4-BE49-F238E27FC236}">
                <a16:creationId xmlns:a16="http://schemas.microsoft.com/office/drawing/2014/main" id="{63078809-296D-371D-64D3-36C8022650B2}"/>
              </a:ext>
            </a:extLst>
          </p:cNvPr>
          <p:cNvSpPr/>
          <p:nvPr userDrawn="1"/>
        </p:nvSpPr>
        <p:spPr>
          <a:xfrm>
            <a:off x="4847709" y="-5"/>
            <a:ext cx="3566902" cy="6858001"/>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2251900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ext + Image G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5" name="Freeform 4">
            <a:extLst>
              <a:ext uri="{FF2B5EF4-FFF2-40B4-BE49-F238E27FC236}">
                <a16:creationId xmlns:a16="http://schemas.microsoft.com/office/drawing/2014/main" id="{F06610B9-8C48-9789-3124-8DB88AA039B6}"/>
              </a:ext>
            </a:extLst>
          </p:cNvPr>
          <p:cNvSpPr/>
          <p:nvPr userDrawn="1"/>
        </p:nvSpPr>
        <p:spPr>
          <a:xfrm>
            <a:off x="4855811" y="-5"/>
            <a:ext cx="35588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0946437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xt + Image Gree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13820" y="0"/>
            <a:ext cx="6891342" cy="6868957"/>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3" name="Freeform 2">
            <a:extLst>
              <a:ext uri="{FF2B5EF4-FFF2-40B4-BE49-F238E27FC236}">
                <a16:creationId xmlns:a16="http://schemas.microsoft.com/office/drawing/2014/main" id="{CB73E4F5-5916-13A5-64C5-8C77558117BD}"/>
              </a:ext>
            </a:extLst>
          </p:cNvPr>
          <p:cNvSpPr/>
          <p:nvPr userDrawn="1"/>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8005978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xt + Image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5" name="Freeform 4">
            <a:extLst>
              <a:ext uri="{FF2B5EF4-FFF2-40B4-BE49-F238E27FC236}">
                <a16:creationId xmlns:a16="http://schemas.microsoft.com/office/drawing/2014/main" id="{CFD3A720-686E-513F-0664-2531C8B0201E}"/>
              </a:ext>
            </a:extLst>
          </p:cNvPr>
          <p:cNvSpPr/>
          <p:nvPr userDrawn="1"/>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6454750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E160181-F020-3F03-9EDF-F40CFE13BB0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12" name="Title 1">
            <a:extLst>
              <a:ext uri="{FF2B5EF4-FFF2-40B4-BE49-F238E27FC236}">
                <a16:creationId xmlns:a16="http://schemas.microsoft.com/office/drawing/2014/main" id="{728F9DD8-18B8-E17F-4A81-93C4DD686CEB}"/>
              </a:ext>
            </a:extLst>
          </p:cNvPr>
          <p:cNvSpPr>
            <a:spLocks noGrp="1"/>
          </p:cNvSpPr>
          <p:nvPr>
            <p:ph type="title"/>
          </p:nvPr>
        </p:nvSpPr>
        <p:spPr>
          <a:xfrm>
            <a:off x="343597" y="365125"/>
            <a:ext cx="11491993" cy="1207953"/>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Tree>
    <p:extLst>
      <p:ext uri="{BB962C8B-B14F-4D97-AF65-F5344CB8AC3E}">
        <p14:creationId xmlns:p14="http://schemas.microsoft.com/office/powerpoint/2010/main" val="341001732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E160181-F020-3F03-9EDF-F40CFE13BB0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Tree>
    <p:extLst>
      <p:ext uri="{BB962C8B-B14F-4D97-AF65-F5344CB8AC3E}">
        <p14:creationId xmlns:p14="http://schemas.microsoft.com/office/powerpoint/2010/main" val="155314500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59926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losing Slid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pic>
        <p:nvPicPr>
          <p:cNvPr id="8" name="Picture 7">
            <a:extLst>
              <a:ext uri="{FF2B5EF4-FFF2-40B4-BE49-F238E27FC236}">
                <a16:creationId xmlns:a16="http://schemas.microsoft.com/office/drawing/2014/main" id="{6D8A0025-EFEF-20BF-C80C-85AC36F306C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77607" y="637104"/>
            <a:ext cx="1771864" cy="1115869"/>
          </a:xfrm>
          <a:prstGeom prst="rect">
            <a:avLst/>
          </a:prstGeom>
        </p:spPr>
      </p:pic>
      <p:sp>
        <p:nvSpPr>
          <p:cNvPr id="5" name="TextBox 4">
            <a:extLst>
              <a:ext uri="{FF2B5EF4-FFF2-40B4-BE49-F238E27FC236}">
                <a16:creationId xmlns:a16="http://schemas.microsoft.com/office/drawing/2014/main" id="{1F48F0EC-82D2-3C68-E213-5327A1828CFA}"/>
              </a:ext>
            </a:extLst>
          </p:cNvPr>
          <p:cNvSpPr txBox="1"/>
          <p:nvPr userDrawn="1"/>
        </p:nvSpPr>
        <p:spPr>
          <a:xfrm>
            <a:off x="831850" y="6492875"/>
            <a:ext cx="461665" cy="153888"/>
          </a:xfrm>
          <a:prstGeom prst="rect">
            <a:avLst/>
          </a:prstGeom>
          <a:noFill/>
        </p:spPr>
        <p:txBody>
          <a:bodyPr wrap="none" lIns="0" tIns="0" rIns="0" bIns="0" rtlCol="0">
            <a:spAutoFit/>
          </a:bodyPr>
          <a:lstStyle/>
          <a:p>
            <a:r>
              <a:rPr lang="en-US" sz="1000" b="1" i="0" dirty="0">
                <a:solidFill>
                  <a:schemeClr val="bg1"/>
                </a:solidFill>
                <a:latin typeface="Figtree SemiBold" pitchFamily="2" charset="0"/>
              </a:rPr>
              <a:t>aiaa.org</a:t>
            </a:r>
          </a:p>
        </p:txBody>
      </p:sp>
      <p:sp>
        <p:nvSpPr>
          <p:cNvPr id="7" name="TextBox 6">
            <a:extLst>
              <a:ext uri="{FF2B5EF4-FFF2-40B4-BE49-F238E27FC236}">
                <a16:creationId xmlns:a16="http://schemas.microsoft.com/office/drawing/2014/main" id="{77674F01-5FF3-D372-A30F-3AA70A84088C}"/>
              </a:ext>
            </a:extLst>
          </p:cNvPr>
          <p:cNvSpPr txBox="1"/>
          <p:nvPr userDrawn="1"/>
        </p:nvSpPr>
        <p:spPr>
          <a:xfrm>
            <a:off x="777607" y="4118432"/>
            <a:ext cx="4456348" cy="1107996"/>
          </a:xfrm>
          <a:prstGeom prst="rect">
            <a:avLst/>
          </a:prstGeom>
          <a:noFill/>
        </p:spPr>
        <p:txBody>
          <a:bodyPr wrap="none" lIns="0" tIns="0" rIns="0" bIns="0" rtlCol="0">
            <a:spAutoFit/>
          </a:bodyPr>
          <a:lstStyle/>
          <a:p>
            <a:r>
              <a:rPr lang="en-US" sz="7200" b="1" i="0" dirty="0">
                <a:solidFill>
                  <a:schemeClr val="bg1"/>
                </a:solidFill>
                <a:latin typeface="Figtree" pitchFamily="2" charset="0"/>
              </a:rPr>
              <a:t>Thank You</a:t>
            </a:r>
          </a:p>
        </p:txBody>
      </p:sp>
    </p:spTree>
    <p:extLst>
      <p:ext uri="{BB962C8B-B14F-4D97-AF65-F5344CB8AC3E}">
        <p14:creationId xmlns:p14="http://schemas.microsoft.com/office/powerpoint/2010/main" val="206639367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1_Title + Content">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DF5FA7B-72FB-B64A-A69A-D4755A185809}"/>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t="-132"/>
          <a:stretch/>
        </p:blipFill>
        <p:spPr>
          <a:xfrm>
            <a:off x="5897660" y="1502250"/>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1800" b="0" i="0">
                <a:solidFill>
                  <a:schemeClr val="tx2"/>
                </a:solidFill>
                <a:latin typeface="Figtree" pitchFamily="2" charset="0"/>
              </a:defRPr>
            </a:lvl1pPr>
            <a:lvl2pPr marL="742950" indent="-285750">
              <a:buFont typeface="Arial" panose="020B0604020202020204" pitchFamily="34" charset="0"/>
              <a:buChar char="•"/>
              <a:defRPr sz="1800" b="0" i="0">
                <a:solidFill>
                  <a:schemeClr val="tx2"/>
                </a:solidFill>
                <a:latin typeface="Figtree" pitchFamily="2" charset="0"/>
              </a:defRPr>
            </a:lvl2pPr>
            <a:lvl3pPr marL="1200150" indent="-285750">
              <a:buFont typeface="Arial" panose="020B0604020202020204" pitchFamily="34" charset="0"/>
              <a:buChar char="•"/>
              <a:defRPr sz="1800" b="0" i="0">
                <a:solidFill>
                  <a:schemeClr val="tx2"/>
                </a:solidFill>
                <a:latin typeface="Figtree" pitchFamily="2" charset="0"/>
              </a:defRPr>
            </a:lvl3pPr>
            <a:lvl4pPr marL="1657350" indent="-285750">
              <a:buFont typeface="Arial" panose="020B0604020202020204" pitchFamily="34" charset="0"/>
              <a:buChar char="•"/>
              <a:defRPr sz="1800" b="0" i="0">
                <a:solidFill>
                  <a:schemeClr val="tx2"/>
                </a:solidFill>
                <a:latin typeface="Figtree" pitchFamily="2" charset="0"/>
              </a:defRPr>
            </a:lvl4pPr>
            <a:lvl5pPr marL="2114550" indent="-285750">
              <a:buFont typeface="Arial" panose="020B0604020202020204" pitchFamily="34" charset="0"/>
              <a:buChar char="•"/>
              <a:defRPr sz="1800" b="0" i="0">
                <a:solidFill>
                  <a:schemeClr val="tx2"/>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6F355BC-998E-5A09-3C72-65E885D3B876}"/>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descr="A blue and black logo&#10;&#10;AI-generated content may be incorrect.">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Tree>
    <p:extLst>
      <p:ext uri="{BB962C8B-B14F-4D97-AF65-F5344CB8AC3E}">
        <p14:creationId xmlns:p14="http://schemas.microsoft.com/office/powerpoint/2010/main" val="97480145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342882" indent="-342882">
              <a:buClr>
                <a:srgbClr val="00519B"/>
              </a:buClr>
              <a:buFont typeface="Wingdings" charset="2"/>
              <a:buChar char="Ø"/>
              <a:defRPr/>
            </a:lvl1pPr>
            <a:lvl2pPr marL="742913" indent="-285737">
              <a:buClr>
                <a:srgbClr val="004B97"/>
              </a:buClr>
              <a:buFont typeface="Wingdings" charset="2"/>
              <a:buChar char="§"/>
              <a:defRPr/>
            </a:lvl2pPr>
            <a:lvl3pPr>
              <a:buClr>
                <a:srgbClr val="00529B"/>
              </a:buClr>
              <a:defRPr/>
            </a:lvl3pPr>
            <a:lvl4pPr>
              <a:buClr>
                <a:srgbClr val="00529B"/>
              </a:buClr>
              <a:defRPr/>
            </a:lvl4pPr>
            <a:lvl5pPr>
              <a:buClr>
                <a:srgbClr val="00529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6"/>
          <p:cNvSpPr>
            <a:spLocks noGrp="1" noChangeArrowheads="1"/>
          </p:cNvSpPr>
          <p:nvPr>
            <p:ph type="sldNum" sz="quarter" idx="12"/>
          </p:nvPr>
        </p:nvSpPr>
        <p:spPr>
          <a:xfrm>
            <a:off x="8737600" y="6434224"/>
            <a:ext cx="1219200" cy="228600"/>
          </a:xfrm>
          <a:prstGeom prst="rect">
            <a:avLst/>
          </a:prstGeom>
          <a:ln/>
        </p:spPr>
        <p:txBody>
          <a:bodyPr/>
          <a:lstStyle>
            <a:lvl1pPr>
              <a:defRPr sz="1401"/>
            </a:lvl1pPr>
          </a:lstStyle>
          <a:p>
            <a:pPr>
              <a:defRPr/>
            </a:pPr>
            <a:fld id="{B586D440-F702-449A-AAC2-9ACFF17038B8}" type="slidenum">
              <a:rPr lang="en-US" smtClean="0"/>
              <a:pPr>
                <a:defRPr/>
              </a:pPr>
              <a:t>‹#›</a:t>
            </a:fld>
            <a:endParaRPr lang="en-US" dirty="0"/>
          </a:p>
        </p:txBody>
      </p:sp>
    </p:spTree>
    <p:extLst>
      <p:ext uri="{BB962C8B-B14F-4D97-AF65-F5344CB8AC3E}">
        <p14:creationId xmlns:p14="http://schemas.microsoft.com/office/powerpoint/2010/main" val="319106413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3" name="Title 1">
            <a:extLst>
              <a:ext uri="{FF2B5EF4-FFF2-40B4-BE49-F238E27FC236}">
                <a16:creationId xmlns:a16="http://schemas.microsoft.com/office/drawing/2014/main" id="{BA0A17DC-774F-3210-530A-47E7C3473B84}"/>
              </a:ext>
            </a:extLst>
          </p:cNvPr>
          <p:cNvSpPr>
            <a:spLocks noGrp="1"/>
          </p:cNvSpPr>
          <p:nvPr>
            <p:ph type="title"/>
          </p:nvPr>
        </p:nvSpPr>
        <p:spPr>
          <a:xfrm>
            <a:off x="831850" y="2355742"/>
            <a:ext cx="8017682" cy="2445200"/>
          </a:xfrm>
          <a:prstGeom prst="rect">
            <a:avLst/>
          </a:prstGeom>
        </p:spPr>
        <p:txBody>
          <a:bodyPr lIns="0" tIns="0" rIns="0" bIns="0" anchor="ctr"/>
          <a:lstStyle>
            <a:lvl1pPr>
              <a:lnSpc>
                <a:spcPct val="80000"/>
              </a:lnSpc>
              <a:defRPr sz="6000" b="1" i="0">
                <a:solidFill>
                  <a:schemeClr val="bg1"/>
                </a:solidFill>
                <a:latin typeface="Figtree" pitchFamily="2" charset="0"/>
              </a:defRPr>
            </a:lvl1pPr>
          </a:lstStyle>
          <a:p>
            <a:r>
              <a:rPr lang="en-US"/>
              <a:t>Click to edit Master title style</a:t>
            </a:r>
          </a:p>
        </p:txBody>
      </p:sp>
      <p:sp>
        <p:nvSpPr>
          <p:cNvPr id="6" name="Text Placeholder 2">
            <a:extLst>
              <a:ext uri="{FF2B5EF4-FFF2-40B4-BE49-F238E27FC236}">
                <a16:creationId xmlns:a16="http://schemas.microsoft.com/office/drawing/2014/main" id="{7BBBDC11-29FC-667E-0F89-DBB03CF05217}"/>
              </a:ext>
            </a:extLst>
          </p:cNvPr>
          <p:cNvSpPr>
            <a:spLocks noGrp="1"/>
          </p:cNvSpPr>
          <p:nvPr>
            <p:ph type="body" idx="1"/>
          </p:nvPr>
        </p:nvSpPr>
        <p:spPr>
          <a:xfrm>
            <a:off x="831850" y="5017002"/>
            <a:ext cx="8017682" cy="497660"/>
          </a:xfrm>
          <a:prstGeom prst="rect">
            <a:avLst/>
          </a:prstGeom>
        </p:spPr>
        <p:txBody>
          <a:bodyPr lIns="0" tIns="0" rIns="0" bIns="0">
            <a:normAutofit/>
          </a:bodyPr>
          <a:lstStyle>
            <a:lvl1pPr marL="0" indent="0">
              <a:buNone/>
              <a:defRPr sz="2000" b="0" i="0">
                <a:solidFill>
                  <a:schemeClr val="bg1"/>
                </a:solidFill>
                <a:latin typeface="Figtree Light"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9" name="Picture 8" descr="A white letters on a black background&#10;&#10;AI-generated content may be incorrect.">
            <a:extLst>
              <a:ext uri="{FF2B5EF4-FFF2-40B4-BE49-F238E27FC236}">
                <a16:creationId xmlns:a16="http://schemas.microsoft.com/office/drawing/2014/main" id="{7F77295B-E5AE-61B5-03F1-6270813CA7B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1850" y="705078"/>
            <a:ext cx="3398627" cy="944553"/>
          </a:xfrm>
          <a:prstGeom prst="rect">
            <a:avLst/>
          </a:prstGeom>
        </p:spPr>
      </p:pic>
    </p:spTree>
    <p:extLst>
      <p:ext uri="{BB962C8B-B14F-4D97-AF65-F5344CB8AC3E}">
        <p14:creationId xmlns:p14="http://schemas.microsoft.com/office/powerpoint/2010/main" val="88912657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Divider (Navy)">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6" name="Picture 15" descr="A white logo with a black background&#10;&#10;AI-generated content may be incorrect.">
            <a:extLst>
              <a:ext uri="{FF2B5EF4-FFF2-40B4-BE49-F238E27FC236}">
                <a16:creationId xmlns:a16="http://schemas.microsoft.com/office/drawing/2014/main" id="{0E47ED36-DE2D-02CA-3151-94658797C72C}"/>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4" name="Footer Placeholder 4">
            <a:extLst>
              <a:ext uri="{FF2B5EF4-FFF2-40B4-BE49-F238E27FC236}">
                <a16:creationId xmlns:a16="http://schemas.microsoft.com/office/drawing/2014/main" id="{83351A2F-CBD4-37A7-3AF8-5A2AA308653B}"/>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363567419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Divider (Blue)">
    <p:bg>
      <p:bgPr>
        <a:gradFill>
          <a:gsLst>
            <a:gs pos="0">
              <a:schemeClr val="tx2"/>
            </a:gs>
            <a:gs pos="52000">
              <a:schemeClr val="accent2"/>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73C2AF56-22FA-B24C-961E-DCF6032B059B}"/>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4" name="Footer Placeholder 4">
            <a:extLst>
              <a:ext uri="{FF2B5EF4-FFF2-40B4-BE49-F238E27FC236}">
                <a16:creationId xmlns:a16="http://schemas.microsoft.com/office/drawing/2014/main" id="{5852709B-EEEF-EBE5-5DF1-B37E27713573}"/>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27421596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Divider (Plum)">
    <p:bg>
      <p:bgPr>
        <a:gradFill>
          <a:gsLst>
            <a:gs pos="0">
              <a:schemeClr val="accent2"/>
            </a:gs>
            <a:gs pos="60000">
              <a:schemeClr val="accent3"/>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D2903859-44FB-9388-776B-28F8C4D42520}"/>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4" name="Footer Placeholder 4">
            <a:extLst>
              <a:ext uri="{FF2B5EF4-FFF2-40B4-BE49-F238E27FC236}">
                <a16:creationId xmlns:a16="http://schemas.microsoft.com/office/drawing/2014/main" id="{161DCDA6-9572-344D-14C8-8828E3FEFB9E}"/>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231435322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secHead" preserve="1">
  <p:cSld name="Divider (Gold)">
    <p:bg>
      <p:bgPr>
        <a:gradFill>
          <a:gsLst>
            <a:gs pos="0">
              <a:schemeClr val="accent6"/>
            </a:gs>
            <a:gs pos="54000">
              <a:schemeClr val="accent4"/>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D7892FEC-EC22-36F7-8617-D9A11538518C}"/>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tx2">
                    <a:lumMod val="50000"/>
                  </a:schemeClr>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tx2">
                    <a:lumMod val="50000"/>
                  </a:schemeClr>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cxnSp>
        <p:nvCxnSpPr>
          <p:cNvPr id="12" name="Straight Connector 11">
            <a:extLst>
              <a:ext uri="{FF2B5EF4-FFF2-40B4-BE49-F238E27FC236}">
                <a16:creationId xmlns:a16="http://schemas.microsoft.com/office/drawing/2014/main" id="{1C7073A5-C96D-7387-F371-CC85F5ECE004}"/>
              </a:ext>
            </a:extLst>
          </p:cNvPr>
          <p:cNvCxnSpPr>
            <a:cxnSpLocks/>
          </p:cNvCxnSpPr>
          <p:nvPr userDrawn="1"/>
        </p:nvCxnSpPr>
        <p:spPr>
          <a:xfrm>
            <a:off x="0" y="6276814"/>
            <a:ext cx="12192000" cy="0"/>
          </a:xfrm>
          <a:prstGeom prst="line">
            <a:avLst/>
          </a:prstGeom>
          <a:ln w="9525">
            <a:solidFill>
              <a:schemeClr val="tx2">
                <a:lumMod val="40000"/>
                <a:lumOff val="60000"/>
                <a:alpha val="25000"/>
              </a:schemeClr>
            </a:solidFill>
          </a:ln>
        </p:spPr>
        <p:style>
          <a:lnRef idx="2">
            <a:schemeClr val="accent1"/>
          </a:lnRef>
          <a:fillRef idx="0">
            <a:schemeClr val="accent1"/>
          </a:fillRef>
          <a:effectRef idx="1">
            <a:schemeClr val="accent1"/>
          </a:effectRef>
          <a:fontRef idx="minor">
            <a:schemeClr val="tx1"/>
          </a:fontRef>
        </p:style>
      </p:cxnSp>
      <p:sp>
        <p:nvSpPr>
          <p:cNvPr id="4" name="Footer Placeholder 4">
            <a:extLst>
              <a:ext uri="{FF2B5EF4-FFF2-40B4-BE49-F238E27FC236}">
                <a16:creationId xmlns:a16="http://schemas.microsoft.com/office/drawing/2014/main" id="{B465BC9E-B357-B34B-7B7F-ADDF53C60D6A}"/>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401347999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secHead" preserve="1">
  <p:cSld name="Divider (Green)">
    <p:bg>
      <p:bgPr>
        <a:gradFill>
          <a:gsLst>
            <a:gs pos="0">
              <a:schemeClr val="accent2"/>
            </a:gs>
            <a:gs pos="54000">
              <a:schemeClr val="accent5"/>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F8558375-69BD-2093-A170-A82E307F81A5}"/>
              </a:ext>
            </a:extLst>
          </p:cNvPr>
          <p:cNvPicPr>
            <a:picLocks noChangeAspect="1"/>
          </p:cNvPicPr>
          <p:nvPr userDrawn="1"/>
        </p:nvPicPr>
        <p:blipFill>
          <a:blip r:embed="rId2" cstate="email">
            <a:alphaModFix amt="8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4" name="Footer Placeholder 4">
            <a:extLst>
              <a:ext uri="{FF2B5EF4-FFF2-40B4-BE49-F238E27FC236}">
                <a16:creationId xmlns:a16="http://schemas.microsoft.com/office/drawing/2014/main" id="{37519499-E07A-A89E-9E1A-D9D105BA1808}"/>
              </a:ext>
            </a:extLst>
          </p:cNvPr>
          <p:cNvSpPr>
            <a:spLocks noGrp="1"/>
          </p:cNvSpPr>
          <p:nvPr>
            <p:ph type="ftr" sz="quarter" idx="11"/>
          </p:nvPr>
        </p:nvSpPr>
        <p:spPr>
          <a:xfrm>
            <a:off x="6096000" y="6447867"/>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364257535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secHead" preserve="1">
  <p:cSld name="Divider (Orange)">
    <p:bg>
      <p:bgPr>
        <a:gradFill>
          <a:gsLst>
            <a:gs pos="0">
              <a:schemeClr val="accent3"/>
            </a:gs>
            <a:gs pos="54000">
              <a:schemeClr val="accent6"/>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04F190B7-3ED6-8872-7F8C-4E5A01527E9A}"/>
              </a:ext>
            </a:extLst>
          </p:cNvPr>
          <p:cNvPicPr>
            <a:picLocks noChangeAspect="1"/>
          </p:cNvPicPr>
          <p:nvPr userDrawn="1"/>
        </p:nvPicPr>
        <p:blipFill>
          <a:blip r:embed="rId2" cstate="email">
            <a:alphaModFix amt="8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4">
            <a:extLst>
              <a:ext uri="{FF2B5EF4-FFF2-40B4-BE49-F238E27FC236}">
                <a16:creationId xmlns:a16="http://schemas.microsoft.com/office/drawing/2014/main" id="{BFCAF999-FEB3-67E0-72A0-500A97154DC0}"/>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25375006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Dark)">
    <p:bg>
      <p:bgPr>
        <a:solidFill>
          <a:schemeClr val="tx2"/>
        </a:solidFill>
        <a:effectLst/>
      </p:bgPr>
    </p:bg>
    <p:spTree>
      <p:nvGrpSpPr>
        <p:cNvPr id="1" name=""/>
        <p:cNvGrpSpPr/>
        <p:nvPr/>
      </p:nvGrpSpPr>
      <p:grpSpPr>
        <a:xfrm>
          <a:off x="0" y="0"/>
          <a:ext cx="0" cy="0"/>
          <a:chOff x="0" y="0"/>
          <a:chExt cx="0" cy="0"/>
        </a:xfrm>
      </p:grpSpPr>
      <p:pic>
        <p:nvPicPr>
          <p:cNvPr id="4" name="Picture 3" descr="A white logo with a black background&#10;&#10;AI-generated content may be incorrect.">
            <a:extLst>
              <a:ext uri="{FF2B5EF4-FFF2-40B4-BE49-F238E27FC236}">
                <a16:creationId xmlns:a16="http://schemas.microsoft.com/office/drawing/2014/main" id="{6009C2D0-8476-5C7C-3698-64F13A93B821}"/>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558801" y="449433"/>
            <a:ext cx="11057174" cy="1127932"/>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558801" y="1939848"/>
            <a:ext cx="10515600" cy="4125722"/>
          </a:xfrm>
          <a:prstGeom prst="rect">
            <a:avLst/>
          </a:prstGeom>
        </p:spPr>
        <p:txBody>
          <a:bodyPr lIns="0" tIns="0" rIns="0" bIns="0">
            <a:noAutofit/>
          </a:bodyPr>
          <a:lstStyle>
            <a:lvl1pPr marL="0" indent="0">
              <a:buFontTx/>
              <a:buNone/>
              <a:defRPr sz="1800" b="0" i="0">
                <a:solidFill>
                  <a:schemeClr val="bg1"/>
                </a:solidFill>
                <a:latin typeface="Figtree" pitchFamily="2" charset="0"/>
              </a:defRPr>
            </a:lvl1pPr>
            <a:lvl2pPr marL="742950" indent="-285750">
              <a:buFont typeface="Arial" panose="020B0604020202020204" pitchFamily="34" charset="0"/>
              <a:buChar char="•"/>
              <a:defRPr sz="1800" b="0" i="0">
                <a:solidFill>
                  <a:schemeClr val="bg1"/>
                </a:solidFill>
                <a:latin typeface="Figtree" pitchFamily="2" charset="0"/>
              </a:defRPr>
            </a:lvl2pPr>
            <a:lvl3pPr marL="1200150" indent="-285750">
              <a:buFont typeface="Arial" panose="020B0604020202020204" pitchFamily="34" charset="0"/>
              <a:buChar char="•"/>
              <a:defRPr sz="1800" b="0" i="0">
                <a:solidFill>
                  <a:schemeClr val="bg1"/>
                </a:solidFill>
                <a:latin typeface="Figtree" pitchFamily="2" charset="0"/>
              </a:defRPr>
            </a:lvl3pPr>
            <a:lvl4pPr marL="1657350" indent="-285750">
              <a:buFont typeface="Arial" panose="020B0604020202020204" pitchFamily="34" charset="0"/>
              <a:buChar char="•"/>
              <a:defRPr sz="1800" b="0" i="0">
                <a:solidFill>
                  <a:schemeClr val="bg1"/>
                </a:solidFill>
                <a:latin typeface="Figtree" pitchFamily="2" charset="0"/>
              </a:defRPr>
            </a:lvl4pPr>
            <a:lvl5pPr marL="2114550" indent="-285750">
              <a:buFont typeface="Arial" panose="020B0604020202020204" pitchFamily="34" charset="0"/>
              <a:buChar char="•"/>
              <a:defRPr sz="1800" b="0" i="0">
                <a:solidFill>
                  <a:schemeClr val="bg1"/>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5" name="Footer Placeholder 4">
            <a:extLst>
              <a:ext uri="{FF2B5EF4-FFF2-40B4-BE49-F238E27FC236}">
                <a16:creationId xmlns:a16="http://schemas.microsoft.com/office/drawing/2014/main" id="{73C07169-FE39-9A7A-6CCE-495DA7D2A49D}"/>
              </a:ext>
            </a:extLst>
          </p:cNvPr>
          <p:cNvSpPr>
            <a:spLocks noGrp="1"/>
          </p:cNvSpPr>
          <p:nvPr>
            <p:ph type="ftr" sz="quarter" idx="11"/>
          </p:nvPr>
        </p:nvSpPr>
        <p:spPr>
          <a:xfrm>
            <a:off x="6096000" y="6447867"/>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234876510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Blue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3" name="Freeform 2">
            <a:extLst>
              <a:ext uri="{FF2B5EF4-FFF2-40B4-BE49-F238E27FC236}">
                <a16:creationId xmlns:a16="http://schemas.microsoft.com/office/drawing/2014/main" id="{ABE42761-35EA-CA25-0900-63712C3225FA}"/>
              </a:ext>
            </a:extLst>
          </p:cNvPr>
          <p:cNvSpPr/>
          <p:nvPr userDrawn="1"/>
        </p:nvSpPr>
        <p:spPr>
          <a:xfrm>
            <a:off x="4830121" y="-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tx1">
                    <a:lumMod val="65000"/>
                    <a:lumOff val="3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Footer Placeholder 4">
            <a:extLst>
              <a:ext uri="{FF2B5EF4-FFF2-40B4-BE49-F238E27FC236}">
                <a16:creationId xmlns:a16="http://schemas.microsoft.com/office/drawing/2014/main" id="{D1C9AB2A-ED10-566E-B4A9-DAF375215F9E}"/>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183117499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Plum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Freeform 4">
            <a:extLst>
              <a:ext uri="{FF2B5EF4-FFF2-40B4-BE49-F238E27FC236}">
                <a16:creationId xmlns:a16="http://schemas.microsoft.com/office/drawing/2014/main" id="{5673909B-51BC-79F1-247B-509034849961}"/>
              </a:ext>
            </a:extLst>
          </p:cNvPr>
          <p:cNvSpPr/>
          <p:nvPr userDrawn="1"/>
        </p:nvSpPr>
        <p:spPr>
          <a:xfrm>
            <a:off x="4830121" y="-862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4">
            <a:extLst>
              <a:ext uri="{FF2B5EF4-FFF2-40B4-BE49-F238E27FC236}">
                <a16:creationId xmlns:a16="http://schemas.microsoft.com/office/drawing/2014/main" id="{D281CB55-BA8F-8DEC-6F01-6B357912F06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349177990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Gold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Freeform 5">
            <a:extLst>
              <a:ext uri="{FF2B5EF4-FFF2-40B4-BE49-F238E27FC236}">
                <a16:creationId xmlns:a16="http://schemas.microsoft.com/office/drawing/2014/main" id="{2FFD7DA3-43D8-D09F-83E0-0AEAB25439B7}"/>
              </a:ext>
            </a:extLst>
          </p:cNvPr>
          <p:cNvSpPr/>
          <p:nvPr userDrawn="1"/>
        </p:nvSpPr>
        <p:spPr>
          <a:xfrm>
            <a:off x="4830121" y="-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4">
            <a:extLst>
              <a:ext uri="{FF2B5EF4-FFF2-40B4-BE49-F238E27FC236}">
                <a16:creationId xmlns:a16="http://schemas.microsoft.com/office/drawing/2014/main" id="{D719935E-53C4-24FF-8C1E-B917D5561865}"/>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385335523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Green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FC5B0D56-4627-AC4F-11C1-0BC865D7A1E5}"/>
              </a:ext>
            </a:extLst>
          </p:cNvPr>
          <p:cNvSpPr/>
          <p:nvPr userDrawn="1"/>
        </p:nvSpPr>
        <p:spPr>
          <a:xfrm>
            <a:off x="4830121" y="-5"/>
            <a:ext cx="3566904"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53F68B32-69A5-A6E5-AC81-6153BF2FBE12}"/>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299974405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Gold (Orange)">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692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8CECBD81-6D94-EBB2-5099-28510DA055F7}"/>
              </a:ext>
            </a:extLst>
          </p:cNvPr>
          <p:cNvSpPr/>
          <p:nvPr userDrawn="1"/>
        </p:nvSpPr>
        <p:spPr>
          <a:xfrm>
            <a:off x="4830121" y="-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D9D00325-90DF-1B34-DC97-F88902190308}"/>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35328254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Special Visual 1">
    <p:bg>
      <p:bgPr>
        <a:solidFill>
          <a:schemeClr val="tx2"/>
        </a:solidFill>
        <a:effectLst/>
      </p:bgPr>
    </p:bg>
    <p:spTree>
      <p:nvGrpSpPr>
        <p:cNvPr id="1" name=""/>
        <p:cNvGrpSpPr/>
        <p:nvPr/>
      </p:nvGrpSpPr>
      <p:grpSpPr>
        <a:xfrm>
          <a:off x="0" y="0"/>
          <a:ext cx="0" cy="0"/>
          <a:chOff x="0" y="0"/>
          <a:chExt cx="0" cy="0"/>
        </a:xfrm>
      </p:grpSpPr>
      <p:pic>
        <p:nvPicPr>
          <p:cNvPr id="9" name="Picture 8" descr="A spiral galaxy in space&#10;&#10;AI-generated content may be incorrect.">
            <a:extLst>
              <a:ext uri="{FF2B5EF4-FFF2-40B4-BE49-F238E27FC236}">
                <a16:creationId xmlns:a16="http://schemas.microsoft.com/office/drawing/2014/main" id="{B4257FEA-E4BB-4184-2551-6E913CF483E4}"/>
              </a:ext>
            </a:extLst>
          </p:cNvPr>
          <p:cNvPicPr>
            <a:picLocks noChangeAspect="1"/>
          </p:cNvPicPr>
          <p:nvPr userDrawn="1"/>
        </p:nvPicPr>
        <p:blipFill>
          <a:blip r:embed="rId2" cstate="email">
            <a:alphaModFix amt="30000"/>
            <a:extLst>
              <a:ext uri="{28A0092B-C50C-407E-A947-70E740481C1C}">
                <a14:useLocalDpi xmlns:a14="http://schemas.microsoft.com/office/drawing/2010/main"/>
              </a:ext>
            </a:extLst>
          </a:blip>
          <a:srcRect/>
          <a:stretch/>
        </p:blipFill>
        <p:spPr>
          <a:xfrm>
            <a:off x="-1" y="0"/>
            <a:ext cx="12192001"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11" name="Title 1">
            <a:extLst>
              <a:ext uri="{FF2B5EF4-FFF2-40B4-BE49-F238E27FC236}">
                <a16:creationId xmlns:a16="http://schemas.microsoft.com/office/drawing/2014/main" id="{097A2759-5262-98FC-2BA1-75A1A11F3C9B}"/>
              </a:ext>
            </a:extLst>
          </p:cNvPr>
          <p:cNvSpPr>
            <a:spLocks noGrp="1"/>
          </p:cNvSpPr>
          <p:nvPr>
            <p:ph type="title"/>
          </p:nvPr>
        </p:nvSpPr>
        <p:spPr>
          <a:xfrm>
            <a:off x="566928" y="457200"/>
            <a:ext cx="11049048"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a:t>Click to edit Master title style</a:t>
            </a:r>
          </a:p>
        </p:txBody>
      </p:sp>
      <p:sp>
        <p:nvSpPr>
          <p:cNvPr id="12" name="Content Placeholder 2">
            <a:extLst>
              <a:ext uri="{FF2B5EF4-FFF2-40B4-BE49-F238E27FC236}">
                <a16:creationId xmlns:a16="http://schemas.microsoft.com/office/drawing/2014/main" id="{A4013314-73E8-EBCE-C957-B401AB4F5C75}"/>
              </a:ext>
            </a:extLst>
          </p:cNvPr>
          <p:cNvSpPr>
            <a:spLocks noGrp="1"/>
          </p:cNvSpPr>
          <p:nvPr>
            <p:ph idx="1"/>
          </p:nvPr>
        </p:nvSpPr>
        <p:spPr>
          <a:xfrm>
            <a:off x="566928" y="1825625"/>
            <a:ext cx="10515600" cy="4125722"/>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50" indent="-285750">
              <a:buFont typeface="Arial" panose="020B0604020202020204" pitchFamily="34" charset="0"/>
              <a:buChar char="•"/>
              <a:defRPr sz="2400" b="0" i="0">
                <a:solidFill>
                  <a:schemeClr val="bg1"/>
                </a:solidFill>
                <a:latin typeface="Figtree" pitchFamily="2" charset="0"/>
              </a:defRPr>
            </a:lvl2pPr>
            <a:lvl3pPr marL="1200150" indent="-285750">
              <a:buFont typeface="Arial" panose="020B0604020202020204" pitchFamily="34" charset="0"/>
              <a:buChar char="•"/>
              <a:defRPr sz="2400" b="0" i="0">
                <a:solidFill>
                  <a:schemeClr val="bg1"/>
                </a:solidFill>
                <a:latin typeface="Figtree" pitchFamily="2" charset="0"/>
              </a:defRPr>
            </a:lvl3pPr>
            <a:lvl4pPr marL="1657350" indent="-285750">
              <a:buFont typeface="Arial" panose="020B0604020202020204" pitchFamily="34" charset="0"/>
              <a:buChar char="•"/>
              <a:defRPr sz="2400" b="0" i="0">
                <a:solidFill>
                  <a:schemeClr val="bg1"/>
                </a:solidFill>
                <a:latin typeface="Figtree" pitchFamily="2" charset="0"/>
              </a:defRPr>
            </a:lvl4pPr>
            <a:lvl5pPr marL="2114550" indent="-285750">
              <a:buFont typeface="Arial" panose="020B0604020202020204" pitchFamily="34" charset="0"/>
              <a:buChar char="•"/>
              <a:defRPr sz="2400" b="0" i="0">
                <a:solidFill>
                  <a:schemeClr val="bg1"/>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CE1371EC-31CF-F2A8-3ADA-2857AAB5FE9F}"/>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Tree>
    <p:extLst>
      <p:ext uri="{BB962C8B-B14F-4D97-AF65-F5344CB8AC3E}">
        <p14:creationId xmlns:p14="http://schemas.microsoft.com/office/powerpoint/2010/main" val="112936285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Special Visual 2">
    <p:bg>
      <p:bgPr>
        <a:solidFill>
          <a:schemeClr val="tx2"/>
        </a:solidFill>
        <a:effectLst/>
      </p:bgPr>
    </p:bg>
    <p:spTree>
      <p:nvGrpSpPr>
        <p:cNvPr id="1" name=""/>
        <p:cNvGrpSpPr/>
        <p:nvPr/>
      </p:nvGrpSpPr>
      <p:grpSpPr>
        <a:xfrm>
          <a:off x="0" y="0"/>
          <a:ext cx="0" cy="0"/>
          <a:chOff x="0" y="0"/>
          <a:chExt cx="0" cy="0"/>
        </a:xfrm>
      </p:grpSpPr>
      <p:pic>
        <p:nvPicPr>
          <p:cNvPr id="11" name="Picture 10" descr="A blue sky with stars&#10;&#10;AI-generated content may be incorrect.">
            <a:extLst>
              <a:ext uri="{FF2B5EF4-FFF2-40B4-BE49-F238E27FC236}">
                <a16:creationId xmlns:a16="http://schemas.microsoft.com/office/drawing/2014/main" id="{58E6D3C4-DD7C-11D1-CC5C-C7C19C2E03FC}"/>
              </a:ext>
            </a:extLst>
          </p:cNvPr>
          <p:cNvPicPr>
            <a:picLocks noChangeAspect="1"/>
          </p:cNvPicPr>
          <p:nvPr userDrawn="1"/>
        </p:nvPicPr>
        <p:blipFill>
          <a:blip r:embed="rId2" cstate="email">
            <a:alphaModFix amt="40000"/>
            <a:extLst>
              <a:ext uri="{28A0092B-C50C-407E-A947-70E740481C1C}">
                <a14:useLocalDpi xmlns:a14="http://schemas.microsoft.com/office/drawing/2010/main"/>
              </a:ext>
            </a:extLst>
          </a:blip>
          <a:srcRect/>
          <a:stretch/>
        </p:blipFill>
        <p:spPr>
          <a:xfrm>
            <a:off x="0" y="-1"/>
            <a:ext cx="12165488"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BB4B291A-88AF-2996-D687-D14BAEE37C8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13" name="Content Placeholder 2">
            <a:extLst>
              <a:ext uri="{FF2B5EF4-FFF2-40B4-BE49-F238E27FC236}">
                <a16:creationId xmlns:a16="http://schemas.microsoft.com/office/drawing/2014/main" id="{CA605919-F812-D6B7-6733-93A21095D65A}"/>
              </a:ext>
            </a:extLst>
          </p:cNvPr>
          <p:cNvSpPr>
            <a:spLocks noGrp="1"/>
          </p:cNvSpPr>
          <p:nvPr>
            <p:ph idx="1"/>
          </p:nvPr>
        </p:nvSpPr>
        <p:spPr>
          <a:xfrm>
            <a:off x="566928" y="1825625"/>
            <a:ext cx="10515600" cy="4125722"/>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50" indent="-285750">
              <a:buFont typeface="Arial" panose="020B0604020202020204" pitchFamily="34" charset="0"/>
              <a:buChar char="•"/>
              <a:defRPr sz="2400" b="0" i="0">
                <a:solidFill>
                  <a:schemeClr val="bg1"/>
                </a:solidFill>
                <a:latin typeface="Figtree" pitchFamily="2" charset="0"/>
              </a:defRPr>
            </a:lvl2pPr>
            <a:lvl3pPr marL="1200150" indent="-285750">
              <a:buFont typeface="Arial" panose="020B0604020202020204" pitchFamily="34" charset="0"/>
              <a:buChar char="•"/>
              <a:defRPr sz="2400" b="0" i="0">
                <a:solidFill>
                  <a:schemeClr val="bg1"/>
                </a:solidFill>
                <a:latin typeface="Figtree" pitchFamily="2" charset="0"/>
              </a:defRPr>
            </a:lvl3pPr>
            <a:lvl4pPr marL="1657350" indent="-285750">
              <a:buFont typeface="Arial" panose="020B0604020202020204" pitchFamily="34" charset="0"/>
              <a:buChar char="•"/>
              <a:defRPr sz="2400" b="0" i="0">
                <a:solidFill>
                  <a:schemeClr val="bg1"/>
                </a:solidFill>
                <a:latin typeface="Figtree" pitchFamily="2" charset="0"/>
              </a:defRPr>
            </a:lvl4pPr>
            <a:lvl5pPr marL="2114550" indent="-285750">
              <a:buFont typeface="Arial" panose="020B0604020202020204" pitchFamily="34" charset="0"/>
              <a:buChar char="•"/>
              <a:defRPr sz="2400" b="0" i="0">
                <a:solidFill>
                  <a:schemeClr val="bg1"/>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400744ED-64DA-4F49-4986-C599C199E7C2}"/>
              </a:ext>
            </a:extLst>
          </p:cNvPr>
          <p:cNvSpPr>
            <a:spLocks noGrp="1"/>
          </p:cNvSpPr>
          <p:nvPr>
            <p:ph type="title"/>
          </p:nvPr>
        </p:nvSpPr>
        <p:spPr>
          <a:xfrm>
            <a:off x="566928" y="457200"/>
            <a:ext cx="11049052"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a:t>Click to edit Master title style</a:t>
            </a:r>
          </a:p>
        </p:txBody>
      </p:sp>
    </p:spTree>
    <p:extLst>
      <p:ext uri="{BB962C8B-B14F-4D97-AF65-F5344CB8AC3E}">
        <p14:creationId xmlns:p14="http://schemas.microsoft.com/office/powerpoint/2010/main" val="68289488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pecial Visual 3">
    <p:bg>
      <p:bgPr>
        <a:solidFill>
          <a:schemeClr val="tx2"/>
        </a:solidFill>
        <a:effectLst/>
      </p:bgPr>
    </p:bg>
    <p:spTree>
      <p:nvGrpSpPr>
        <p:cNvPr id="1" name=""/>
        <p:cNvGrpSpPr/>
        <p:nvPr/>
      </p:nvGrpSpPr>
      <p:grpSpPr>
        <a:xfrm>
          <a:off x="0" y="0"/>
          <a:ext cx="0" cy="0"/>
          <a:chOff x="0" y="0"/>
          <a:chExt cx="0" cy="0"/>
        </a:xfrm>
      </p:grpSpPr>
      <p:pic>
        <p:nvPicPr>
          <p:cNvPr id="9" name="Picture 8" descr="An astronaut floating in space&#10;&#10;AI-generated content may be incorrect.">
            <a:extLst>
              <a:ext uri="{FF2B5EF4-FFF2-40B4-BE49-F238E27FC236}">
                <a16:creationId xmlns:a16="http://schemas.microsoft.com/office/drawing/2014/main" id="{9DA1DE89-B1B4-0B78-BA7D-98605CF2B49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229483" y="-1"/>
            <a:ext cx="6962517" cy="6858001"/>
          </a:xfrm>
          <a:prstGeom prst="rect">
            <a:avLst/>
          </a:prstGeom>
        </p:spPr>
      </p:pic>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BB4B291A-88AF-2996-D687-D14BAEE37C8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74008789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pecial Visual 4">
    <p:bg>
      <p:bgPr>
        <a:solidFill>
          <a:schemeClr val="tx2"/>
        </a:solidFill>
        <a:effectLst/>
      </p:bgPr>
    </p:bg>
    <p:spTree>
      <p:nvGrpSpPr>
        <p:cNvPr id="1" name=""/>
        <p:cNvGrpSpPr/>
        <p:nvPr/>
      </p:nvGrpSpPr>
      <p:grpSpPr>
        <a:xfrm>
          <a:off x="0" y="0"/>
          <a:ext cx="0" cy="0"/>
          <a:chOff x="0" y="0"/>
          <a:chExt cx="0" cy="0"/>
        </a:xfrm>
      </p:grpSpPr>
      <p:pic>
        <p:nvPicPr>
          <p:cNvPr id="11" name="Picture 10" descr="A blue planet with a bright light&#10;&#10;AI-generated content may be incorrect.">
            <a:extLst>
              <a:ext uri="{FF2B5EF4-FFF2-40B4-BE49-F238E27FC236}">
                <a16:creationId xmlns:a16="http://schemas.microsoft.com/office/drawing/2014/main" id="{5928C9F9-2416-28F6-1432-DDAFD45C885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317712" y="-1"/>
            <a:ext cx="6874288" cy="6853357"/>
          </a:xfrm>
          <a:prstGeom prst="rect">
            <a:avLst/>
          </a:prstGeom>
        </p:spPr>
      </p:pic>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BB4B291A-88AF-2996-D687-D14BAEE37C8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83866307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Footer Placeholder 4">
            <a:extLst>
              <a:ext uri="{FF2B5EF4-FFF2-40B4-BE49-F238E27FC236}">
                <a16:creationId xmlns:a16="http://schemas.microsoft.com/office/drawing/2014/main" id="{74E2FE70-C1DA-31EB-EEA3-F73AC1A92AD3}"/>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3" name="Slide Number Placeholder 5">
            <a:extLst>
              <a:ext uri="{FF2B5EF4-FFF2-40B4-BE49-F238E27FC236}">
                <a16:creationId xmlns:a16="http://schemas.microsoft.com/office/drawing/2014/main" id="{FF8F2ECD-EA50-2550-0B02-4B2C953442E4}"/>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4" name="Picture 3">
            <a:extLst>
              <a:ext uri="{FF2B5EF4-FFF2-40B4-BE49-F238E27FC236}">
                <a16:creationId xmlns:a16="http://schemas.microsoft.com/office/drawing/2014/main" id="{2153AC61-82C3-E5FF-66C1-161CB2EFC3C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5" name="Title 1">
            <a:extLst>
              <a:ext uri="{FF2B5EF4-FFF2-40B4-BE49-F238E27FC236}">
                <a16:creationId xmlns:a16="http://schemas.microsoft.com/office/drawing/2014/main" id="{9DBDE83B-FA3C-7C63-1F5D-7777F612CDBC}"/>
              </a:ext>
            </a:extLst>
          </p:cNvPr>
          <p:cNvSpPr>
            <a:spLocks noGrp="1"/>
          </p:cNvSpPr>
          <p:nvPr>
            <p:ph type="title"/>
          </p:nvPr>
        </p:nvSpPr>
        <p:spPr>
          <a:xfrm>
            <a:off x="566928" y="457200"/>
            <a:ext cx="11236148" cy="1169207"/>
          </a:xfrm>
          <a:prstGeom prst="rect">
            <a:avLst/>
          </a:prstGeom>
        </p:spPr>
        <p:txBody>
          <a:bodyPr lIns="0" tIns="0" rIns="0" bIns="0" anchor="ctr">
            <a:noAutofit/>
          </a:bodyPr>
          <a:lstStyle>
            <a:lvl1pPr>
              <a:lnSpc>
                <a:spcPct val="80000"/>
              </a:lnSpc>
              <a:defRPr sz="4000" b="1" i="0">
                <a:solidFill>
                  <a:schemeClr val="bg1"/>
                </a:solidFill>
                <a:latin typeface="Figtree SemiBold" pitchFamily="2" charset="0"/>
              </a:defRPr>
            </a:lvl1pPr>
          </a:lstStyle>
          <a:p>
            <a:r>
              <a:rPr lang="en-US"/>
              <a:t>Click to edit Master title style</a:t>
            </a:r>
          </a:p>
        </p:txBody>
      </p:sp>
    </p:spTree>
    <p:extLst>
      <p:ext uri="{BB962C8B-B14F-4D97-AF65-F5344CB8AC3E}">
        <p14:creationId xmlns:p14="http://schemas.microsoft.com/office/powerpoint/2010/main" val="321098702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Footer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Footer Placeholder 4">
            <a:extLst>
              <a:ext uri="{FF2B5EF4-FFF2-40B4-BE49-F238E27FC236}">
                <a16:creationId xmlns:a16="http://schemas.microsoft.com/office/drawing/2014/main" id="{4824F201-E457-E817-0DA2-9E61ACCA72D4}"/>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3" name="Slide Number Placeholder 5">
            <a:extLst>
              <a:ext uri="{FF2B5EF4-FFF2-40B4-BE49-F238E27FC236}">
                <a16:creationId xmlns:a16="http://schemas.microsoft.com/office/drawing/2014/main" id="{9EDE1051-0FED-5451-0D36-8DE7C56B7287}"/>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pic>
        <p:nvPicPr>
          <p:cNvPr id="4" name="Picture 3">
            <a:extLst>
              <a:ext uri="{FF2B5EF4-FFF2-40B4-BE49-F238E27FC236}">
                <a16:creationId xmlns:a16="http://schemas.microsoft.com/office/drawing/2014/main" id="{C595D178-B3AE-EA2C-9A08-EB6D085096F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621871519"/>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Pull Quote Blu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9" name="Footer Placeholder 4">
            <a:extLst>
              <a:ext uri="{FF2B5EF4-FFF2-40B4-BE49-F238E27FC236}">
                <a16:creationId xmlns:a16="http://schemas.microsoft.com/office/drawing/2014/main" id="{09FD9171-277F-DDF9-1325-B01478A3416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10" name="Slide Number Placeholder 5">
            <a:extLst>
              <a:ext uri="{FF2B5EF4-FFF2-40B4-BE49-F238E27FC236}">
                <a16:creationId xmlns:a16="http://schemas.microsoft.com/office/drawing/2014/main" id="{7F502D63-98F2-0192-9694-5687D8D05AD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1" name="Straight Connector 10">
            <a:extLst>
              <a:ext uri="{FF2B5EF4-FFF2-40B4-BE49-F238E27FC236}">
                <a16:creationId xmlns:a16="http://schemas.microsoft.com/office/drawing/2014/main" id="{80622538-DB89-0185-9E98-C8D31813769B}"/>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F0FF596D-CC26-E4B0-EC5C-182E1E7E40D3}"/>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2490500553"/>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Pull Quote Plum">
    <p:bg>
      <p:bgPr>
        <a:gradFill>
          <a:gsLst>
            <a:gs pos="0">
              <a:schemeClr val="accent2"/>
            </a:gs>
            <a:gs pos="54000">
              <a:schemeClr val="accent3"/>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04622215-CDBD-8F81-E9EA-A31736F272E0}"/>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FE1CE688-D74E-8D3C-C8FB-273D204479BC}"/>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56F17F2-AAEF-FEEE-FEB8-8DF375D781F2}"/>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BE6E5B02-D478-7B84-9936-C8A086849FBA}"/>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424220177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Pull Quote Gold">
    <p:bg>
      <p:bgPr>
        <a:gradFill>
          <a:gsLst>
            <a:gs pos="0">
              <a:schemeClr val="accent6"/>
            </a:gs>
            <a:gs pos="54000">
              <a:schemeClr val="accent4"/>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05A297F6-6D91-6866-9EAE-725714B7E546}"/>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EEFF9B6A-2657-DE51-519D-1E20B3FDA186}"/>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8AD89207-345D-F496-AF0B-592807269139}"/>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07A89A59-A76B-D96F-9CE2-1086D4C06B3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24267340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ull Quote Green">
    <p:bg>
      <p:bgPr>
        <a:gradFill>
          <a:gsLst>
            <a:gs pos="0">
              <a:schemeClr val="accent2"/>
            </a:gs>
            <a:gs pos="54000">
              <a:schemeClr val="accent5"/>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09E71E1C-E08F-F30E-182A-6072F71D2C0E}"/>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507A87D-5CC5-BF86-C0AA-3E1DDCEA194D}"/>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6BBC947-4C17-284C-CC69-494D42DEE5CC}"/>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87BA6484-6E55-DD5F-9E5D-1E9FEF47CF2F}"/>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26883702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Pull Quote Orange">
    <p:bg>
      <p:bgPr>
        <a:gradFill>
          <a:gsLst>
            <a:gs pos="0">
              <a:schemeClr val="accent3"/>
            </a:gs>
            <a:gs pos="54000">
              <a:schemeClr val="accent6"/>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894F4E8A-4281-3DD1-D18E-F1D01CE48840}"/>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0260A482-67B1-88FD-50A7-98D6A2DC1F3F}"/>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7334E67-BF46-822A-CDA7-B19153C5567B}"/>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97922417-E2C6-1B89-E477-CE2A211BCE6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70635986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DF5FA7B-72FB-B64A-A69A-D4755A185809}"/>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t="-132"/>
          <a:stretch/>
        </p:blipFill>
        <p:spPr>
          <a:xfrm>
            <a:off x="5897660" y="1502250"/>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566929" y="488238"/>
            <a:ext cx="11218672" cy="1169207"/>
          </a:xfrm>
          <a:prstGeom prst="rect">
            <a:avLst/>
          </a:prstGeom>
        </p:spPr>
        <p:txBody>
          <a:bodyPr lIns="0" tIns="0" rIns="0" bIns="0" anchor="ctr">
            <a:noAutofit/>
          </a:bodyPr>
          <a:lstStyle>
            <a:lvl1pPr>
              <a:lnSpc>
                <a:spcPct val="80000"/>
              </a:lnSpc>
              <a:defRPr sz="4000" b="1" i="0">
                <a:solidFill>
                  <a:schemeClr val="accent2"/>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566929" y="1825625"/>
            <a:ext cx="10515600" cy="4125722"/>
          </a:xfrm>
          <a:prstGeom prst="rect">
            <a:avLst/>
          </a:prstGeom>
        </p:spPr>
        <p:txBody>
          <a:bodyPr lIns="0" tIns="0" rIns="0" bIns="0">
            <a:noAutofit/>
          </a:bodyPr>
          <a:lstStyle>
            <a:lvl1pPr marL="0" indent="0">
              <a:buFontTx/>
              <a:buNone/>
              <a:defRPr sz="1800" b="0" i="0">
                <a:solidFill>
                  <a:schemeClr val="tx2"/>
                </a:solidFill>
                <a:latin typeface="Figtree" pitchFamily="2" charset="0"/>
              </a:defRPr>
            </a:lvl1pPr>
            <a:lvl2pPr marL="742950" indent="-285750">
              <a:buFont typeface="Arial" panose="020B0604020202020204" pitchFamily="34" charset="0"/>
              <a:buChar char="•"/>
              <a:defRPr sz="1800" b="0" i="0">
                <a:solidFill>
                  <a:schemeClr val="tx2"/>
                </a:solidFill>
                <a:latin typeface="Figtree" pitchFamily="2" charset="0"/>
              </a:defRPr>
            </a:lvl2pPr>
            <a:lvl3pPr marL="1200150" indent="-285750">
              <a:buFont typeface="Arial" panose="020B0604020202020204" pitchFamily="34" charset="0"/>
              <a:buChar char="•"/>
              <a:defRPr sz="1800" b="0" i="0">
                <a:solidFill>
                  <a:schemeClr val="tx2"/>
                </a:solidFill>
                <a:latin typeface="Figtree" pitchFamily="2" charset="0"/>
              </a:defRPr>
            </a:lvl3pPr>
            <a:lvl4pPr marL="1657350" indent="-285750">
              <a:buFont typeface="Arial" panose="020B0604020202020204" pitchFamily="34" charset="0"/>
              <a:buChar char="•"/>
              <a:defRPr sz="1800" b="0" i="0">
                <a:solidFill>
                  <a:schemeClr val="tx2"/>
                </a:solidFill>
                <a:latin typeface="Figtree" pitchFamily="2" charset="0"/>
              </a:defRPr>
            </a:lvl4pPr>
            <a:lvl5pPr marL="2114550" indent="-285750">
              <a:buFont typeface="Arial" panose="020B0604020202020204" pitchFamily="34" charset="0"/>
              <a:buChar char="•"/>
              <a:defRPr sz="1800" b="0" i="0">
                <a:solidFill>
                  <a:schemeClr val="tx2"/>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6F355BC-998E-5A09-3C72-65E885D3B876}"/>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descr="A blue and black logo&#10;&#10;AI-generated content may be incorrect.">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Tree>
    <p:extLst>
      <p:ext uri="{BB962C8B-B14F-4D97-AF65-F5344CB8AC3E}">
        <p14:creationId xmlns:p14="http://schemas.microsoft.com/office/powerpoint/2010/main" val="277240923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ext + Image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5800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17" name="Freeform 16">
            <a:extLst>
              <a:ext uri="{FF2B5EF4-FFF2-40B4-BE49-F238E27FC236}">
                <a16:creationId xmlns:a16="http://schemas.microsoft.com/office/drawing/2014/main" id="{43C4FB2F-E7D0-EBC7-4DDB-6CC86298818F}"/>
              </a:ext>
            </a:extLst>
          </p:cNvPr>
          <p:cNvSpPr/>
          <p:nvPr userDrawn="1"/>
        </p:nvSpPr>
        <p:spPr>
          <a:xfrm>
            <a:off x="4809511" y="-5"/>
            <a:ext cx="3605100"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7025694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 + Image Pl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57996"/>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3" name="Freeform 2">
            <a:extLst>
              <a:ext uri="{FF2B5EF4-FFF2-40B4-BE49-F238E27FC236}">
                <a16:creationId xmlns:a16="http://schemas.microsoft.com/office/drawing/2014/main" id="{63078809-296D-371D-64D3-36C8022650B2}"/>
              </a:ext>
            </a:extLst>
          </p:cNvPr>
          <p:cNvSpPr/>
          <p:nvPr userDrawn="1"/>
        </p:nvSpPr>
        <p:spPr>
          <a:xfrm>
            <a:off x="4847709" y="-5"/>
            <a:ext cx="3566902" cy="6858001"/>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9150177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xt + Image G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5" name="Freeform 4">
            <a:extLst>
              <a:ext uri="{FF2B5EF4-FFF2-40B4-BE49-F238E27FC236}">
                <a16:creationId xmlns:a16="http://schemas.microsoft.com/office/drawing/2014/main" id="{F06610B9-8C48-9789-3124-8DB88AA039B6}"/>
              </a:ext>
            </a:extLst>
          </p:cNvPr>
          <p:cNvSpPr/>
          <p:nvPr userDrawn="1"/>
        </p:nvSpPr>
        <p:spPr>
          <a:xfrm>
            <a:off x="4855811" y="-5"/>
            <a:ext cx="35588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7588271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xt + Image Gree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13820" y="0"/>
            <a:ext cx="6891342" cy="6868957"/>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3" name="Freeform 2">
            <a:extLst>
              <a:ext uri="{FF2B5EF4-FFF2-40B4-BE49-F238E27FC236}">
                <a16:creationId xmlns:a16="http://schemas.microsoft.com/office/drawing/2014/main" id="{CB73E4F5-5916-13A5-64C5-8C77558117BD}"/>
              </a:ext>
            </a:extLst>
          </p:cNvPr>
          <p:cNvSpPr/>
          <p:nvPr userDrawn="1"/>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0795239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ext + Image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5" name="Freeform 4">
            <a:extLst>
              <a:ext uri="{FF2B5EF4-FFF2-40B4-BE49-F238E27FC236}">
                <a16:creationId xmlns:a16="http://schemas.microsoft.com/office/drawing/2014/main" id="{CFD3A720-686E-513F-0664-2531C8B0201E}"/>
              </a:ext>
            </a:extLst>
          </p:cNvPr>
          <p:cNvSpPr/>
          <p:nvPr userDrawn="1"/>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44407868"/>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E160181-F020-3F03-9EDF-F40CFE13BB0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12" name="Title 1">
            <a:extLst>
              <a:ext uri="{FF2B5EF4-FFF2-40B4-BE49-F238E27FC236}">
                <a16:creationId xmlns:a16="http://schemas.microsoft.com/office/drawing/2014/main" id="{728F9DD8-18B8-E17F-4A81-93C4DD686CEB}"/>
              </a:ext>
            </a:extLst>
          </p:cNvPr>
          <p:cNvSpPr>
            <a:spLocks noGrp="1"/>
          </p:cNvSpPr>
          <p:nvPr>
            <p:ph type="title"/>
          </p:nvPr>
        </p:nvSpPr>
        <p:spPr>
          <a:xfrm>
            <a:off x="566928" y="437738"/>
            <a:ext cx="11268662" cy="1169207"/>
          </a:xfrm>
          <a:prstGeom prst="rect">
            <a:avLst/>
          </a:prstGeom>
        </p:spPr>
        <p:txBody>
          <a:bodyPr lIns="0" tIns="0" rIns="0" bIns="0" anchor="ctr">
            <a:noAutofit/>
          </a:bodyPr>
          <a:lstStyle>
            <a:lvl1pPr>
              <a:lnSpc>
                <a:spcPct val="80000"/>
              </a:lnSpc>
              <a:defRPr sz="4000" b="1" i="0">
                <a:solidFill>
                  <a:schemeClr val="accent2"/>
                </a:solidFill>
                <a:latin typeface="Figtree SemiBold" pitchFamily="2" charset="0"/>
              </a:defRPr>
            </a:lvl1pPr>
          </a:lstStyle>
          <a:p>
            <a:r>
              <a:rPr lang="en-US"/>
              <a:t>Click to edit Master title style</a:t>
            </a:r>
          </a:p>
        </p:txBody>
      </p:sp>
    </p:spTree>
    <p:extLst>
      <p:ext uri="{BB962C8B-B14F-4D97-AF65-F5344CB8AC3E}">
        <p14:creationId xmlns:p14="http://schemas.microsoft.com/office/powerpoint/2010/main" val="149130064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E160181-F020-3F03-9EDF-F40CFE13BB0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Tree>
    <p:extLst>
      <p:ext uri="{BB962C8B-B14F-4D97-AF65-F5344CB8AC3E}">
        <p14:creationId xmlns:p14="http://schemas.microsoft.com/office/powerpoint/2010/main" val="68374258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losing Slid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7" name="TextBox 6">
            <a:extLst>
              <a:ext uri="{FF2B5EF4-FFF2-40B4-BE49-F238E27FC236}">
                <a16:creationId xmlns:a16="http://schemas.microsoft.com/office/drawing/2014/main" id="{77674F01-5FF3-D372-A30F-3AA70A84088C}"/>
              </a:ext>
            </a:extLst>
          </p:cNvPr>
          <p:cNvSpPr txBox="1"/>
          <p:nvPr userDrawn="1"/>
        </p:nvSpPr>
        <p:spPr>
          <a:xfrm>
            <a:off x="777607" y="4118432"/>
            <a:ext cx="4456348" cy="1107996"/>
          </a:xfrm>
          <a:prstGeom prst="rect">
            <a:avLst/>
          </a:prstGeom>
          <a:noFill/>
        </p:spPr>
        <p:txBody>
          <a:bodyPr wrap="none" lIns="0" tIns="0" rIns="0" bIns="0" rtlCol="0">
            <a:spAutoFit/>
          </a:bodyPr>
          <a:lstStyle/>
          <a:p>
            <a:r>
              <a:rPr lang="en-US" sz="7200" b="1" i="0" dirty="0">
                <a:solidFill>
                  <a:schemeClr val="bg1"/>
                </a:solidFill>
                <a:latin typeface="Figtree" pitchFamily="2" charset="0"/>
              </a:rPr>
              <a:t>Thank You</a:t>
            </a:r>
          </a:p>
        </p:txBody>
      </p:sp>
      <p:pic>
        <p:nvPicPr>
          <p:cNvPr id="3" name="Picture 2" descr="A white letters on a black background&#10;&#10;AI-generated content may be incorrect.">
            <a:extLst>
              <a:ext uri="{FF2B5EF4-FFF2-40B4-BE49-F238E27FC236}">
                <a16:creationId xmlns:a16="http://schemas.microsoft.com/office/drawing/2014/main" id="{0A19093D-02A8-7AA4-AE7E-3C80E28582E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1850" y="705078"/>
            <a:ext cx="3398627" cy="944553"/>
          </a:xfrm>
          <a:prstGeom prst="rect">
            <a:avLst/>
          </a:prstGeom>
        </p:spPr>
      </p:pic>
    </p:spTree>
    <p:extLst>
      <p:ext uri="{BB962C8B-B14F-4D97-AF65-F5344CB8AC3E}">
        <p14:creationId xmlns:p14="http://schemas.microsoft.com/office/powerpoint/2010/main" val="405600458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pic>
        <p:nvPicPr>
          <p:cNvPr id="8" name="Picture 7">
            <a:extLst>
              <a:ext uri="{FF2B5EF4-FFF2-40B4-BE49-F238E27FC236}">
                <a16:creationId xmlns:a16="http://schemas.microsoft.com/office/drawing/2014/main" id="{6D8A0025-EFEF-20BF-C80C-85AC36F306C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77607" y="637104"/>
            <a:ext cx="1771864" cy="1115869"/>
          </a:xfrm>
          <a:prstGeom prst="rect">
            <a:avLst/>
          </a:prstGeom>
        </p:spPr>
      </p:pic>
      <p:sp>
        <p:nvSpPr>
          <p:cNvPr id="3" name="Title 1">
            <a:extLst>
              <a:ext uri="{FF2B5EF4-FFF2-40B4-BE49-F238E27FC236}">
                <a16:creationId xmlns:a16="http://schemas.microsoft.com/office/drawing/2014/main" id="{BA0A17DC-774F-3210-530A-47E7C3473B84}"/>
              </a:ext>
            </a:extLst>
          </p:cNvPr>
          <p:cNvSpPr>
            <a:spLocks noGrp="1"/>
          </p:cNvSpPr>
          <p:nvPr>
            <p:ph type="title"/>
          </p:nvPr>
        </p:nvSpPr>
        <p:spPr>
          <a:xfrm>
            <a:off x="831850" y="2355742"/>
            <a:ext cx="8017682" cy="2445200"/>
          </a:xfrm>
          <a:prstGeom prst="rect">
            <a:avLst/>
          </a:prstGeom>
        </p:spPr>
        <p:txBody>
          <a:bodyPr lIns="0" tIns="0" rIns="0" bIns="0" anchor="ctr"/>
          <a:lstStyle>
            <a:lvl1pPr>
              <a:lnSpc>
                <a:spcPct val="80000"/>
              </a:lnSpc>
              <a:defRPr sz="6000" b="1" i="0">
                <a:solidFill>
                  <a:schemeClr val="bg1"/>
                </a:solidFill>
                <a:latin typeface="Figtree" pitchFamily="2" charset="0"/>
              </a:defRPr>
            </a:lvl1pPr>
          </a:lstStyle>
          <a:p>
            <a:r>
              <a:rPr lang="en-US"/>
              <a:t>Click to edit Master title style</a:t>
            </a:r>
          </a:p>
        </p:txBody>
      </p:sp>
      <p:sp>
        <p:nvSpPr>
          <p:cNvPr id="5" name="TextBox 4">
            <a:extLst>
              <a:ext uri="{FF2B5EF4-FFF2-40B4-BE49-F238E27FC236}">
                <a16:creationId xmlns:a16="http://schemas.microsoft.com/office/drawing/2014/main" id="{1F48F0EC-82D2-3C68-E213-5327A1828CFA}"/>
              </a:ext>
            </a:extLst>
          </p:cNvPr>
          <p:cNvSpPr txBox="1"/>
          <p:nvPr userDrawn="1"/>
        </p:nvSpPr>
        <p:spPr>
          <a:xfrm>
            <a:off x="831850" y="6492875"/>
            <a:ext cx="461665" cy="153888"/>
          </a:xfrm>
          <a:prstGeom prst="rect">
            <a:avLst/>
          </a:prstGeom>
          <a:noFill/>
        </p:spPr>
        <p:txBody>
          <a:bodyPr wrap="none" lIns="0" tIns="0" rIns="0" bIns="0" rtlCol="0">
            <a:spAutoFit/>
          </a:bodyPr>
          <a:lstStyle/>
          <a:p>
            <a:r>
              <a:rPr lang="en-US" sz="1000" b="1" i="0" dirty="0">
                <a:solidFill>
                  <a:schemeClr val="bg1"/>
                </a:solidFill>
                <a:latin typeface="Figtree SemiBold" pitchFamily="2" charset="0"/>
              </a:rPr>
              <a:t>aiaa.org</a:t>
            </a:r>
          </a:p>
        </p:txBody>
      </p:sp>
      <p:sp>
        <p:nvSpPr>
          <p:cNvPr id="6" name="Text Placeholder 2">
            <a:extLst>
              <a:ext uri="{FF2B5EF4-FFF2-40B4-BE49-F238E27FC236}">
                <a16:creationId xmlns:a16="http://schemas.microsoft.com/office/drawing/2014/main" id="{7BBBDC11-29FC-667E-0F89-DBB03CF05217}"/>
              </a:ext>
            </a:extLst>
          </p:cNvPr>
          <p:cNvSpPr>
            <a:spLocks noGrp="1"/>
          </p:cNvSpPr>
          <p:nvPr>
            <p:ph type="body" idx="1"/>
          </p:nvPr>
        </p:nvSpPr>
        <p:spPr>
          <a:xfrm>
            <a:off x="831850" y="5017002"/>
            <a:ext cx="8017682" cy="497660"/>
          </a:xfrm>
          <a:prstGeom prst="rect">
            <a:avLst/>
          </a:prstGeom>
        </p:spPr>
        <p:txBody>
          <a:bodyPr lIns="0" tIns="0" rIns="0" bIns="0">
            <a:normAutofit/>
          </a:bodyPr>
          <a:lstStyle>
            <a:lvl1pPr marL="0" indent="0">
              <a:buNone/>
              <a:defRPr sz="2000" b="0" i="0">
                <a:solidFill>
                  <a:schemeClr val="bg1"/>
                </a:solidFill>
                <a:latin typeface="Figtree Light"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192773313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secHead" preserve="1">
  <p:cSld name="Divider (Navy)">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6" name="Picture 15" descr="A white logo with a black background&#10;&#10;AI-generated content may be incorrect.">
            <a:extLst>
              <a:ext uri="{FF2B5EF4-FFF2-40B4-BE49-F238E27FC236}">
                <a16:creationId xmlns:a16="http://schemas.microsoft.com/office/drawing/2014/main" id="{0E47ED36-DE2D-02CA-3151-94658797C72C}"/>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40555305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secHead" preserve="1">
  <p:cSld name="Divider (Blue)">
    <p:bg>
      <p:bgPr>
        <a:gradFill>
          <a:gsLst>
            <a:gs pos="0">
              <a:schemeClr val="tx2"/>
            </a:gs>
            <a:gs pos="52000">
              <a:schemeClr val="accent2"/>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73C2AF56-22FA-B24C-961E-DCF6032B059B}"/>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12621343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secHead" preserve="1">
  <p:cSld name="Divider (Plum)">
    <p:bg>
      <p:bgPr>
        <a:gradFill>
          <a:gsLst>
            <a:gs pos="0">
              <a:schemeClr val="accent2"/>
            </a:gs>
            <a:gs pos="60000">
              <a:schemeClr val="accent3"/>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D2903859-44FB-9388-776B-28F8C4D42520}"/>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08418786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secHead" preserve="1">
  <p:cSld name="Divider (Gold)">
    <p:bg>
      <p:bgPr>
        <a:gradFill>
          <a:gsLst>
            <a:gs pos="0">
              <a:schemeClr val="accent6"/>
            </a:gs>
            <a:gs pos="54000">
              <a:schemeClr val="accent4"/>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D7892FEC-EC22-36F7-8617-D9A11538518C}"/>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tx2">
                    <a:lumMod val="50000"/>
                  </a:schemeClr>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tx2">
                    <a:lumMod val="50000"/>
                  </a:schemeClr>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cxnSp>
        <p:nvCxnSpPr>
          <p:cNvPr id="12" name="Straight Connector 11">
            <a:extLst>
              <a:ext uri="{FF2B5EF4-FFF2-40B4-BE49-F238E27FC236}">
                <a16:creationId xmlns:a16="http://schemas.microsoft.com/office/drawing/2014/main" id="{1C7073A5-C96D-7387-F371-CC85F5ECE004}"/>
              </a:ext>
            </a:extLst>
          </p:cNvPr>
          <p:cNvCxnSpPr>
            <a:cxnSpLocks/>
          </p:cNvCxnSpPr>
          <p:nvPr userDrawn="1"/>
        </p:nvCxnSpPr>
        <p:spPr>
          <a:xfrm>
            <a:off x="0" y="6276814"/>
            <a:ext cx="12192000" cy="0"/>
          </a:xfrm>
          <a:prstGeom prst="line">
            <a:avLst/>
          </a:prstGeom>
          <a:ln w="9525">
            <a:solidFill>
              <a:schemeClr val="tx2">
                <a:lumMod val="40000"/>
                <a:lumOff val="60000"/>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643488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secHead" preserve="1">
  <p:cSld name="Divider (Green)">
    <p:bg>
      <p:bgPr>
        <a:gradFill>
          <a:gsLst>
            <a:gs pos="0">
              <a:schemeClr val="accent2"/>
            </a:gs>
            <a:gs pos="54000">
              <a:schemeClr val="accent5"/>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F8558375-69BD-2093-A170-A82E307F81A5}"/>
              </a:ext>
            </a:extLst>
          </p:cNvPr>
          <p:cNvPicPr>
            <a:picLocks noChangeAspect="1"/>
          </p:cNvPicPr>
          <p:nvPr userDrawn="1"/>
        </p:nvPicPr>
        <p:blipFill>
          <a:blip r:embed="rId2" cstate="email">
            <a:alphaModFix amt="8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9675699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secHead" preserve="1">
  <p:cSld name="Divider (Orange)">
    <p:bg>
      <p:bgPr>
        <a:gradFill>
          <a:gsLst>
            <a:gs pos="0">
              <a:schemeClr val="accent3"/>
            </a:gs>
            <a:gs pos="54000">
              <a:schemeClr val="accent6"/>
            </a:gs>
          </a:gsLst>
          <a:lin ang="3600000" scaled="0"/>
        </a:gradFill>
        <a:effectLst/>
      </p:bgPr>
    </p:bg>
    <p:spTree>
      <p:nvGrpSpPr>
        <p:cNvPr id="1" name=""/>
        <p:cNvGrpSpPr/>
        <p:nvPr/>
      </p:nvGrpSpPr>
      <p:grpSpPr>
        <a:xfrm>
          <a:off x="0" y="0"/>
          <a:ext cx="0" cy="0"/>
          <a:chOff x="0" y="0"/>
          <a:chExt cx="0" cy="0"/>
        </a:xfrm>
      </p:grpSpPr>
      <p:pic>
        <p:nvPicPr>
          <p:cNvPr id="5" name="Picture 4" descr="A white logo with a black background&#10;&#10;AI-generated content may be incorrect.">
            <a:extLst>
              <a:ext uri="{FF2B5EF4-FFF2-40B4-BE49-F238E27FC236}">
                <a16:creationId xmlns:a16="http://schemas.microsoft.com/office/drawing/2014/main" id="{04F190B7-3ED6-8872-7F8C-4E5A01527E9A}"/>
              </a:ext>
            </a:extLst>
          </p:cNvPr>
          <p:cNvPicPr>
            <a:picLocks noChangeAspect="1"/>
          </p:cNvPicPr>
          <p:nvPr userDrawn="1"/>
        </p:nvPicPr>
        <p:blipFill>
          <a:blip r:embed="rId2" cstate="email">
            <a:alphaModFix amt="8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4">
            <a:extLst>
              <a:ext uri="{FF2B5EF4-FFF2-40B4-BE49-F238E27FC236}">
                <a16:creationId xmlns:a16="http://schemas.microsoft.com/office/drawing/2014/main" id="{BFCAF999-FEB3-67E0-72A0-500A97154DC0}"/>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408509599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 Content (Dark)">
    <p:bg>
      <p:bgPr>
        <a:solidFill>
          <a:schemeClr val="tx2"/>
        </a:solidFill>
        <a:effectLst/>
      </p:bgPr>
    </p:bg>
    <p:spTree>
      <p:nvGrpSpPr>
        <p:cNvPr id="1" name=""/>
        <p:cNvGrpSpPr/>
        <p:nvPr/>
      </p:nvGrpSpPr>
      <p:grpSpPr>
        <a:xfrm>
          <a:off x="0" y="0"/>
          <a:ext cx="0" cy="0"/>
          <a:chOff x="0" y="0"/>
          <a:chExt cx="0" cy="0"/>
        </a:xfrm>
      </p:grpSpPr>
      <p:pic>
        <p:nvPicPr>
          <p:cNvPr id="4" name="Picture 3" descr="A white logo with a black background&#10;&#10;AI-generated content may be incorrect.">
            <a:extLst>
              <a:ext uri="{FF2B5EF4-FFF2-40B4-BE49-F238E27FC236}">
                <a16:creationId xmlns:a16="http://schemas.microsoft.com/office/drawing/2014/main" id="{6009C2D0-8476-5C7C-3698-64F13A93B821}"/>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1800" b="0" i="0">
                <a:solidFill>
                  <a:schemeClr val="bg1"/>
                </a:solidFill>
                <a:latin typeface="Figtree" pitchFamily="2" charset="0"/>
              </a:defRPr>
            </a:lvl1pPr>
            <a:lvl2pPr marL="742950" indent="-285750">
              <a:buFont typeface="Arial" panose="020B0604020202020204" pitchFamily="34" charset="0"/>
              <a:buChar char="•"/>
              <a:defRPr sz="1800" b="0" i="0">
                <a:solidFill>
                  <a:schemeClr val="bg1"/>
                </a:solidFill>
                <a:latin typeface="Figtree" pitchFamily="2" charset="0"/>
              </a:defRPr>
            </a:lvl2pPr>
            <a:lvl3pPr marL="1200150" indent="-285750">
              <a:buFont typeface="Arial" panose="020B0604020202020204" pitchFamily="34" charset="0"/>
              <a:buChar char="•"/>
              <a:defRPr sz="1800" b="0" i="0">
                <a:solidFill>
                  <a:schemeClr val="bg1"/>
                </a:solidFill>
                <a:latin typeface="Figtree" pitchFamily="2" charset="0"/>
              </a:defRPr>
            </a:lvl3pPr>
            <a:lvl4pPr marL="1657350" indent="-285750">
              <a:buFont typeface="Arial" panose="020B0604020202020204" pitchFamily="34" charset="0"/>
              <a:buChar char="•"/>
              <a:defRPr sz="1800" b="0" i="0">
                <a:solidFill>
                  <a:schemeClr val="bg1"/>
                </a:solidFill>
                <a:latin typeface="Figtree" pitchFamily="2" charset="0"/>
              </a:defRPr>
            </a:lvl4pPr>
            <a:lvl5pPr marL="2114550" indent="-285750">
              <a:buFont typeface="Arial" panose="020B0604020202020204" pitchFamily="34" charset="0"/>
              <a:buChar char="•"/>
              <a:defRPr sz="1800" b="0" i="0">
                <a:solidFill>
                  <a:schemeClr val="bg1"/>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577234615"/>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ext + Image Blue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3" name="Freeform 2">
            <a:extLst>
              <a:ext uri="{FF2B5EF4-FFF2-40B4-BE49-F238E27FC236}">
                <a16:creationId xmlns:a16="http://schemas.microsoft.com/office/drawing/2014/main" id="{ABE42761-35EA-CA25-0900-63712C3225FA}"/>
              </a:ext>
            </a:extLst>
          </p:cNvPr>
          <p:cNvSpPr/>
          <p:nvPr userDrawn="1"/>
        </p:nvSpPr>
        <p:spPr>
          <a:xfrm>
            <a:off x="4830121" y="-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145991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ext + Image Plum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Freeform 4">
            <a:extLst>
              <a:ext uri="{FF2B5EF4-FFF2-40B4-BE49-F238E27FC236}">
                <a16:creationId xmlns:a16="http://schemas.microsoft.com/office/drawing/2014/main" id="{5673909B-51BC-79F1-247B-509034849961}"/>
              </a:ext>
            </a:extLst>
          </p:cNvPr>
          <p:cNvSpPr/>
          <p:nvPr userDrawn="1"/>
        </p:nvSpPr>
        <p:spPr>
          <a:xfrm>
            <a:off x="4830121" y="-862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4668540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ext + Image Gold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Freeform 5">
            <a:extLst>
              <a:ext uri="{FF2B5EF4-FFF2-40B4-BE49-F238E27FC236}">
                <a16:creationId xmlns:a16="http://schemas.microsoft.com/office/drawing/2014/main" id="{2FFD7DA3-43D8-D09F-83E0-0AEAB25439B7}"/>
              </a:ext>
            </a:extLst>
          </p:cNvPr>
          <p:cNvSpPr/>
          <p:nvPr userDrawn="1"/>
        </p:nvSpPr>
        <p:spPr>
          <a:xfrm>
            <a:off x="4830121" y="-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2566899"/>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ext + Image Green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FC5B0D56-4627-AC4F-11C1-0BC865D7A1E5}"/>
              </a:ext>
            </a:extLst>
          </p:cNvPr>
          <p:cNvSpPr/>
          <p:nvPr userDrawn="1"/>
        </p:nvSpPr>
        <p:spPr>
          <a:xfrm>
            <a:off x="4830121" y="-5"/>
            <a:ext cx="3566904"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3507059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ext + Image Gold (Orange)">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8CECBD81-6D94-EBB2-5099-28510DA055F7}"/>
              </a:ext>
            </a:extLst>
          </p:cNvPr>
          <p:cNvSpPr/>
          <p:nvPr userDrawn="1"/>
        </p:nvSpPr>
        <p:spPr>
          <a:xfrm>
            <a:off x="4830121" y="-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5697245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Special Visual 1">
    <p:bg>
      <p:bgPr>
        <a:solidFill>
          <a:schemeClr val="tx2"/>
        </a:solidFill>
        <a:effectLst/>
      </p:bgPr>
    </p:bg>
    <p:spTree>
      <p:nvGrpSpPr>
        <p:cNvPr id="1" name=""/>
        <p:cNvGrpSpPr/>
        <p:nvPr/>
      </p:nvGrpSpPr>
      <p:grpSpPr>
        <a:xfrm>
          <a:off x="0" y="0"/>
          <a:ext cx="0" cy="0"/>
          <a:chOff x="0" y="0"/>
          <a:chExt cx="0" cy="0"/>
        </a:xfrm>
      </p:grpSpPr>
      <p:pic>
        <p:nvPicPr>
          <p:cNvPr id="9" name="Picture 8" descr="A spiral galaxy in space&#10;&#10;AI-generated content may be incorrect.">
            <a:extLst>
              <a:ext uri="{FF2B5EF4-FFF2-40B4-BE49-F238E27FC236}">
                <a16:creationId xmlns:a16="http://schemas.microsoft.com/office/drawing/2014/main" id="{B4257FEA-E4BB-4184-2551-6E913CF483E4}"/>
              </a:ext>
            </a:extLst>
          </p:cNvPr>
          <p:cNvPicPr>
            <a:picLocks noChangeAspect="1"/>
          </p:cNvPicPr>
          <p:nvPr userDrawn="1"/>
        </p:nvPicPr>
        <p:blipFill>
          <a:blip r:embed="rId2" cstate="email">
            <a:alphaModFix amt="30000"/>
            <a:extLst>
              <a:ext uri="{28A0092B-C50C-407E-A947-70E740481C1C}">
                <a14:useLocalDpi xmlns:a14="http://schemas.microsoft.com/office/drawing/2010/main"/>
              </a:ext>
            </a:extLst>
          </a:blip>
          <a:srcRect/>
          <a:stretch/>
        </p:blipFill>
        <p:spPr>
          <a:xfrm>
            <a:off x="-1" y="-2"/>
            <a:ext cx="12192001"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11" name="Title 1">
            <a:extLst>
              <a:ext uri="{FF2B5EF4-FFF2-40B4-BE49-F238E27FC236}">
                <a16:creationId xmlns:a16="http://schemas.microsoft.com/office/drawing/2014/main" id="{097A2759-5262-98FC-2BA1-75A1A11F3C9B}"/>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12" name="Content Placeholder 2">
            <a:extLst>
              <a:ext uri="{FF2B5EF4-FFF2-40B4-BE49-F238E27FC236}">
                <a16:creationId xmlns:a16="http://schemas.microsoft.com/office/drawing/2014/main" id="{A4013314-73E8-EBCE-C957-B401AB4F5C75}"/>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50" indent="-285750">
              <a:buFont typeface="Arial" panose="020B0604020202020204" pitchFamily="34" charset="0"/>
              <a:buChar char="•"/>
              <a:defRPr sz="2400" b="0" i="0">
                <a:solidFill>
                  <a:schemeClr val="bg1"/>
                </a:solidFill>
                <a:latin typeface="Figtree" pitchFamily="2" charset="0"/>
              </a:defRPr>
            </a:lvl2pPr>
            <a:lvl3pPr marL="1200150" indent="-285750">
              <a:buFont typeface="Arial" panose="020B0604020202020204" pitchFamily="34" charset="0"/>
              <a:buChar char="•"/>
              <a:defRPr sz="2400" b="0" i="0">
                <a:solidFill>
                  <a:schemeClr val="bg1"/>
                </a:solidFill>
                <a:latin typeface="Figtree" pitchFamily="2" charset="0"/>
              </a:defRPr>
            </a:lvl3pPr>
            <a:lvl4pPr marL="1657350" indent="-285750">
              <a:buFont typeface="Arial" panose="020B0604020202020204" pitchFamily="34" charset="0"/>
              <a:buChar char="•"/>
              <a:defRPr sz="2400" b="0" i="0">
                <a:solidFill>
                  <a:schemeClr val="bg1"/>
                </a:solidFill>
                <a:latin typeface="Figtree" pitchFamily="2" charset="0"/>
              </a:defRPr>
            </a:lvl4pPr>
            <a:lvl5pPr marL="2114550" indent="-285750">
              <a:buFont typeface="Arial" panose="020B0604020202020204" pitchFamily="34" charset="0"/>
              <a:buChar char="•"/>
              <a:defRPr sz="2400" b="0" i="0">
                <a:solidFill>
                  <a:schemeClr val="bg1"/>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5186400"/>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Special Visual 2">
    <p:bg>
      <p:bgPr>
        <a:solidFill>
          <a:schemeClr val="tx2"/>
        </a:solidFill>
        <a:effectLst/>
      </p:bgPr>
    </p:bg>
    <p:spTree>
      <p:nvGrpSpPr>
        <p:cNvPr id="1" name=""/>
        <p:cNvGrpSpPr/>
        <p:nvPr/>
      </p:nvGrpSpPr>
      <p:grpSpPr>
        <a:xfrm>
          <a:off x="0" y="0"/>
          <a:ext cx="0" cy="0"/>
          <a:chOff x="0" y="0"/>
          <a:chExt cx="0" cy="0"/>
        </a:xfrm>
      </p:grpSpPr>
      <p:pic>
        <p:nvPicPr>
          <p:cNvPr id="11" name="Picture 10" descr="A blue sky with stars&#10;&#10;AI-generated content may be incorrect.">
            <a:extLst>
              <a:ext uri="{FF2B5EF4-FFF2-40B4-BE49-F238E27FC236}">
                <a16:creationId xmlns:a16="http://schemas.microsoft.com/office/drawing/2014/main" id="{58E6D3C4-DD7C-11D1-CC5C-C7C19C2E03FC}"/>
              </a:ext>
            </a:extLst>
          </p:cNvPr>
          <p:cNvPicPr>
            <a:picLocks noChangeAspect="1"/>
          </p:cNvPicPr>
          <p:nvPr userDrawn="1"/>
        </p:nvPicPr>
        <p:blipFill>
          <a:blip r:embed="rId2" cstate="email">
            <a:alphaModFix amt="40000"/>
            <a:extLst>
              <a:ext uri="{28A0092B-C50C-407E-A947-70E740481C1C}">
                <a14:useLocalDpi xmlns:a14="http://schemas.microsoft.com/office/drawing/2010/main"/>
              </a:ext>
            </a:extLst>
          </a:blip>
          <a:srcRect/>
          <a:stretch/>
        </p:blipFill>
        <p:spPr>
          <a:xfrm>
            <a:off x="0" y="-1"/>
            <a:ext cx="12165488"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BB4B291A-88AF-2996-D687-D14BAEE37C8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12" name="Title 1">
            <a:extLst>
              <a:ext uri="{FF2B5EF4-FFF2-40B4-BE49-F238E27FC236}">
                <a16:creationId xmlns:a16="http://schemas.microsoft.com/office/drawing/2014/main" id="{00752B1A-76E1-75DA-9E43-9F36E6609A77}"/>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13" name="Content Placeholder 2">
            <a:extLst>
              <a:ext uri="{FF2B5EF4-FFF2-40B4-BE49-F238E27FC236}">
                <a16:creationId xmlns:a16="http://schemas.microsoft.com/office/drawing/2014/main" id="{CA605919-F812-D6B7-6733-93A21095D65A}"/>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50" indent="-285750">
              <a:buFont typeface="Arial" panose="020B0604020202020204" pitchFamily="34" charset="0"/>
              <a:buChar char="•"/>
              <a:defRPr sz="2400" b="0" i="0">
                <a:solidFill>
                  <a:schemeClr val="bg1"/>
                </a:solidFill>
                <a:latin typeface="Figtree" pitchFamily="2" charset="0"/>
              </a:defRPr>
            </a:lvl2pPr>
            <a:lvl3pPr marL="1200150" indent="-285750">
              <a:buFont typeface="Arial" panose="020B0604020202020204" pitchFamily="34" charset="0"/>
              <a:buChar char="•"/>
              <a:defRPr sz="2400" b="0" i="0">
                <a:solidFill>
                  <a:schemeClr val="bg1"/>
                </a:solidFill>
                <a:latin typeface="Figtree" pitchFamily="2" charset="0"/>
              </a:defRPr>
            </a:lvl3pPr>
            <a:lvl4pPr marL="1657350" indent="-285750">
              <a:buFont typeface="Arial" panose="020B0604020202020204" pitchFamily="34" charset="0"/>
              <a:buChar char="•"/>
              <a:defRPr sz="2400" b="0" i="0">
                <a:solidFill>
                  <a:schemeClr val="bg1"/>
                </a:solidFill>
                <a:latin typeface="Figtree" pitchFamily="2" charset="0"/>
              </a:defRPr>
            </a:lvl4pPr>
            <a:lvl5pPr marL="2114550" indent="-285750">
              <a:buFont typeface="Arial" panose="020B0604020202020204" pitchFamily="34" charset="0"/>
              <a:buChar char="•"/>
              <a:defRPr sz="2400" b="0" i="0">
                <a:solidFill>
                  <a:schemeClr val="bg1"/>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1000669"/>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Special Visual 3">
    <p:bg>
      <p:bgPr>
        <a:solidFill>
          <a:schemeClr val="tx2"/>
        </a:solidFill>
        <a:effectLst/>
      </p:bgPr>
    </p:bg>
    <p:spTree>
      <p:nvGrpSpPr>
        <p:cNvPr id="1" name=""/>
        <p:cNvGrpSpPr/>
        <p:nvPr/>
      </p:nvGrpSpPr>
      <p:grpSpPr>
        <a:xfrm>
          <a:off x="0" y="0"/>
          <a:ext cx="0" cy="0"/>
          <a:chOff x="0" y="0"/>
          <a:chExt cx="0" cy="0"/>
        </a:xfrm>
      </p:grpSpPr>
      <p:pic>
        <p:nvPicPr>
          <p:cNvPr id="9" name="Picture 8" descr="An astronaut floating in space&#10;&#10;AI-generated content may be incorrect.">
            <a:extLst>
              <a:ext uri="{FF2B5EF4-FFF2-40B4-BE49-F238E27FC236}">
                <a16:creationId xmlns:a16="http://schemas.microsoft.com/office/drawing/2014/main" id="{9DA1DE89-B1B4-0B78-BA7D-98605CF2B49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229483" y="-1"/>
            <a:ext cx="6962517" cy="6858001"/>
          </a:xfrm>
          <a:prstGeom prst="rect">
            <a:avLst/>
          </a:prstGeom>
        </p:spPr>
      </p:pic>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BB4B291A-88AF-2996-D687-D14BAEE37C8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04752991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Special Visual 4">
    <p:bg>
      <p:bgPr>
        <a:solidFill>
          <a:schemeClr val="tx2"/>
        </a:solidFill>
        <a:effectLst/>
      </p:bgPr>
    </p:bg>
    <p:spTree>
      <p:nvGrpSpPr>
        <p:cNvPr id="1" name=""/>
        <p:cNvGrpSpPr/>
        <p:nvPr/>
      </p:nvGrpSpPr>
      <p:grpSpPr>
        <a:xfrm>
          <a:off x="0" y="0"/>
          <a:ext cx="0" cy="0"/>
          <a:chOff x="0" y="0"/>
          <a:chExt cx="0" cy="0"/>
        </a:xfrm>
      </p:grpSpPr>
      <p:pic>
        <p:nvPicPr>
          <p:cNvPr id="11" name="Picture 10" descr="A blue planet with a bright light&#10;&#10;AI-generated content may be incorrect.">
            <a:extLst>
              <a:ext uri="{FF2B5EF4-FFF2-40B4-BE49-F238E27FC236}">
                <a16:creationId xmlns:a16="http://schemas.microsoft.com/office/drawing/2014/main" id="{5928C9F9-2416-28F6-1432-DDAFD45C885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317712" y="-1"/>
            <a:ext cx="6874288" cy="6853357"/>
          </a:xfrm>
          <a:prstGeom prst="rect">
            <a:avLst/>
          </a:prstGeom>
        </p:spPr>
      </p:pic>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BB4B291A-88AF-2996-D687-D14BAEE37C8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2537443792"/>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728F9DD8-18B8-E17F-4A81-93C4DD686CEB}"/>
              </a:ext>
            </a:extLst>
          </p:cNvPr>
          <p:cNvSpPr>
            <a:spLocks noGrp="1"/>
          </p:cNvSpPr>
          <p:nvPr>
            <p:ph type="title"/>
          </p:nvPr>
        </p:nvSpPr>
        <p:spPr>
          <a:xfrm>
            <a:off x="343597" y="365125"/>
            <a:ext cx="11491993" cy="1207953"/>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2" name="Footer Placeholder 4">
            <a:extLst>
              <a:ext uri="{FF2B5EF4-FFF2-40B4-BE49-F238E27FC236}">
                <a16:creationId xmlns:a16="http://schemas.microsoft.com/office/drawing/2014/main" id="{74E2FE70-C1DA-31EB-EEA3-F73AC1A92AD3}"/>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3" name="Slide Number Placeholder 5">
            <a:extLst>
              <a:ext uri="{FF2B5EF4-FFF2-40B4-BE49-F238E27FC236}">
                <a16:creationId xmlns:a16="http://schemas.microsoft.com/office/drawing/2014/main" id="{FF8F2ECD-EA50-2550-0B02-4B2C953442E4}"/>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4" name="Picture 3">
            <a:extLst>
              <a:ext uri="{FF2B5EF4-FFF2-40B4-BE49-F238E27FC236}">
                <a16:creationId xmlns:a16="http://schemas.microsoft.com/office/drawing/2014/main" id="{2153AC61-82C3-E5FF-66C1-161CB2EFC3C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29640820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Footer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Footer Placeholder 4">
            <a:extLst>
              <a:ext uri="{FF2B5EF4-FFF2-40B4-BE49-F238E27FC236}">
                <a16:creationId xmlns:a16="http://schemas.microsoft.com/office/drawing/2014/main" id="{4824F201-E457-E817-0DA2-9E61ACCA72D4}"/>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3" name="Slide Number Placeholder 5">
            <a:extLst>
              <a:ext uri="{FF2B5EF4-FFF2-40B4-BE49-F238E27FC236}">
                <a16:creationId xmlns:a16="http://schemas.microsoft.com/office/drawing/2014/main" id="{9EDE1051-0FED-5451-0D36-8DE7C56B7287}"/>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pic>
        <p:nvPicPr>
          <p:cNvPr id="4" name="Picture 3">
            <a:extLst>
              <a:ext uri="{FF2B5EF4-FFF2-40B4-BE49-F238E27FC236}">
                <a16:creationId xmlns:a16="http://schemas.microsoft.com/office/drawing/2014/main" id="{C595D178-B3AE-EA2C-9A08-EB6D085096F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152956402"/>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Blank (Dark)">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57723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Pull Quote Blu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9" name="Footer Placeholder 4">
            <a:extLst>
              <a:ext uri="{FF2B5EF4-FFF2-40B4-BE49-F238E27FC236}">
                <a16:creationId xmlns:a16="http://schemas.microsoft.com/office/drawing/2014/main" id="{09FD9171-277F-DDF9-1325-B01478A3416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10" name="Slide Number Placeholder 5">
            <a:extLst>
              <a:ext uri="{FF2B5EF4-FFF2-40B4-BE49-F238E27FC236}">
                <a16:creationId xmlns:a16="http://schemas.microsoft.com/office/drawing/2014/main" id="{7F502D63-98F2-0192-9694-5687D8D05AD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11" name="Straight Connector 10">
            <a:extLst>
              <a:ext uri="{FF2B5EF4-FFF2-40B4-BE49-F238E27FC236}">
                <a16:creationId xmlns:a16="http://schemas.microsoft.com/office/drawing/2014/main" id="{80622538-DB89-0185-9E98-C8D31813769B}"/>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F0FF596D-CC26-E4B0-EC5C-182E1E7E40D3}"/>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771627432"/>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Pull Quote Plum">
    <p:bg>
      <p:bgPr>
        <a:gradFill>
          <a:gsLst>
            <a:gs pos="0">
              <a:schemeClr val="accent2"/>
            </a:gs>
            <a:gs pos="54000">
              <a:schemeClr val="accent3"/>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04622215-CDBD-8F81-E9EA-A31736F272E0}"/>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FE1CE688-D74E-8D3C-C8FB-273D204479BC}"/>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56F17F2-AAEF-FEEE-FEB8-8DF375D781F2}"/>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BE6E5B02-D478-7B84-9936-C8A086849FBA}"/>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2678096963"/>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Pull Quote Gold">
    <p:bg>
      <p:bgPr>
        <a:gradFill>
          <a:gsLst>
            <a:gs pos="0">
              <a:schemeClr val="accent6"/>
            </a:gs>
            <a:gs pos="54000">
              <a:schemeClr val="accent4"/>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10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05A297F6-6D91-6866-9EAE-725714B7E546}"/>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EEFF9B6A-2657-DE51-519D-1E20B3FDA186}"/>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8AD89207-345D-F496-AF0B-592807269139}"/>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07A89A59-A76B-D96F-9CE2-1086D4C06B3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127114255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Pull Quote Green">
    <p:bg>
      <p:bgPr>
        <a:gradFill>
          <a:gsLst>
            <a:gs pos="0">
              <a:schemeClr val="accent2"/>
            </a:gs>
            <a:gs pos="54000">
              <a:schemeClr val="accent5"/>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09E71E1C-E08F-F30E-182A-6072F71D2C0E}"/>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1507A87D-5CC5-BF86-C0AA-3E1DDCEA194D}"/>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6BBC947-4C17-284C-CC69-494D42DEE5CC}"/>
              </a:ext>
            </a:extLst>
          </p:cNvPr>
          <p:cNvCxnSpPr>
            <a:cxnSpLocks/>
          </p:cNvCxnSpPr>
          <p:nvPr userDrawn="1"/>
        </p:nvCxnSpPr>
        <p:spPr>
          <a:xfrm>
            <a:off x="11491993" y="6454130"/>
            <a:ext cx="0" cy="2286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87BA6484-6E55-DD5F-9E5D-1E9FEF47CF2F}"/>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188154124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Pull Quote Orange">
    <p:bg>
      <p:bgPr>
        <a:gradFill>
          <a:gsLst>
            <a:gs pos="0">
              <a:schemeClr val="accent3"/>
            </a:gs>
            <a:gs pos="54000">
              <a:schemeClr val="accent6"/>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3" name="Footer Placeholder 4">
            <a:extLst>
              <a:ext uri="{FF2B5EF4-FFF2-40B4-BE49-F238E27FC236}">
                <a16:creationId xmlns:a16="http://schemas.microsoft.com/office/drawing/2014/main" id="{894F4E8A-4281-3DD1-D18E-F1D01CE48840}"/>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endParaRPr lang="en-US" dirty="0"/>
          </a:p>
        </p:txBody>
      </p:sp>
      <p:sp>
        <p:nvSpPr>
          <p:cNvPr id="5" name="Slide Number Placeholder 5">
            <a:extLst>
              <a:ext uri="{FF2B5EF4-FFF2-40B4-BE49-F238E27FC236}">
                <a16:creationId xmlns:a16="http://schemas.microsoft.com/office/drawing/2014/main" id="{0260A482-67B1-88FD-50A7-98D6A2DC1F3F}"/>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cxnSp>
        <p:nvCxnSpPr>
          <p:cNvPr id="6" name="Straight Connector 5">
            <a:extLst>
              <a:ext uri="{FF2B5EF4-FFF2-40B4-BE49-F238E27FC236}">
                <a16:creationId xmlns:a16="http://schemas.microsoft.com/office/drawing/2014/main" id="{F7334E67-BF46-822A-CDA7-B19153C5567B}"/>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97922417-E2C6-1B89-E477-CE2A211BCE6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260784697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DF5FA7B-72FB-B64A-A69A-D4755A185809}"/>
              </a:ext>
            </a:extLst>
          </p:cNvPr>
          <p:cNvPicPr>
            <a:picLocks noChangeAspect="1"/>
          </p:cNvPicPr>
          <p:nvPr userDrawn="1"/>
        </p:nvPicPr>
        <p:blipFill>
          <a:blip r:embed="rId2" cstate="email">
            <a:alphaModFix amt="6000"/>
            <a:extLst>
              <a:ext uri="{28A0092B-C50C-407E-A947-70E740481C1C}">
                <a14:useLocalDpi xmlns:a14="http://schemas.microsoft.com/office/drawing/2010/main"/>
              </a:ext>
            </a:extLst>
          </a:blip>
          <a:srcRect t="-132"/>
          <a:stretch/>
        </p:blipFill>
        <p:spPr>
          <a:xfrm>
            <a:off x="5897660" y="1502250"/>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1800" b="0" i="0">
                <a:solidFill>
                  <a:schemeClr val="tx2"/>
                </a:solidFill>
                <a:latin typeface="Figtree" pitchFamily="2" charset="0"/>
              </a:defRPr>
            </a:lvl1pPr>
            <a:lvl2pPr marL="742950" indent="-285750">
              <a:buFont typeface="Arial" panose="020B0604020202020204" pitchFamily="34" charset="0"/>
              <a:buChar char="•"/>
              <a:defRPr sz="1800" b="0" i="0">
                <a:solidFill>
                  <a:schemeClr val="tx2"/>
                </a:solidFill>
                <a:latin typeface="Figtree" pitchFamily="2" charset="0"/>
              </a:defRPr>
            </a:lvl2pPr>
            <a:lvl3pPr marL="1200150" indent="-285750">
              <a:buFont typeface="Arial" panose="020B0604020202020204" pitchFamily="34" charset="0"/>
              <a:buChar char="•"/>
              <a:defRPr sz="1800" b="0" i="0">
                <a:solidFill>
                  <a:schemeClr val="tx2"/>
                </a:solidFill>
                <a:latin typeface="Figtree" pitchFamily="2" charset="0"/>
              </a:defRPr>
            </a:lvl3pPr>
            <a:lvl4pPr marL="1657350" indent="-285750">
              <a:buFont typeface="Arial" panose="020B0604020202020204" pitchFamily="34" charset="0"/>
              <a:buChar char="•"/>
              <a:defRPr sz="1800" b="0" i="0">
                <a:solidFill>
                  <a:schemeClr val="tx2"/>
                </a:solidFill>
                <a:latin typeface="Figtree" pitchFamily="2" charset="0"/>
              </a:defRPr>
            </a:lvl4pPr>
            <a:lvl5pPr marL="2114550" indent="-285750">
              <a:buFont typeface="Arial" panose="020B0604020202020204" pitchFamily="34" charset="0"/>
              <a:buChar char="•"/>
              <a:defRPr sz="1800" b="0" i="0">
                <a:solidFill>
                  <a:schemeClr val="tx2"/>
                </a:solidFill>
                <a:latin typeface="Figtree" pitchFamily="2" charset="0"/>
              </a:defRPr>
            </a:lvl5pPr>
          </a:lstStyle>
          <a:p>
            <a:pPr lvl="0"/>
            <a:r>
              <a:rPr lang="en-US" err="1"/>
              <a:t>Click</a:t>
            </a:r>
            <a:r>
              <a:rPr lang="en-US"/>
              <a:t>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6F355BC-998E-5A09-3C72-65E885D3B876}"/>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descr="A blue and black logo&#10;&#10;AI-generated content may be incorrect.">
            <a:extLst>
              <a:ext uri="{FF2B5EF4-FFF2-40B4-BE49-F238E27FC236}">
                <a16:creationId xmlns:a16="http://schemas.microsoft.com/office/drawing/2014/main" id="{94F72188-A0A9-5F3A-CF20-6B8F5FE585F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Tree>
    <p:extLst>
      <p:ext uri="{BB962C8B-B14F-4D97-AF65-F5344CB8AC3E}">
        <p14:creationId xmlns:p14="http://schemas.microsoft.com/office/powerpoint/2010/main" val="381235787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ext + Image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5800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17" name="Freeform 16">
            <a:extLst>
              <a:ext uri="{FF2B5EF4-FFF2-40B4-BE49-F238E27FC236}">
                <a16:creationId xmlns:a16="http://schemas.microsoft.com/office/drawing/2014/main" id="{43C4FB2F-E7D0-EBC7-4DDB-6CC86298818F}"/>
              </a:ext>
            </a:extLst>
          </p:cNvPr>
          <p:cNvSpPr/>
          <p:nvPr userDrawn="1"/>
        </p:nvSpPr>
        <p:spPr>
          <a:xfrm>
            <a:off x="4809511" y="-5"/>
            <a:ext cx="3605100"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98969976"/>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ext + Image Pl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57996"/>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3" name="Freeform 2">
            <a:extLst>
              <a:ext uri="{FF2B5EF4-FFF2-40B4-BE49-F238E27FC236}">
                <a16:creationId xmlns:a16="http://schemas.microsoft.com/office/drawing/2014/main" id="{63078809-296D-371D-64D3-36C8022650B2}"/>
              </a:ext>
            </a:extLst>
          </p:cNvPr>
          <p:cNvSpPr/>
          <p:nvPr userDrawn="1"/>
        </p:nvSpPr>
        <p:spPr>
          <a:xfrm>
            <a:off x="4847709" y="-5"/>
            <a:ext cx="3566902" cy="6858001"/>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5000">
                <a:schemeClr val="accent3"/>
              </a:gs>
              <a:gs pos="8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75810485"/>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ext + Image G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5" name="Freeform 4">
            <a:extLst>
              <a:ext uri="{FF2B5EF4-FFF2-40B4-BE49-F238E27FC236}">
                <a16:creationId xmlns:a16="http://schemas.microsoft.com/office/drawing/2014/main" id="{F06610B9-8C48-9789-3124-8DB88AA039B6}"/>
              </a:ext>
            </a:extLst>
          </p:cNvPr>
          <p:cNvSpPr/>
          <p:nvPr userDrawn="1"/>
        </p:nvSpPr>
        <p:spPr>
          <a:xfrm>
            <a:off x="4855811" y="-5"/>
            <a:ext cx="35588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52000">
                <a:schemeClr val="accent4"/>
              </a:gs>
              <a:gs pos="90000">
                <a:schemeClr val="accent6"/>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92214284"/>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ext + Image Gree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13820" y="0"/>
            <a:ext cx="6891342" cy="6868957"/>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3" name="Freeform 2">
            <a:extLst>
              <a:ext uri="{FF2B5EF4-FFF2-40B4-BE49-F238E27FC236}">
                <a16:creationId xmlns:a16="http://schemas.microsoft.com/office/drawing/2014/main" id="{CB73E4F5-5916-13A5-64C5-8C77558117BD}"/>
              </a:ext>
            </a:extLst>
          </p:cNvPr>
          <p:cNvSpPr/>
          <p:nvPr userDrawn="1"/>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4000">
                <a:schemeClr val="accent5"/>
              </a:gs>
              <a:gs pos="81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4518999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ext + Image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68952"/>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5" name="Freeform 4">
            <a:extLst>
              <a:ext uri="{FF2B5EF4-FFF2-40B4-BE49-F238E27FC236}">
                <a16:creationId xmlns:a16="http://schemas.microsoft.com/office/drawing/2014/main" id="{CFD3A720-686E-513F-0664-2531C8B0201E}"/>
              </a:ext>
            </a:extLst>
          </p:cNvPr>
          <p:cNvSpPr/>
          <p:nvPr userDrawn="1"/>
        </p:nvSpPr>
        <p:spPr>
          <a:xfrm>
            <a:off x="4809511" y="-5"/>
            <a:ext cx="3605100" cy="6868957"/>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6"/>
              </a:gs>
              <a:gs pos="87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4598862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E160181-F020-3F03-9EDF-F40CFE13BB0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12" name="Title 1">
            <a:extLst>
              <a:ext uri="{FF2B5EF4-FFF2-40B4-BE49-F238E27FC236}">
                <a16:creationId xmlns:a16="http://schemas.microsoft.com/office/drawing/2014/main" id="{728F9DD8-18B8-E17F-4A81-93C4DD686CEB}"/>
              </a:ext>
            </a:extLst>
          </p:cNvPr>
          <p:cNvSpPr>
            <a:spLocks noGrp="1"/>
          </p:cNvSpPr>
          <p:nvPr>
            <p:ph type="title"/>
          </p:nvPr>
        </p:nvSpPr>
        <p:spPr>
          <a:xfrm>
            <a:off x="343597" y="365125"/>
            <a:ext cx="11491993" cy="1207953"/>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Tree>
    <p:extLst>
      <p:ext uri="{BB962C8B-B14F-4D97-AF65-F5344CB8AC3E}">
        <p14:creationId xmlns:p14="http://schemas.microsoft.com/office/powerpoint/2010/main" val="396899261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E160181-F020-3F03-9EDF-F40CFE13BB0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endParaRPr lang="en-US" dirty="0"/>
          </a:p>
        </p:txBody>
      </p:sp>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fld id="{8FBCB428-D880-FC4A-9B26-64132A65A030}" type="slidenum">
              <a:rPr lang="en-US" smtClean="0"/>
              <a:pPr/>
              <a:t>‹#›</a:t>
            </a:fld>
            <a:endParaRPr lang="en-US" dirty="0"/>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Tree>
    <p:extLst>
      <p:ext uri="{BB962C8B-B14F-4D97-AF65-F5344CB8AC3E}">
        <p14:creationId xmlns:p14="http://schemas.microsoft.com/office/powerpoint/2010/main" val="149339017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4172457"/>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losing Slid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email">
            <a:alphaModFix amt="5000"/>
            <a:extLst>
              <a:ext uri="{28A0092B-C50C-407E-A947-70E740481C1C}">
                <a14:useLocalDpi xmlns:a14="http://schemas.microsoft.com/office/drawing/2010/main"/>
              </a:ext>
            </a:extLst>
          </a:blip>
          <a:srcRect/>
          <a:stretch/>
        </p:blipFill>
        <p:spPr>
          <a:xfrm>
            <a:off x="5897660" y="1509339"/>
            <a:ext cx="6294340" cy="5348660"/>
          </a:xfrm>
          <a:prstGeom prst="rect">
            <a:avLst/>
          </a:prstGeom>
        </p:spPr>
      </p:pic>
      <p:pic>
        <p:nvPicPr>
          <p:cNvPr id="8" name="Picture 7">
            <a:extLst>
              <a:ext uri="{FF2B5EF4-FFF2-40B4-BE49-F238E27FC236}">
                <a16:creationId xmlns:a16="http://schemas.microsoft.com/office/drawing/2014/main" id="{6D8A0025-EFEF-20BF-C80C-85AC36F306C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77607" y="637104"/>
            <a:ext cx="1771864" cy="1115869"/>
          </a:xfrm>
          <a:prstGeom prst="rect">
            <a:avLst/>
          </a:prstGeom>
        </p:spPr>
      </p:pic>
      <p:sp>
        <p:nvSpPr>
          <p:cNvPr id="5" name="TextBox 4">
            <a:extLst>
              <a:ext uri="{FF2B5EF4-FFF2-40B4-BE49-F238E27FC236}">
                <a16:creationId xmlns:a16="http://schemas.microsoft.com/office/drawing/2014/main" id="{1F48F0EC-82D2-3C68-E213-5327A1828CFA}"/>
              </a:ext>
            </a:extLst>
          </p:cNvPr>
          <p:cNvSpPr txBox="1"/>
          <p:nvPr userDrawn="1"/>
        </p:nvSpPr>
        <p:spPr>
          <a:xfrm>
            <a:off x="831850" y="6492875"/>
            <a:ext cx="461665" cy="153888"/>
          </a:xfrm>
          <a:prstGeom prst="rect">
            <a:avLst/>
          </a:prstGeom>
          <a:noFill/>
        </p:spPr>
        <p:txBody>
          <a:bodyPr wrap="none" lIns="0" tIns="0" rIns="0" bIns="0" rtlCol="0">
            <a:spAutoFit/>
          </a:bodyPr>
          <a:lstStyle/>
          <a:p>
            <a:r>
              <a:rPr lang="en-US" sz="1000" b="1" i="0" dirty="0">
                <a:solidFill>
                  <a:schemeClr val="bg1"/>
                </a:solidFill>
                <a:latin typeface="Figtree SemiBold" pitchFamily="2" charset="0"/>
              </a:rPr>
              <a:t>aiaa.org</a:t>
            </a:r>
          </a:p>
        </p:txBody>
      </p:sp>
      <p:sp>
        <p:nvSpPr>
          <p:cNvPr id="7" name="TextBox 6">
            <a:extLst>
              <a:ext uri="{FF2B5EF4-FFF2-40B4-BE49-F238E27FC236}">
                <a16:creationId xmlns:a16="http://schemas.microsoft.com/office/drawing/2014/main" id="{77674F01-5FF3-D372-A30F-3AA70A84088C}"/>
              </a:ext>
            </a:extLst>
          </p:cNvPr>
          <p:cNvSpPr txBox="1"/>
          <p:nvPr userDrawn="1"/>
        </p:nvSpPr>
        <p:spPr>
          <a:xfrm>
            <a:off x="777607" y="4118432"/>
            <a:ext cx="4456348" cy="1107996"/>
          </a:xfrm>
          <a:prstGeom prst="rect">
            <a:avLst/>
          </a:prstGeom>
          <a:noFill/>
        </p:spPr>
        <p:txBody>
          <a:bodyPr wrap="none" lIns="0" tIns="0" rIns="0" bIns="0" rtlCol="0">
            <a:spAutoFit/>
          </a:bodyPr>
          <a:lstStyle/>
          <a:p>
            <a:r>
              <a:rPr lang="en-US" sz="7200" b="1" i="0" dirty="0">
                <a:solidFill>
                  <a:schemeClr val="bg1"/>
                </a:solidFill>
                <a:latin typeface="Figtree" pitchFamily="2" charset="0"/>
              </a:rPr>
              <a:t>Thank You</a:t>
            </a:r>
          </a:p>
        </p:txBody>
      </p:sp>
    </p:spTree>
    <p:extLst>
      <p:ext uri="{BB962C8B-B14F-4D97-AF65-F5344CB8AC3E}">
        <p14:creationId xmlns:p14="http://schemas.microsoft.com/office/powerpoint/2010/main" val="2508076695"/>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704A2-ED35-4142-76A7-B759A5EA40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7B5ABC-D3FC-B524-0077-5C6E550929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DEDFDB-060E-9B25-5E20-AB7D15715E0F}"/>
              </a:ext>
            </a:extLst>
          </p:cNvPr>
          <p:cNvSpPr>
            <a:spLocks noGrp="1"/>
          </p:cNvSpPr>
          <p:nvPr>
            <p:ph type="dt" sz="half" idx="10"/>
          </p:nvPr>
        </p:nvSpPr>
        <p:spPr/>
        <p:txBody>
          <a:bodyPr/>
          <a:lstStyle/>
          <a:p>
            <a:fld id="{49C6AF66-1DF4-42BB-BF7D-F4E2591DE761}" type="datetimeFigureOut">
              <a:rPr lang="en-US" smtClean="0"/>
              <a:t>5/20/2026</a:t>
            </a:fld>
            <a:endParaRPr lang="en-US" dirty="0"/>
          </a:p>
        </p:txBody>
      </p:sp>
      <p:sp>
        <p:nvSpPr>
          <p:cNvPr id="5" name="Footer Placeholder 4">
            <a:extLst>
              <a:ext uri="{FF2B5EF4-FFF2-40B4-BE49-F238E27FC236}">
                <a16:creationId xmlns:a16="http://schemas.microsoft.com/office/drawing/2014/main" id="{2E55811B-AD3A-E1D4-BD6E-A2929E5472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A67A142-7F60-48E4-FB2C-424361F6476F}"/>
              </a:ext>
            </a:extLst>
          </p:cNvPr>
          <p:cNvSpPr>
            <a:spLocks noGrp="1"/>
          </p:cNvSpPr>
          <p:nvPr>
            <p:ph type="sldNum" sz="quarter" idx="12"/>
          </p:nvPr>
        </p:nvSpPr>
        <p:spPr/>
        <p:txBody>
          <a:bodyPr/>
          <a:lstStyle/>
          <a:p>
            <a:fld id="{31DE5114-319E-433E-8646-E363CB5F37C2}" type="slidenum">
              <a:rPr lang="en-US" smtClean="0"/>
              <a:t>‹#›</a:t>
            </a:fld>
            <a:endParaRPr lang="en-US" dirty="0"/>
          </a:p>
        </p:txBody>
      </p:sp>
    </p:spTree>
    <p:extLst>
      <p:ext uri="{BB962C8B-B14F-4D97-AF65-F5344CB8AC3E}">
        <p14:creationId xmlns:p14="http://schemas.microsoft.com/office/powerpoint/2010/main" val="1576615235"/>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7.xml"/><Relationship Id="rId18" Type="http://schemas.openxmlformats.org/officeDocument/2006/relationships/slideLayout" Target="../slideLayouts/slideLayout82.xml"/><Relationship Id="rId26" Type="http://schemas.openxmlformats.org/officeDocument/2006/relationships/slideLayout" Target="../slideLayouts/slideLayout90.xml"/><Relationship Id="rId21" Type="http://schemas.openxmlformats.org/officeDocument/2006/relationships/slideLayout" Target="../slideLayouts/slideLayout85.xml"/><Relationship Id="rId34" Type="http://schemas.openxmlformats.org/officeDocument/2006/relationships/slideLayout" Target="../slideLayouts/slideLayout98.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slideLayout" Target="../slideLayouts/slideLayout81.xml"/><Relationship Id="rId25" Type="http://schemas.openxmlformats.org/officeDocument/2006/relationships/slideLayout" Target="../slideLayouts/slideLayout89.xml"/><Relationship Id="rId33" Type="http://schemas.openxmlformats.org/officeDocument/2006/relationships/slideLayout" Target="../slideLayouts/slideLayout97.xml"/><Relationship Id="rId38" Type="http://schemas.openxmlformats.org/officeDocument/2006/relationships/theme" Target="../theme/theme2.xml"/><Relationship Id="rId2" Type="http://schemas.openxmlformats.org/officeDocument/2006/relationships/slideLayout" Target="../slideLayouts/slideLayout66.xml"/><Relationship Id="rId16" Type="http://schemas.openxmlformats.org/officeDocument/2006/relationships/slideLayout" Target="../slideLayouts/slideLayout80.xml"/><Relationship Id="rId20" Type="http://schemas.openxmlformats.org/officeDocument/2006/relationships/slideLayout" Target="../slideLayouts/slideLayout84.xml"/><Relationship Id="rId29" Type="http://schemas.openxmlformats.org/officeDocument/2006/relationships/slideLayout" Target="../slideLayouts/slideLayout93.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24" Type="http://schemas.openxmlformats.org/officeDocument/2006/relationships/slideLayout" Target="../slideLayouts/slideLayout88.xml"/><Relationship Id="rId32" Type="http://schemas.openxmlformats.org/officeDocument/2006/relationships/slideLayout" Target="../slideLayouts/slideLayout96.xml"/><Relationship Id="rId37" Type="http://schemas.openxmlformats.org/officeDocument/2006/relationships/slideLayout" Target="../slideLayouts/slideLayout101.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23" Type="http://schemas.openxmlformats.org/officeDocument/2006/relationships/slideLayout" Target="../slideLayouts/slideLayout87.xml"/><Relationship Id="rId28" Type="http://schemas.openxmlformats.org/officeDocument/2006/relationships/slideLayout" Target="../slideLayouts/slideLayout92.xml"/><Relationship Id="rId36" Type="http://schemas.openxmlformats.org/officeDocument/2006/relationships/slideLayout" Target="../slideLayouts/slideLayout100.xml"/><Relationship Id="rId10" Type="http://schemas.openxmlformats.org/officeDocument/2006/relationships/slideLayout" Target="../slideLayouts/slideLayout74.xml"/><Relationship Id="rId19" Type="http://schemas.openxmlformats.org/officeDocument/2006/relationships/slideLayout" Target="../slideLayouts/slideLayout83.xml"/><Relationship Id="rId31" Type="http://schemas.openxmlformats.org/officeDocument/2006/relationships/slideLayout" Target="../slideLayouts/slideLayout95.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 Id="rId22" Type="http://schemas.openxmlformats.org/officeDocument/2006/relationships/slideLayout" Target="../slideLayouts/slideLayout86.xml"/><Relationship Id="rId27" Type="http://schemas.openxmlformats.org/officeDocument/2006/relationships/slideLayout" Target="../slideLayouts/slideLayout91.xml"/><Relationship Id="rId30" Type="http://schemas.openxmlformats.org/officeDocument/2006/relationships/slideLayout" Target="../slideLayouts/slideLayout94.xml"/><Relationship Id="rId35" Type="http://schemas.openxmlformats.org/officeDocument/2006/relationships/slideLayout" Target="../slideLayouts/slideLayout99.xml"/><Relationship Id="rId8" Type="http://schemas.openxmlformats.org/officeDocument/2006/relationships/slideLayout" Target="../slideLayouts/slideLayout72.xml"/><Relationship Id="rId3" Type="http://schemas.openxmlformats.org/officeDocument/2006/relationships/slideLayout" Target="../slideLayouts/slideLayout6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14.xml"/><Relationship Id="rId18" Type="http://schemas.openxmlformats.org/officeDocument/2006/relationships/slideLayout" Target="../slideLayouts/slideLayout119.xml"/><Relationship Id="rId26" Type="http://schemas.openxmlformats.org/officeDocument/2006/relationships/slideLayout" Target="../slideLayouts/slideLayout127.xml"/><Relationship Id="rId3" Type="http://schemas.openxmlformats.org/officeDocument/2006/relationships/slideLayout" Target="../slideLayouts/slideLayout104.xml"/><Relationship Id="rId21" Type="http://schemas.openxmlformats.org/officeDocument/2006/relationships/slideLayout" Target="../slideLayouts/slideLayout122.xml"/><Relationship Id="rId34" Type="http://schemas.openxmlformats.org/officeDocument/2006/relationships/theme" Target="../theme/theme3.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17" Type="http://schemas.openxmlformats.org/officeDocument/2006/relationships/slideLayout" Target="../slideLayouts/slideLayout118.xml"/><Relationship Id="rId25" Type="http://schemas.openxmlformats.org/officeDocument/2006/relationships/slideLayout" Target="../slideLayouts/slideLayout126.xml"/><Relationship Id="rId33" Type="http://schemas.openxmlformats.org/officeDocument/2006/relationships/slideLayout" Target="../slideLayouts/slideLayout134.xml"/><Relationship Id="rId2" Type="http://schemas.openxmlformats.org/officeDocument/2006/relationships/slideLayout" Target="../slideLayouts/slideLayout103.xml"/><Relationship Id="rId16" Type="http://schemas.openxmlformats.org/officeDocument/2006/relationships/slideLayout" Target="../slideLayouts/slideLayout117.xml"/><Relationship Id="rId20" Type="http://schemas.openxmlformats.org/officeDocument/2006/relationships/slideLayout" Target="../slideLayouts/slideLayout121.xml"/><Relationship Id="rId29" Type="http://schemas.openxmlformats.org/officeDocument/2006/relationships/slideLayout" Target="../slideLayouts/slideLayout130.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24" Type="http://schemas.openxmlformats.org/officeDocument/2006/relationships/slideLayout" Target="../slideLayouts/slideLayout125.xml"/><Relationship Id="rId32" Type="http://schemas.openxmlformats.org/officeDocument/2006/relationships/slideLayout" Target="../slideLayouts/slideLayout133.xml"/><Relationship Id="rId5" Type="http://schemas.openxmlformats.org/officeDocument/2006/relationships/slideLayout" Target="../slideLayouts/slideLayout106.xml"/><Relationship Id="rId15" Type="http://schemas.openxmlformats.org/officeDocument/2006/relationships/slideLayout" Target="../slideLayouts/slideLayout116.xml"/><Relationship Id="rId23" Type="http://schemas.openxmlformats.org/officeDocument/2006/relationships/slideLayout" Target="../slideLayouts/slideLayout124.xml"/><Relationship Id="rId28" Type="http://schemas.openxmlformats.org/officeDocument/2006/relationships/slideLayout" Target="../slideLayouts/slideLayout129.xml"/><Relationship Id="rId10" Type="http://schemas.openxmlformats.org/officeDocument/2006/relationships/slideLayout" Target="../slideLayouts/slideLayout111.xml"/><Relationship Id="rId19" Type="http://schemas.openxmlformats.org/officeDocument/2006/relationships/slideLayout" Target="../slideLayouts/slideLayout120.xml"/><Relationship Id="rId31" Type="http://schemas.openxmlformats.org/officeDocument/2006/relationships/slideLayout" Target="../slideLayouts/slideLayout132.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slideLayout" Target="../slideLayouts/slideLayout115.xml"/><Relationship Id="rId22" Type="http://schemas.openxmlformats.org/officeDocument/2006/relationships/slideLayout" Target="../slideLayouts/slideLayout123.xml"/><Relationship Id="rId27" Type="http://schemas.openxmlformats.org/officeDocument/2006/relationships/slideLayout" Target="../slideLayouts/slideLayout128.xml"/><Relationship Id="rId30" Type="http://schemas.openxmlformats.org/officeDocument/2006/relationships/slideLayout" Target="../slideLayouts/slideLayout131.xml"/><Relationship Id="rId8" Type="http://schemas.openxmlformats.org/officeDocument/2006/relationships/slideLayout" Target="../slideLayouts/slideLayout10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47.xml"/><Relationship Id="rId18" Type="http://schemas.openxmlformats.org/officeDocument/2006/relationships/slideLayout" Target="../slideLayouts/slideLayout152.xml"/><Relationship Id="rId26" Type="http://schemas.openxmlformats.org/officeDocument/2006/relationships/slideLayout" Target="../slideLayouts/slideLayout160.xml"/><Relationship Id="rId21" Type="http://schemas.openxmlformats.org/officeDocument/2006/relationships/slideLayout" Target="../slideLayouts/slideLayout155.xml"/><Relationship Id="rId34" Type="http://schemas.openxmlformats.org/officeDocument/2006/relationships/slideLayout" Target="../slideLayouts/slideLayout168.xml"/><Relationship Id="rId7" Type="http://schemas.openxmlformats.org/officeDocument/2006/relationships/slideLayout" Target="../slideLayouts/slideLayout141.xml"/><Relationship Id="rId12" Type="http://schemas.openxmlformats.org/officeDocument/2006/relationships/slideLayout" Target="../slideLayouts/slideLayout146.xml"/><Relationship Id="rId17" Type="http://schemas.openxmlformats.org/officeDocument/2006/relationships/slideLayout" Target="../slideLayouts/slideLayout151.xml"/><Relationship Id="rId25" Type="http://schemas.openxmlformats.org/officeDocument/2006/relationships/slideLayout" Target="../slideLayouts/slideLayout159.xml"/><Relationship Id="rId33" Type="http://schemas.openxmlformats.org/officeDocument/2006/relationships/slideLayout" Target="../slideLayouts/slideLayout167.xml"/><Relationship Id="rId2" Type="http://schemas.openxmlformats.org/officeDocument/2006/relationships/slideLayout" Target="../slideLayouts/slideLayout136.xml"/><Relationship Id="rId16" Type="http://schemas.openxmlformats.org/officeDocument/2006/relationships/slideLayout" Target="../slideLayouts/slideLayout150.xml"/><Relationship Id="rId20" Type="http://schemas.openxmlformats.org/officeDocument/2006/relationships/slideLayout" Target="../slideLayouts/slideLayout154.xml"/><Relationship Id="rId29" Type="http://schemas.openxmlformats.org/officeDocument/2006/relationships/slideLayout" Target="../slideLayouts/slideLayout163.xml"/><Relationship Id="rId1" Type="http://schemas.openxmlformats.org/officeDocument/2006/relationships/slideLayout" Target="../slideLayouts/slideLayout135.xml"/><Relationship Id="rId6" Type="http://schemas.openxmlformats.org/officeDocument/2006/relationships/slideLayout" Target="../slideLayouts/slideLayout140.xml"/><Relationship Id="rId11" Type="http://schemas.openxmlformats.org/officeDocument/2006/relationships/slideLayout" Target="../slideLayouts/slideLayout145.xml"/><Relationship Id="rId24" Type="http://schemas.openxmlformats.org/officeDocument/2006/relationships/slideLayout" Target="../slideLayouts/slideLayout158.xml"/><Relationship Id="rId32" Type="http://schemas.openxmlformats.org/officeDocument/2006/relationships/slideLayout" Target="../slideLayouts/slideLayout166.xml"/><Relationship Id="rId37" Type="http://schemas.openxmlformats.org/officeDocument/2006/relationships/theme" Target="../theme/theme4.xml"/><Relationship Id="rId5" Type="http://schemas.openxmlformats.org/officeDocument/2006/relationships/slideLayout" Target="../slideLayouts/slideLayout139.xml"/><Relationship Id="rId15" Type="http://schemas.openxmlformats.org/officeDocument/2006/relationships/slideLayout" Target="../slideLayouts/slideLayout149.xml"/><Relationship Id="rId23" Type="http://schemas.openxmlformats.org/officeDocument/2006/relationships/slideLayout" Target="../slideLayouts/slideLayout157.xml"/><Relationship Id="rId28" Type="http://schemas.openxmlformats.org/officeDocument/2006/relationships/slideLayout" Target="../slideLayouts/slideLayout162.xml"/><Relationship Id="rId36" Type="http://schemas.openxmlformats.org/officeDocument/2006/relationships/slideLayout" Target="../slideLayouts/slideLayout170.xml"/><Relationship Id="rId10" Type="http://schemas.openxmlformats.org/officeDocument/2006/relationships/slideLayout" Target="../slideLayouts/slideLayout144.xml"/><Relationship Id="rId19" Type="http://schemas.openxmlformats.org/officeDocument/2006/relationships/slideLayout" Target="../slideLayouts/slideLayout153.xml"/><Relationship Id="rId31" Type="http://schemas.openxmlformats.org/officeDocument/2006/relationships/slideLayout" Target="../slideLayouts/slideLayout165.xml"/><Relationship Id="rId4" Type="http://schemas.openxmlformats.org/officeDocument/2006/relationships/slideLayout" Target="../slideLayouts/slideLayout138.xml"/><Relationship Id="rId9" Type="http://schemas.openxmlformats.org/officeDocument/2006/relationships/slideLayout" Target="../slideLayouts/slideLayout143.xml"/><Relationship Id="rId14" Type="http://schemas.openxmlformats.org/officeDocument/2006/relationships/slideLayout" Target="../slideLayouts/slideLayout148.xml"/><Relationship Id="rId22" Type="http://schemas.openxmlformats.org/officeDocument/2006/relationships/slideLayout" Target="../slideLayouts/slideLayout156.xml"/><Relationship Id="rId27" Type="http://schemas.openxmlformats.org/officeDocument/2006/relationships/slideLayout" Target="../slideLayouts/slideLayout161.xml"/><Relationship Id="rId30" Type="http://schemas.openxmlformats.org/officeDocument/2006/relationships/slideLayout" Target="../slideLayouts/slideLayout164.xml"/><Relationship Id="rId35" Type="http://schemas.openxmlformats.org/officeDocument/2006/relationships/slideLayout" Target="../slideLayouts/slideLayout169.xml"/><Relationship Id="rId8" Type="http://schemas.openxmlformats.org/officeDocument/2006/relationships/slideLayout" Target="../slideLayouts/slideLayout142.xml"/><Relationship Id="rId3" Type="http://schemas.openxmlformats.org/officeDocument/2006/relationships/slideLayout" Target="../slideLayouts/slideLayout1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4B9CDF1-F933-DFA5-6E10-DBF77CE5BB8D}"/>
              </a:ext>
            </a:extLst>
          </p:cNvPr>
          <p:cNvSpPr>
            <a:spLocks noGrp="1"/>
          </p:cNvSpPr>
          <p:nvPr>
            <p:ph type="sldNum" sz="quarter" idx="4"/>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spTree>
    <p:extLst>
      <p:ext uri="{BB962C8B-B14F-4D97-AF65-F5344CB8AC3E}">
        <p14:creationId xmlns:p14="http://schemas.microsoft.com/office/powerpoint/2010/main" val="3599446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4" r:id="rId62"/>
    <p:sldLayoutId id="2147483725" r:id="rId63"/>
    <p:sldLayoutId id="2147483726" r:id="rId64"/>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4B9CDF1-F933-DFA5-6E10-DBF77CE5BB8D}"/>
              </a:ext>
            </a:extLst>
          </p:cNvPr>
          <p:cNvSpPr>
            <a:spLocks noGrp="1"/>
          </p:cNvSpPr>
          <p:nvPr>
            <p:ph type="sldNum" sz="quarter" idx="4"/>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spTree>
    <p:extLst>
      <p:ext uri="{BB962C8B-B14F-4D97-AF65-F5344CB8AC3E}">
        <p14:creationId xmlns:p14="http://schemas.microsoft.com/office/powerpoint/2010/main" val="2215348953"/>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 id="2147483756" r:id="rId28"/>
    <p:sldLayoutId id="2147483757" r:id="rId29"/>
    <p:sldLayoutId id="2147483758" r:id="rId30"/>
    <p:sldLayoutId id="2147483759" r:id="rId31"/>
    <p:sldLayoutId id="2147483760" r:id="rId32"/>
    <p:sldLayoutId id="2147483761" r:id="rId33"/>
    <p:sldLayoutId id="2147483762" r:id="rId34"/>
    <p:sldLayoutId id="2147483763" r:id="rId35"/>
    <p:sldLayoutId id="2147483764" r:id="rId36"/>
    <p:sldLayoutId id="2147483765" r:id="rId3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4B9CDF1-F933-DFA5-6E10-DBF77CE5BB8D}"/>
              </a:ext>
            </a:extLst>
          </p:cNvPr>
          <p:cNvSpPr>
            <a:spLocks noGrp="1"/>
          </p:cNvSpPr>
          <p:nvPr>
            <p:ph type="sldNum" sz="quarter" idx="4"/>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sp>
        <p:nvSpPr>
          <p:cNvPr id="2" name="Footer Placeholder 1">
            <a:extLst>
              <a:ext uri="{FF2B5EF4-FFF2-40B4-BE49-F238E27FC236}">
                <a16:creationId xmlns:a16="http://schemas.microsoft.com/office/drawing/2014/main" id="{28E6F323-98DB-B4B8-0C97-491580A2F3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Tree>
    <p:extLst>
      <p:ext uri="{BB962C8B-B14F-4D97-AF65-F5344CB8AC3E}">
        <p14:creationId xmlns:p14="http://schemas.microsoft.com/office/powerpoint/2010/main" val="1998168566"/>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 id="2147483789" r:id="rId23"/>
    <p:sldLayoutId id="2147483790" r:id="rId24"/>
    <p:sldLayoutId id="2147483791" r:id="rId25"/>
    <p:sldLayoutId id="2147483792" r:id="rId26"/>
    <p:sldLayoutId id="2147483793" r:id="rId27"/>
    <p:sldLayoutId id="2147483794" r:id="rId28"/>
    <p:sldLayoutId id="2147483795" r:id="rId29"/>
    <p:sldLayoutId id="2147483796" r:id="rId30"/>
    <p:sldLayoutId id="2147483797" r:id="rId31"/>
    <p:sldLayoutId id="2147483798" r:id="rId32"/>
    <p:sldLayoutId id="2147483799" r:id="rId3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4B9CDF1-F933-DFA5-6E10-DBF77CE5BB8D}"/>
              </a:ext>
            </a:extLst>
          </p:cNvPr>
          <p:cNvSpPr>
            <a:spLocks noGrp="1"/>
          </p:cNvSpPr>
          <p:nvPr>
            <p:ph type="sldNum" sz="quarter" idx="4"/>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a:t>
            </a:fld>
            <a:endParaRPr lang="en-US" dirty="0"/>
          </a:p>
        </p:txBody>
      </p:sp>
    </p:spTree>
    <p:extLst>
      <p:ext uri="{BB962C8B-B14F-4D97-AF65-F5344CB8AC3E}">
        <p14:creationId xmlns:p14="http://schemas.microsoft.com/office/powerpoint/2010/main" val="3860235857"/>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 id="2147483812" r:id="rId12"/>
    <p:sldLayoutId id="2147483813" r:id="rId13"/>
    <p:sldLayoutId id="2147483814" r:id="rId14"/>
    <p:sldLayoutId id="2147483815" r:id="rId15"/>
    <p:sldLayoutId id="2147483816" r:id="rId16"/>
    <p:sldLayoutId id="2147483817" r:id="rId17"/>
    <p:sldLayoutId id="2147483818" r:id="rId18"/>
    <p:sldLayoutId id="2147483819" r:id="rId19"/>
    <p:sldLayoutId id="2147483820" r:id="rId20"/>
    <p:sldLayoutId id="2147483821" r:id="rId21"/>
    <p:sldLayoutId id="2147483822" r:id="rId22"/>
    <p:sldLayoutId id="2147483823" r:id="rId23"/>
    <p:sldLayoutId id="2147483824" r:id="rId24"/>
    <p:sldLayoutId id="2147483825" r:id="rId25"/>
    <p:sldLayoutId id="2147483826" r:id="rId26"/>
    <p:sldLayoutId id="2147483827" r:id="rId27"/>
    <p:sldLayoutId id="2147483828" r:id="rId28"/>
    <p:sldLayoutId id="2147483829" r:id="rId29"/>
    <p:sldLayoutId id="2147483830" r:id="rId30"/>
    <p:sldLayoutId id="2147483831" r:id="rId31"/>
    <p:sldLayoutId id="2147483832" r:id="rId32"/>
    <p:sldLayoutId id="2147483833" r:id="rId33"/>
    <p:sldLayoutId id="2147483834" r:id="rId34"/>
    <p:sldLayoutId id="2147483835" r:id="rId35"/>
    <p:sldLayoutId id="2147483836" r:id="rId3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tephen.blanchette@aero.or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image" Target="../media/image21.jpeg"/><Relationship Id="rId1" Type="http://schemas.openxmlformats.org/officeDocument/2006/relationships/slideLayout" Target="../slideLayouts/slideLayout60.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image" Target="../media/image35.jpeg"/><Relationship Id="rId13" Type="http://schemas.openxmlformats.org/officeDocument/2006/relationships/image" Target="../media/image40.jpeg"/><Relationship Id="rId3" Type="http://schemas.openxmlformats.org/officeDocument/2006/relationships/image" Target="../media/image30.png"/><Relationship Id="rId7" Type="http://schemas.openxmlformats.org/officeDocument/2006/relationships/image" Target="../media/image34.jpeg"/><Relationship Id="rId12" Type="http://schemas.openxmlformats.org/officeDocument/2006/relationships/image" Target="../media/image39.jpeg"/><Relationship Id="rId2" Type="http://schemas.openxmlformats.org/officeDocument/2006/relationships/notesSlide" Target="../notesSlides/notesSlide4.xml"/><Relationship Id="rId1" Type="http://schemas.openxmlformats.org/officeDocument/2006/relationships/slideLayout" Target="../slideLayouts/slideLayout100.xml"/><Relationship Id="rId6" Type="http://schemas.openxmlformats.org/officeDocument/2006/relationships/image" Target="../media/image33.emf"/><Relationship Id="rId11" Type="http://schemas.openxmlformats.org/officeDocument/2006/relationships/image" Target="../media/image38.jpeg"/><Relationship Id="rId5" Type="http://schemas.openxmlformats.org/officeDocument/2006/relationships/image" Target="../media/image32.png"/><Relationship Id="rId10" Type="http://schemas.openxmlformats.org/officeDocument/2006/relationships/image" Target="../media/image37.jpeg"/><Relationship Id="rId4" Type="http://schemas.openxmlformats.org/officeDocument/2006/relationships/image" Target="../media/image31.jpeg"/><Relationship Id="rId9" Type="http://schemas.openxmlformats.org/officeDocument/2006/relationships/image" Target="../media/image36.jpeg"/><Relationship Id="rId14" Type="http://schemas.openxmlformats.org/officeDocument/2006/relationships/image" Target="../media/image41.jpeg"/></Relationships>
</file>

<file path=ppt/slides/_rels/slide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9.xml"/><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4.png"/><Relationship Id="rId1" Type="http://schemas.openxmlformats.org/officeDocument/2006/relationships/slideLayout" Target="../slideLayouts/slideLayout10.xml"/><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11.xml"/><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4.png"/><Relationship Id="rId1" Type="http://schemas.openxmlformats.org/officeDocument/2006/relationships/slideLayout" Target="../slideLayouts/slideLayout12.xml"/><Relationship Id="rId4" Type="http://schemas.openxmlformats.org/officeDocument/2006/relationships/image" Target="../media/image52.jpeg"/></Relationships>
</file>

<file path=ppt/slides/_rels/slide2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44.png"/><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4.png"/><Relationship Id="rId1" Type="http://schemas.openxmlformats.org/officeDocument/2006/relationships/slideLayout" Target="../slideLayouts/slideLayout9.xml"/><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4.png"/><Relationship Id="rId1" Type="http://schemas.openxmlformats.org/officeDocument/2006/relationships/slideLayout" Target="../slideLayouts/slideLayout10.xml"/><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4.png"/><Relationship Id="rId1" Type="http://schemas.openxmlformats.org/officeDocument/2006/relationships/slideLayout" Target="../slideLayouts/slideLayout11.xml"/><Relationship Id="rId4" Type="http://schemas.openxmlformats.org/officeDocument/2006/relationships/image" Target="../media/image60.jpeg"/></Relationships>
</file>

<file path=ppt/slides/_rels/slide2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44.png"/><Relationship Id="rId1" Type="http://schemas.openxmlformats.org/officeDocument/2006/relationships/slideLayout" Target="../slideLayouts/slideLayout12.xml"/><Relationship Id="rId4" Type="http://schemas.openxmlformats.org/officeDocument/2006/relationships/image" Target="../media/image62.png"/></Relationships>
</file>

<file path=ppt/slides/_rels/slide2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44.png"/><Relationship Id="rId1" Type="http://schemas.openxmlformats.org/officeDocument/2006/relationships/slideLayout" Target="../slideLayouts/slideLayout28.xml"/><Relationship Id="rId4" Type="http://schemas.openxmlformats.org/officeDocument/2006/relationships/image" Target="../media/image67.png"/></Relationships>
</file>

<file path=ppt/slides/_rels/slide3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44.png"/><Relationship Id="rId1" Type="http://schemas.openxmlformats.org/officeDocument/2006/relationships/slideLayout" Target="../slideLayouts/slideLayout29.xml"/><Relationship Id="rId4" Type="http://schemas.openxmlformats.org/officeDocument/2006/relationships/image" Target="../media/image69.png"/></Relationships>
</file>

<file path=ppt/slides/_rels/slide32.xml.rels><?xml version="1.0" encoding="UTF-8" standalone="yes"?>
<Relationships xmlns="http://schemas.openxmlformats.org/package/2006/relationships"><Relationship Id="rId13" Type="http://schemas.openxmlformats.org/officeDocument/2006/relationships/image" Target="../media/image81.jpeg"/><Relationship Id="rId18" Type="http://schemas.openxmlformats.org/officeDocument/2006/relationships/image" Target="../media/image86.png"/><Relationship Id="rId26" Type="http://schemas.openxmlformats.org/officeDocument/2006/relationships/image" Target="../media/image94.png"/><Relationship Id="rId39" Type="http://schemas.openxmlformats.org/officeDocument/2006/relationships/image" Target="../media/image107.jpeg"/><Relationship Id="rId21" Type="http://schemas.openxmlformats.org/officeDocument/2006/relationships/image" Target="../media/image89.png"/><Relationship Id="rId34" Type="http://schemas.openxmlformats.org/officeDocument/2006/relationships/image" Target="../media/image102.jpeg"/><Relationship Id="rId7" Type="http://schemas.openxmlformats.org/officeDocument/2006/relationships/image" Target="../media/image75.jpeg"/><Relationship Id="rId12" Type="http://schemas.openxmlformats.org/officeDocument/2006/relationships/image" Target="../media/image80.jpeg"/><Relationship Id="rId17" Type="http://schemas.openxmlformats.org/officeDocument/2006/relationships/image" Target="../media/image85.jpeg"/><Relationship Id="rId25" Type="http://schemas.openxmlformats.org/officeDocument/2006/relationships/image" Target="../media/image93.png"/><Relationship Id="rId33" Type="http://schemas.openxmlformats.org/officeDocument/2006/relationships/image" Target="../media/image101.jpeg"/><Relationship Id="rId38" Type="http://schemas.openxmlformats.org/officeDocument/2006/relationships/image" Target="../media/image106.jpeg"/><Relationship Id="rId2" Type="http://schemas.openxmlformats.org/officeDocument/2006/relationships/image" Target="../media/image70.png"/><Relationship Id="rId16" Type="http://schemas.openxmlformats.org/officeDocument/2006/relationships/image" Target="../media/image84.png"/><Relationship Id="rId20" Type="http://schemas.openxmlformats.org/officeDocument/2006/relationships/image" Target="../media/image88.jpeg"/><Relationship Id="rId29" Type="http://schemas.openxmlformats.org/officeDocument/2006/relationships/image" Target="../media/image97.jpeg"/><Relationship Id="rId1" Type="http://schemas.openxmlformats.org/officeDocument/2006/relationships/slideLayout" Target="../slideLayouts/slideLayout18.xml"/><Relationship Id="rId6" Type="http://schemas.openxmlformats.org/officeDocument/2006/relationships/image" Target="../media/image74.png"/><Relationship Id="rId11" Type="http://schemas.openxmlformats.org/officeDocument/2006/relationships/image" Target="../media/image79.jpeg"/><Relationship Id="rId24" Type="http://schemas.openxmlformats.org/officeDocument/2006/relationships/image" Target="../media/image92.jpeg"/><Relationship Id="rId32" Type="http://schemas.openxmlformats.org/officeDocument/2006/relationships/image" Target="../media/image100.jpeg"/><Relationship Id="rId37" Type="http://schemas.openxmlformats.org/officeDocument/2006/relationships/image" Target="../media/image105.jpeg"/><Relationship Id="rId5" Type="http://schemas.openxmlformats.org/officeDocument/2006/relationships/image" Target="../media/image73.jpeg"/><Relationship Id="rId15" Type="http://schemas.openxmlformats.org/officeDocument/2006/relationships/image" Target="../media/image83.png"/><Relationship Id="rId23" Type="http://schemas.openxmlformats.org/officeDocument/2006/relationships/image" Target="../media/image91.jpeg"/><Relationship Id="rId28" Type="http://schemas.openxmlformats.org/officeDocument/2006/relationships/image" Target="../media/image96.png"/><Relationship Id="rId36" Type="http://schemas.openxmlformats.org/officeDocument/2006/relationships/image" Target="../media/image104.jpeg"/><Relationship Id="rId10" Type="http://schemas.openxmlformats.org/officeDocument/2006/relationships/image" Target="../media/image78.jpeg"/><Relationship Id="rId19" Type="http://schemas.openxmlformats.org/officeDocument/2006/relationships/image" Target="../media/image87.tiff"/><Relationship Id="rId31" Type="http://schemas.openxmlformats.org/officeDocument/2006/relationships/image" Target="../media/image99.jpeg"/><Relationship Id="rId4" Type="http://schemas.openxmlformats.org/officeDocument/2006/relationships/image" Target="../media/image72.jpeg"/><Relationship Id="rId9" Type="http://schemas.openxmlformats.org/officeDocument/2006/relationships/image" Target="../media/image77.jpeg"/><Relationship Id="rId14" Type="http://schemas.openxmlformats.org/officeDocument/2006/relationships/image" Target="../media/image82.jpeg"/><Relationship Id="rId22" Type="http://schemas.openxmlformats.org/officeDocument/2006/relationships/image" Target="../media/image90.png"/><Relationship Id="rId27" Type="http://schemas.openxmlformats.org/officeDocument/2006/relationships/image" Target="../media/image95.png"/><Relationship Id="rId30" Type="http://schemas.openxmlformats.org/officeDocument/2006/relationships/image" Target="../media/image98.jpeg"/><Relationship Id="rId35" Type="http://schemas.openxmlformats.org/officeDocument/2006/relationships/image" Target="../media/image103.jpeg"/><Relationship Id="rId8" Type="http://schemas.openxmlformats.org/officeDocument/2006/relationships/image" Target="../media/image76.png"/><Relationship Id="rId3" Type="http://schemas.openxmlformats.org/officeDocument/2006/relationships/image" Target="../media/image7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08.tmp"/><Relationship Id="rId1" Type="http://schemas.openxmlformats.org/officeDocument/2006/relationships/slideLayout" Target="../slideLayouts/slideLayout6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4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6.xml"/><Relationship Id="rId1" Type="http://schemas.openxmlformats.org/officeDocument/2006/relationships/slideLayout" Target="../slideLayouts/slideLayout90.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4.xml.rels><?xml version="1.0" encoding="UTF-8" standalone="yes"?>
<Relationships xmlns="http://schemas.openxmlformats.org/package/2006/relationships"><Relationship Id="rId3" Type="http://schemas.openxmlformats.org/officeDocument/2006/relationships/hyperlink" Target="mailto:michaell@aiaa.org" TargetMode="External"/><Relationship Id="rId7" Type="http://schemas.openxmlformats.org/officeDocument/2006/relationships/image" Target="../media/image115.svg"/><Relationship Id="rId2" Type="http://schemas.openxmlformats.org/officeDocument/2006/relationships/notesSlide" Target="../notesSlides/notesSlide8.xml"/><Relationship Id="rId1" Type="http://schemas.openxmlformats.org/officeDocument/2006/relationships/slideLayout" Target="../slideLayouts/slideLayout90.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hyperlink" Target="mailto:kimg@aiaa.org"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mailto:conferences@aiaa.org" TargetMode="External"/><Relationship Id="rId2" Type="http://schemas.openxmlformats.org/officeDocument/2006/relationships/hyperlink" Target="https://defense.aiaa.org/presentations/call-for-technical-briefings/" TargetMode="External"/><Relationship Id="rId1" Type="http://schemas.openxmlformats.org/officeDocument/2006/relationships/slideLayout" Target="../slideLayouts/slideLayout90.xml"/></Relationships>
</file>

<file path=ppt/slides/_rels/slide4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hyperlink" Target="https://aiaa.org/branding-resources-center/" TargetMode="External"/><Relationship Id="rId1" Type="http://schemas.openxmlformats.org/officeDocument/2006/relationships/slideLayout" Target="../slideLayouts/slideLayout90.xml"/><Relationship Id="rId4" Type="http://schemas.openxmlformats.org/officeDocument/2006/relationships/image" Target="../media/image1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image" Target="../media/image118.png"/><Relationship Id="rId1" Type="http://schemas.openxmlformats.org/officeDocument/2006/relationships/slideLayout" Target="../slideLayouts/slideLayout8.xml"/><Relationship Id="rId4" Type="http://schemas.openxmlformats.org/officeDocument/2006/relationships/image" Target="../media/image120.jpeg"/></Relationships>
</file>

<file path=ppt/slides/_rels/slide49.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hyperlink" Target="https://aiaa.applicantpro.com/jobs/4055309"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5.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5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59.xml.rels><?xml version="1.0" encoding="UTF-8" standalone="yes"?>
<Relationships xmlns="http://schemas.openxmlformats.org/package/2006/relationships"><Relationship Id="rId2" Type="http://schemas.openxmlformats.org/officeDocument/2006/relationships/hyperlink" Target="mailto:jimmie.mcever@jhuapl.edu" TargetMode="External"/><Relationship Id="rId1" Type="http://schemas.openxmlformats.org/officeDocument/2006/relationships/slideLayout" Target="../slideLayouts/slideLayout10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image" Target="../media/image124.jpe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63.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s>
</file>

<file path=ppt/slides/_rels/slide66.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27.png"/><Relationship Id="rId1" Type="http://schemas.openxmlformats.org/officeDocument/2006/relationships/slideLayout" Target="../slideLayouts/slideLayout12.xml"/><Relationship Id="rId4" Type="http://schemas.openxmlformats.org/officeDocument/2006/relationships/image" Target="../media/image132.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hyperlink" Target="mailto:committeehelp@aiaa.org" TargetMode="External"/><Relationship Id="rId2" Type="http://schemas.openxmlformats.org/officeDocument/2006/relationships/notesSlide" Target="../notesSlides/notesSlide14.xml"/><Relationship Id="rId1" Type="http://schemas.openxmlformats.org/officeDocument/2006/relationships/slideLayout" Target="../slideLayouts/slideLayout6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71.xml.rels><?xml version="1.0" encoding="UTF-8" standalone="yes"?>
<Relationships xmlns="http://schemas.openxmlformats.org/package/2006/relationships"><Relationship Id="rId2" Type="http://schemas.openxmlformats.org/officeDocument/2006/relationships/hyperlink" Target="mailto:stephen.blanchette@aero.org" TargetMode="Externa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19A16-725D-689E-3105-16AC6191CCCE}"/>
              </a:ext>
            </a:extLst>
          </p:cNvPr>
          <p:cNvSpPr>
            <a:spLocks noGrp="1"/>
          </p:cNvSpPr>
          <p:nvPr>
            <p:ph type="title"/>
          </p:nvPr>
        </p:nvSpPr>
        <p:spPr>
          <a:xfrm>
            <a:off x="831850" y="2355743"/>
            <a:ext cx="10528303" cy="2445200"/>
          </a:xfrm>
        </p:spPr>
        <p:txBody>
          <a:bodyPr/>
          <a:lstStyle/>
          <a:p>
            <a:r>
              <a:rPr lang="en-US" b="0" dirty="0"/>
              <a:t>SMG General Meeting @ ASCEND</a:t>
            </a:r>
          </a:p>
        </p:txBody>
      </p:sp>
      <p:sp>
        <p:nvSpPr>
          <p:cNvPr id="4" name="Text Placeholder 3">
            <a:extLst>
              <a:ext uri="{FF2B5EF4-FFF2-40B4-BE49-F238E27FC236}">
                <a16:creationId xmlns:a16="http://schemas.microsoft.com/office/drawing/2014/main" id="{5772D606-B6C2-9C47-0B6B-7E105EC311C5}"/>
              </a:ext>
            </a:extLst>
          </p:cNvPr>
          <p:cNvSpPr>
            <a:spLocks noGrp="1"/>
          </p:cNvSpPr>
          <p:nvPr>
            <p:ph type="body" idx="1"/>
          </p:nvPr>
        </p:nvSpPr>
        <p:spPr/>
        <p:txBody>
          <a:bodyPr>
            <a:noAutofit/>
          </a:bodyPr>
          <a:lstStyle/>
          <a:p>
            <a:pPr>
              <a:lnSpc>
                <a:spcPct val="100000"/>
              </a:lnSpc>
              <a:spcBef>
                <a:spcPts val="0"/>
              </a:spcBef>
            </a:pPr>
            <a:r>
              <a:rPr lang="en-US" dirty="0"/>
              <a:t>20 May 2026</a:t>
            </a:r>
          </a:p>
          <a:p>
            <a:pPr>
              <a:lnSpc>
                <a:spcPct val="100000"/>
              </a:lnSpc>
              <a:spcBef>
                <a:spcPts val="0"/>
              </a:spcBef>
            </a:pPr>
            <a:r>
              <a:rPr lang="en-US" b="1" dirty="0"/>
              <a:t>Stephen Blanchette Jr., AIAA Space and Missiles Group Director</a:t>
            </a:r>
          </a:p>
          <a:p>
            <a:pPr>
              <a:lnSpc>
                <a:spcPct val="100000"/>
              </a:lnSpc>
              <a:spcBef>
                <a:spcPts val="0"/>
              </a:spcBef>
            </a:pPr>
            <a:r>
              <a:rPr lang="en-US" i="1" dirty="0">
                <a:hlinkClick r:id="rId2">
                  <a:extLst>
                    <a:ext uri="{A12FA001-AC4F-418D-AE19-62706E023703}">
                      <ahyp:hlinkClr xmlns:ahyp="http://schemas.microsoft.com/office/drawing/2018/hyperlinkcolor" val="tx"/>
                    </a:ext>
                  </a:extLst>
                </a:hlinkClick>
              </a:rPr>
              <a:t>stephen.blanchette@aero.org</a:t>
            </a:r>
            <a:endParaRPr lang="en-US" i="1" dirty="0"/>
          </a:p>
          <a:p>
            <a:pPr>
              <a:lnSpc>
                <a:spcPct val="100000"/>
              </a:lnSpc>
              <a:spcBef>
                <a:spcPts val="0"/>
              </a:spcBef>
            </a:pPr>
            <a:endParaRPr lang="en-US" dirty="0"/>
          </a:p>
        </p:txBody>
      </p:sp>
    </p:spTree>
    <p:extLst>
      <p:ext uri="{BB962C8B-B14F-4D97-AF65-F5344CB8AC3E}">
        <p14:creationId xmlns:p14="http://schemas.microsoft.com/office/powerpoint/2010/main" val="2649067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Long exposure of a rocket launch">
            <a:extLst>
              <a:ext uri="{FF2B5EF4-FFF2-40B4-BE49-F238E27FC236}">
                <a16:creationId xmlns:a16="http://schemas.microsoft.com/office/drawing/2014/main" id="{56B5AB9E-BB5D-1571-47FA-A9808A274950}"/>
              </a:ext>
            </a:extLst>
          </p:cNvPr>
          <p:cNvPicPr>
            <a:picLocks noChangeAspect="1"/>
          </p:cNvPicPr>
          <p:nvPr/>
        </p:nvPicPr>
        <p:blipFill>
          <a:blip r:embed="rId2" cstate="email">
            <a:extLst>
              <a:ext uri="{28A0092B-C50C-407E-A947-70E740481C1C}">
                <a14:useLocalDpi xmlns:a14="http://schemas.microsoft.com/office/drawing/2010/main"/>
              </a:ext>
            </a:extLst>
          </a:blip>
          <a:srcRect l="-160"/>
          <a:stretch/>
        </p:blipFill>
        <p:spPr>
          <a:xfrm>
            <a:off x="7458720" y="0"/>
            <a:ext cx="4732083" cy="2505456"/>
          </a:xfrm>
          <a:custGeom>
            <a:avLst/>
            <a:gdLst/>
            <a:ahLst/>
            <a:cxnLst/>
            <a:rect l="l" t="t" r="r" b="b"/>
            <a:pathLst>
              <a:path w="4810125" h="2501837">
                <a:moveTo>
                  <a:pt x="1159248" y="0"/>
                </a:moveTo>
                <a:lnTo>
                  <a:pt x="4810125" y="0"/>
                </a:lnTo>
                <a:lnTo>
                  <a:pt x="4810125" y="2501837"/>
                </a:lnTo>
                <a:lnTo>
                  <a:pt x="0" y="2501837"/>
                </a:lnTo>
                <a:close/>
              </a:path>
            </a:pathLst>
          </a:custGeom>
        </p:spPr>
      </p:pic>
      <p:pic>
        <p:nvPicPr>
          <p:cNvPr id="8" name="Picture 7" descr="Rocket launch">
            <a:extLst>
              <a:ext uri="{FF2B5EF4-FFF2-40B4-BE49-F238E27FC236}">
                <a16:creationId xmlns:a16="http://schemas.microsoft.com/office/drawing/2014/main" id="{BED58285-47A4-FAE7-1B7D-06DD1D3CFBF0}"/>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 y="-1016"/>
            <a:ext cx="3269243" cy="2505456"/>
          </a:xfrm>
          <a:custGeom>
            <a:avLst/>
            <a:gdLst/>
            <a:ahLst/>
            <a:cxnLst/>
            <a:rect l="l" t="t" r="r" b="b"/>
            <a:pathLst>
              <a:path w="3255403" h="2505456">
                <a:moveTo>
                  <a:pt x="0" y="0"/>
                </a:moveTo>
                <a:lnTo>
                  <a:pt x="3255403" y="0"/>
                </a:lnTo>
                <a:lnTo>
                  <a:pt x="2094477" y="2505456"/>
                </a:lnTo>
                <a:lnTo>
                  <a:pt x="0" y="2505456"/>
                </a:lnTo>
                <a:close/>
              </a:path>
            </a:pathLst>
          </a:custGeom>
        </p:spPr>
      </p:pic>
      <p:pic>
        <p:nvPicPr>
          <p:cNvPr id="17" name="Picture 16" descr="Formulas on a background">
            <a:extLst>
              <a:ext uri="{FF2B5EF4-FFF2-40B4-BE49-F238E27FC236}">
                <a16:creationId xmlns:a16="http://schemas.microsoft.com/office/drawing/2014/main" id="{92E9736C-8978-68FC-9C8F-C8E92A70FDB3}"/>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4675541" y="-6235"/>
            <a:ext cx="3677817" cy="2505456"/>
          </a:xfrm>
          <a:custGeom>
            <a:avLst/>
            <a:gdLst/>
            <a:ahLst/>
            <a:cxnLst/>
            <a:rect l="l" t="t" r="r" b="b"/>
            <a:pathLst>
              <a:path w="3677817" h="2505456">
                <a:moveTo>
                  <a:pt x="1160926" y="0"/>
                </a:moveTo>
                <a:lnTo>
                  <a:pt x="3677817" y="0"/>
                </a:lnTo>
                <a:lnTo>
                  <a:pt x="2516891" y="2505456"/>
                </a:lnTo>
                <a:lnTo>
                  <a:pt x="0" y="2505456"/>
                </a:lnTo>
                <a:close/>
              </a:path>
            </a:pathLst>
          </a:custGeom>
        </p:spPr>
      </p:pic>
      <p:pic>
        <p:nvPicPr>
          <p:cNvPr id="7" name="Picture 6" descr="Astronaut facing light">
            <a:extLst>
              <a:ext uri="{FF2B5EF4-FFF2-40B4-BE49-F238E27FC236}">
                <a16:creationId xmlns:a16="http://schemas.microsoft.com/office/drawing/2014/main" id="{B2072606-1643-1E42-D243-A18DE730586D}"/>
              </a:ext>
            </a:extLst>
          </p:cNvPr>
          <p:cNvPicPr>
            <a:picLocks noChangeAspect="1"/>
          </p:cNvPicPr>
          <p:nvPr/>
        </p:nvPicPr>
        <p:blipFill>
          <a:blip r:embed="rId5" cstate="email">
            <a:extLst>
              <a:ext uri="{28A0092B-C50C-407E-A947-70E740481C1C}">
                <a14:useLocalDpi xmlns:a14="http://schemas.microsoft.com/office/drawing/2010/main"/>
              </a:ext>
            </a:extLst>
          </a:blip>
          <a:srcRect b="-3"/>
          <a:stretch/>
        </p:blipFill>
        <p:spPr>
          <a:xfrm>
            <a:off x="20" y="2658277"/>
            <a:ext cx="3770704" cy="4199724"/>
          </a:xfrm>
          <a:custGeom>
            <a:avLst/>
            <a:gdLst/>
            <a:ahLst/>
            <a:cxnLst/>
            <a:rect l="l" t="t" r="r" b="b"/>
            <a:pathLst>
              <a:path w="3770724" h="4199724">
                <a:moveTo>
                  <a:pt x="0" y="0"/>
                </a:moveTo>
                <a:lnTo>
                  <a:pt x="3770724" y="0"/>
                </a:lnTo>
                <a:lnTo>
                  <a:pt x="1824067" y="4199724"/>
                </a:lnTo>
                <a:lnTo>
                  <a:pt x="0" y="4199724"/>
                </a:lnTo>
                <a:close/>
              </a:path>
            </a:pathLst>
          </a:custGeom>
        </p:spPr>
      </p:pic>
      <p:pic>
        <p:nvPicPr>
          <p:cNvPr id="11" name="Picture 10" descr="Minimalist globe graphic">
            <a:extLst>
              <a:ext uri="{FF2B5EF4-FFF2-40B4-BE49-F238E27FC236}">
                <a16:creationId xmlns:a16="http://schemas.microsoft.com/office/drawing/2014/main" id="{A8B802AE-3833-8CAA-691D-A36FD434C961}"/>
              </a:ext>
            </a:extLst>
          </p:cNvPr>
          <p:cNvPicPr>
            <a:picLocks noChangeAspect="1"/>
          </p:cNvPicPr>
          <p:nvPr/>
        </p:nvPicPr>
        <p:blipFill>
          <a:blip r:embed="rId6" cstate="email">
            <a:extLst>
              <a:ext uri="{28A0092B-C50C-407E-A947-70E740481C1C}">
                <a14:useLocalDpi xmlns:a14="http://schemas.microsoft.com/office/drawing/2010/main"/>
              </a:ext>
            </a:extLst>
          </a:blip>
          <a:srcRect r="-4"/>
          <a:stretch/>
        </p:blipFill>
        <p:spPr>
          <a:xfrm>
            <a:off x="2013797" y="2661902"/>
            <a:ext cx="5108727" cy="4197911"/>
          </a:xfrm>
          <a:custGeom>
            <a:avLst/>
            <a:gdLst/>
            <a:ahLst/>
            <a:cxnLst/>
            <a:rect l="l" t="t" r="r" b="b"/>
            <a:pathLst>
              <a:path w="5108726" h="4197911">
                <a:moveTo>
                  <a:pt x="1945141" y="0"/>
                </a:moveTo>
                <a:lnTo>
                  <a:pt x="5108726" y="0"/>
                </a:lnTo>
                <a:lnTo>
                  <a:pt x="3163585" y="4197911"/>
                </a:lnTo>
                <a:lnTo>
                  <a:pt x="3157362" y="4197911"/>
                </a:lnTo>
                <a:lnTo>
                  <a:pt x="1967571" y="4197911"/>
                </a:lnTo>
                <a:lnTo>
                  <a:pt x="317526" y="4197911"/>
                </a:lnTo>
                <a:lnTo>
                  <a:pt x="0" y="4197911"/>
                </a:lnTo>
                <a:close/>
              </a:path>
            </a:pathLst>
          </a:custGeom>
        </p:spPr>
      </p:pic>
      <p:sp>
        <p:nvSpPr>
          <p:cNvPr id="28" name="TextBox 27">
            <a:extLst>
              <a:ext uri="{FF2B5EF4-FFF2-40B4-BE49-F238E27FC236}">
                <a16:creationId xmlns:a16="http://schemas.microsoft.com/office/drawing/2014/main" id="{4A237A66-1074-628E-ED27-3CFA317AEA52}"/>
              </a:ext>
            </a:extLst>
          </p:cNvPr>
          <p:cNvSpPr txBox="1"/>
          <p:nvPr/>
        </p:nvSpPr>
        <p:spPr>
          <a:xfrm>
            <a:off x="6937217" y="3941390"/>
            <a:ext cx="4997355" cy="2459415"/>
          </a:xfrm>
          <a:prstGeom prst="rect">
            <a:avLst/>
          </a:prstGeom>
        </p:spPr>
        <p:txBody>
          <a:bodyPr vert="horz" lIns="91440" tIns="45720" rIns="91440" bIns="45720" rtlCol="0" anchor="t">
            <a:normAutofit/>
          </a:bodyPr>
          <a:lstStyle/>
          <a:p>
            <a:pPr marL="228589" indent="-226473" algn="ctr">
              <a:buClr>
                <a:srgbClr val="FFFF99"/>
              </a:buClr>
            </a:pPr>
            <a:r>
              <a:rPr lang="en-US" sz="3467" b="1" kern="0" dirty="0">
                <a:solidFill>
                  <a:srgbClr val="FFFFFF"/>
                </a:solidFill>
                <a:latin typeface="Figtree"/>
                <a:cs typeface="Helvetica" charset="0"/>
              </a:rPr>
              <a:t>Space and Missiles Group</a:t>
            </a:r>
          </a:p>
          <a:p>
            <a:pPr marL="228589" indent="-226473" defTabSz="914377">
              <a:spcBef>
                <a:spcPct val="20000"/>
              </a:spcBef>
              <a:buClr>
                <a:srgbClr val="FFFF99"/>
              </a:buClr>
              <a:buFont typeface="Wingdings" charset="2"/>
              <a:buChar char="Ø"/>
              <a:defRPr/>
            </a:pPr>
            <a:endParaRPr lang="en-US" sz="1867" i="1" kern="0" dirty="0">
              <a:solidFill>
                <a:srgbClr val="FFFFFF"/>
              </a:solidFill>
              <a:latin typeface="Figtree"/>
              <a:cs typeface="Helvetica" charset="0"/>
            </a:endParaRPr>
          </a:p>
          <a:p>
            <a:pPr marL="228589" indent="-226473" defTabSz="914377">
              <a:spcBef>
                <a:spcPct val="20000"/>
              </a:spcBef>
              <a:buClr>
                <a:schemeClr val="bg1"/>
              </a:buClr>
              <a:buFont typeface="Wingdings" charset="2"/>
              <a:buChar char="Ø"/>
              <a:defRPr/>
            </a:pPr>
            <a:r>
              <a:rPr lang="en-US" sz="1867" i="1" kern="0" dirty="0">
                <a:solidFill>
                  <a:srgbClr val="FFFFFF"/>
                </a:solidFill>
                <a:latin typeface="Figtree"/>
                <a:cs typeface="Helvetica" charset="0"/>
              </a:rPr>
              <a:t>At the center of a </a:t>
            </a:r>
            <a:r>
              <a:rPr lang="en-US" sz="2133" kern="0" dirty="0">
                <a:solidFill>
                  <a:srgbClr val="FFFFFF"/>
                </a:solidFill>
                <a:latin typeface="Figtree"/>
                <a:cs typeface="Helvetica" charset="0"/>
              </a:rPr>
              <a:t>New Space Age</a:t>
            </a:r>
            <a:r>
              <a:rPr lang="en-US" sz="1867" i="1" kern="0" dirty="0">
                <a:solidFill>
                  <a:srgbClr val="FFFFFF"/>
                </a:solidFill>
                <a:latin typeface="Figtree"/>
                <a:cs typeface="Helvetica" charset="0"/>
              </a:rPr>
              <a:t>, our members transform science fiction into reality – every day</a:t>
            </a:r>
          </a:p>
          <a:p>
            <a:pPr marL="533373" lvl="1" indent="-226473" defTabSz="914377">
              <a:spcBef>
                <a:spcPct val="20000"/>
              </a:spcBef>
              <a:buClr>
                <a:schemeClr val="bg1"/>
              </a:buClr>
              <a:buFont typeface="Wingdings" charset="2"/>
              <a:buChar char="Ø"/>
              <a:defRPr/>
            </a:pPr>
            <a:r>
              <a:rPr lang="en-US" sz="1600" i="1" kern="0" dirty="0">
                <a:solidFill>
                  <a:srgbClr val="FFFFFF"/>
                </a:solidFill>
                <a:latin typeface="Figtree"/>
                <a:cs typeface="Helvetica" charset="0"/>
              </a:rPr>
              <a:t>exploration, research, commerce, tourism, defense…</a:t>
            </a:r>
          </a:p>
        </p:txBody>
      </p:sp>
      <p:pic>
        <p:nvPicPr>
          <p:cNvPr id="9" name="Picture 8" descr="Milky way galaxy with stars and space dust in the universe">
            <a:extLst>
              <a:ext uri="{FF2B5EF4-FFF2-40B4-BE49-F238E27FC236}">
                <a16:creationId xmlns:a16="http://schemas.microsoft.com/office/drawing/2014/main" id="{EE61E83C-79B9-F88E-2F94-AF946A3FBE07}"/>
              </a:ext>
            </a:extLst>
          </p:cNvPr>
          <p:cNvPicPr>
            <a:picLocks noChangeAspect="1"/>
          </p:cNvPicPr>
          <p:nvPr/>
        </p:nvPicPr>
        <p:blipFill>
          <a:blip r:embed="rId7" cstate="email">
            <a:extLst>
              <a:ext uri="{28A0092B-C50C-407E-A947-70E740481C1C}">
                <a14:useLocalDpi xmlns:a14="http://schemas.microsoft.com/office/drawing/2010/main"/>
              </a:ext>
            </a:extLst>
          </a:blip>
          <a:srcRect/>
          <a:stretch/>
        </p:blipFill>
        <p:spPr>
          <a:xfrm>
            <a:off x="2261970" y="1"/>
            <a:ext cx="3393943" cy="2502843"/>
          </a:xfrm>
          <a:custGeom>
            <a:avLst/>
            <a:gdLst/>
            <a:ahLst/>
            <a:cxnLst/>
            <a:rect l="l" t="t" r="r" b="b"/>
            <a:pathLst>
              <a:path w="3393943" h="2502843">
                <a:moveTo>
                  <a:pt x="1159715" y="0"/>
                </a:moveTo>
                <a:lnTo>
                  <a:pt x="3393943" y="0"/>
                </a:lnTo>
                <a:lnTo>
                  <a:pt x="2234228" y="2502843"/>
                </a:lnTo>
                <a:lnTo>
                  <a:pt x="0" y="2502843"/>
                </a:lnTo>
                <a:close/>
              </a:path>
            </a:pathLst>
          </a:custGeom>
        </p:spPr>
      </p:pic>
    </p:spTree>
    <p:extLst>
      <p:ext uri="{BB962C8B-B14F-4D97-AF65-F5344CB8AC3E}">
        <p14:creationId xmlns:p14="http://schemas.microsoft.com/office/powerpoint/2010/main" val="2643693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CF8F5E4C-F83A-6286-FBA3-FB4CE22EE051}"/>
              </a:ext>
            </a:extLst>
          </p:cNvPr>
          <p:cNvPicPr>
            <a:picLocks noGrp="1" noChangeAspect="1"/>
          </p:cNvPicPr>
          <p:nvPr>
            <p:ph type="pic" idx="1"/>
          </p:nvPr>
        </p:nvPicPr>
        <p:blipFill>
          <a:blip r:embed="rId2">
            <a:extLst>
              <a:ext uri="{28A0092B-C50C-407E-A947-70E740481C1C}">
                <a14:useLocalDpi xmlns:a14="http://schemas.microsoft.com/office/drawing/2010/main"/>
              </a:ext>
            </a:extLst>
          </a:blip>
          <a:srcRect/>
          <a:stretch/>
        </p:blipFill>
        <p:spPr/>
      </p:pic>
      <p:sp>
        <p:nvSpPr>
          <p:cNvPr id="2" name="Title 1">
            <a:extLst>
              <a:ext uri="{FF2B5EF4-FFF2-40B4-BE49-F238E27FC236}">
                <a16:creationId xmlns:a16="http://schemas.microsoft.com/office/drawing/2014/main" id="{A8B4A3C2-7D01-8AC0-DA95-4FE39D77084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E0267494-B685-2CDA-30F1-F5847417596E}"/>
              </a:ext>
            </a:extLst>
          </p:cNvPr>
          <p:cNvSpPr>
            <a:spLocks noGrp="1"/>
          </p:cNvSpPr>
          <p:nvPr>
            <p:ph type="body" sz="half" idx="2"/>
          </p:nvPr>
        </p:nvSpPr>
        <p:spPr/>
        <p:txBody>
          <a:bodyPr/>
          <a:lstStyle/>
          <a:p>
            <a:r>
              <a:rPr lang="en-US" sz="2667" dirty="0"/>
              <a:t>About Me</a:t>
            </a:r>
          </a:p>
          <a:p>
            <a:r>
              <a:rPr lang="en-US" sz="2667" dirty="0"/>
              <a:t>Brief Governance Review</a:t>
            </a:r>
          </a:p>
          <a:p>
            <a:r>
              <a:rPr lang="en-US" sz="2667" dirty="0"/>
              <a:t>SMG Refresh</a:t>
            </a:r>
          </a:p>
          <a:p>
            <a:r>
              <a:rPr lang="en-US" sz="2667" dirty="0"/>
              <a:t>TAD Updates</a:t>
            </a:r>
          </a:p>
          <a:p>
            <a:r>
              <a:rPr lang="en-US" sz="2667" dirty="0"/>
              <a:t>AIAA Updates</a:t>
            </a:r>
          </a:p>
          <a:p>
            <a:r>
              <a:rPr lang="en-US" sz="2667" dirty="0"/>
              <a:t>Questions</a:t>
            </a:r>
          </a:p>
        </p:txBody>
      </p:sp>
      <p:sp>
        <p:nvSpPr>
          <p:cNvPr id="5" name="Slide Number Placeholder 1">
            <a:extLst>
              <a:ext uri="{FF2B5EF4-FFF2-40B4-BE49-F238E27FC236}">
                <a16:creationId xmlns:a16="http://schemas.microsoft.com/office/drawing/2014/main" id="{BC2E59D6-50DE-AF52-55C2-05BC24FE1CCC}"/>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3</a:t>
            </a:fld>
            <a:endParaRPr lang="en-US" dirty="0">
              <a:solidFill>
                <a:srgbClr val="FFFFFF"/>
              </a:solidFill>
            </a:endParaRPr>
          </a:p>
        </p:txBody>
      </p:sp>
      <p:sp>
        <p:nvSpPr>
          <p:cNvPr id="6" name="Slide Number Placeholder 5">
            <a:extLst>
              <a:ext uri="{FF2B5EF4-FFF2-40B4-BE49-F238E27FC236}">
                <a16:creationId xmlns:a16="http://schemas.microsoft.com/office/drawing/2014/main" id="{6BA50DD7-0F80-323A-9AA2-EEF0382702E3}"/>
              </a:ext>
            </a:extLst>
          </p:cNvPr>
          <p:cNvSpPr>
            <a:spLocks noGrp="1"/>
          </p:cNvSpPr>
          <p:nvPr>
            <p:ph type="sldNum" sz="quarter" idx="12"/>
          </p:nvPr>
        </p:nvSpPr>
        <p:spPr/>
        <p:txBody>
          <a:bodyPr/>
          <a:lstStyle/>
          <a:p>
            <a:fld id="{8FBCB428-D880-FC4A-9B26-64132A65A030}" type="slidenum">
              <a:rPr lang="en-US" smtClean="0"/>
              <a:pPr/>
              <a:t>3</a:t>
            </a:fld>
            <a:endParaRPr lang="en-US" dirty="0"/>
          </a:p>
        </p:txBody>
      </p:sp>
    </p:spTree>
    <p:extLst>
      <p:ext uri="{BB962C8B-B14F-4D97-AF65-F5344CB8AC3E}">
        <p14:creationId xmlns:p14="http://schemas.microsoft.com/office/powerpoint/2010/main" val="759870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02FD77-5D07-418A-883C-FCFCC5AD0BF5}"/>
              </a:ext>
            </a:extLst>
          </p:cNvPr>
          <p:cNvSpPr>
            <a:spLocks noGrp="1"/>
          </p:cNvSpPr>
          <p:nvPr>
            <p:ph type="sldNum" sz="quarter" idx="12"/>
          </p:nvPr>
        </p:nvSpPr>
        <p:spPr/>
        <p:txBody>
          <a:bodyPr/>
          <a:lstStyle/>
          <a:p>
            <a:pPr defTabSz="1219140">
              <a:defRPr/>
            </a:pPr>
            <a:fld id="{B586D440-F702-449A-AAC2-9ACFF17038B8}" type="slidenum">
              <a:rPr lang="en-US">
                <a:solidFill>
                  <a:srgbClr val="000000"/>
                </a:solidFill>
                <a:latin typeface="Arial" charset="0"/>
              </a:rPr>
              <a:pPr defTabSz="1219140">
                <a:defRPr/>
              </a:pPr>
              <a:t>4</a:t>
            </a:fld>
            <a:endParaRPr lang="en-US" dirty="0">
              <a:solidFill>
                <a:srgbClr val="000000"/>
              </a:solidFill>
              <a:latin typeface="Arial" charset="0"/>
            </a:endParaRPr>
          </a:p>
        </p:txBody>
      </p:sp>
      <p:pic>
        <p:nvPicPr>
          <p:cNvPr id="7" name="Content Placeholder 6" descr="A person wearing a suit and tie&#10;&#10;Description automatically generated with medium confidence">
            <a:extLst>
              <a:ext uri="{FF2B5EF4-FFF2-40B4-BE49-F238E27FC236}">
                <a16:creationId xmlns:a16="http://schemas.microsoft.com/office/drawing/2014/main" id="{6B656918-47F3-45C4-8E0C-76367388A523}"/>
              </a:ext>
            </a:extLst>
          </p:cNvPr>
          <p:cNvPicPr>
            <a:picLocks noGrp="1" noChangeAspect="1"/>
          </p:cNvPicPr>
          <p:nvPr>
            <p:ph idx="4294967295"/>
          </p:nvPr>
        </p:nvPicPr>
        <p:blipFill>
          <a:blip r:embed="rId3" cstate="email">
            <a:extLst>
              <a:ext uri="{28A0092B-C50C-407E-A947-70E740481C1C}">
                <a14:useLocalDpi xmlns:a14="http://schemas.microsoft.com/office/drawing/2010/main"/>
              </a:ext>
            </a:extLst>
          </a:blip>
          <a:stretch/>
        </p:blipFill>
        <p:spPr>
          <a:xfrm>
            <a:off x="9369177" y="447675"/>
            <a:ext cx="2395537" cy="3192463"/>
          </a:xfrm>
          <a:prstGeom prst="rect">
            <a:avLst/>
          </a:prstGeom>
          <a:ln w="38100">
            <a:solidFill>
              <a:schemeClr val="accent2"/>
            </a:solidFill>
          </a:ln>
        </p:spPr>
      </p:pic>
      <p:sp>
        <p:nvSpPr>
          <p:cNvPr id="3" name="Content Placeholder 2">
            <a:extLst>
              <a:ext uri="{FF2B5EF4-FFF2-40B4-BE49-F238E27FC236}">
                <a16:creationId xmlns:a16="http://schemas.microsoft.com/office/drawing/2014/main" id="{21658F6F-55CF-4293-9C02-32F2222A9847}"/>
              </a:ext>
            </a:extLst>
          </p:cNvPr>
          <p:cNvSpPr>
            <a:spLocks noGrp="1"/>
          </p:cNvSpPr>
          <p:nvPr>
            <p:ph type="body" sz="half" idx="4294967295"/>
          </p:nvPr>
        </p:nvSpPr>
        <p:spPr>
          <a:xfrm>
            <a:off x="555477" y="1789113"/>
            <a:ext cx="10536964" cy="3332162"/>
          </a:xfrm>
          <a:prstGeom prst="rect">
            <a:avLst/>
          </a:prstGeom>
        </p:spPr>
        <p:txBody>
          <a:bodyPr/>
          <a:lstStyle/>
          <a:p>
            <a:r>
              <a:rPr lang="en-US" sz="1800" dirty="0">
                <a:latin typeface="Figtree"/>
              </a:rPr>
              <a:t>AIAA Fellow; continuous AIAA membership since college</a:t>
            </a:r>
          </a:p>
          <a:p>
            <a:pPr lvl="1">
              <a:buFont typeface="Wingdings" panose="05000000000000000000" pitchFamily="2" charset="2"/>
              <a:buChar char="§"/>
            </a:pPr>
            <a:r>
              <a:rPr lang="en-US" sz="1800" dirty="0">
                <a:latin typeface="Figtree"/>
              </a:rPr>
              <a:t>Former Deputy Director of the Information Systems Group</a:t>
            </a:r>
          </a:p>
          <a:p>
            <a:pPr lvl="1">
              <a:buFont typeface="Wingdings" panose="05000000000000000000" pitchFamily="2" charset="2"/>
              <a:buChar char="§"/>
            </a:pPr>
            <a:r>
              <a:rPr lang="en-US" sz="1800" dirty="0">
                <a:latin typeface="Figtree"/>
              </a:rPr>
              <a:t>Long-time member of the Software TC, including deputy chair</a:t>
            </a:r>
          </a:p>
          <a:p>
            <a:pPr lvl="1">
              <a:buFont typeface="Wingdings" panose="05000000000000000000" pitchFamily="2" charset="2"/>
              <a:buChar char="§"/>
            </a:pPr>
            <a:r>
              <a:rPr lang="en-US" sz="1800" dirty="0">
                <a:latin typeface="Figtree"/>
              </a:rPr>
              <a:t>Charter member of Netcentric Ops PC, Aerospace Cybersecurity WG, &amp; Defense WG</a:t>
            </a:r>
          </a:p>
          <a:p>
            <a:pPr lvl="1">
              <a:buFont typeface="Wingdings" panose="05000000000000000000" pitchFamily="2" charset="2"/>
              <a:buChar char="§"/>
            </a:pPr>
            <a:r>
              <a:rPr lang="en-US" sz="1800" dirty="0">
                <a:latin typeface="Figtree"/>
              </a:rPr>
              <a:t>Various conference roles, including SciTech program committee 2018/2019</a:t>
            </a:r>
          </a:p>
          <a:p>
            <a:r>
              <a:rPr lang="en-US" sz="1800" dirty="0">
                <a:latin typeface="Figtree"/>
              </a:rPr>
              <a:t>BS, Computer Science from Embry-Riddle </a:t>
            </a:r>
          </a:p>
          <a:p>
            <a:pPr lvl="1"/>
            <a:r>
              <a:rPr lang="en-US" sz="1400" dirty="0">
                <a:latin typeface="Figtree"/>
              </a:rPr>
              <a:t>MA, Diplomacy from Norwich University</a:t>
            </a:r>
          </a:p>
          <a:p>
            <a:pPr lvl="1"/>
            <a:r>
              <a:rPr lang="en-US" sz="1400" dirty="0">
                <a:latin typeface="Figtree"/>
              </a:rPr>
              <a:t>Additional graduate certificates from UC Santa Cruz, University of Pittsburgh, and Carnegie Mellon University</a:t>
            </a:r>
          </a:p>
          <a:p>
            <a:r>
              <a:rPr lang="en-US" sz="1800" dirty="0">
                <a:latin typeface="Figtree"/>
              </a:rPr>
              <a:t>Entire career in the Aerospace and Defense Industry</a:t>
            </a:r>
          </a:p>
          <a:p>
            <a:pPr lvl="1">
              <a:buFont typeface="Wingdings" panose="05000000000000000000" pitchFamily="2" charset="2"/>
              <a:buChar char="§"/>
            </a:pPr>
            <a:r>
              <a:rPr lang="en-US" sz="1800" dirty="0">
                <a:latin typeface="Figtree"/>
              </a:rPr>
              <a:t>Software Engineer, Software Manager, Business Developer, Acquisition Specialist &amp; Consultant</a:t>
            </a:r>
          </a:p>
          <a:p>
            <a:pPr lvl="1">
              <a:buFont typeface="Wingdings" panose="05000000000000000000" pitchFamily="2" charset="2"/>
              <a:buChar char="§"/>
            </a:pPr>
            <a:r>
              <a:rPr lang="en-US" sz="1800" dirty="0">
                <a:latin typeface="Figtree"/>
              </a:rPr>
              <a:t>Currently, </a:t>
            </a:r>
            <a:r>
              <a:rPr lang="en-US" sz="1800" i="1" dirty="0">
                <a:latin typeface="Figtree"/>
              </a:rPr>
              <a:t>Director of Software Systems &amp; Acquisition </a:t>
            </a:r>
            <a:r>
              <a:rPr lang="en-US" sz="1800" dirty="0">
                <a:latin typeface="Figtree"/>
              </a:rPr>
              <a:t>at The Aerospace Corporation</a:t>
            </a:r>
          </a:p>
        </p:txBody>
      </p:sp>
      <p:sp>
        <p:nvSpPr>
          <p:cNvPr id="2" name="Title 12">
            <a:extLst>
              <a:ext uri="{FF2B5EF4-FFF2-40B4-BE49-F238E27FC236}">
                <a16:creationId xmlns:a16="http://schemas.microsoft.com/office/drawing/2014/main" id="{AFF4C496-2FFA-9590-CB68-1026B309EE18}"/>
              </a:ext>
            </a:extLst>
          </p:cNvPr>
          <p:cNvSpPr txBox="1">
            <a:spLocks/>
          </p:cNvSpPr>
          <p:nvPr/>
        </p:nvSpPr>
        <p:spPr>
          <a:xfrm>
            <a:off x="566929" y="447042"/>
            <a:ext cx="11491993" cy="1169207"/>
          </a:xfrm>
          <a:prstGeom prst="rect">
            <a:avLst/>
          </a:prstGeom>
        </p:spPr>
        <p:txBody>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b="1" dirty="0">
                <a:solidFill>
                  <a:srgbClr val="2E7BA8"/>
                </a:solidFill>
                <a:latin typeface="Figtree SemiBold"/>
              </a:rPr>
              <a:t>Stephen Blanchette</a:t>
            </a:r>
            <a:br>
              <a:rPr lang="en-US" sz="4800" dirty="0">
                <a:solidFill>
                  <a:srgbClr val="2E7BA8"/>
                </a:solidFill>
              </a:rPr>
            </a:br>
            <a:r>
              <a:rPr lang="en-US" sz="2400" b="1" i="1" dirty="0">
                <a:solidFill>
                  <a:srgbClr val="2E7BA8"/>
                </a:solidFill>
                <a:latin typeface="Figtree SemiBold"/>
              </a:rPr>
              <a:t>Director, AIAA Space and Missiles Group (2026-2029)</a:t>
            </a:r>
            <a:endParaRPr lang="en-US" sz="4800" b="1" i="1" dirty="0">
              <a:solidFill>
                <a:srgbClr val="2E7BA8"/>
              </a:solidFill>
              <a:latin typeface="Figtree SemiBold"/>
            </a:endParaRPr>
          </a:p>
        </p:txBody>
      </p:sp>
    </p:spTree>
    <p:extLst>
      <p:ext uri="{BB962C8B-B14F-4D97-AF65-F5344CB8AC3E}">
        <p14:creationId xmlns:p14="http://schemas.microsoft.com/office/powerpoint/2010/main" val="2986008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CA0D0A3-9F1D-DC35-B026-FD8D1782FA54}"/>
              </a:ext>
            </a:extLst>
          </p:cNvPr>
          <p:cNvSpPr>
            <a:spLocks noGrp="1"/>
          </p:cNvSpPr>
          <p:nvPr>
            <p:ph type="title"/>
          </p:nvPr>
        </p:nvSpPr>
        <p:spPr/>
        <p:txBody>
          <a:bodyPr/>
          <a:lstStyle/>
          <a:p>
            <a:r>
              <a:rPr lang="en-US" dirty="0"/>
              <a:t>SMG Director’s Priorities – 2026</a:t>
            </a:r>
          </a:p>
        </p:txBody>
      </p:sp>
      <p:sp>
        <p:nvSpPr>
          <p:cNvPr id="9" name="Content Placeholder 8">
            <a:extLst>
              <a:ext uri="{FF2B5EF4-FFF2-40B4-BE49-F238E27FC236}">
                <a16:creationId xmlns:a16="http://schemas.microsoft.com/office/drawing/2014/main" id="{A970DC34-7BB8-3F29-CD28-075F9CC877A4}"/>
              </a:ext>
            </a:extLst>
          </p:cNvPr>
          <p:cNvSpPr>
            <a:spLocks noGrp="1"/>
          </p:cNvSpPr>
          <p:nvPr>
            <p:ph idx="1"/>
          </p:nvPr>
        </p:nvSpPr>
        <p:spPr/>
        <p:txBody>
          <a:bodyPr>
            <a:normAutofit/>
          </a:bodyPr>
          <a:lstStyle/>
          <a:p>
            <a:pPr>
              <a:lnSpc>
                <a:spcPct val="120000"/>
              </a:lnSpc>
              <a:spcBef>
                <a:spcPts val="400"/>
              </a:spcBef>
            </a:pPr>
            <a:r>
              <a:rPr lang="en-US" sz="2400" dirty="0"/>
              <a:t>Complete the refresh of our space-related TCs</a:t>
            </a:r>
          </a:p>
          <a:p>
            <a:pPr>
              <a:lnSpc>
                <a:spcPct val="120000"/>
              </a:lnSpc>
              <a:spcBef>
                <a:spcPts val="400"/>
              </a:spcBef>
            </a:pPr>
            <a:endParaRPr lang="en-US" sz="2400" dirty="0"/>
          </a:p>
          <a:p>
            <a:pPr>
              <a:lnSpc>
                <a:spcPct val="120000"/>
              </a:lnSpc>
              <a:spcBef>
                <a:spcPts val="400"/>
              </a:spcBef>
            </a:pPr>
            <a:r>
              <a:rPr lang="en-US" sz="2400" dirty="0"/>
              <a:t>Continue improving TC connections to planning for SciTech, DEFENSE, and, especially, ASCEND</a:t>
            </a:r>
          </a:p>
          <a:p>
            <a:pPr>
              <a:lnSpc>
                <a:spcPct val="120000"/>
              </a:lnSpc>
              <a:spcBef>
                <a:spcPts val="400"/>
              </a:spcBef>
            </a:pPr>
            <a:endParaRPr lang="en-US" sz="2400" dirty="0"/>
          </a:p>
          <a:p>
            <a:pPr>
              <a:lnSpc>
                <a:spcPct val="120000"/>
              </a:lnSpc>
              <a:spcBef>
                <a:spcPts val="400"/>
              </a:spcBef>
            </a:pPr>
            <a:r>
              <a:rPr lang="en-US" sz="2400" dirty="0"/>
              <a:t>Succession planning for next SMG Director (2029-2031)</a:t>
            </a:r>
          </a:p>
          <a:p>
            <a:pPr lvl="1"/>
            <a:r>
              <a:rPr lang="en-US" sz="1867" dirty="0"/>
              <a:t>Have been sounding out/encouraging past TC chairs</a:t>
            </a:r>
          </a:p>
          <a:p>
            <a:pPr lvl="1"/>
            <a:r>
              <a:rPr lang="en-US" sz="1867" dirty="0"/>
              <a:t>Have been dropping hints at every TC meeting I’ve attended</a:t>
            </a:r>
          </a:p>
          <a:p>
            <a:pPr lvl="1"/>
            <a:r>
              <a:rPr lang="en-US" sz="1867" dirty="0"/>
              <a:t>Want at least two viable candidates</a:t>
            </a:r>
          </a:p>
          <a:p>
            <a:pPr lvl="1"/>
            <a:r>
              <a:rPr lang="en-US" sz="1867" dirty="0"/>
              <a:t>Interested? Talk to me!</a:t>
            </a:r>
          </a:p>
        </p:txBody>
      </p:sp>
      <p:sp>
        <p:nvSpPr>
          <p:cNvPr id="3" name="Slide Number Placeholder 5">
            <a:extLst>
              <a:ext uri="{FF2B5EF4-FFF2-40B4-BE49-F238E27FC236}">
                <a16:creationId xmlns:a16="http://schemas.microsoft.com/office/drawing/2014/main" id="{61AA9132-8E99-CC6A-FD17-2E108B93A5C3}"/>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5</a:t>
            </a:fld>
            <a:endParaRPr lang="en-US" sz="1000" dirty="0">
              <a:solidFill>
                <a:srgbClr val="FFFFFF"/>
              </a:solidFill>
            </a:endParaRPr>
          </a:p>
        </p:txBody>
      </p:sp>
      <p:cxnSp>
        <p:nvCxnSpPr>
          <p:cNvPr id="4" name="Straight Connector 3">
            <a:extLst>
              <a:ext uri="{FF2B5EF4-FFF2-40B4-BE49-F238E27FC236}">
                <a16:creationId xmlns:a16="http://schemas.microsoft.com/office/drawing/2014/main" id="{4C21D1C1-33FC-9604-9D21-9E111FFE6302}"/>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1">
            <a:extLst>
              <a:ext uri="{FF2B5EF4-FFF2-40B4-BE49-F238E27FC236}">
                <a16:creationId xmlns:a16="http://schemas.microsoft.com/office/drawing/2014/main" id="{23B9261C-C067-659C-A7C5-8FC6B970E278}"/>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5</a:t>
            </a:fld>
            <a:endParaRPr lang="en-US" dirty="0">
              <a:solidFill>
                <a:srgbClr val="FFFFFF"/>
              </a:solidFill>
            </a:endParaRPr>
          </a:p>
        </p:txBody>
      </p:sp>
      <p:cxnSp>
        <p:nvCxnSpPr>
          <p:cNvPr id="6" name="Straight Connector 5">
            <a:extLst>
              <a:ext uri="{FF2B5EF4-FFF2-40B4-BE49-F238E27FC236}">
                <a16:creationId xmlns:a16="http://schemas.microsoft.com/office/drawing/2014/main" id="{2F1D5C11-56A7-AF4F-8F7A-20E1BC2768D4}"/>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17E9601A-C2CB-F9FA-D7E9-00B6E60DD9EF}"/>
              </a:ext>
            </a:extLst>
          </p:cNvPr>
          <p:cNvSpPr>
            <a:spLocks noGrp="1"/>
          </p:cNvSpPr>
          <p:nvPr>
            <p:ph type="sldNum" sz="quarter" idx="12"/>
          </p:nvPr>
        </p:nvSpPr>
        <p:spPr/>
        <p:txBody>
          <a:bodyPr/>
          <a:lstStyle/>
          <a:p>
            <a:fld id="{8FBCB428-D880-FC4A-9B26-64132A65A030}" type="slidenum">
              <a:rPr lang="en-US" smtClean="0"/>
              <a:pPr/>
              <a:t>5</a:t>
            </a:fld>
            <a:endParaRPr lang="en-US" dirty="0"/>
          </a:p>
        </p:txBody>
      </p:sp>
    </p:spTree>
    <p:extLst>
      <p:ext uri="{BB962C8B-B14F-4D97-AF65-F5344CB8AC3E}">
        <p14:creationId xmlns:p14="http://schemas.microsoft.com/office/powerpoint/2010/main" val="1051756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FCC28-F676-50C3-F155-CC21BE23FBAC}"/>
              </a:ext>
            </a:extLst>
          </p:cNvPr>
          <p:cNvSpPr>
            <a:spLocks noGrp="1"/>
          </p:cNvSpPr>
          <p:nvPr>
            <p:ph type="title"/>
          </p:nvPr>
        </p:nvSpPr>
        <p:spPr/>
        <p:txBody>
          <a:bodyPr/>
          <a:lstStyle/>
          <a:p>
            <a:r>
              <a:rPr lang="en-US" sz="6400" kern="0" dirty="0">
                <a:solidFill>
                  <a:srgbClr val="FFFFFF"/>
                </a:solidFill>
                <a:latin typeface="Figtree SemiBold"/>
                <a:ea typeface="ＭＳ Ｐゴシック"/>
              </a:rPr>
              <a:t>AIAA Governance Overview</a:t>
            </a:r>
            <a:endParaRPr lang="en-US" dirty="0">
              <a:latin typeface="Figtree SemiBold"/>
            </a:endParaRPr>
          </a:p>
        </p:txBody>
      </p:sp>
      <p:sp>
        <p:nvSpPr>
          <p:cNvPr id="4" name="Slide Number Placeholder 1">
            <a:extLst>
              <a:ext uri="{FF2B5EF4-FFF2-40B4-BE49-F238E27FC236}">
                <a16:creationId xmlns:a16="http://schemas.microsoft.com/office/drawing/2014/main" id="{6F2EFCD2-480E-CB43-D132-3805125D919B}"/>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6</a:t>
            </a:fld>
            <a:endParaRPr lang="en-US" dirty="0">
              <a:solidFill>
                <a:srgbClr val="FFFFFF"/>
              </a:solidFill>
            </a:endParaRPr>
          </a:p>
        </p:txBody>
      </p:sp>
      <p:sp>
        <p:nvSpPr>
          <p:cNvPr id="3" name="Slide Number Placeholder 2">
            <a:extLst>
              <a:ext uri="{FF2B5EF4-FFF2-40B4-BE49-F238E27FC236}">
                <a16:creationId xmlns:a16="http://schemas.microsoft.com/office/drawing/2014/main" id="{44B2812D-24F2-B2C9-5FCA-685889373798}"/>
              </a:ext>
            </a:extLst>
          </p:cNvPr>
          <p:cNvSpPr>
            <a:spLocks noGrp="1"/>
          </p:cNvSpPr>
          <p:nvPr>
            <p:ph type="sldNum" sz="quarter" idx="12"/>
          </p:nvPr>
        </p:nvSpPr>
        <p:spPr/>
        <p:txBody>
          <a:bodyPr/>
          <a:lstStyle/>
          <a:p>
            <a:fld id="{8FBCB428-D880-FC4A-9B26-64132A65A030}" type="slidenum">
              <a:rPr lang="en-US" smtClean="0"/>
              <a:pPr/>
              <a:t>6</a:t>
            </a:fld>
            <a:endParaRPr lang="en-US" dirty="0"/>
          </a:p>
        </p:txBody>
      </p:sp>
    </p:spTree>
    <p:extLst>
      <p:ext uri="{BB962C8B-B14F-4D97-AF65-F5344CB8AC3E}">
        <p14:creationId xmlns:p14="http://schemas.microsoft.com/office/powerpoint/2010/main" val="4212320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6DAE264-A25A-9000-FEC8-938653B4E9EF}"/>
              </a:ext>
            </a:extLst>
          </p:cNvPr>
          <p:cNvGrpSpPr/>
          <p:nvPr/>
        </p:nvGrpSpPr>
        <p:grpSpPr>
          <a:xfrm>
            <a:off x="3281588" y="1478422"/>
            <a:ext cx="8716710" cy="4606184"/>
            <a:chOff x="3161944" y="1478422"/>
            <a:chExt cx="8716710" cy="4606184"/>
          </a:xfrm>
        </p:grpSpPr>
        <p:sp>
          <p:nvSpPr>
            <p:cNvPr id="13" name="Rectangle 12">
              <a:extLst>
                <a:ext uri="{FF2B5EF4-FFF2-40B4-BE49-F238E27FC236}">
                  <a16:creationId xmlns:a16="http://schemas.microsoft.com/office/drawing/2014/main" id="{D7AC334B-0FA4-7EB7-6EA3-7758978B9AD7}"/>
                </a:ext>
              </a:extLst>
            </p:cNvPr>
            <p:cNvSpPr/>
            <p:nvPr/>
          </p:nvSpPr>
          <p:spPr>
            <a:xfrm>
              <a:off x="3161944" y="1478422"/>
              <a:ext cx="8716710" cy="46061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E0B6E544-B2C6-414E-4603-C6AEFD8A790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98498" y="1811805"/>
              <a:ext cx="8443692" cy="4078577"/>
            </a:xfrm>
            <a:prstGeom prst="rect">
              <a:avLst/>
            </a:prstGeom>
            <a:solidFill>
              <a:schemeClr val="bg1"/>
            </a:solidFill>
            <a:ln w="28575">
              <a:noFill/>
            </a:ln>
          </p:spPr>
        </p:pic>
      </p:grpSp>
      <p:sp>
        <p:nvSpPr>
          <p:cNvPr id="59" name="Title 58">
            <a:extLst>
              <a:ext uri="{FF2B5EF4-FFF2-40B4-BE49-F238E27FC236}">
                <a16:creationId xmlns:a16="http://schemas.microsoft.com/office/drawing/2014/main" id="{C61B99B8-1779-4404-B435-7B4CA23BE822}"/>
              </a:ext>
            </a:extLst>
          </p:cNvPr>
          <p:cNvSpPr>
            <a:spLocks noGrp="1"/>
          </p:cNvSpPr>
          <p:nvPr>
            <p:ph type="title"/>
          </p:nvPr>
        </p:nvSpPr>
        <p:spPr/>
        <p:txBody>
          <a:bodyPr/>
          <a:lstStyle/>
          <a:p>
            <a:r>
              <a:rPr lang="en-US" sz="3733" b="0" dirty="0">
                <a:latin typeface="Arial" panose="020B0604020202020204" pitchFamily="34" charset="0"/>
              </a:rPr>
              <a:t>Governance Model (Stephen’s Bootleg Version)</a:t>
            </a:r>
            <a:endParaRPr lang="en-US" sz="3733" b="0" dirty="0"/>
          </a:p>
        </p:txBody>
      </p:sp>
      <p:sp>
        <p:nvSpPr>
          <p:cNvPr id="12" name="Rectangle 6">
            <a:extLst>
              <a:ext uri="{FF2B5EF4-FFF2-40B4-BE49-F238E27FC236}">
                <a16:creationId xmlns:a16="http://schemas.microsoft.com/office/drawing/2014/main" id="{9B70C6DF-75A6-DAF4-A4CF-F0A99C5B9368}"/>
              </a:ext>
            </a:extLst>
          </p:cNvPr>
          <p:cNvSpPr>
            <a:spLocks noChangeArrowheads="1"/>
          </p:cNvSpPr>
          <p:nvPr/>
        </p:nvSpPr>
        <p:spPr bwMode="auto">
          <a:xfrm>
            <a:off x="152400" y="1563277"/>
            <a:ext cx="2526917" cy="4327105"/>
          </a:xfrm>
          <a:prstGeom prst="rect">
            <a:avLst/>
          </a:prstGeom>
          <a:solidFill>
            <a:schemeClr val="accent2">
              <a:lumMod val="40000"/>
              <a:lumOff val="60000"/>
            </a:schemeClr>
          </a:solidFill>
          <a:ln w="9525">
            <a:solidFill>
              <a:srgbClr val="CC9900"/>
            </a:solidFill>
            <a:miter lim="800000"/>
            <a:headEnd type="none" w="sm" len="sm"/>
            <a:tailEnd type="none" w="sm" len="sm"/>
          </a:ln>
        </p:spPr>
        <p:txBody>
          <a:bodyPr rot="10800000" vert="vert" wrap="none" anchor="t"/>
          <a:lstStyle/>
          <a:p>
            <a:pPr algn="ctr"/>
            <a:r>
              <a:rPr lang="en-US" sz="2800" b="1" i="1" dirty="0">
                <a:solidFill>
                  <a:schemeClr val="bg1"/>
                </a:solidFill>
              </a:rPr>
              <a:t>Aerospace Community</a:t>
            </a:r>
          </a:p>
        </p:txBody>
      </p:sp>
      <p:sp>
        <p:nvSpPr>
          <p:cNvPr id="14" name="Rectangle 13">
            <a:extLst>
              <a:ext uri="{FF2B5EF4-FFF2-40B4-BE49-F238E27FC236}">
                <a16:creationId xmlns:a16="http://schemas.microsoft.com/office/drawing/2014/main" id="{2CACA22D-A66B-1A16-C7A7-08C605C2EBFF}"/>
              </a:ext>
            </a:extLst>
          </p:cNvPr>
          <p:cNvSpPr/>
          <p:nvPr/>
        </p:nvSpPr>
        <p:spPr bwMode="auto">
          <a:xfrm>
            <a:off x="833065" y="2381952"/>
            <a:ext cx="1615496" cy="469389"/>
          </a:xfrm>
          <a:prstGeom prst="rect">
            <a:avLst/>
          </a:prstGeom>
          <a:solidFill>
            <a:schemeClr val="bg1"/>
          </a:solidFill>
          <a:ln w="222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r>
              <a:rPr lang="en-US" sz="1200" b="1" i="1" dirty="0">
                <a:solidFill>
                  <a:srgbClr val="234F7B"/>
                </a:solidFill>
                <a:latin typeface="Arial" charset="0"/>
                <a:ea typeface="ＭＳ Ｐゴシック" pitchFamily="80" charset="-128"/>
              </a:rPr>
              <a:t>Industry (Large &amp; Small Business)</a:t>
            </a:r>
          </a:p>
        </p:txBody>
      </p:sp>
      <p:sp>
        <p:nvSpPr>
          <p:cNvPr id="16" name="Rectangle 15">
            <a:extLst>
              <a:ext uri="{FF2B5EF4-FFF2-40B4-BE49-F238E27FC236}">
                <a16:creationId xmlns:a16="http://schemas.microsoft.com/office/drawing/2014/main" id="{45F3B968-2B38-BDCF-2848-02F25D48F45C}"/>
              </a:ext>
            </a:extLst>
          </p:cNvPr>
          <p:cNvSpPr/>
          <p:nvPr/>
        </p:nvSpPr>
        <p:spPr bwMode="auto">
          <a:xfrm>
            <a:off x="833064" y="3108030"/>
            <a:ext cx="1621536" cy="469389"/>
          </a:xfrm>
          <a:prstGeom prst="rect">
            <a:avLst/>
          </a:prstGeom>
          <a:solidFill>
            <a:schemeClr val="bg1"/>
          </a:solidFill>
          <a:ln w="222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r>
              <a:rPr lang="en-US" sz="1200" b="1" i="1" dirty="0">
                <a:solidFill>
                  <a:srgbClr val="234F7B"/>
                </a:solidFill>
                <a:ea typeface="ＭＳ Ｐゴシック" pitchFamily="80" charset="-128"/>
              </a:rPr>
              <a:t>Government</a:t>
            </a:r>
            <a:endParaRPr lang="en-US" sz="1200" b="1" i="1" dirty="0">
              <a:solidFill>
                <a:srgbClr val="234F7B"/>
              </a:solidFill>
              <a:latin typeface="Arial" charset="0"/>
              <a:ea typeface="ＭＳ Ｐゴシック" pitchFamily="80" charset="-128"/>
            </a:endParaRPr>
          </a:p>
        </p:txBody>
      </p:sp>
      <p:sp>
        <p:nvSpPr>
          <p:cNvPr id="24" name="Rectangle 23">
            <a:extLst>
              <a:ext uri="{FF2B5EF4-FFF2-40B4-BE49-F238E27FC236}">
                <a16:creationId xmlns:a16="http://schemas.microsoft.com/office/drawing/2014/main" id="{DA7EBE9F-5435-8B34-6833-8F45501D122A}"/>
              </a:ext>
            </a:extLst>
          </p:cNvPr>
          <p:cNvSpPr/>
          <p:nvPr/>
        </p:nvSpPr>
        <p:spPr bwMode="auto">
          <a:xfrm>
            <a:off x="833064" y="3834107"/>
            <a:ext cx="1621536" cy="469389"/>
          </a:xfrm>
          <a:prstGeom prst="rect">
            <a:avLst/>
          </a:prstGeom>
          <a:solidFill>
            <a:schemeClr val="bg1"/>
          </a:solidFill>
          <a:ln w="222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r>
              <a:rPr lang="en-US" sz="1200" b="1" i="1" dirty="0">
                <a:solidFill>
                  <a:srgbClr val="234F7B"/>
                </a:solidFill>
                <a:latin typeface="Arial" charset="0"/>
                <a:ea typeface="ＭＳ Ｐゴシック" pitchFamily="80" charset="-128"/>
              </a:rPr>
              <a:t>Academia</a:t>
            </a:r>
          </a:p>
        </p:txBody>
      </p:sp>
      <p:sp>
        <p:nvSpPr>
          <p:cNvPr id="27" name="Rectangle 26">
            <a:extLst>
              <a:ext uri="{FF2B5EF4-FFF2-40B4-BE49-F238E27FC236}">
                <a16:creationId xmlns:a16="http://schemas.microsoft.com/office/drawing/2014/main" id="{2563A03D-CAA7-EE0D-E4B8-8781BB79A766}"/>
              </a:ext>
            </a:extLst>
          </p:cNvPr>
          <p:cNvSpPr/>
          <p:nvPr/>
        </p:nvSpPr>
        <p:spPr bwMode="auto">
          <a:xfrm>
            <a:off x="833064" y="4560184"/>
            <a:ext cx="1621536" cy="469389"/>
          </a:xfrm>
          <a:prstGeom prst="rect">
            <a:avLst/>
          </a:prstGeom>
          <a:solidFill>
            <a:schemeClr val="bg1"/>
          </a:solidFill>
          <a:ln w="222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r>
              <a:rPr lang="en-US" sz="1200" b="1" i="1" dirty="0">
                <a:solidFill>
                  <a:srgbClr val="234F7B"/>
                </a:solidFill>
                <a:latin typeface="Arial" charset="0"/>
                <a:ea typeface="ＭＳ Ｐゴシック" pitchFamily="80" charset="-128"/>
              </a:rPr>
              <a:t>Not-for-Profit R&amp;D</a:t>
            </a:r>
          </a:p>
        </p:txBody>
      </p:sp>
      <p:sp>
        <p:nvSpPr>
          <p:cNvPr id="30" name="Arrow: Up-Down 89">
            <a:extLst>
              <a:ext uri="{FF2B5EF4-FFF2-40B4-BE49-F238E27FC236}">
                <a16:creationId xmlns:a16="http://schemas.microsoft.com/office/drawing/2014/main" id="{D3E1D870-DE02-15E0-B8F3-97EA31FC9B4C}"/>
              </a:ext>
            </a:extLst>
          </p:cNvPr>
          <p:cNvSpPr/>
          <p:nvPr/>
        </p:nvSpPr>
        <p:spPr bwMode="auto">
          <a:xfrm rot="5400000">
            <a:off x="2791457" y="1746700"/>
            <a:ext cx="385767" cy="789277"/>
          </a:xfrm>
          <a:prstGeom prst="upDownArrow">
            <a:avLst>
              <a:gd name="adj1" fmla="val 50000"/>
              <a:gd name="adj2" fmla="val 50000"/>
            </a:avLst>
          </a:prstGeom>
          <a:solidFill>
            <a:schemeClr val="accent5"/>
          </a:solidFill>
          <a:ln w="9525" cap="flat" cmpd="sng" algn="ctr">
            <a:solidFill>
              <a:schemeClr val="bg1"/>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defTabSz="1219170" eaLnBrk="0" fontAlgn="base" hangingPunct="0">
              <a:spcBef>
                <a:spcPct val="0"/>
              </a:spcBef>
              <a:spcAft>
                <a:spcPct val="0"/>
              </a:spcAft>
            </a:pPr>
            <a:endParaRPr lang="en-US" sz="3200" dirty="0">
              <a:latin typeface="Arial" charset="0"/>
              <a:ea typeface="ＭＳ Ｐゴシック" pitchFamily="80" charset="-128"/>
            </a:endParaRPr>
          </a:p>
        </p:txBody>
      </p:sp>
      <p:sp>
        <p:nvSpPr>
          <p:cNvPr id="56" name="Arrow: Up-Down 89">
            <a:extLst>
              <a:ext uri="{FF2B5EF4-FFF2-40B4-BE49-F238E27FC236}">
                <a16:creationId xmlns:a16="http://schemas.microsoft.com/office/drawing/2014/main" id="{7A5CC9CA-FF57-8A28-8F08-EFE35843A55E}"/>
              </a:ext>
            </a:extLst>
          </p:cNvPr>
          <p:cNvSpPr/>
          <p:nvPr/>
        </p:nvSpPr>
        <p:spPr bwMode="auto">
          <a:xfrm rot="5400000">
            <a:off x="2791457" y="2559502"/>
            <a:ext cx="385767" cy="789277"/>
          </a:xfrm>
          <a:prstGeom prst="upDownArrow">
            <a:avLst>
              <a:gd name="adj1" fmla="val 50000"/>
              <a:gd name="adj2" fmla="val 50000"/>
            </a:avLst>
          </a:prstGeom>
          <a:solidFill>
            <a:schemeClr val="accent5"/>
          </a:solidFill>
          <a:ln w="9525" cap="flat" cmpd="sng" algn="ctr">
            <a:solidFill>
              <a:schemeClr val="bg1"/>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defTabSz="1219170" eaLnBrk="0" fontAlgn="base" hangingPunct="0">
              <a:spcBef>
                <a:spcPct val="0"/>
              </a:spcBef>
              <a:spcAft>
                <a:spcPct val="0"/>
              </a:spcAft>
            </a:pPr>
            <a:endParaRPr lang="en-US" sz="3200" dirty="0">
              <a:latin typeface="Arial" charset="0"/>
              <a:ea typeface="ＭＳ Ｐゴシック" pitchFamily="80" charset="-128"/>
            </a:endParaRPr>
          </a:p>
        </p:txBody>
      </p:sp>
      <p:sp>
        <p:nvSpPr>
          <p:cNvPr id="58" name="Arrow: Up-Down 89">
            <a:extLst>
              <a:ext uri="{FF2B5EF4-FFF2-40B4-BE49-F238E27FC236}">
                <a16:creationId xmlns:a16="http://schemas.microsoft.com/office/drawing/2014/main" id="{DE8563F4-AFAD-E78C-40B0-05B71C031579}"/>
              </a:ext>
            </a:extLst>
          </p:cNvPr>
          <p:cNvSpPr/>
          <p:nvPr/>
        </p:nvSpPr>
        <p:spPr bwMode="auto">
          <a:xfrm rot="5400000">
            <a:off x="2799685" y="3308034"/>
            <a:ext cx="385767" cy="789277"/>
          </a:xfrm>
          <a:prstGeom prst="upDownArrow">
            <a:avLst>
              <a:gd name="adj1" fmla="val 50000"/>
              <a:gd name="adj2" fmla="val 50000"/>
            </a:avLst>
          </a:prstGeom>
          <a:solidFill>
            <a:schemeClr val="accent5"/>
          </a:solidFill>
          <a:ln w="9525" cap="flat" cmpd="sng" algn="ctr">
            <a:solidFill>
              <a:schemeClr val="bg1"/>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defTabSz="1219170" eaLnBrk="0" fontAlgn="base" hangingPunct="0">
              <a:spcBef>
                <a:spcPct val="0"/>
              </a:spcBef>
              <a:spcAft>
                <a:spcPct val="0"/>
              </a:spcAft>
            </a:pPr>
            <a:endParaRPr lang="en-US" sz="3200" dirty="0">
              <a:latin typeface="Arial" charset="0"/>
              <a:ea typeface="ＭＳ Ｐゴシック" pitchFamily="80" charset="-128"/>
            </a:endParaRPr>
          </a:p>
        </p:txBody>
      </p:sp>
      <p:sp>
        <p:nvSpPr>
          <p:cNvPr id="60" name="Arrow: Up-Down 89">
            <a:extLst>
              <a:ext uri="{FF2B5EF4-FFF2-40B4-BE49-F238E27FC236}">
                <a16:creationId xmlns:a16="http://schemas.microsoft.com/office/drawing/2014/main" id="{5E6FB826-AA08-73A9-B88B-0DC126A637EB}"/>
              </a:ext>
            </a:extLst>
          </p:cNvPr>
          <p:cNvSpPr/>
          <p:nvPr/>
        </p:nvSpPr>
        <p:spPr bwMode="auto">
          <a:xfrm rot="5400000">
            <a:off x="2791457" y="4062408"/>
            <a:ext cx="385767" cy="789277"/>
          </a:xfrm>
          <a:prstGeom prst="upDownArrow">
            <a:avLst>
              <a:gd name="adj1" fmla="val 50000"/>
              <a:gd name="adj2" fmla="val 50000"/>
            </a:avLst>
          </a:prstGeom>
          <a:solidFill>
            <a:schemeClr val="accent5"/>
          </a:solidFill>
          <a:ln w="9525" cap="flat" cmpd="sng" algn="ctr">
            <a:solidFill>
              <a:schemeClr val="bg1"/>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defTabSz="1219170" eaLnBrk="0" fontAlgn="base" hangingPunct="0">
              <a:spcBef>
                <a:spcPct val="0"/>
              </a:spcBef>
              <a:spcAft>
                <a:spcPct val="0"/>
              </a:spcAft>
            </a:pPr>
            <a:endParaRPr lang="en-US" sz="3200" dirty="0">
              <a:latin typeface="Arial" charset="0"/>
              <a:ea typeface="ＭＳ Ｐゴシック" pitchFamily="80" charset="-128"/>
            </a:endParaRPr>
          </a:p>
        </p:txBody>
      </p:sp>
      <p:sp>
        <p:nvSpPr>
          <p:cNvPr id="62" name="Arrow: Up-Down 89">
            <a:extLst>
              <a:ext uri="{FF2B5EF4-FFF2-40B4-BE49-F238E27FC236}">
                <a16:creationId xmlns:a16="http://schemas.microsoft.com/office/drawing/2014/main" id="{D9084680-267C-234C-C1D3-84815D17A316}"/>
              </a:ext>
            </a:extLst>
          </p:cNvPr>
          <p:cNvSpPr/>
          <p:nvPr/>
        </p:nvSpPr>
        <p:spPr bwMode="auto">
          <a:xfrm rot="5400000">
            <a:off x="2791457" y="4863934"/>
            <a:ext cx="385767" cy="789277"/>
          </a:xfrm>
          <a:prstGeom prst="upDownArrow">
            <a:avLst>
              <a:gd name="adj1" fmla="val 50000"/>
              <a:gd name="adj2" fmla="val 50000"/>
            </a:avLst>
          </a:prstGeom>
          <a:solidFill>
            <a:schemeClr val="accent5"/>
          </a:solidFill>
          <a:ln w="9525" cap="flat" cmpd="sng" algn="ctr">
            <a:solidFill>
              <a:schemeClr val="bg1"/>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defTabSz="1219170" eaLnBrk="0" fontAlgn="base" hangingPunct="0">
              <a:spcBef>
                <a:spcPct val="0"/>
              </a:spcBef>
              <a:spcAft>
                <a:spcPct val="0"/>
              </a:spcAft>
            </a:pPr>
            <a:endParaRPr lang="en-US" sz="3200" dirty="0">
              <a:latin typeface="Arial" charset="0"/>
              <a:ea typeface="ＭＳ Ｐゴシック" pitchFamily="80" charset="-128"/>
            </a:endParaRPr>
          </a:p>
        </p:txBody>
      </p:sp>
      <p:sp>
        <p:nvSpPr>
          <p:cNvPr id="8" name="Speech Bubble: Oval 7">
            <a:extLst>
              <a:ext uri="{FF2B5EF4-FFF2-40B4-BE49-F238E27FC236}">
                <a16:creationId xmlns:a16="http://schemas.microsoft.com/office/drawing/2014/main" id="{8AD488AE-DC7C-1C0B-A32E-D886D64CF11D}"/>
              </a:ext>
            </a:extLst>
          </p:cNvPr>
          <p:cNvSpPr>
            <a:spLocks noChangeAspect="1"/>
          </p:cNvSpPr>
          <p:nvPr/>
        </p:nvSpPr>
        <p:spPr bwMode="auto">
          <a:xfrm>
            <a:off x="9358461" y="1175253"/>
            <a:ext cx="1837860" cy="1613175"/>
          </a:xfrm>
          <a:prstGeom prst="wedgeEllipseCallout">
            <a:avLst>
              <a:gd name="adj1" fmla="val -73207"/>
              <a:gd name="adj2" fmla="val 62471"/>
            </a:avLst>
          </a:prstGeom>
          <a:solidFill>
            <a:srgbClr val="002060"/>
          </a:solidFill>
          <a:ln w="19050" cap="flat" cmpd="sng" algn="ctr">
            <a:solidFill>
              <a:srgbClr val="639BD5"/>
            </a:solidFill>
            <a:prstDash val="solid"/>
            <a:round/>
            <a:headEnd type="none" w="med" len="med"/>
            <a:tailEnd type="none" w="med" len="med"/>
          </a:ln>
          <a:effectLst>
            <a:glow rad="101600">
              <a:srgbClr val="7030A0">
                <a:alpha val="60000"/>
              </a:srgbClr>
            </a:glow>
          </a:effectLst>
        </p:spPr>
        <p:txBody>
          <a:bodyPr vert="horz" wrap="square" lIns="121920" tIns="60960" rIns="121920" bIns="60960" numCol="1" rtlCol="0" anchor="ctr" anchorCtr="0" compatLnSpc="1">
            <a:prstTxWarp prst="textNoShape">
              <a:avLst/>
            </a:prstTxWarp>
            <a:noAutofit/>
          </a:bodyPr>
          <a:lstStyle/>
          <a:p>
            <a:pPr algn="ctr" defTabSz="1219170" eaLnBrk="0" fontAlgn="base" hangingPunct="0">
              <a:spcBef>
                <a:spcPct val="0"/>
              </a:spcBef>
              <a:spcAft>
                <a:spcPct val="0"/>
              </a:spcAft>
              <a:defRPr/>
            </a:pPr>
            <a:r>
              <a:rPr lang="en-US" sz="1333" b="1" dirty="0">
                <a:solidFill>
                  <a:srgbClr val="FFFF00"/>
                </a:solidFill>
                <a:latin typeface="Arial" charset="0"/>
                <a:ea typeface="ＭＳ Ｐゴシック" pitchFamily="80" charset="-128"/>
                <a:cs typeface="Arial" charset="0"/>
              </a:rPr>
              <a:t>Paid professional staff – AIAA is their day job</a:t>
            </a:r>
          </a:p>
        </p:txBody>
      </p:sp>
      <p:sp>
        <p:nvSpPr>
          <p:cNvPr id="6" name="Speech Bubble: Oval 5">
            <a:extLst>
              <a:ext uri="{FF2B5EF4-FFF2-40B4-BE49-F238E27FC236}">
                <a16:creationId xmlns:a16="http://schemas.microsoft.com/office/drawing/2014/main" id="{D459C5B1-6766-BE4E-7E19-564227188562}"/>
              </a:ext>
            </a:extLst>
          </p:cNvPr>
          <p:cNvSpPr/>
          <p:nvPr/>
        </p:nvSpPr>
        <p:spPr bwMode="auto">
          <a:xfrm>
            <a:off x="2689699" y="5503166"/>
            <a:ext cx="2448325" cy="1210865"/>
          </a:xfrm>
          <a:prstGeom prst="wedgeEllipseCallout">
            <a:avLst>
              <a:gd name="adj1" fmla="val 10436"/>
              <a:gd name="adj2" fmla="val -115158"/>
            </a:avLst>
          </a:prstGeom>
          <a:solidFill>
            <a:srgbClr val="002060"/>
          </a:solidFill>
          <a:ln w="19050" cap="flat" cmpd="sng" algn="ctr">
            <a:solidFill>
              <a:srgbClr val="639BD5"/>
            </a:solidFill>
            <a:prstDash val="solid"/>
            <a:round/>
            <a:headEnd type="none" w="med" len="med"/>
            <a:tailEnd type="none" w="med" len="med"/>
          </a:ln>
          <a:effectLst>
            <a:glow rad="101600">
              <a:srgbClr val="7030A0">
                <a:alpha val="60000"/>
              </a:srgbClr>
            </a:glow>
          </a:effectLst>
        </p:spPr>
        <p:txBody>
          <a:bodyPr vert="horz" wrap="square" lIns="121920" tIns="60960" rIns="121920" bIns="60960" numCol="1" rtlCol="0" anchor="ctr" anchorCtr="0" compatLnSpc="1">
            <a:prstTxWarp prst="textNoShape">
              <a:avLst/>
            </a:prstTxWarp>
            <a:normAutofit lnSpcReduction="10000"/>
          </a:bodyPr>
          <a:lstStyle/>
          <a:p>
            <a:pPr algn="ctr" defTabSz="1219170" eaLnBrk="0" fontAlgn="base" hangingPunct="0">
              <a:spcBef>
                <a:spcPct val="0"/>
              </a:spcBef>
              <a:spcAft>
                <a:spcPct val="0"/>
              </a:spcAft>
              <a:defRPr/>
            </a:pPr>
            <a:r>
              <a:rPr lang="en-US" sz="1333" b="1" dirty="0">
                <a:solidFill>
                  <a:srgbClr val="FFFF00"/>
                </a:solidFill>
                <a:latin typeface="Arial" charset="0"/>
                <a:ea typeface="ＭＳ Ｐゴシック" pitchFamily="80" charset="-128"/>
                <a:cs typeface="Arial" charset="0"/>
              </a:rPr>
              <a:t>* TAD *</a:t>
            </a:r>
            <a:br>
              <a:rPr lang="en-US" sz="1333" b="1" dirty="0">
                <a:solidFill>
                  <a:srgbClr val="FFFF00"/>
                </a:solidFill>
                <a:latin typeface="Arial" charset="0"/>
                <a:ea typeface="ＭＳ Ｐゴシック" pitchFamily="80" charset="-128"/>
                <a:cs typeface="Arial" charset="0"/>
              </a:rPr>
            </a:br>
            <a:br>
              <a:rPr lang="en-US" sz="1333" b="1" dirty="0">
                <a:solidFill>
                  <a:srgbClr val="FFFF00"/>
                </a:solidFill>
                <a:latin typeface="Arial" charset="0"/>
                <a:ea typeface="ＭＳ Ｐゴシック" pitchFamily="80" charset="-128"/>
                <a:cs typeface="Arial" charset="0"/>
              </a:rPr>
            </a:br>
            <a:r>
              <a:rPr lang="en-US" sz="1333" b="1" dirty="0">
                <a:solidFill>
                  <a:srgbClr val="FFFF00"/>
                </a:solidFill>
                <a:latin typeface="Arial" charset="0"/>
                <a:ea typeface="ＭＳ Ｐゴシック" pitchFamily="80" charset="-128"/>
                <a:cs typeface="Arial" charset="0"/>
              </a:rPr>
              <a:t>Our TCs and Groups live here</a:t>
            </a:r>
          </a:p>
        </p:txBody>
      </p:sp>
      <p:sp>
        <p:nvSpPr>
          <p:cNvPr id="2" name="Slide Number Placeholder 5">
            <a:extLst>
              <a:ext uri="{FF2B5EF4-FFF2-40B4-BE49-F238E27FC236}">
                <a16:creationId xmlns:a16="http://schemas.microsoft.com/office/drawing/2014/main" id="{C351E1E7-ED87-2B59-1544-DF6B86B3DA6A}"/>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7</a:t>
            </a:fld>
            <a:endParaRPr lang="en-US" sz="1000" dirty="0">
              <a:solidFill>
                <a:srgbClr val="FFFFFF"/>
              </a:solidFill>
            </a:endParaRPr>
          </a:p>
        </p:txBody>
      </p:sp>
      <p:cxnSp>
        <p:nvCxnSpPr>
          <p:cNvPr id="3" name="Straight Connector 2">
            <a:extLst>
              <a:ext uri="{FF2B5EF4-FFF2-40B4-BE49-F238E27FC236}">
                <a16:creationId xmlns:a16="http://schemas.microsoft.com/office/drawing/2014/main" id="{9BD76818-1B54-A9E6-8667-86C08C502140}"/>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 name="Slide Number Placeholder 1">
            <a:extLst>
              <a:ext uri="{FF2B5EF4-FFF2-40B4-BE49-F238E27FC236}">
                <a16:creationId xmlns:a16="http://schemas.microsoft.com/office/drawing/2014/main" id="{634852D8-5FF7-57B7-C72B-E7380DB26041}"/>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7</a:t>
            </a:fld>
            <a:endParaRPr lang="en-US" dirty="0">
              <a:solidFill>
                <a:srgbClr val="FFFFFF"/>
              </a:solidFill>
            </a:endParaRPr>
          </a:p>
        </p:txBody>
      </p:sp>
      <p:cxnSp>
        <p:nvCxnSpPr>
          <p:cNvPr id="5" name="Straight Connector 4">
            <a:extLst>
              <a:ext uri="{FF2B5EF4-FFF2-40B4-BE49-F238E27FC236}">
                <a16:creationId xmlns:a16="http://schemas.microsoft.com/office/drawing/2014/main" id="{B78376D2-36D3-B040-9800-9E6BD12BA01F}"/>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Slide Number Placeholder 6">
            <a:extLst>
              <a:ext uri="{FF2B5EF4-FFF2-40B4-BE49-F238E27FC236}">
                <a16:creationId xmlns:a16="http://schemas.microsoft.com/office/drawing/2014/main" id="{26957AED-1D33-25A4-03DE-70EC30768BE6}"/>
              </a:ext>
            </a:extLst>
          </p:cNvPr>
          <p:cNvSpPr>
            <a:spLocks noGrp="1"/>
          </p:cNvSpPr>
          <p:nvPr>
            <p:ph type="sldNum" sz="quarter" idx="12"/>
          </p:nvPr>
        </p:nvSpPr>
        <p:spPr/>
        <p:txBody>
          <a:bodyPr/>
          <a:lstStyle/>
          <a:p>
            <a:fld id="{8FBCB428-D880-FC4A-9B26-64132A65A030}" type="slidenum">
              <a:rPr lang="en-US" smtClean="0"/>
              <a:pPr/>
              <a:t>7</a:t>
            </a:fld>
            <a:endParaRPr lang="en-US" dirty="0"/>
          </a:p>
        </p:txBody>
      </p:sp>
    </p:spTree>
    <p:extLst>
      <p:ext uri="{BB962C8B-B14F-4D97-AF65-F5344CB8AC3E}">
        <p14:creationId xmlns:p14="http://schemas.microsoft.com/office/powerpoint/2010/main" val="37170944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B1F43-307D-4D32-E3DE-DF5D066631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3157DA-FBDB-3259-AD27-985DF65A568F}"/>
              </a:ext>
            </a:extLst>
          </p:cNvPr>
          <p:cNvSpPr>
            <a:spLocks noGrp="1"/>
          </p:cNvSpPr>
          <p:nvPr>
            <p:ph type="title"/>
          </p:nvPr>
        </p:nvSpPr>
        <p:spPr>
          <a:xfrm>
            <a:off x="343597" y="365125"/>
            <a:ext cx="11491993" cy="910859"/>
          </a:xfrm>
        </p:spPr>
        <p:txBody>
          <a:bodyPr/>
          <a:lstStyle/>
          <a:p>
            <a:r>
              <a:rPr lang="en-US" dirty="0">
                <a:latin typeface="Aptos Narrow"/>
              </a:rPr>
              <a:t>2026-2027 TAD Leadership Team</a:t>
            </a:r>
          </a:p>
        </p:txBody>
      </p:sp>
      <p:sp>
        <p:nvSpPr>
          <p:cNvPr id="2" name="Slide Number Placeholder 5">
            <a:extLst>
              <a:ext uri="{FF2B5EF4-FFF2-40B4-BE49-F238E27FC236}">
                <a16:creationId xmlns:a16="http://schemas.microsoft.com/office/drawing/2014/main" id="{531DD1E7-598F-F440-8B52-5C6DDD10C5A2}"/>
              </a:ext>
            </a:extLst>
          </p:cNvPr>
          <p:cNvSpPr>
            <a:spLocks noGrp="1"/>
          </p:cNvSpPr>
          <p:nvPr>
            <p:ph type="sldNum" sz="quarter" idx="12"/>
          </p:nvPr>
        </p:nvSpPr>
        <p:spPr>
          <a:xfrm>
            <a:off x="11615980" y="6465705"/>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6" name="Slide Number Placeholder 5">
            <a:extLst>
              <a:ext uri="{FF2B5EF4-FFF2-40B4-BE49-F238E27FC236}">
                <a16:creationId xmlns:a16="http://schemas.microsoft.com/office/drawing/2014/main" id="{1D588A07-A0D6-25E6-9CF3-C662FD823D88}"/>
              </a:ext>
            </a:extLst>
          </p:cNvPr>
          <p:cNvSpPr txBox="1">
            <a:spLocks/>
          </p:cNvSpPr>
          <p:nvPr/>
        </p:nvSpPr>
        <p:spPr>
          <a:xfrm>
            <a:off x="11629484" y="6456058"/>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lumMod val="65000"/>
                  </a:schemeClr>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pic>
        <p:nvPicPr>
          <p:cNvPr id="33" name="Picture 32">
            <a:extLst>
              <a:ext uri="{FF2B5EF4-FFF2-40B4-BE49-F238E27FC236}">
                <a16:creationId xmlns:a16="http://schemas.microsoft.com/office/drawing/2014/main" id="{57673EE8-4F7C-DCCC-3754-662D346F215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921073" y="1489354"/>
            <a:ext cx="1252728" cy="1447997"/>
          </a:xfrm>
          <a:prstGeom prst="rect">
            <a:avLst/>
          </a:prstGeom>
          <a:blipFill>
            <a:blip r:embed="rId4" cstate="email">
              <a:extLst>
                <a:ext uri="{28A0092B-C50C-407E-A947-70E740481C1C}">
                  <a14:useLocalDpi xmlns:a14="http://schemas.microsoft.com/office/drawing/2010/main"/>
                </a:ext>
              </a:extLst>
            </a:blip>
            <a:stretch>
              <a:fillRect/>
            </a:stretch>
          </a:blipFill>
          <a:ln w="28575">
            <a:solidFill>
              <a:srgbClr val="1B3D6C"/>
            </a:solidFill>
          </a:ln>
        </p:spPr>
      </p:pic>
      <p:pic>
        <p:nvPicPr>
          <p:cNvPr id="34" name="Picture 33" descr="A person in a suit and tie&#10;&#10;Description automatically generated with medium confidence">
            <a:extLst>
              <a:ext uri="{FF2B5EF4-FFF2-40B4-BE49-F238E27FC236}">
                <a16:creationId xmlns:a16="http://schemas.microsoft.com/office/drawing/2014/main" id="{5E95C873-E0B8-14D1-8814-3E0DFA320020}"/>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9035953" y="4039395"/>
            <a:ext cx="1255776" cy="1446979"/>
          </a:xfrm>
          <a:prstGeom prst="rect">
            <a:avLst/>
          </a:prstGeom>
        </p:spPr>
      </p:pic>
      <p:pic>
        <p:nvPicPr>
          <p:cNvPr id="35" name="Picture 34">
            <a:extLst>
              <a:ext uri="{FF2B5EF4-FFF2-40B4-BE49-F238E27FC236}">
                <a16:creationId xmlns:a16="http://schemas.microsoft.com/office/drawing/2014/main" id="{339966F0-CAD7-1118-A55A-86ECD9948265}"/>
              </a:ext>
            </a:extLst>
          </p:cNvPr>
          <p:cNvPicPr>
            <a:picLocks noChangeAspect="1"/>
          </p:cNvPicPr>
          <p:nvPr/>
        </p:nvPicPr>
        <p:blipFill rotWithShape="1">
          <a:blip r:embed="rId6"/>
          <a:srcRect l="7462" r="6772"/>
          <a:stretch/>
        </p:blipFill>
        <p:spPr>
          <a:xfrm>
            <a:off x="6089593" y="4913927"/>
            <a:ext cx="1252728" cy="1455537"/>
          </a:xfrm>
          <a:prstGeom prst="rect">
            <a:avLst/>
          </a:prstGeom>
          <a:blipFill>
            <a:blip r:embed="rId7" cstate="email">
              <a:extLst>
                <a:ext uri="{28A0092B-C50C-407E-A947-70E740481C1C}">
                  <a14:useLocalDpi xmlns:a14="http://schemas.microsoft.com/office/drawing/2010/main"/>
                </a:ext>
              </a:extLst>
            </a:blip>
            <a:stretch>
              <a:fillRect/>
            </a:stretch>
          </a:blipFill>
          <a:ln w="28575">
            <a:solidFill>
              <a:srgbClr val="1B3D6C"/>
            </a:solidFill>
          </a:ln>
        </p:spPr>
      </p:pic>
      <p:sp>
        <p:nvSpPr>
          <p:cNvPr id="39" name="TextBox 38">
            <a:extLst>
              <a:ext uri="{FF2B5EF4-FFF2-40B4-BE49-F238E27FC236}">
                <a16:creationId xmlns:a16="http://schemas.microsoft.com/office/drawing/2014/main" id="{A7C3980C-1990-1426-3207-F3359ADB3017}"/>
              </a:ext>
            </a:extLst>
          </p:cNvPr>
          <p:cNvSpPr txBox="1"/>
          <p:nvPr/>
        </p:nvSpPr>
        <p:spPr>
          <a:xfrm>
            <a:off x="4229053" y="3191333"/>
            <a:ext cx="1931275" cy="892552"/>
          </a:xfrm>
          <a:prstGeom prst="rect">
            <a:avLst/>
          </a:prstGeom>
          <a:noFill/>
        </p:spPr>
        <p:txBody>
          <a:bodyPr wrap="square" rtlCol="0">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Aerospace Sciences </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Martiqua Post</a:t>
            </a:r>
            <a:endParaRPr kumimoji="0" lang="en-US" sz="1300" b="0" i="0" u="none" strike="noStrike" kern="1200" cap="none" spc="0" normalizeH="0" baseline="3000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endParaRP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1"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US Air Force Academy</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2024-2027</a:t>
            </a:r>
          </a:p>
        </p:txBody>
      </p:sp>
      <p:sp>
        <p:nvSpPr>
          <p:cNvPr id="42" name="TextBox 41">
            <a:extLst>
              <a:ext uri="{FF2B5EF4-FFF2-40B4-BE49-F238E27FC236}">
                <a16:creationId xmlns:a16="http://schemas.microsoft.com/office/drawing/2014/main" id="{649644A7-9104-269E-C657-D6EECD141E5C}"/>
              </a:ext>
            </a:extLst>
          </p:cNvPr>
          <p:cNvSpPr txBox="1"/>
          <p:nvPr/>
        </p:nvSpPr>
        <p:spPr>
          <a:xfrm>
            <a:off x="4243229" y="4885932"/>
            <a:ext cx="1931275" cy="1292662"/>
          </a:xfrm>
          <a:prstGeom prst="rect">
            <a:avLst/>
          </a:prstGeom>
          <a:noFill/>
        </p:spPr>
        <p:txBody>
          <a:bodyPr wrap="square" lIns="91440" tIns="45720" rIns="91440" bIns="45720" rtlCol="0" anchor="t">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Aircraft Technology, Integration and Operations </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a:ea typeface="ＭＳ Ｐゴシック"/>
                <a:cs typeface="Helvetica"/>
              </a:rPr>
              <a:t>Gabriele Enea</a:t>
            </a:r>
            <a:endPar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endParaRP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1" u="none" strike="noStrike" kern="1200" cap="none" spc="0" normalizeH="0" baseline="0" noProof="0" dirty="0">
                <a:ln>
                  <a:noFill/>
                </a:ln>
                <a:solidFill>
                  <a:srgbClr val="000000"/>
                </a:solidFill>
                <a:effectLst/>
                <a:uLnTx/>
                <a:uFillTx/>
                <a:latin typeface="Figtree"/>
                <a:ea typeface="ＭＳ Ｐゴシック"/>
                <a:cs typeface="Helvetica"/>
              </a:rPr>
              <a:t>MIT Lincoln Laboratory</a:t>
            </a:r>
            <a:endParaRPr kumimoji="0" lang="en-US" sz="1300" b="0" i="1"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endParaRP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a:ea typeface="ＭＳ Ｐゴシック"/>
                <a:cs typeface="Helvetica"/>
              </a:rPr>
              <a:t>2026-2029</a:t>
            </a:r>
            <a:endPar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endParaRPr>
          </a:p>
        </p:txBody>
      </p:sp>
      <p:sp>
        <p:nvSpPr>
          <p:cNvPr id="43" name="Rectangle 42">
            <a:extLst>
              <a:ext uri="{FF2B5EF4-FFF2-40B4-BE49-F238E27FC236}">
                <a16:creationId xmlns:a16="http://schemas.microsoft.com/office/drawing/2014/main" id="{2D9C042B-9BB9-3106-D596-C6C49E1D6132}"/>
              </a:ext>
            </a:extLst>
          </p:cNvPr>
          <p:cNvSpPr>
            <a:spLocks noChangeAspect="1"/>
          </p:cNvSpPr>
          <p:nvPr/>
        </p:nvSpPr>
        <p:spPr>
          <a:xfrm>
            <a:off x="6083985" y="1437711"/>
            <a:ext cx="1252728" cy="1444752"/>
          </a:xfrm>
          <a:prstGeom prst="rect">
            <a:avLst/>
          </a:prstGeom>
          <a:blipFill>
            <a:blip r:embed="rId8" cstate="email">
              <a:extLst>
                <a:ext uri="{28A0092B-C50C-407E-A947-70E740481C1C}">
                  <a14:useLocalDpi xmlns:a14="http://schemas.microsoft.com/office/drawing/2010/main"/>
                </a:ext>
              </a:extLst>
            </a:blip>
            <a:stretch>
              <a:fillRect/>
            </a:stretch>
          </a:blipFill>
          <a:ln w="28575">
            <a:solidFill>
              <a:srgbClr val="1B3D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sz="1800" kern="1200">
                <a:solidFill>
                  <a:schemeClr val="lt1"/>
                </a:solidFill>
                <a:latin typeface="+mn-lt"/>
                <a:ea typeface="+mn-ea"/>
                <a:cs typeface="+mn-cs"/>
              </a:defRPr>
            </a:lvl1pPr>
            <a:lvl2pPr marL="342900" algn="l" rtl="0" fontAlgn="base">
              <a:spcBef>
                <a:spcPct val="0"/>
              </a:spcBef>
              <a:spcAft>
                <a:spcPct val="0"/>
              </a:spcAft>
              <a:defRPr sz="1800" kern="1200">
                <a:solidFill>
                  <a:schemeClr val="lt1"/>
                </a:solidFill>
                <a:latin typeface="+mn-lt"/>
                <a:ea typeface="+mn-ea"/>
                <a:cs typeface="+mn-cs"/>
              </a:defRPr>
            </a:lvl2pPr>
            <a:lvl3pPr marL="685800" algn="l" rtl="0" fontAlgn="base">
              <a:spcBef>
                <a:spcPct val="0"/>
              </a:spcBef>
              <a:spcAft>
                <a:spcPct val="0"/>
              </a:spcAft>
              <a:defRPr sz="1800" kern="1200">
                <a:solidFill>
                  <a:schemeClr val="lt1"/>
                </a:solidFill>
                <a:latin typeface="+mn-lt"/>
                <a:ea typeface="+mn-ea"/>
                <a:cs typeface="+mn-cs"/>
              </a:defRPr>
            </a:lvl3pPr>
            <a:lvl4pPr marL="1028700" algn="l" rtl="0" fontAlgn="base">
              <a:spcBef>
                <a:spcPct val="0"/>
              </a:spcBef>
              <a:spcAft>
                <a:spcPct val="0"/>
              </a:spcAft>
              <a:defRPr sz="1800" kern="1200">
                <a:solidFill>
                  <a:schemeClr val="lt1"/>
                </a:solidFill>
                <a:latin typeface="+mn-lt"/>
                <a:ea typeface="+mn-ea"/>
                <a:cs typeface="+mn-cs"/>
              </a:defRPr>
            </a:lvl4pPr>
            <a:lvl5pPr marL="1371600" algn="l" rtl="0" fontAlgn="base">
              <a:spcBef>
                <a:spcPct val="0"/>
              </a:spcBef>
              <a:spcAft>
                <a:spcPct val="0"/>
              </a:spcAft>
              <a:defRPr sz="1800" kern="1200">
                <a:solidFill>
                  <a:schemeClr val="lt1"/>
                </a:solidFill>
                <a:latin typeface="+mn-lt"/>
                <a:ea typeface="+mn-ea"/>
                <a:cs typeface="+mn-cs"/>
              </a:defRPr>
            </a:lvl5pPr>
            <a:lvl6pPr marL="1714500" algn="l" defTabSz="685800" rtl="0" eaLnBrk="1" latinLnBrk="0" hangingPunct="1">
              <a:defRPr sz="1800" kern="1200">
                <a:solidFill>
                  <a:schemeClr val="lt1"/>
                </a:solidFill>
                <a:latin typeface="+mn-lt"/>
                <a:ea typeface="+mn-ea"/>
                <a:cs typeface="+mn-cs"/>
              </a:defRPr>
            </a:lvl6pPr>
            <a:lvl7pPr marL="2057400" algn="l" defTabSz="685800" rtl="0" eaLnBrk="1" latinLnBrk="0" hangingPunct="1">
              <a:defRPr sz="1800" kern="1200">
                <a:solidFill>
                  <a:schemeClr val="lt1"/>
                </a:solidFill>
                <a:latin typeface="+mn-lt"/>
                <a:ea typeface="+mn-ea"/>
                <a:cs typeface="+mn-cs"/>
              </a:defRPr>
            </a:lvl7pPr>
            <a:lvl8pPr marL="2400300" algn="l" defTabSz="685800" rtl="0" eaLnBrk="1" latinLnBrk="0" hangingPunct="1">
              <a:defRPr sz="1800" kern="1200">
                <a:solidFill>
                  <a:schemeClr val="lt1"/>
                </a:solidFill>
                <a:latin typeface="+mn-lt"/>
                <a:ea typeface="+mn-ea"/>
                <a:cs typeface="+mn-cs"/>
              </a:defRPr>
            </a:lvl8pPr>
            <a:lvl9pPr marL="2743200" algn="l" defTabSz="685800" rtl="0" eaLnBrk="1" latinLnBrk="0" hangingPunct="1">
              <a:defRPr sz="1800" kern="1200">
                <a:solidFill>
                  <a:schemeClr val="lt1"/>
                </a:solidFill>
                <a:latin typeface="+mn-lt"/>
                <a:ea typeface="+mn-ea"/>
                <a:cs typeface="+mn-cs"/>
              </a:defRPr>
            </a:lvl9pPr>
          </a:lstStyle>
          <a:p>
            <a:pPr marL="0" marR="0" lvl="0" indent="0" algn="ctr" defTabSz="121917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rial Narrow"/>
              <a:ea typeface="ＭＳ Ｐゴシック"/>
              <a:cs typeface="+mn-cs"/>
            </a:endParaRPr>
          </a:p>
        </p:txBody>
      </p:sp>
      <p:sp>
        <p:nvSpPr>
          <p:cNvPr id="44" name="TextBox 43">
            <a:extLst>
              <a:ext uri="{FF2B5EF4-FFF2-40B4-BE49-F238E27FC236}">
                <a16:creationId xmlns:a16="http://schemas.microsoft.com/office/drawing/2014/main" id="{393B0780-D3DA-F888-BB2A-14A10BBEA74D}"/>
              </a:ext>
            </a:extLst>
          </p:cNvPr>
          <p:cNvSpPr txBox="1"/>
          <p:nvPr/>
        </p:nvSpPr>
        <p:spPr>
          <a:xfrm>
            <a:off x="7360003" y="1493895"/>
            <a:ext cx="1657973" cy="892552"/>
          </a:xfrm>
          <a:prstGeom prst="rect">
            <a:avLst/>
          </a:prstGeom>
          <a:noFill/>
        </p:spPr>
        <p:txBody>
          <a:bodyPr wrap="square" lIns="91440" tIns="45720" rIns="91440" bIns="45720" rtlCol="0" anchor="t">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Information Systems</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Michel Ingham</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1"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NASA JPL</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a:ea typeface="ＭＳ Ｐゴシック"/>
                <a:cs typeface="Helvetica"/>
              </a:rPr>
              <a:t>2025-2028</a:t>
            </a:r>
          </a:p>
        </p:txBody>
      </p:sp>
      <p:sp>
        <p:nvSpPr>
          <p:cNvPr id="46" name="TextBox 45">
            <a:extLst>
              <a:ext uri="{FF2B5EF4-FFF2-40B4-BE49-F238E27FC236}">
                <a16:creationId xmlns:a16="http://schemas.microsoft.com/office/drawing/2014/main" id="{C0C2CB8C-6372-500B-5C5A-52846B2A7A9D}"/>
              </a:ext>
            </a:extLst>
          </p:cNvPr>
          <p:cNvSpPr txBox="1"/>
          <p:nvPr/>
        </p:nvSpPr>
        <p:spPr>
          <a:xfrm>
            <a:off x="7396970" y="4913927"/>
            <a:ext cx="1931275" cy="1092607"/>
          </a:xfrm>
          <a:prstGeom prst="rect">
            <a:avLst/>
          </a:prstGeom>
          <a:noFill/>
        </p:spPr>
        <p:txBody>
          <a:bodyPr wrap="square" lIns="91440" tIns="45720" rIns="91440" bIns="45720" rtlCol="0" anchor="t">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Space and Missiles</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charset="-128"/>
                <a:cs typeface="Helvetica" panose="020B0604020202020204" pitchFamily="34" charset="0"/>
              </a:rPr>
              <a:t>Stephen Blanchette</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300" b="0" i="1" u="none" strike="noStrike" kern="1200" cap="none" spc="0" normalizeH="0" baseline="0" noProof="0" dirty="0">
                <a:ln>
                  <a:noFill/>
                </a:ln>
                <a:solidFill>
                  <a:srgbClr val="000000"/>
                </a:solidFill>
                <a:effectLst/>
                <a:uLnTx/>
                <a:uFillTx/>
                <a:latin typeface="Figtree" pitchFamily="2" charset="0"/>
                <a:ea typeface="ＭＳ Ｐゴシック" charset="-128"/>
                <a:cs typeface="Helvetica" panose="020B0604020202020204" pitchFamily="34" charset="0"/>
              </a:rPr>
              <a:t>The Aerospace Corporation</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a:ea typeface="ＭＳ Ｐゴシック"/>
                <a:cs typeface="Helvetica"/>
              </a:rPr>
              <a:t>2026-2029</a:t>
            </a:r>
            <a:endPar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endParaRPr>
          </a:p>
        </p:txBody>
      </p:sp>
      <p:sp>
        <p:nvSpPr>
          <p:cNvPr id="47" name="TextBox 46">
            <a:extLst>
              <a:ext uri="{FF2B5EF4-FFF2-40B4-BE49-F238E27FC236}">
                <a16:creationId xmlns:a16="http://schemas.microsoft.com/office/drawing/2014/main" id="{76352AD0-82F1-5107-57E8-DF51E53FB1DC}"/>
              </a:ext>
            </a:extLst>
          </p:cNvPr>
          <p:cNvSpPr txBox="1"/>
          <p:nvPr/>
        </p:nvSpPr>
        <p:spPr>
          <a:xfrm>
            <a:off x="1465850" y="2202349"/>
            <a:ext cx="1478108" cy="892552"/>
          </a:xfrm>
          <a:prstGeom prst="rect">
            <a:avLst/>
          </a:prstGeom>
          <a:noFill/>
        </p:spPr>
        <p:txBody>
          <a:bodyPr wrap="square" lIns="91440" tIns="45720" rIns="91440" bIns="45720" rtlCol="0" anchor="t">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Division Chief</a:t>
            </a:r>
          </a:p>
          <a:p>
            <a:pPr marL="0" marR="0" lvl="0" indent="0" algn="l" defTabSz="1219170" rtl="0" eaLnBrk="1" fontAlgn="auto"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a:ea typeface="ＭＳ Ｐゴシック"/>
                <a:cs typeface="Helvetica"/>
              </a:rPr>
              <a:t>Rick Mange</a:t>
            </a:r>
            <a:endParaRPr kumimoji="0" lang="en-US" sz="1800" b="0" i="0" u="none" strike="noStrike" kern="1200" cap="none" spc="0" normalizeH="0" baseline="0" noProof="0" dirty="0">
              <a:ln>
                <a:noFill/>
              </a:ln>
              <a:solidFill>
                <a:srgbClr val="000000"/>
              </a:solidFill>
              <a:effectLst/>
              <a:uLnTx/>
              <a:uFillTx/>
              <a:latin typeface="Aptos" panose="02110004020202020204"/>
              <a:ea typeface="+mn-ea"/>
              <a:cs typeface="+mn-cs"/>
            </a:endParaRP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a:ea typeface="ＭＳ Ｐゴシック"/>
                <a:cs typeface="Helvetica"/>
              </a:rPr>
              <a:t>Lockheed Martin</a:t>
            </a:r>
            <a:endPar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endParaRPr>
          </a:p>
          <a:p>
            <a:pPr marL="0" marR="0" lvl="0" indent="0" algn="l" defTabSz="1219170" rtl="0" eaLnBrk="1" fontAlgn="auto"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a:ea typeface="ＭＳ Ｐゴシック"/>
                <a:cs typeface="Helvetica"/>
              </a:rPr>
              <a:t>2026-2029</a:t>
            </a:r>
            <a:endParaRPr kumimoji="0" lang="en-US" sz="1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49" name="TextBox 48">
            <a:extLst>
              <a:ext uri="{FF2B5EF4-FFF2-40B4-BE49-F238E27FC236}">
                <a16:creationId xmlns:a16="http://schemas.microsoft.com/office/drawing/2014/main" id="{A22C6DE2-87F3-299B-4076-C5960A12785E}"/>
              </a:ext>
            </a:extLst>
          </p:cNvPr>
          <p:cNvSpPr txBox="1"/>
          <p:nvPr/>
        </p:nvSpPr>
        <p:spPr>
          <a:xfrm>
            <a:off x="10326689" y="2234498"/>
            <a:ext cx="1697505" cy="892552"/>
          </a:xfrm>
          <a:prstGeom prst="rect">
            <a:avLst/>
          </a:prstGeom>
          <a:noFill/>
        </p:spPr>
        <p:txBody>
          <a:bodyPr wrap="square" lIns="91440" tIns="45720" rIns="91440" bIns="45720" rtlCol="0" anchor="t">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Technical Integration Subcommittee</a:t>
            </a:r>
          </a:p>
          <a:p>
            <a:pPr marL="0" marR="0" lvl="0" indent="0" algn="l" defTabSz="1219170" rtl="0" eaLnBrk="1" fontAlgn="auto"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a:ea typeface="ＭＳ Ｐゴシック"/>
                <a:cs typeface="Helvetica"/>
              </a:rPr>
              <a:t>Tom Smith</a:t>
            </a:r>
            <a:endParaRPr kumimoji="0" lang="en-US" sz="1800" b="0" i="0" u="none" strike="noStrike" kern="1200" cap="none" spc="0" normalizeH="0" baseline="0" noProof="0" dirty="0">
              <a:ln>
                <a:noFill/>
              </a:ln>
              <a:solidFill>
                <a:srgbClr val="000000"/>
              </a:solidFill>
              <a:effectLst/>
              <a:uLnTx/>
              <a:uFillTx/>
              <a:latin typeface="Aptos" panose="02110004020202020204"/>
              <a:ea typeface="+mn-ea"/>
              <a:cs typeface="+mn-cs"/>
            </a:endParaRP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1"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The Boeing Company</a:t>
            </a:r>
          </a:p>
        </p:txBody>
      </p:sp>
      <p:pic>
        <p:nvPicPr>
          <p:cNvPr id="50" name="Picture 49">
            <a:extLst>
              <a:ext uri="{FF2B5EF4-FFF2-40B4-BE49-F238E27FC236}">
                <a16:creationId xmlns:a16="http://schemas.microsoft.com/office/drawing/2014/main" id="{79C311A7-B70B-FB32-2338-453521A415C7}"/>
              </a:ext>
            </a:extLst>
          </p:cNvPr>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2921073" y="3166952"/>
            <a:ext cx="1252728" cy="1453188"/>
          </a:xfrm>
          <a:prstGeom prst="rect">
            <a:avLst/>
          </a:prstGeom>
          <a:blipFill>
            <a:blip r:embed="rId7" cstate="email">
              <a:extLst>
                <a:ext uri="{28A0092B-C50C-407E-A947-70E740481C1C}">
                  <a14:useLocalDpi xmlns:a14="http://schemas.microsoft.com/office/drawing/2010/main"/>
                </a:ext>
              </a:extLst>
            </a:blip>
            <a:stretch>
              <a:fillRect/>
            </a:stretch>
          </a:blipFill>
          <a:ln w="28575">
            <a:solidFill>
              <a:srgbClr val="1B3D6C"/>
            </a:solidFill>
          </a:ln>
        </p:spPr>
      </p:pic>
      <p:sp>
        <p:nvSpPr>
          <p:cNvPr id="53" name="TextBox 52">
            <a:extLst>
              <a:ext uri="{FF2B5EF4-FFF2-40B4-BE49-F238E27FC236}">
                <a16:creationId xmlns:a16="http://schemas.microsoft.com/office/drawing/2014/main" id="{362117B4-C8FE-0BD6-65B6-E19A646A9F23}"/>
              </a:ext>
            </a:extLst>
          </p:cNvPr>
          <p:cNvSpPr txBox="1"/>
          <p:nvPr/>
        </p:nvSpPr>
        <p:spPr>
          <a:xfrm>
            <a:off x="1496209" y="4112705"/>
            <a:ext cx="1368324" cy="1292662"/>
          </a:xfrm>
          <a:prstGeom prst="rect">
            <a:avLst/>
          </a:prstGeom>
          <a:noFill/>
        </p:spPr>
        <p:txBody>
          <a:bodyPr wrap="square" rtlCol="0">
            <a:spAutoFit/>
          </a:body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Director, </a:t>
            </a:r>
          </a:p>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Technical &amp; Integration Communities</a:t>
            </a:r>
          </a:p>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Michael Lagana</a:t>
            </a:r>
          </a:p>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sz="1300" b="0" i="1"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AIAA</a:t>
            </a:r>
          </a:p>
        </p:txBody>
      </p:sp>
      <p:sp>
        <p:nvSpPr>
          <p:cNvPr id="55" name="Rectangle 54">
            <a:extLst>
              <a:ext uri="{FF2B5EF4-FFF2-40B4-BE49-F238E27FC236}">
                <a16:creationId xmlns:a16="http://schemas.microsoft.com/office/drawing/2014/main" id="{497AC11B-DF9B-6500-ACEC-AE45196FC2D2}"/>
              </a:ext>
            </a:extLst>
          </p:cNvPr>
          <p:cNvSpPr/>
          <p:nvPr/>
        </p:nvSpPr>
        <p:spPr>
          <a:xfrm>
            <a:off x="6071355" y="3160709"/>
            <a:ext cx="1293186" cy="1446977"/>
          </a:xfrm>
          <a:prstGeom prst="rect">
            <a:avLst/>
          </a:prstGeom>
          <a:blipFill>
            <a:blip r:embed="rId10" cstate="email">
              <a:extLst>
                <a:ext uri="{28A0092B-C50C-407E-A947-70E740481C1C}">
                  <a14:useLocalDpi xmlns:a14="http://schemas.microsoft.com/office/drawing/2010/main"/>
                </a:ext>
              </a:extLst>
            </a:blip>
            <a:stretch>
              <a:fillRect/>
            </a:stretch>
          </a:blipFill>
          <a:ln w="28575">
            <a:solidFill>
              <a:srgbClr val="1B3D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rial Narrow"/>
              <a:ea typeface="ＭＳ Ｐゴシック"/>
              <a:cs typeface="+mn-cs"/>
            </a:endParaRPr>
          </a:p>
        </p:txBody>
      </p:sp>
      <p:sp>
        <p:nvSpPr>
          <p:cNvPr id="56" name="TextBox 55">
            <a:extLst>
              <a:ext uri="{FF2B5EF4-FFF2-40B4-BE49-F238E27FC236}">
                <a16:creationId xmlns:a16="http://schemas.microsoft.com/office/drawing/2014/main" id="{BE9D8ACE-EFC2-3867-8A0D-BC527A30E117}"/>
              </a:ext>
            </a:extLst>
          </p:cNvPr>
          <p:cNvSpPr txBox="1"/>
          <p:nvPr/>
        </p:nvSpPr>
        <p:spPr>
          <a:xfrm>
            <a:off x="7411121" y="3166024"/>
            <a:ext cx="1695369" cy="1092607"/>
          </a:xfrm>
          <a:prstGeom prst="rect">
            <a:avLst/>
          </a:prstGeom>
          <a:noFill/>
        </p:spPr>
        <p:txBody>
          <a:bodyPr wrap="square" rtlCol="0">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Propulsion and Energy</a:t>
            </a:r>
            <a:endParaRPr kumimoji="0" lang="en-US" sz="1300" b="1" i="0" u="none" strike="noStrike" kern="1200" cap="none" spc="0" normalizeH="0" baseline="20000" noProof="0" dirty="0">
              <a:ln>
                <a:noFill/>
              </a:ln>
              <a:solidFill>
                <a:srgbClr val="FF0000"/>
              </a:solidFill>
              <a:effectLst/>
              <a:uLnTx/>
              <a:uFillTx/>
              <a:latin typeface="Figtree" pitchFamily="2" charset="0"/>
              <a:ea typeface="ＭＳ Ｐゴシック" pitchFamily="80" charset="-128"/>
              <a:cs typeface="Helvetica" panose="020B0604020202020204" pitchFamily="34" charset="0"/>
            </a:endParaRP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Rusty Powell</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1"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Astrion</a:t>
            </a:r>
            <a:endPar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endParaRP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2025-2028</a:t>
            </a:r>
          </a:p>
        </p:txBody>
      </p:sp>
      <p:sp>
        <p:nvSpPr>
          <p:cNvPr id="57" name="Rectangle 56">
            <a:extLst>
              <a:ext uri="{FF2B5EF4-FFF2-40B4-BE49-F238E27FC236}">
                <a16:creationId xmlns:a16="http://schemas.microsoft.com/office/drawing/2014/main" id="{0720ED66-4917-DEE6-F643-ECF1247DA759}"/>
              </a:ext>
            </a:extLst>
          </p:cNvPr>
          <p:cNvSpPr/>
          <p:nvPr/>
        </p:nvSpPr>
        <p:spPr>
          <a:xfrm>
            <a:off x="9040647" y="4021266"/>
            <a:ext cx="1255388" cy="1469309"/>
          </a:xfrm>
          <a:prstGeom prst="rect">
            <a:avLst/>
          </a:prstGeom>
          <a:noFill/>
          <a:ln w="28575">
            <a:solidFill>
              <a:srgbClr val="1B3D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rial Narrow"/>
              <a:ea typeface="ＭＳ Ｐゴシック"/>
              <a:cs typeface="+mn-cs"/>
            </a:endParaRPr>
          </a:p>
        </p:txBody>
      </p:sp>
      <p:sp>
        <p:nvSpPr>
          <p:cNvPr id="58" name="TextBox 57">
            <a:extLst>
              <a:ext uri="{FF2B5EF4-FFF2-40B4-BE49-F238E27FC236}">
                <a16:creationId xmlns:a16="http://schemas.microsoft.com/office/drawing/2014/main" id="{FE049A44-5253-A37F-5F74-736F86213C25}"/>
              </a:ext>
            </a:extLst>
          </p:cNvPr>
          <p:cNvSpPr txBox="1"/>
          <p:nvPr/>
        </p:nvSpPr>
        <p:spPr>
          <a:xfrm>
            <a:off x="10326688" y="4032756"/>
            <a:ext cx="1819592" cy="1292662"/>
          </a:xfrm>
          <a:prstGeom prst="rect">
            <a:avLst/>
          </a:prstGeom>
          <a:noFill/>
        </p:spPr>
        <p:txBody>
          <a:bodyPr wrap="square" rtlCol="0">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Forums Integration Subcommittee</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João Luiz Azevedo</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pt-BR" sz="1300" b="0" i="1" u="none" strike="noStrike" kern="1200" cap="none" spc="0" normalizeH="0" baseline="0" noProof="0">
                <a:ln>
                  <a:noFill/>
                </a:ln>
                <a:solidFill>
                  <a:srgbClr val="000000"/>
                </a:solidFill>
                <a:effectLst/>
                <a:uLnTx/>
                <a:uFillTx/>
                <a:latin typeface="Figtree" pitchFamily="2" charset="0"/>
                <a:ea typeface="ＭＳ Ｐゴシック" pitchFamily="80" charset="-128"/>
                <a:cs typeface="Helvetica" panose="020B0604020202020204" pitchFamily="34" charset="0"/>
              </a:rPr>
              <a:t>Instituto de Aeronáutica e Espaço</a:t>
            </a:r>
            <a:endParaRPr kumimoji="0" lang="en-US" sz="1300" b="0" i="1"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endParaRPr>
          </a:p>
        </p:txBody>
      </p:sp>
      <p:sp>
        <p:nvSpPr>
          <p:cNvPr id="60" name="TextBox 59">
            <a:extLst>
              <a:ext uri="{FF2B5EF4-FFF2-40B4-BE49-F238E27FC236}">
                <a16:creationId xmlns:a16="http://schemas.microsoft.com/office/drawing/2014/main" id="{08C46A3B-16F4-B194-FE3B-27DFB8B66F6D}"/>
              </a:ext>
            </a:extLst>
          </p:cNvPr>
          <p:cNvSpPr txBox="1"/>
          <p:nvPr/>
        </p:nvSpPr>
        <p:spPr>
          <a:xfrm>
            <a:off x="4225144" y="1489329"/>
            <a:ext cx="1931275" cy="1292662"/>
          </a:xfrm>
          <a:prstGeom prst="rect">
            <a:avLst/>
          </a:prstGeom>
          <a:noFill/>
        </p:spPr>
        <p:txBody>
          <a:bodyPr wrap="square" rtlCol="0">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Aerospace Design and Structures</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Dawn Phillips</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1"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NASA Marshall </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1"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Space Flight Center</a:t>
            </a:r>
          </a:p>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Figtree" pitchFamily="2" charset="0"/>
                <a:ea typeface="ＭＳ Ｐゴシック" pitchFamily="80" charset="-128"/>
                <a:cs typeface="Helvetica" panose="020B0604020202020204" pitchFamily="34" charset="0"/>
              </a:rPr>
              <a:t>2024-2027</a:t>
            </a:r>
          </a:p>
        </p:txBody>
      </p:sp>
      <p:sp>
        <p:nvSpPr>
          <p:cNvPr id="62" name="Rectangle 61">
            <a:extLst>
              <a:ext uri="{FF2B5EF4-FFF2-40B4-BE49-F238E27FC236}">
                <a16:creationId xmlns:a16="http://schemas.microsoft.com/office/drawing/2014/main" id="{22144379-9476-7BA6-3238-F9658C994666}"/>
              </a:ext>
            </a:extLst>
          </p:cNvPr>
          <p:cNvSpPr/>
          <p:nvPr/>
        </p:nvSpPr>
        <p:spPr>
          <a:xfrm>
            <a:off x="242419" y="4112707"/>
            <a:ext cx="1255388" cy="1469309"/>
          </a:xfrm>
          <a:prstGeom prst="rect">
            <a:avLst/>
          </a:prstGeom>
          <a:blipFill>
            <a:blip r:embed="rId11" cstate="email">
              <a:extLst>
                <a:ext uri="{28A0092B-C50C-407E-A947-70E740481C1C}">
                  <a14:useLocalDpi xmlns:a14="http://schemas.microsoft.com/office/drawing/2010/main"/>
                </a:ext>
              </a:extLst>
            </a:blip>
            <a:stretch>
              <a:fillRect/>
            </a:stretch>
          </a:blipFill>
          <a:ln w="28575">
            <a:solidFill>
              <a:srgbClr val="1B3D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rial Narrow"/>
              <a:ea typeface="ＭＳ Ｐゴシック"/>
              <a:cs typeface="+mn-cs"/>
            </a:endParaRPr>
          </a:p>
        </p:txBody>
      </p:sp>
      <p:pic>
        <p:nvPicPr>
          <p:cNvPr id="5" name="Picture 4" descr="A person in a suit and tie&#10;&#10;AI-generated content may be incorrect.">
            <a:extLst>
              <a:ext uri="{FF2B5EF4-FFF2-40B4-BE49-F238E27FC236}">
                <a16:creationId xmlns:a16="http://schemas.microsoft.com/office/drawing/2014/main" id="{306722A2-3F50-BD06-74AB-D21921721C6D}"/>
              </a:ext>
            </a:extLst>
          </p:cNvPr>
          <p:cNvPicPr>
            <a:picLocks noChangeAspect="1"/>
          </p:cNvPicPr>
          <p:nvPr/>
        </p:nvPicPr>
        <p:blipFill>
          <a:blip r:embed="rId12" cstate="email">
            <a:extLst>
              <a:ext uri="{28A0092B-C50C-407E-A947-70E740481C1C}">
                <a14:useLocalDpi xmlns:a14="http://schemas.microsoft.com/office/drawing/2010/main"/>
              </a:ext>
            </a:extLst>
          </a:blip>
          <a:srcRect/>
          <a:stretch>
            <a:fillRect/>
          </a:stretch>
        </p:blipFill>
        <p:spPr>
          <a:xfrm>
            <a:off x="2921073" y="4912957"/>
            <a:ext cx="1252728" cy="1456507"/>
          </a:xfrm>
          <a:prstGeom prst="rect">
            <a:avLst/>
          </a:prstGeom>
          <a:blipFill>
            <a:blip r:embed="rId7" cstate="email">
              <a:extLst>
                <a:ext uri="{28A0092B-C50C-407E-A947-70E740481C1C}">
                  <a14:useLocalDpi xmlns:a14="http://schemas.microsoft.com/office/drawing/2010/main"/>
                </a:ext>
              </a:extLst>
            </a:blip>
            <a:stretch>
              <a:fillRect/>
            </a:stretch>
          </a:blipFill>
          <a:ln w="28575">
            <a:solidFill>
              <a:srgbClr val="1B3D6C"/>
            </a:solidFill>
          </a:ln>
        </p:spPr>
      </p:pic>
      <p:pic>
        <p:nvPicPr>
          <p:cNvPr id="7" name="Picture 6" descr="A person in a suit and tie&#10;&#10;AI-generated content may be incorrect.">
            <a:extLst>
              <a:ext uri="{FF2B5EF4-FFF2-40B4-BE49-F238E27FC236}">
                <a16:creationId xmlns:a16="http://schemas.microsoft.com/office/drawing/2014/main" id="{3BDF1032-B256-4C9A-01B1-3500E6487EED}"/>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209306" y="2147278"/>
            <a:ext cx="1252728" cy="1477111"/>
          </a:xfrm>
          <a:prstGeom prst="rect">
            <a:avLst/>
          </a:prstGeom>
        </p:spPr>
      </p:pic>
      <p:pic>
        <p:nvPicPr>
          <p:cNvPr id="3" name="Picture 2">
            <a:extLst>
              <a:ext uri="{FF2B5EF4-FFF2-40B4-BE49-F238E27FC236}">
                <a16:creationId xmlns:a16="http://schemas.microsoft.com/office/drawing/2014/main" id="{26FE5E08-DBE1-AB9F-27E9-5092235CA453}"/>
              </a:ext>
            </a:extLst>
          </p:cNvPr>
          <p:cNvPicPr>
            <a:picLocks noChangeAspect="1"/>
          </p:cNvPicPr>
          <p:nvPr/>
        </p:nvPicPr>
        <p:blipFill>
          <a:blip r:embed="rId14" cstate="email">
            <a:extLst>
              <a:ext uri="{28A0092B-C50C-407E-A947-70E740481C1C}">
                <a14:useLocalDpi xmlns:a14="http://schemas.microsoft.com/office/drawing/2010/main"/>
              </a:ext>
            </a:extLst>
          </a:blip>
          <a:srcRect/>
          <a:stretch>
            <a:fillRect/>
          </a:stretch>
        </p:blipFill>
        <p:spPr>
          <a:xfrm>
            <a:off x="9078703" y="1990343"/>
            <a:ext cx="1252728" cy="1534367"/>
          </a:xfrm>
          <a:prstGeom prst="rect">
            <a:avLst/>
          </a:prstGeom>
        </p:spPr>
      </p:pic>
      <p:sp>
        <p:nvSpPr>
          <p:cNvPr id="8" name="TextBox 7">
            <a:extLst>
              <a:ext uri="{FF2B5EF4-FFF2-40B4-BE49-F238E27FC236}">
                <a16:creationId xmlns:a16="http://schemas.microsoft.com/office/drawing/2014/main" id="{B485F951-DE39-D622-21F7-93ED5436C461}"/>
              </a:ext>
            </a:extLst>
          </p:cNvPr>
          <p:cNvSpPr txBox="1"/>
          <p:nvPr/>
        </p:nvSpPr>
        <p:spPr>
          <a:xfrm>
            <a:off x="9064556" y="1966945"/>
            <a:ext cx="1260696" cy="1545336"/>
          </a:xfrm>
          <a:prstGeom prst="rect">
            <a:avLst/>
          </a:prstGeom>
          <a:noFill/>
          <a:ln w="28575">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F1170C01-2806-5662-A8A0-7FFAC0A2C5F2}"/>
              </a:ext>
            </a:extLst>
          </p:cNvPr>
          <p:cNvSpPr txBox="1">
            <a:spLocks noChangeAspect="1"/>
          </p:cNvSpPr>
          <p:nvPr/>
        </p:nvSpPr>
        <p:spPr>
          <a:xfrm>
            <a:off x="206548" y="2152487"/>
            <a:ext cx="1252728" cy="1476524"/>
          </a:xfrm>
          <a:prstGeom prst="rect">
            <a:avLst/>
          </a:prstGeom>
          <a:noFill/>
          <a:ln w="28575">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5301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A3DDA-925F-C36C-C705-E02D2550C6E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028041B-E772-1400-E2F8-5D32CA7B710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0080" y="359855"/>
            <a:ext cx="10688025" cy="6012014"/>
          </a:xfrm>
          <a:prstGeom prst="rect">
            <a:avLst/>
          </a:prstGeom>
        </p:spPr>
      </p:pic>
      <p:sp>
        <p:nvSpPr>
          <p:cNvPr id="8" name="Star: 5 Points 7">
            <a:extLst>
              <a:ext uri="{FF2B5EF4-FFF2-40B4-BE49-F238E27FC236}">
                <a16:creationId xmlns:a16="http://schemas.microsoft.com/office/drawing/2014/main" id="{62435E0C-8507-955F-B25A-2057E54E1180}"/>
              </a:ext>
            </a:extLst>
          </p:cNvPr>
          <p:cNvSpPr/>
          <p:nvPr/>
        </p:nvSpPr>
        <p:spPr bwMode="auto">
          <a:xfrm>
            <a:off x="11093191" y="5065425"/>
            <a:ext cx="152042" cy="136966"/>
          </a:xfrm>
          <a:prstGeom prst="star5">
            <a:avLst/>
          </a:prstGeom>
          <a:solidFill>
            <a:srgbClr val="FFFF00"/>
          </a:solidFill>
          <a:ln w="19050" cap="flat" cmpd="sng" algn="ctr">
            <a:solidFill>
              <a:srgbClr val="1B3D6C"/>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eaLnBrk="0" hangingPunct="0"/>
            <a:endParaRPr lang="en-US" sz="3200" dirty="0">
              <a:solidFill>
                <a:srgbClr val="000000"/>
              </a:solidFill>
              <a:ea typeface="ＭＳ Ｐゴシック" pitchFamily="80" charset="-128"/>
            </a:endParaRPr>
          </a:p>
        </p:txBody>
      </p:sp>
      <p:sp>
        <p:nvSpPr>
          <p:cNvPr id="10" name="Slide Number Placeholder 5">
            <a:extLst>
              <a:ext uri="{FF2B5EF4-FFF2-40B4-BE49-F238E27FC236}">
                <a16:creationId xmlns:a16="http://schemas.microsoft.com/office/drawing/2014/main" id="{1730E26A-0E94-E27C-F1A6-F72BF706EA98}"/>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9</a:t>
            </a:fld>
            <a:endParaRPr lang="en-US" sz="1000" dirty="0">
              <a:solidFill>
                <a:srgbClr val="FFFFFF"/>
              </a:solidFill>
            </a:endParaRPr>
          </a:p>
        </p:txBody>
      </p:sp>
      <p:cxnSp>
        <p:nvCxnSpPr>
          <p:cNvPr id="11" name="Straight Connector 10">
            <a:extLst>
              <a:ext uri="{FF2B5EF4-FFF2-40B4-BE49-F238E27FC236}">
                <a16:creationId xmlns:a16="http://schemas.microsoft.com/office/drawing/2014/main" id="{02A7754B-C408-9AA8-B81B-ABC0F3BFE1CE}"/>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Slide Number Placeholder 1">
            <a:extLst>
              <a:ext uri="{FF2B5EF4-FFF2-40B4-BE49-F238E27FC236}">
                <a16:creationId xmlns:a16="http://schemas.microsoft.com/office/drawing/2014/main" id="{11ED9D12-4D29-1677-691B-A195A9625D91}"/>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9</a:t>
            </a:fld>
            <a:endParaRPr lang="en-US" dirty="0">
              <a:solidFill>
                <a:srgbClr val="FFFFFF"/>
              </a:solidFill>
            </a:endParaRPr>
          </a:p>
        </p:txBody>
      </p:sp>
      <p:cxnSp>
        <p:nvCxnSpPr>
          <p:cNvPr id="14" name="Straight Connector 13">
            <a:extLst>
              <a:ext uri="{FF2B5EF4-FFF2-40B4-BE49-F238E27FC236}">
                <a16:creationId xmlns:a16="http://schemas.microsoft.com/office/drawing/2014/main" id="{EDBE413A-FC19-C755-3CA1-977B38D82B20}"/>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 name="Slide Number Placeholder 8">
            <a:extLst>
              <a:ext uri="{FF2B5EF4-FFF2-40B4-BE49-F238E27FC236}">
                <a16:creationId xmlns:a16="http://schemas.microsoft.com/office/drawing/2014/main" id="{4EEC9B25-FD93-21F4-774D-DFBE13CBF636}"/>
              </a:ext>
            </a:extLst>
          </p:cNvPr>
          <p:cNvSpPr>
            <a:spLocks noGrp="1"/>
          </p:cNvSpPr>
          <p:nvPr>
            <p:ph type="sldNum" sz="quarter" idx="12"/>
          </p:nvPr>
        </p:nvSpPr>
        <p:spPr/>
        <p:txBody>
          <a:bodyPr/>
          <a:lstStyle/>
          <a:p>
            <a:fld id="{8FBCB428-D880-FC4A-9B26-64132A65A030}" type="slidenum">
              <a:rPr lang="en-US" smtClean="0"/>
              <a:pPr/>
              <a:t>9</a:t>
            </a:fld>
            <a:endParaRPr lang="en-US" dirty="0"/>
          </a:p>
        </p:txBody>
      </p:sp>
      <p:sp>
        <p:nvSpPr>
          <p:cNvPr id="2" name="Oval 1">
            <a:extLst>
              <a:ext uri="{FF2B5EF4-FFF2-40B4-BE49-F238E27FC236}">
                <a16:creationId xmlns:a16="http://schemas.microsoft.com/office/drawing/2014/main" id="{98163E0D-C9C0-E8D8-BDB6-20E9FDA8008E}"/>
              </a:ext>
            </a:extLst>
          </p:cNvPr>
          <p:cNvSpPr/>
          <p:nvPr/>
        </p:nvSpPr>
        <p:spPr bwMode="auto">
          <a:xfrm>
            <a:off x="6709526" y="3503640"/>
            <a:ext cx="3267788" cy="3091992"/>
          </a:xfrm>
          <a:prstGeom prst="ellipse">
            <a:avLst/>
          </a:prstGeom>
          <a:noFill/>
          <a:ln w="38100" cap="flat" cmpd="sng" algn="ctr">
            <a:solidFill>
              <a:schemeClr val="accent3">
                <a:lumMod val="50000"/>
              </a:schemeClr>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defTabSz="1219170" eaLnBrk="0" hangingPunct="0">
              <a:defRPr/>
            </a:pPr>
            <a:endParaRPr lang="en-US" sz="3200" kern="0" dirty="0">
              <a:solidFill>
                <a:srgbClr val="000000"/>
              </a:solidFill>
              <a:ea typeface="ＭＳ Ｐゴシック" pitchFamily="80" charset="-128"/>
            </a:endParaRPr>
          </a:p>
        </p:txBody>
      </p:sp>
      <p:sp>
        <p:nvSpPr>
          <p:cNvPr id="4" name="Star: 5 Points 3">
            <a:extLst>
              <a:ext uri="{FF2B5EF4-FFF2-40B4-BE49-F238E27FC236}">
                <a16:creationId xmlns:a16="http://schemas.microsoft.com/office/drawing/2014/main" id="{69F62DD7-55C6-B61D-76C5-302645AB5431}"/>
              </a:ext>
            </a:extLst>
          </p:cNvPr>
          <p:cNvSpPr/>
          <p:nvPr/>
        </p:nvSpPr>
        <p:spPr bwMode="auto">
          <a:xfrm>
            <a:off x="11093191" y="1984673"/>
            <a:ext cx="152042" cy="136966"/>
          </a:xfrm>
          <a:prstGeom prst="star5">
            <a:avLst/>
          </a:prstGeom>
          <a:solidFill>
            <a:srgbClr val="FFFF00"/>
          </a:solidFill>
          <a:ln w="19050" cap="flat" cmpd="sng" algn="ctr">
            <a:solidFill>
              <a:srgbClr val="1B3D6C"/>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eaLnBrk="0" hangingPunct="0"/>
            <a:endParaRPr lang="en-US" sz="3200" dirty="0">
              <a:solidFill>
                <a:srgbClr val="000000"/>
              </a:solidFill>
              <a:ea typeface="ＭＳ Ｐゴシック" pitchFamily="80" charset="-128"/>
            </a:endParaRPr>
          </a:p>
        </p:txBody>
      </p:sp>
      <p:sp>
        <p:nvSpPr>
          <p:cNvPr id="12" name="Star: 5 Points 11">
            <a:extLst>
              <a:ext uri="{FF2B5EF4-FFF2-40B4-BE49-F238E27FC236}">
                <a16:creationId xmlns:a16="http://schemas.microsoft.com/office/drawing/2014/main" id="{29509A58-9D24-AE3B-EB3C-3DB97D0D26D6}"/>
              </a:ext>
            </a:extLst>
          </p:cNvPr>
          <p:cNvSpPr/>
          <p:nvPr/>
        </p:nvSpPr>
        <p:spPr bwMode="auto">
          <a:xfrm>
            <a:off x="11093191" y="2913177"/>
            <a:ext cx="152042" cy="136966"/>
          </a:xfrm>
          <a:prstGeom prst="star5">
            <a:avLst/>
          </a:prstGeom>
          <a:solidFill>
            <a:srgbClr val="FFFF00"/>
          </a:solidFill>
          <a:ln w="19050" cap="flat" cmpd="sng" algn="ctr">
            <a:solidFill>
              <a:srgbClr val="1B3D6C"/>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eaLnBrk="0" hangingPunct="0"/>
            <a:endParaRPr lang="en-US" sz="3200" dirty="0">
              <a:solidFill>
                <a:srgbClr val="000000"/>
              </a:solidFill>
              <a:ea typeface="ＭＳ Ｐゴシック" pitchFamily="80" charset="-128"/>
            </a:endParaRPr>
          </a:p>
        </p:txBody>
      </p:sp>
      <p:sp>
        <p:nvSpPr>
          <p:cNvPr id="15" name="Star: 5 Points 14">
            <a:extLst>
              <a:ext uri="{FF2B5EF4-FFF2-40B4-BE49-F238E27FC236}">
                <a16:creationId xmlns:a16="http://schemas.microsoft.com/office/drawing/2014/main" id="{22172D55-49DF-E92D-B024-A5345C47A680}"/>
              </a:ext>
            </a:extLst>
          </p:cNvPr>
          <p:cNvSpPr/>
          <p:nvPr/>
        </p:nvSpPr>
        <p:spPr bwMode="auto">
          <a:xfrm>
            <a:off x="11093191" y="4014059"/>
            <a:ext cx="152042" cy="136966"/>
          </a:xfrm>
          <a:prstGeom prst="star5">
            <a:avLst/>
          </a:prstGeom>
          <a:solidFill>
            <a:srgbClr val="FFFF00"/>
          </a:solidFill>
          <a:ln w="19050" cap="flat" cmpd="sng" algn="ctr">
            <a:solidFill>
              <a:srgbClr val="1B3D6C"/>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eaLnBrk="0" hangingPunct="0"/>
            <a:endParaRPr lang="en-US" sz="3200" dirty="0">
              <a:solidFill>
                <a:srgbClr val="000000"/>
              </a:solidFill>
              <a:ea typeface="ＭＳ Ｐゴシック" pitchFamily="80" charset="-128"/>
            </a:endParaRPr>
          </a:p>
        </p:txBody>
      </p:sp>
    </p:spTree>
    <p:extLst>
      <p:ext uri="{BB962C8B-B14F-4D97-AF65-F5344CB8AC3E}">
        <p14:creationId xmlns:p14="http://schemas.microsoft.com/office/powerpoint/2010/main" val="2831603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2248-BEE8-65A1-05C3-CF48D4272E5F}"/>
              </a:ext>
            </a:extLst>
          </p:cNvPr>
          <p:cNvSpPr>
            <a:spLocks noGrp="1"/>
          </p:cNvSpPr>
          <p:nvPr>
            <p:ph type="title"/>
          </p:nvPr>
        </p:nvSpPr>
        <p:spPr/>
        <p:txBody>
          <a:bodyPr/>
          <a:lstStyle/>
          <a:p>
            <a:r>
              <a:rPr lang="en-US" dirty="0"/>
              <a:t>Many Thanks to our Outgoing TC Chairs</a:t>
            </a:r>
          </a:p>
        </p:txBody>
      </p:sp>
      <p:sp>
        <p:nvSpPr>
          <p:cNvPr id="3" name="Content Placeholder 2">
            <a:extLst>
              <a:ext uri="{FF2B5EF4-FFF2-40B4-BE49-F238E27FC236}">
                <a16:creationId xmlns:a16="http://schemas.microsoft.com/office/drawing/2014/main" id="{867B3A53-023B-D94E-AA20-78A438D07CCF}"/>
              </a:ext>
            </a:extLst>
          </p:cNvPr>
          <p:cNvSpPr>
            <a:spLocks noGrp="1"/>
          </p:cNvSpPr>
          <p:nvPr>
            <p:ph idx="1"/>
          </p:nvPr>
        </p:nvSpPr>
        <p:spPr/>
        <p:txBody>
          <a:bodyPr/>
          <a:lstStyle/>
          <a:p>
            <a:pPr marL="285750" indent="-285750">
              <a:buFont typeface="Arial" panose="020B0604020202020204" pitchFamily="34" charset="0"/>
              <a:buChar char="•"/>
            </a:pPr>
            <a:r>
              <a:rPr lang="en-US" sz="2400" dirty="0"/>
              <a:t>Eleonora Botta – Space Tethers TC</a:t>
            </a:r>
          </a:p>
          <a:p>
            <a:pPr marL="285750" indent="-285750">
              <a:buFont typeface="Arial" panose="020B0604020202020204" pitchFamily="34" charset="0"/>
              <a:buChar char="•"/>
            </a:pPr>
            <a:r>
              <a:rPr lang="en-US" sz="2400" dirty="0"/>
              <a:t>John Carsten – Space Systems TC</a:t>
            </a:r>
          </a:p>
          <a:p>
            <a:pPr marL="285750" indent="-285750">
              <a:buFont typeface="Arial" panose="020B0604020202020204" pitchFamily="34" charset="0"/>
              <a:buChar char="•"/>
            </a:pPr>
            <a:r>
              <a:rPr lang="en-US" sz="2400" dirty="0"/>
              <a:t>Samantha Chapin – Space Automation and Robotics TC</a:t>
            </a:r>
          </a:p>
          <a:p>
            <a:pPr marL="285750" indent="-285750">
              <a:buFont typeface="Arial" panose="020B0604020202020204" pitchFamily="34" charset="0"/>
              <a:buChar char="•"/>
            </a:pPr>
            <a:r>
              <a:rPr lang="en-US" sz="2400" dirty="0"/>
              <a:t>Paul Grogan – Space Logistics TC</a:t>
            </a:r>
          </a:p>
          <a:p>
            <a:pPr marL="285750" indent="-285750">
              <a:buFont typeface="Arial" panose="020B0604020202020204" pitchFamily="34" charset="0"/>
              <a:buChar char="•"/>
            </a:pPr>
            <a:r>
              <a:rPr lang="en-US" sz="2400" dirty="0"/>
              <a:t>Ken Lui – Gravity Dependent Science and Technology TC</a:t>
            </a:r>
          </a:p>
          <a:p>
            <a:pPr marL="285750" indent="-285750">
              <a:buFont typeface="Arial" panose="020B0604020202020204" pitchFamily="34" charset="0"/>
              <a:buChar char="•"/>
            </a:pPr>
            <a:r>
              <a:rPr lang="en-US" sz="2400" dirty="0"/>
              <a:t>Georgi Petrov – Space Architecture TC</a:t>
            </a:r>
          </a:p>
          <a:p>
            <a:pPr marL="285750" indent="-285750">
              <a:buFont typeface="Arial" panose="020B0604020202020204" pitchFamily="34" charset="0"/>
              <a:buChar char="•"/>
            </a:pPr>
            <a:r>
              <a:rPr lang="en-US" sz="2400" dirty="0"/>
              <a:t>Chris Nie - Life Sciences and Systems </a:t>
            </a:r>
          </a:p>
        </p:txBody>
      </p:sp>
      <p:sp>
        <p:nvSpPr>
          <p:cNvPr id="4" name="Slide Number Placeholder 3">
            <a:extLst>
              <a:ext uri="{FF2B5EF4-FFF2-40B4-BE49-F238E27FC236}">
                <a16:creationId xmlns:a16="http://schemas.microsoft.com/office/drawing/2014/main" id="{52D25B20-6533-A1C4-7D6C-225F94A802FC}"/>
              </a:ext>
            </a:extLst>
          </p:cNvPr>
          <p:cNvSpPr>
            <a:spLocks noGrp="1"/>
          </p:cNvSpPr>
          <p:nvPr>
            <p:ph type="sldNum" sz="quarter" idx="12"/>
          </p:nvPr>
        </p:nvSpPr>
        <p:spPr/>
        <p:txBody>
          <a:bodyPr/>
          <a:lstStyle/>
          <a:p>
            <a:fld id="{8FBCB428-D880-FC4A-9B26-64132A65A030}" type="slidenum">
              <a:rPr lang="en-US" smtClean="0"/>
              <a:pPr/>
              <a:t>10</a:t>
            </a:fld>
            <a:endParaRPr lang="en-US" dirty="0"/>
          </a:p>
        </p:txBody>
      </p:sp>
    </p:spTree>
    <p:extLst>
      <p:ext uri="{BB962C8B-B14F-4D97-AF65-F5344CB8AC3E}">
        <p14:creationId xmlns:p14="http://schemas.microsoft.com/office/powerpoint/2010/main" val="2191021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A9D6C-B8E8-0028-81B7-0FE7269C1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8E512-6965-F826-685C-FBDD9EC93867}"/>
              </a:ext>
            </a:extLst>
          </p:cNvPr>
          <p:cNvSpPr>
            <a:spLocks noGrp="1"/>
          </p:cNvSpPr>
          <p:nvPr>
            <p:ph type="title"/>
          </p:nvPr>
        </p:nvSpPr>
        <p:spPr/>
        <p:txBody>
          <a:bodyPr/>
          <a:lstStyle/>
          <a:p>
            <a:r>
              <a:rPr lang="en-US" sz="6400" dirty="0">
                <a:latin typeface="Figtree SemiBold"/>
              </a:rPr>
              <a:t>SMG Space-Related TC Refresh</a:t>
            </a:r>
          </a:p>
        </p:txBody>
      </p:sp>
      <p:sp>
        <p:nvSpPr>
          <p:cNvPr id="3" name="Slide Number Placeholder 5">
            <a:extLst>
              <a:ext uri="{FF2B5EF4-FFF2-40B4-BE49-F238E27FC236}">
                <a16:creationId xmlns:a16="http://schemas.microsoft.com/office/drawing/2014/main" id="{FCB60F77-58B7-DEF0-7B2E-1A8404730A02}"/>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11</a:t>
            </a:fld>
            <a:endParaRPr lang="en-US" sz="1000" dirty="0">
              <a:solidFill>
                <a:srgbClr val="FFFFFF"/>
              </a:solidFill>
            </a:endParaRPr>
          </a:p>
        </p:txBody>
      </p:sp>
      <p:cxnSp>
        <p:nvCxnSpPr>
          <p:cNvPr id="4" name="Straight Connector 3">
            <a:extLst>
              <a:ext uri="{FF2B5EF4-FFF2-40B4-BE49-F238E27FC236}">
                <a16:creationId xmlns:a16="http://schemas.microsoft.com/office/drawing/2014/main" id="{EE578E68-B254-8C35-2679-E584E5392D62}"/>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1">
            <a:extLst>
              <a:ext uri="{FF2B5EF4-FFF2-40B4-BE49-F238E27FC236}">
                <a16:creationId xmlns:a16="http://schemas.microsoft.com/office/drawing/2014/main" id="{23B4F557-E956-1A1F-A497-819642DD141B}"/>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11</a:t>
            </a:fld>
            <a:endParaRPr lang="en-US" dirty="0">
              <a:solidFill>
                <a:srgbClr val="FFFFFF"/>
              </a:solidFill>
            </a:endParaRPr>
          </a:p>
        </p:txBody>
      </p:sp>
      <p:cxnSp>
        <p:nvCxnSpPr>
          <p:cNvPr id="6" name="Straight Connector 5">
            <a:extLst>
              <a:ext uri="{FF2B5EF4-FFF2-40B4-BE49-F238E27FC236}">
                <a16:creationId xmlns:a16="http://schemas.microsoft.com/office/drawing/2014/main" id="{AABD7B76-DBF5-A76B-D1A5-AEB9BE11AD0B}"/>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Slide Number Placeholder 6">
            <a:extLst>
              <a:ext uri="{FF2B5EF4-FFF2-40B4-BE49-F238E27FC236}">
                <a16:creationId xmlns:a16="http://schemas.microsoft.com/office/drawing/2014/main" id="{50005740-450F-4934-EDDB-6F878E8F0ECB}"/>
              </a:ext>
            </a:extLst>
          </p:cNvPr>
          <p:cNvSpPr>
            <a:spLocks noGrp="1"/>
          </p:cNvSpPr>
          <p:nvPr>
            <p:ph type="sldNum" sz="quarter" idx="12"/>
          </p:nvPr>
        </p:nvSpPr>
        <p:spPr/>
        <p:txBody>
          <a:bodyPr/>
          <a:lstStyle/>
          <a:p>
            <a:fld id="{8FBCB428-D880-FC4A-9B26-64132A65A030}" type="slidenum">
              <a:rPr lang="en-US" smtClean="0"/>
              <a:pPr/>
              <a:t>11</a:t>
            </a:fld>
            <a:endParaRPr lang="en-US" dirty="0"/>
          </a:p>
        </p:txBody>
      </p:sp>
    </p:spTree>
    <p:extLst>
      <p:ext uri="{BB962C8B-B14F-4D97-AF65-F5344CB8AC3E}">
        <p14:creationId xmlns:p14="http://schemas.microsoft.com/office/powerpoint/2010/main" val="1307983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6BF7515-3186-72EA-627F-3BD14A3BC4E4}"/>
              </a:ext>
            </a:extLst>
          </p:cNvPr>
          <p:cNvSpPr>
            <a:spLocks noGrp="1"/>
          </p:cNvSpPr>
          <p:nvPr>
            <p:ph type="body" sz="quarter" idx="10"/>
          </p:nvPr>
        </p:nvSpPr>
        <p:spPr/>
        <p:txBody>
          <a:bodyPr/>
          <a:lstStyle/>
          <a:p>
            <a:r>
              <a:rPr lang="en-US" dirty="0"/>
              <a:t>“Now is the time. The future is here… Space is on the front page every day.”</a:t>
            </a:r>
          </a:p>
          <a:p>
            <a:pPr lvl="1" algn="r"/>
            <a:r>
              <a:rPr lang="en-US" dirty="0"/>
              <a:t>Clay Mowry, ASCENDxTexas, February 2026</a:t>
            </a:r>
          </a:p>
        </p:txBody>
      </p:sp>
      <p:sp>
        <p:nvSpPr>
          <p:cNvPr id="2" name="Slide Number Placeholder 1">
            <a:extLst>
              <a:ext uri="{FF2B5EF4-FFF2-40B4-BE49-F238E27FC236}">
                <a16:creationId xmlns:a16="http://schemas.microsoft.com/office/drawing/2014/main" id="{2896CD55-9DBA-F7D9-B718-A24961B924F0}"/>
              </a:ext>
            </a:extLst>
          </p:cNvPr>
          <p:cNvSpPr>
            <a:spLocks noGrp="1"/>
          </p:cNvSpPr>
          <p:nvPr>
            <p:ph type="sldNum" sz="quarter" idx="12"/>
          </p:nvPr>
        </p:nvSpPr>
        <p:spPr/>
        <p:txBody>
          <a:bodyPr/>
          <a:lstStyle/>
          <a:p>
            <a:fld id="{8FBCB428-D880-FC4A-9B26-64132A65A030}" type="slidenum">
              <a:rPr lang="en-US" smtClean="0"/>
              <a:pPr/>
              <a:t>12</a:t>
            </a:fld>
            <a:endParaRPr lang="en-US" dirty="0"/>
          </a:p>
        </p:txBody>
      </p:sp>
    </p:spTree>
    <p:extLst>
      <p:ext uri="{BB962C8B-B14F-4D97-AF65-F5344CB8AC3E}">
        <p14:creationId xmlns:p14="http://schemas.microsoft.com/office/powerpoint/2010/main" val="2339034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4D2F80-E870-AC84-2C60-3BD10073A4E1}"/>
              </a:ext>
            </a:extLst>
          </p:cNvPr>
          <p:cNvSpPr>
            <a:spLocks noGrp="1"/>
          </p:cNvSpPr>
          <p:nvPr>
            <p:ph type="title"/>
          </p:nvPr>
        </p:nvSpPr>
        <p:spPr/>
        <p:txBody>
          <a:bodyPr/>
          <a:lstStyle/>
          <a:p>
            <a:r>
              <a:rPr lang="en-US" dirty="0"/>
              <a:t>TC Refresh: Objective and Rationale</a:t>
            </a:r>
          </a:p>
        </p:txBody>
      </p:sp>
      <p:sp>
        <p:nvSpPr>
          <p:cNvPr id="4" name="Content Placeholder 3">
            <a:extLst>
              <a:ext uri="{FF2B5EF4-FFF2-40B4-BE49-F238E27FC236}">
                <a16:creationId xmlns:a16="http://schemas.microsoft.com/office/drawing/2014/main" id="{FBDCA436-B85A-7983-D1A2-D73647A8AA70}"/>
              </a:ext>
            </a:extLst>
          </p:cNvPr>
          <p:cNvSpPr>
            <a:spLocks noGrp="1"/>
          </p:cNvSpPr>
          <p:nvPr>
            <p:ph idx="1"/>
          </p:nvPr>
        </p:nvSpPr>
        <p:spPr/>
        <p:txBody>
          <a:bodyPr/>
          <a:lstStyle/>
          <a:p>
            <a:r>
              <a:rPr lang="en-US" sz="2400" b="1" dirty="0"/>
              <a:t>Objective: </a:t>
            </a:r>
          </a:p>
          <a:p>
            <a:pPr lvl="1"/>
            <a:r>
              <a:rPr lang="en-US" sz="2000" dirty="0"/>
              <a:t>Modernize space-related technical committees (TCs) to address contemporary challenges</a:t>
            </a:r>
          </a:p>
          <a:p>
            <a:r>
              <a:rPr lang="en-US" sz="2400" b="1" dirty="0"/>
              <a:t>Rationale:</a:t>
            </a:r>
            <a:endParaRPr lang="en-US" dirty="0"/>
          </a:p>
          <a:p>
            <a:pPr lvl="1"/>
            <a:r>
              <a:rPr lang="en-US" sz="2000" dirty="0"/>
              <a:t>Current TCs do not fully align with emerging industry needs and directions</a:t>
            </a:r>
          </a:p>
          <a:p>
            <a:pPr lvl="1"/>
            <a:r>
              <a:rPr lang="en-US" sz="2000" dirty="0"/>
              <a:t>Opportunity to improve efficiency and engagement within the technical community and to attract &amp; engage future generations</a:t>
            </a:r>
          </a:p>
        </p:txBody>
      </p:sp>
      <p:sp>
        <p:nvSpPr>
          <p:cNvPr id="2" name="Slide Number Placeholder 5">
            <a:extLst>
              <a:ext uri="{FF2B5EF4-FFF2-40B4-BE49-F238E27FC236}">
                <a16:creationId xmlns:a16="http://schemas.microsoft.com/office/drawing/2014/main" id="{2F5BDCC2-3632-40B1-F0F6-15CA5466598A}"/>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13</a:t>
            </a:fld>
            <a:endParaRPr lang="en-US" sz="1000" dirty="0">
              <a:solidFill>
                <a:srgbClr val="FFFFFF"/>
              </a:solidFill>
            </a:endParaRPr>
          </a:p>
        </p:txBody>
      </p:sp>
      <p:cxnSp>
        <p:nvCxnSpPr>
          <p:cNvPr id="5" name="Straight Connector 4">
            <a:extLst>
              <a:ext uri="{FF2B5EF4-FFF2-40B4-BE49-F238E27FC236}">
                <a16:creationId xmlns:a16="http://schemas.microsoft.com/office/drawing/2014/main" id="{F97CBEAE-7603-D970-A41B-6E6B35FE0E54}"/>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Slide Number Placeholder 1">
            <a:extLst>
              <a:ext uri="{FF2B5EF4-FFF2-40B4-BE49-F238E27FC236}">
                <a16:creationId xmlns:a16="http://schemas.microsoft.com/office/drawing/2014/main" id="{F750B1F8-E383-58A9-20BC-4F3FABBAFC47}"/>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13</a:t>
            </a:fld>
            <a:endParaRPr lang="en-US" dirty="0">
              <a:solidFill>
                <a:srgbClr val="FFFFFF"/>
              </a:solidFill>
            </a:endParaRPr>
          </a:p>
        </p:txBody>
      </p:sp>
      <p:cxnSp>
        <p:nvCxnSpPr>
          <p:cNvPr id="7" name="Straight Connector 6">
            <a:extLst>
              <a:ext uri="{FF2B5EF4-FFF2-40B4-BE49-F238E27FC236}">
                <a16:creationId xmlns:a16="http://schemas.microsoft.com/office/drawing/2014/main" id="{CE5F0545-C5B1-73E3-C6C5-3B2EDE1EB29F}"/>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Slide Number Placeholder 7">
            <a:extLst>
              <a:ext uri="{FF2B5EF4-FFF2-40B4-BE49-F238E27FC236}">
                <a16:creationId xmlns:a16="http://schemas.microsoft.com/office/drawing/2014/main" id="{316F1F2C-586A-5736-30A4-591BC973A3A6}"/>
              </a:ext>
            </a:extLst>
          </p:cNvPr>
          <p:cNvSpPr>
            <a:spLocks noGrp="1"/>
          </p:cNvSpPr>
          <p:nvPr>
            <p:ph type="sldNum" sz="quarter" idx="12"/>
          </p:nvPr>
        </p:nvSpPr>
        <p:spPr/>
        <p:txBody>
          <a:bodyPr/>
          <a:lstStyle/>
          <a:p>
            <a:fld id="{8FBCB428-D880-FC4A-9B26-64132A65A030}" type="slidenum">
              <a:rPr lang="en-US" smtClean="0"/>
              <a:pPr/>
              <a:t>13</a:t>
            </a:fld>
            <a:endParaRPr lang="en-US" dirty="0"/>
          </a:p>
        </p:txBody>
      </p:sp>
    </p:spTree>
    <p:extLst>
      <p:ext uri="{BB962C8B-B14F-4D97-AF65-F5344CB8AC3E}">
        <p14:creationId xmlns:p14="http://schemas.microsoft.com/office/powerpoint/2010/main" val="1929610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522505-48BD-21F1-1E6E-A353496A78E8}"/>
              </a:ext>
            </a:extLst>
          </p:cNvPr>
          <p:cNvSpPr>
            <a:spLocks noGrp="1"/>
          </p:cNvSpPr>
          <p:nvPr>
            <p:ph type="title"/>
          </p:nvPr>
        </p:nvSpPr>
        <p:spPr/>
        <p:txBody>
          <a:bodyPr/>
          <a:lstStyle/>
          <a:p>
            <a:r>
              <a:rPr lang="en-US" dirty="0"/>
              <a:t>TAD Expectations for TCs</a:t>
            </a:r>
          </a:p>
        </p:txBody>
      </p:sp>
      <p:sp>
        <p:nvSpPr>
          <p:cNvPr id="5" name="Content Placeholder 4">
            <a:extLst>
              <a:ext uri="{FF2B5EF4-FFF2-40B4-BE49-F238E27FC236}">
                <a16:creationId xmlns:a16="http://schemas.microsoft.com/office/drawing/2014/main" id="{099114D2-8736-D01C-ADA4-219C84DF201F}"/>
              </a:ext>
            </a:extLst>
          </p:cNvPr>
          <p:cNvSpPr>
            <a:spLocks noGrp="1"/>
          </p:cNvSpPr>
          <p:nvPr>
            <p:ph idx="1"/>
          </p:nvPr>
        </p:nvSpPr>
        <p:spPr/>
        <p:txBody>
          <a:bodyPr/>
          <a:lstStyle/>
          <a:p>
            <a:r>
              <a:rPr lang="en-US" b="1" dirty="0">
                <a:solidFill>
                  <a:srgbClr val="F1B82D"/>
                </a:solidFill>
                <a:latin typeface="Figtree SemiBold" pitchFamily="2" charset="0"/>
              </a:rPr>
              <a:t>“AIAA Technical Committees consist of worldwide experts in their fields who help develop, support, and administer AIAA products and services, including conferences, publications, awards, and student design contests”</a:t>
            </a:r>
          </a:p>
          <a:p>
            <a:r>
              <a:rPr lang="en-US" dirty="0"/>
              <a:t>TAD expects TCs to exhibit the following characteristics:</a:t>
            </a:r>
          </a:p>
          <a:p>
            <a:pPr marL="285744" indent="-285744">
              <a:buFont typeface="Arial" panose="020B0604020202020204" pitchFamily="34" charset="0"/>
              <a:buChar char="•"/>
            </a:pPr>
            <a:r>
              <a:rPr lang="en-US" sz="1600" dirty="0"/>
              <a:t>Have an up-to-date charter with well-defined and bounded scope that does not significantly overlap other AIAA committees</a:t>
            </a:r>
          </a:p>
          <a:p>
            <a:pPr marL="285744" indent="-285744">
              <a:buFont typeface="Arial" panose="020B0604020202020204" pitchFamily="34" charset="0"/>
              <a:buChar char="•"/>
            </a:pPr>
            <a:r>
              <a:rPr lang="en-US" sz="1600" dirty="0"/>
              <a:t>Be at, or near, 50-member capacity</a:t>
            </a:r>
          </a:p>
          <a:p>
            <a:pPr marL="1028674" lvl="1"/>
            <a:r>
              <a:rPr lang="en-US" sz="1400" dirty="0"/>
              <a:t>Most members active</a:t>
            </a:r>
          </a:p>
          <a:p>
            <a:pPr marL="1028674" lvl="1"/>
            <a:r>
              <a:rPr lang="en-US" sz="1400" dirty="0"/>
              <a:t>Regular roster pruning</a:t>
            </a:r>
          </a:p>
          <a:p>
            <a:pPr marL="1028674" lvl="1"/>
            <a:r>
              <a:rPr lang="en-US" sz="1400" dirty="0"/>
              <a:t>Engaged leadership with succession planning</a:t>
            </a:r>
          </a:p>
          <a:p>
            <a:pPr marL="285744" indent="-285744">
              <a:buFont typeface="Arial" panose="020B0604020202020204" pitchFamily="34" charset="0"/>
              <a:buChar char="•"/>
            </a:pPr>
            <a:r>
              <a:rPr lang="en-US" sz="1600" dirty="0"/>
              <a:t>Hold regular meetings several times per year</a:t>
            </a:r>
          </a:p>
          <a:p>
            <a:pPr marL="285744" indent="-285744">
              <a:buFont typeface="Arial" panose="020B0604020202020204" pitchFamily="34" charset="0"/>
              <a:buChar char="•"/>
            </a:pPr>
            <a:r>
              <a:rPr lang="en-US" sz="1600" dirty="0"/>
              <a:t>Have an efficient—and active—sub-committee structure</a:t>
            </a:r>
          </a:p>
          <a:p>
            <a:pPr marL="285744" indent="-285744">
              <a:buFont typeface="Arial" panose="020B0604020202020204" pitchFamily="34" charset="0"/>
              <a:buChar char="•"/>
            </a:pPr>
            <a:r>
              <a:rPr lang="en-US" sz="1600" dirty="0"/>
              <a:t>Be an active participant in one or more AIAA Forums (conference planning, content solicitation, abstract reviews, session chairing, etc.)</a:t>
            </a:r>
          </a:p>
          <a:p>
            <a:pPr marL="285744" indent="-285744">
              <a:buFont typeface="Arial" panose="020B0604020202020204" pitchFamily="34" charset="0"/>
              <a:buChar char="•"/>
            </a:pPr>
            <a:r>
              <a:rPr lang="en-US" sz="1600" dirty="0"/>
              <a:t>Be responsive to annual tasking (Year-in-Review articles, annual reports, roster updates, etc.)</a:t>
            </a:r>
          </a:p>
        </p:txBody>
      </p:sp>
      <p:sp>
        <p:nvSpPr>
          <p:cNvPr id="6" name="Slide Number Placeholder 1">
            <a:extLst>
              <a:ext uri="{FF2B5EF4-FFF2-40B4-BE49-F238E27FC236}">
                <a16:creationId xmlns:a16="http://schemas.microsoft.com/office/drawing/2014/main" id="{A336C419-A493-0B9A-DC3D-B32059434BF3}"/>
              </a:ext>
            </a:extLst>
          </p:cNvPr>
          <p:cNvSpPr>
            <a:spLocks noGrp="1"/>
          </p:cNvSpPr>
          <p:nvPr>
            <p:ph type="sldNum" sz="quarter" idx="12"/>
          </p:nvPr>
        </p:nvSpPr>
        <p:spPr>
          <a:xfrm>
            <a:off x="11615981" y="6454131"/>
            <a:ext cx="576020" cy="228600"/>
          </a:xfrm>
        </p:spPr>
        <p:txBody>
          <a:bodyPr/>
          <a:lstStyle/>
          <a:p>
            <a:pPr>
              <a:defRPr/>
            </a:pPr>
            <a:fld id="{817B14E4-4B8C-424C-800A-68AABDD4E70E}" type="slidenum">
              <a:rPr lang="en-US" smtClean="0">
                <a:solidFill>
                  <a:schemeClr val="bg1"/>
                </a:solidFill>
              </a:rPr>
              <a:pPr>
                <a:defRPr/>
              </a:pPr>
              <a:t>14</a:t>
            </a:fld>
            <a:endParaRPr lang="en-US" dirty="0">
              <a:solidFill>
                <a:schemeClr val="bg1"/>
              </a:solidFill>
            </a:endParaRPr>
          </a:p>
        </p:txBody>
      </p:sp>
    </p:spTree>
    <p:extLst>
      <p:ext uri="{BB962C8B-B14F-4D97-AF65-F5344CB8AC3E}">
        <p14:creationId xmlns:p14="http://schemas.microsoft.com/office/powerpoint/2010/main" val="316081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639C13-207A-FC84-15A3-327D0BE246F0}"/>
              </a:ext>
            </a:extLst>
          </p:cNvPr>
          <p:cNvSpPr>
            <a:spLocks noGrp="1"/>
          </p:cNvSpPr>
          <p:nvPr>
            <p:ph type="title"/>
          </p:nvPr>
        </p:nvSpPr>
        <p:spPr/>
        <p:txBody>
          <a:bodyPr/>
          <a:lstStyle/>
          <a:p>
            <a:r>
              <a:rPr lang="en-US" dirty="0"/>
              <a:t>Space TC Refresh: Where We Are Now</a:t>
            </a:r>
          </a:p>
        </p:txBody>
      </p:sp>
      <p:sp>
        <p:nvSpPr>
          <p:cNvPr id="10" name="Content Placeholder 9">
            <a:extLst>
              <a:ext uri="{FF2B5EF4-FFF2-40B4-BE49-F238E27FC236}">
                <a16:creationId xmlns:a16="http://schemas.microsoft.com/office/drawing/2014/main" id="{E6B20F40-3672-73E9-EA82-B5E1AF50B08E}"/>
              </a:ext>
            </a:extLst>
          </p:cNvPr>
          <p:cNvSpPr>
            <a:spLocks noGrp="1"/>
          </p:cNvSpPr>
          <p:nvPr>
            <p:ph idx="1"/>
          </p:nvPr>
        </p:nvSpPr>
        <p:spPr/>
        <p:txBody>
          <a:bodyPr/>
          <a:lstStyle/>
          <a:p>
            <a:pPr marL="380990" indent="-380990">
              <a:buFont typeface="Wingdings" panose="05000000000000000000" pitchFamily="2" charset="2"/>
              <a:buChar char="ü"/>
            </a:pPr>
            <a:r>
              <a:rPr lang="en-US" sz="1867" dirty="0"/>
              <a:t>Conducted a workshop at ASCEND with TC Chairs/Vice Chairs, SMG Deputy Directors, and selected stakeholders from across the Institute (TAD leadership, IOD leadership, AIAA staff)</a:t>
            </a:r>
          </a:p>
          <a:p>
            <a:pPr lvl="1"/>
            <a:r>
              <a:rPr lang="en-US" sz="1867" dirty="0"/>
              <a:t>Discussed issues with current TC structure and TC health</a:t>
            </a:r>
          </a:p>
          <a:p>
            <a:pPr lvl="1"/>
            <a:r>
              <a:rPr lang="en-US" sz="1867" dirty="0"/>
              <a:t>Brainstormed ideas about potential new topic areas of interest</a:t>
            </a:r>
          </a:p>
          <a:p>
            <a:pPr lvl="1"/>
            <a:endParaRPr lang="en-US" sz="1867" dirty="0"/>
          </a:p>
          <a:p>
            <a:pPr marL="380990" indent="-380990">
              <a:buFont typeface="Wingdings" panose="05000000000000000000" pitchFamily="2" charset="2"/>
              <a:buChar char="ü"/>
            </a:pPr>
            <a:r>
              <a:rPr lang="en-US" sz="1867" dirty="0"/>
              <a:t>Conducted follow-up sessions in September and December with the same invitees</a:t>
            </a:r>
          </a:p>
          <a:p>
            <a:pPr lvl="1"/>
            <a:r>
              <a:rPr lang="en-US" sz="1867" dirty="0"/>
              <a:t>Reviewed the scope, charter, and activities of each TC</a:t>
            </a:r>
          </a:p>
          <a:p>
            <a:pPr lvl="1"/>
            <a:r>
              <a:rPr lang="en-US" sz="1867" dirty="0"/>
              <a:t>Identified areas of overlap/synergy</a:t>
            </a:r>
          </a:p>
          <a:p>
            <a:pPr lvl="1"/>
            <a:r>
              <a:rPr lang="en-US" sz="1867" dirty="0"/>
              <a:t>Looked at the status of our national-level awards</a:t>
            </a:r>
          </a:p>
          <a:p>
            <a:pPr lvl="1"/>
            <a:endParaRPr lang="en-US" sz="1867" dirty="0"/>
          </a:p>
          <a:p>
            <a:pPr marL="380990" indent="-380990">
              <a:buFont typeface="Wingdings" panose="05000000000000000000" pitchFamily="2" charset="2"/>
              <a:buChar char="ü"/>
            </a:pPr>
            <a:r>
              <a:rPr lang="en-US" sz="1867" dirty="0"/>
              <a:t>Identified the necessary changes, socialized plans with Chairs, CoD, BoT</a:t>
            </a:r>
          </a:p>
          <a:p>
            <a:endParaRPr lang="en-US" sz="1867" dirty="0"/>
          </a:p>
          <a:p>
            <a:pPr marL="380990" indent="-380990">
              <a:buFont typeface="Wingdings" panose="05000000000000000000" pitchFamily="2" charset="2"/>
              <a:buChar char="Ø"/>
            </a:pPr>
            <a:r>
              <a:rPr lang="en-US" sz="1867" dirty="0"/>
              <a:t>Next Step: Implement!</a:t>
            </a:r>
          </a:p>
        </p:txBody>
      </p:sp>
      <p:sp>
        <p:nvSpPr>
          <p:cNvPr id="2" name="Slide Number Placeholder 5">
            <a:extLst>
              <a:ext uri="{FF2B5EF4-FFF2-40B4-BE49-F238E27FC236}">
                <a16:creationId xmlns:a16="http://schemas.microsoft.com/office/drawing/2014/main" id="{8F0D769E-A5EF-7657-7874-85487B718BF0}"/>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15</a:t>
            </a:fld>
            <a:endParaRPr lang="en-US" sz="1000" dirty="0">
              <a:solidFill>
                <a:srgbClr val="FFFFFF"/>
              </a:solidFill>
            </a:endParaRPr>
          </a:p>
        </p:txBody>
      </p:sp>
      <p:cxnSp>
        <p:nvCxnSpPr>
          <p:cNvPr id="3" name="Straight Connector 2">
            <a:extLst>
              <a:ext uri="{FF2B5EF4-FFF2-40B4-BE49-F238E27FC236}">
                <a16:creationId xmlns:a16="http://schemas.microsoft.com/office/drawing/2014/main" id="{3832B8FF-1304-E679-B1F1-1794F074AAEA}"/>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 name="Slide Number Placeholder 1">
            <a:extLst>
              <a:ext uri="{FF2B5EF4-FFF2-40B4-BE49-F238E27FC236}">
                <a16:creationId xmlns:a16="http://schemas.microsoft.com/office/drawing/2014/main" id="{B4B395BE-259A-6A77-46E7-E381244C5160}"/>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15</a:t>
            </a:fld>
            <a:endParaRPr lang="en-US" dirty="0">
              <a:solidFill>
                <a:srgbClr val="FFFFFF"/>
              </a:solidFill>
            </a:endParaRPr>
          </a:p>
        </p:txBody>
      </p:sp>
      <p:cxnSp>
        <p:nvCxnSpPr>
          <p:cNvPr id="6" name="Straight Connector 5">
            <a:extLst>
              <a:ext uri="{FF2B5EF4-FFF2-40B4-BE49-F238E27FC236}">
                <a16:creationId xmlns:a16="http://schemas.microsoft.com/office/drawing/2014/main" id="{54E03074-2429-9A77-E7A2-1B9D6CFF9666}"/>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Slide Number Placeholder 6">
            <a:extLst>
              <a:ext uri="{FF2B5EF4-FFF2-40B4-BE49-F238E27FC236}">
                <a16:creationId xmlns:a16="http://schemas.microsoft.com/office/drawing/2014/main" id="{C641939E-1793-7F5A-A462-DCFEF785864C}"/>
              </a:ext>
            </a:extLst>
          </p:cNvPr>
          <p:cNvSpPr>
            <a:spLocks noGrp="1"/>
          </p:cNvSpPr>
          <p:nvPr>
            <p:ph type="sldNum" sz="quarter" idx="12"/>
          </p:nvPr>
        </p:nvSpPr>
        <p:spPr/>
        <p:txBody>
          <a:bodyPr/>
          <a:lstStyle/>
          <a:p>
            <a:fld id="{8FBCB428-D880-FC4A-9B26-64132A65A030}" type="slidenum">
              <a:rPr lang="en-US" smtClean="0"/>
              <a:pPr/>
              <a:t>15</a:t>
            </a:fld>
            <a:endParaRPr lang="en-US" dirty="0"/>
          </a:p>
        </p:txBody>
      </p:sp>
    </p:spTree>
    <p:extLst>
      <p:ext uri="{BB962C8B-B14F-4D97-AF65-F5344CB8AC3E}">
        <p14:creationId xmlns:p14="http://schemas.microsoft.com/office/powerpoint/2010/main" val="3984788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CBC97-8278-E887-E7AD-338335C81538}"/>
              </a:ext>
            </a:extLst>
          </p:cNvPr>
          <p:cNvSpPr>
            <a:spLocks noGrp="1"/>
          </p:cNvSpPr>
          <p:nvPr>
            <p:ph type="title"/>
          </p:nvPr>
        </p:nvSpPr>
        <p:spPr/>
        <p:txBody>
          <a:bodyPr/>
          <a:lstStyle/>
          <a:p>
            <a:r>
              <a:rPr lang="en-US" dirty="0"/>
              <a:t>SMG is Stepping into the </a:t>
            </a:r>
            <a:r>
              <a:rPr lang="en-US" i="1" dirty="0"/>
              <a:t>New Space Era</a:t>
            </a:r>
          </a:p>
        </p:txBody>
      </p:sp>
      <p:sp>
        <p:nvSpPr>
          <p:cNvPr id="3" name="Content Placeholder 2">
            <a:extLst>
              <a:ext uri="{FF2B5EF4-FFF2-40B4-BE49-F238E27FC236}">
                <a16:creationId xmlns:a16="http://schemas.microsoft.com/office/drawing/2014/main" id="{84E409C1-D27A-1423-04D4-43D3A03410D6}"/>
              </a:ext>
            </a:extLst>
          </p:cNvPr>
          <p:cNvSpPr>
            <a:spLocks noGrp="1"/>
          </p:cNvSpPr>
          <p:nvPr>
            <p:ph idx="1"/>
          </p:nvPr>
        </p:nvSpPr>
        <p:spPr>
          <a:xfrm>
            <a:off x="991138" y="1381236"/>
            <a:ext cx="10515600" cy="4771729"/>
          </a:xfrm>
        </p:spPr>
        <p:txBody>
          <a:bodyPr numCol="2"/>
          <a:lstStyle/>
          <a:p>
            <a:pPr algn="ctr"/>
            <a:r>
              <a:rPr lang="en-US" b="1" dirty="0"/>
              <a:t>YESTERDAY’S SMG</a:t>
            </a:r>
          </a:p>
          <a:p>
            <a:pPr algn="ctr"/>
            <a:r>
              <a:rPr lang="en-US" sz="1400" dirty="0"/>
              <a:t>Life Sciences &amp; Systems</a:t>
            </a:r>
          </a:p>
          <a:p>
            <a:pPr algn="ctr"/>
            <a:r>
              <a:rPr lang="en-US" sz="1400" dirty="0"/>
              <a:t>Gravity Dependent Science &amp; Technology</a:t>
            </a:r>
          </a:p>
          <a:p>
            <a:pPr algn="ctr"/>
            <a:r>
              <a:rPr lang="en-US" sz="1400" dirty="0"/>
              <a:t>Reusable Launch Vehicles</a:t>
            </a:r>
          </a:p>
          <a:p>
            <a:pPr algn="ctr"/>
            <a:r>
              <a:rPr lang="en-US" sz="1400" dirty="0"/>
              <a:t>Small Satellite</a:t>
            </a:r>
          </a:p>
          <a:p>
            <a:pPr algn="ctr"/>
            <a:r>
              <a:rPr lang="en-US" sz="1400" dirty="0"/>
              <a:t>Space Architecture</a:t>
            </a:r>
          </a:p>
          <a:p>
            <a:pPr algn="ctr"/>
            <a:r>
              <a:rPr lang="en-US" sz="1400" dirty="0"/>
              <a:t>Space Automation &amp; Robotics</a:t>
            </a:r>
          </a:p>
          <a:p>
            <a:pPr algn="ctr"/>
            <a:r>
              <a:rPr lang="en-US" sz="1400" dirty="0"/>
              <a:t>Space Logistics</a:t>
            </a:r>
          </a:p>
          <a:p>
            <a:pPr algn="ctr"/>
            <a:r>
              <a:rPr lang="en-US" sz="1400" dirty="0"/>
              <a:t>Space Operations &amp; Support</a:t>
            </a:r>
          </a:p>
          <a:p>
            <a:pPr algn="ctr"/>
            <a:r>
              <a:rPr lang="en-US" sz="1400" dirty="0"/>
              <a:t>Space Resources</a:t>
            </a:r>
          </a:p>
          <a:p>
            <a:pPr algn="ctr"/>
            <a:r>
              <a:rPr lang="en-US" sz="1400" dirty="0"/>
              <a:t>Space Settlement</a:t>
            </a:r>
          </a:p>
          <a:p>
            <a:pPr algn="ctr"/>
            <a:r>
              <a:rPr lang="en-US" sz="1400" dirty="0"/>
              <a:t>Space Systems</a:t>
            </a:r>
          </a:p>
          <a:p>
            <a:pPr algn="ctr"/>
            <a:r>
              <a:rPr lang="en-US" sz="1400" dirty="0"/>
              <a:t>Space Tethers</a:t>
            </a:r>
          </a:p>
          <a:p>
            <a:pPr algn="ctr"/>
            <a:r>
              <a:rPr lang="en-US" sz="1400" dirty="0"/>
              <a:t>Space Transportation</a:t>
            </a:r>
          </a:p>
          <a:p>
            <a:pPr algn="ctr"/>
            <a:r>
              <a:rPr lang="en-US" sz="1400" dirty="0"/>
              <a:t>Missile Systems</a:t>
            </a:r>
          </a:p>
          <a:p>
            <a:pPr algn="ctr"/>
            <a:r>
              <a:rPr lang="en-US" sz="1400" dirty="0"/>
              <a:t>Weapon System Effectiveness</a:t>
            </a:r>
            <a:br>
              <a:rPr lang="en-US" sz="1400" dirty="0"/>
            </a:br>
            <a:endParaRPr lang="en-US" sz="1400" dirty="0"/>
          </a:p>
          <a:p>
            <a:pPr algn="ctr"/>
            <a:r>
              <a:rPr lang="en-US" b="1" dirty="0"/>
              <a:t>TOMORROW’S SMG* </a:t>
            </a:r>
          </a:p>
          <a:p>
            <a:pPr algn="ctr"/>
            <a:r>
              <a:rPr lang="en-US" sz="1400" dirty="0">
                <a:solidFill>
                  <a:schemeClr val="bg1">
                    <a:lumMod val="65000"/>
                  </a:schemeClr>
                </a:solidFill>
              </a:rPr>
              <a:t>Cislunar &amp; Lunar Surface Exploration*</a:t>
            </a:r>
          </a:p>
          <a:p>
            <a:pPr algn="ctr"/>
            <a:r>
              <a:rPr lang="en-US" sz="1400" dirty="0">
                <a:solidFill>
                  <a:schemeClr val="bg1">
                    <a:lumMod val="65000"/>
                  </a:schemeClr>
                </a:solidFill>
              </a:rPr>
              <a:t>Communications and Space Data Infrastructure*</a:t>
            </a:r>
          </a:p>
          <a:p>
            <a:pPr algn="ctr"/>
            <a:r>
              <a:rPr lang="en-US" sz="1400" dirty="0">
                <a:solidFill>
                  <a:schemeClr val="bg1">
                    <a:lumMod val="65000"/>
                  </a:schemeClr>
                </a:solidFill>
              </a:rPr>
              <a:t>Earth and Planetary Sensing and Applications*</a:t>
            </a:r>
          </a:p>
          <a:p>
            <a:pPr algn="ctr"/>
            <a:r>
              <a:rPr lang="en-US" sz="1400" dirty="0"/>
              <a:t>Gravity-Dependent Sciences and Technology</a:t>
            </a:r>
          </a:p>
          <a:p>
            <a:pPr algn="ctr"/>
            <a:r>
              <a:rPr lang="en-US" sz="1400" dirty="0"/>
              <a:t>Spacefaring Health and Performance</a:t>
            </a:r>
          </a:p>
          <a:p>
            <a:pPr algn="ctr"/>
            <a:r>
              <a:rPr lang="en-US" sz="1400" dirty="0">
                <a:solidFill>
                  <a:schemeClr val="bg1">
                    <a:lumMod val="65000"/>
                  </a:schemeClr>
                </a:solidFill>
              </a:rPr>
              <a:t>In-Space Servicing, Assembly &amp; Manufacturing*</a:t>
            </a:r>
          </a:p>
          <a:p>
            <a:pPr algn="ctr"/>
            <a:r>
              <a:rPr lang="en-US" sz="1400" dirty="0"/>
              <a:t>Launch Vehicle and Entry Systems</a:t>
            </a:r>
          </a:p>
          <a:p>
            <a:pPr algn="ctr"/>
            <a:r>
              <a:rPr lang="en-US" sz="1400" dirty="0"/>
              <a:t>Mission Operations, Rendezvous and Rescue</a:t>
            </a:r>
          </a:p>
          <a:p>
            <a:pPr algn="ctr"/>
            <a:r>
              <a:rPr lang="en-US" sz="1400" dirty="0"/>
              <a:t>Small Satellites, Constellations and Commoditized Systems</a:t>
            </a:r>
          </a:p>
          <a:p>
            <a:pPr algn="ctr"/>
            <a:r>
              <a:rPr lang="en-US" sz="1400" dirty="0"/>
              <a:t>Space Architecture and Habitats</a:t>
            </a:r>
          </a:p>
          <a:p>
            <a:pPr algn="ctr"/>
            <a:r>
              <a:rPr lang="en-US" sz="1400" dirty="0">
                <a:solidFill>
                  <a:schemeClr val="bg1">
                    <a:lumMod val="65000"/>
                  </a:schemeClr>
                </a:solidFill>
              </a:rPr>
              <a:t>Space Domain Awareness and Orbital Sustainability*</a:t>
            </a:r>
          </a:p>
          <a:p>
            <a:pPr algn="ctr"/>
            <a:r>
              <a:rPr lang="en-US" sz="1400" dirty="0"/>
              <a:t>Space Industrial Logistics and Manufacturing</a:t>
            </a:r>
          </a:p>
          <a:p>
            <a:pPr algn="ctr"/>
            <a:r>
              <a:rPr lang="en-US" sz="1400" dirty="0"/>
              <a:t>Space Resources Exploitation</a:t>
            </a:r>
          </a:p>
          <a:p>
            <a:pPr algn="ctr"/>
            <a:r>
              <a:rPr lang="en-US" sz="1400" dirty="0"/>
              <a:t>Space Settlement</a:t>
            </a:r>
          </a:p>
          <a:p>
            <a:pPr algn="ctr"/>
            <a:r>
              <a:rPr lang="en-US" sz="1400" dirty="0"/>
              <a:t>Missile Systems</a:t>
            </a:r>
          </a:p>
          <a:p>
            <a:pPr algn="ctr"/>
            <a:r>
              <a:rPr lang="en-US" sz="1400" dirty="0"/>
              <a:t>Weapon System Effectiveness</a:t>
            </a:r>
          </a:p>
        </p:txBody>
      </p:sp>
      <p:sp>
        <p:nvSpPr>
          <p:cNvPr id="4" name="Slide Number Placeholder 3">
            <a:extLst>
              <a:ext uri="{FF2B5EF4-FFF2-40B4-BE49-F238E27FC236}">
                <a16:creationId xmlns:a16="http://schemas.microsoft.com/office/drawing/2014/main" id="{15158FBB-969B-C98E-0E7B-363A17BA91DE}"/>
              </a:ext>
            </a:extLst>
          </p:cNvPr>
          <p:cNvSpPr>
            <a:spLocks noGrp="1"/>
          </p:cNvSpPr>
          <p:nvPr>
            <p:ph type="sldNum" sz="quarter" idx="12"/>
          </p:nvPr>
        </p:nvSpPr>
        <p:spPr/>
        <p:txBody>
          <a:bodyPr/>
          <a:lstStyle/>
          <a:p>
            <a:fld id="{8FBCB428-D880-FC4A-9B26-64132A65A030}" type="slidenum">
              <a:rPr lang="en-US" smtClean="0"/>
              <a:pPr/>
              <a:t>16</a:t>
            </a:fld>
            <a:endParaRPr lang="en-US" dirty="0"/>
          </a:p>
        </p:txBody>
      </p:sp>
      <p:cxnSp>
        <p:nvCxnSpPr>
          <p:cNvPr id="6" name="Straight Connector 5">
            <a:extLst>
              <a:ext uri="{FF2B5EF4-FFF2-40B4-BE49-F238E27FC236}">
                <a16:creationId xmlns:a16="http://schemas.microsoft.com/office/drawing/2014/main" id="{8BD76A7E-D0F6-8868-EB81-E9EB210A169E}"/>
              </a:ext>
            </a:extLst>
          </p:cNvPr>
          <p:cNvCxnSpPr>
            <a:cxnSpLocks/>
          </p:cNvCxnSpPr>
          <p:nvPr/>
        </p:nvCxnSpPr>
        <p:spPr>
          <a:xfrm>
            <a:off x="2090640" y="5845323"/>
            <a:ext cx="3066516"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502A26D-6922-169A-EA43-E1E9AD1301F0}"/>
              </a:ext>
            </a:extLst>
          </p:cNvPr>
          <p:cNvCxnSpPr>
            <a:cxnSpLocks/>
          </p:cNvCxnSpPr>
          <p:nvPr/>
        </p:nvCxnSpPr>
        <p:spPr>
          <a:xfrm>
            <a:off x="6713912" y="6150123"/>
            <a:ext cx="430280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CFCC154D-356A-7128-1EF7-7299383E8702}"/>
              </a:ext>
            </a:extLst>
          </p:cNvPr>
          <p:cNvGrpSpPr/>
          <p:nvPr/>
        </p:nvGrpSpPr>
        <p:grpSpPr>
          <a:xfrm>
            <a:off x="438954" y="1542410"/>
            <a:ext cx="5546213" cy="4404263"/>
            <a:chOff x="6384734" y="1226868"/>
            <a:chExt cx="5546213" cy="4404263"/>
          </a:xfrm>
        </p:grpSpPr>
        <p:pic>
          <p:nvPicPr>
            <p:cNvPr id="22" name="Picture 21">
              <a:extLst>
                <a:ext uri="{FF2B5EF4-FFF2-40B4-BE49-F238E27FC236}">
                  <a16:creationId xmlns:a16="http://schemas.microsoft.com/office/drawing/2014/main" id="{5BF9134A-3B2E-7C8A-4CF6-6CEC70D8FEC7}"/>
                </a:ext>
              </a:extLst>
            </p:cNvPr>
            <p:cNvPicPr>
              <a:picLocks noChangeAspect="1"/>
            </p:cNvPicPr>
            <p:nvPr/>
          </p:nvPicPr>
          <p:blipFill>
            <a:blip r:embed="rId2"/>
            <a:stretch>
              <a:fillRect/>
            </a:stretch>
          </p:blipFill>
          <p:spPr>
            <a:xfrm>
              <a:off x="6384734" y="1226868"/>
              <a:ext cx="5546213" cy="4404263"/>
            </a:xfrm>
            <a:prstGeom prst="rect">
              <a:avLst/>
            </a:prstGeom>
          </p:spPr>
        </p:pic>
        <p:sp>
          <p:nvSpPr>
            <p:cNvPr id="23" name="TextBox 22">
              <a:extLst>
                <a:ext uri="{FF2B5EF4-FFF2-40B4-BE49-F238E27FC236}">
                  <a16:creationId xmlns:a16="http://schemas.microsoft.com/office/drawing/2014/main" id="{FF8D5CDA-925F-A9F2-AF61-7EE79C0E3FC8}"/>
                </a:ext>
              </a:extLst>
            </p:cNvPr>
            <p:cNvSpPr txBox="1"/>
            <p:nvPr/>
          </p:nvSpPr>
          <p:spPr>
            <a:xfrm>
              <a:off x="7159685" y="2053364"/>
              <a:ext cx="4229763" cy="2277547"/>
            </a:xfrm>
            <a:prstGeom prst="rect">
              <a:avLst/>
            </a:prstGeom>
            <a:noFill/>
          </p:spPr>
          <p:txBody>
            <a:bodyPr wrap="square" rtlCol="0" anchor="ctr">
              <a:spAutoFit/>
            </a:bodyPr>
            <a:lstStyle/>
            <a:p>
              <a:pPr marL="285750" indent="-285750">
                <a:spcAft>
                  <a:spcPts val="1200"/>
                </a:spcAft>
                <a:buFont typeface="Arial" panose="020B0604020202020204" pitchFamily="34" charset="0"/>
                <a:buChar char="•"/>
              </a:pPr>
              <a:r>
                <a:rPr lang="en-US" sz="1600" dirty="0">
                  <a:latin typeface="Figtree"/>
                </a:rPr>
                <a:t>Not reflective of current priorities in the space realm</a:t>
              </a:r>
            </a:p>
            <a:p>
              <a:pPr marL="285750" indent="-285750">
                <a:spcAft>
                  <a:spcPts val="1200"/>
                </a:spcAft>
                <a:buFont typeface="Arial" panose="020B0604020202020204" pitchFamily="34" charset="0"/>
                <a:buChar char="•"/>
              </a:pPr>
              <a:r>
                <a:rPr lang="en-US" sz="1600" dirty="0">
                  <a:latin typeface="Figtree"/>
                </a:rPr>
                <a:t>Terse and opaque names obscure intent &amp; breadth of scope</a:t>
              </a:r>
            </a:p>
            <a:p>
              <a:pPr marL="285750" indent="-285750">
                <a:spcAft>
                  <a:spcPts val="1200"/>
                </a:spcAft>
                <a:buFont typeface="Arial" panose="020B0604020202020204" pitchFamily="34" charset="0"/>
                <a:buChar char="•"/>
              </a:pPr>
              <a:r>
                <a:rPr lang="en-US" sz="1600" dirty="0">
                  <a:latin typeface="Figtree"/>
                </a:rPr>
                <a:t>Reliance on the adjective “Space” as an organizing principle</a:t>
              </a:r>
            </a:p>
            <a:p>
              <a:pPr marL="285750" indent="-285750">
                <a:spcAft>
                  <a:spcPts val="1200"/>
                </a:spcAft>
                <a:buFont typeface="Arial" panose="020B0604020202020204" pitchFamily="34" charset="0"/>
                <a:buChar char="•"/>
              </a:pPr>
              <a:r>
                <a:rPr lang="en-US" sz="1600" dirty="0">
                  <a:latin typeface="Figtree"/>
                </a:rPr>
                <a:t>Flat, unexciting, uninteresting</a:t>
              </a:r>
            </a:p>
          </p:txBody>
        </p:sp>
      </p:grpSp>
      <p:sp>
        <p:nvSpPr>
          <p:cNvPr id="8" name="TextBox 7">
            <a:extLst>
              <a:ext uri="{FF2B5EF4-FFF2-40B4-BE49-F238E27FC236}">
                <a16:creationId xmlns:a16="http://schemas.microsoft.com/office/drawing/2014/main" id="{3CCA6B28-F81D-45A3-B3BE-013F978F7381}"/>
              </a:ext>
            </a:extLst>
          </p:cNvPr>
          <p:cNvSpPr txBox="1"/>
          <p:nvPr/>
        </p:nvSpPr>
        <p:spPr>
          <a:xfrm>
            <a:off x="5176575" y="6568431"/>
            <a:ext cx="2272699" cy="246221"/>
          </a:xfrm>
          <a:prstGeom prst="rect">
            <a:avLst/>
          </a:prstGeom>
          <a:noFill/>
        </p:spPr>
        <p:txBody>
          <a:bodyPr wrap="square" rtlCol="0">
            <a:spAutoFit/>
          </a:bodyPr>
          <a:lstStyle/>
          <a:p>
            <a:r>
              <a:rPr lang="en-US" sz="1000" dirty="0">
                <a:solidFill>
                  <a:schemeClr val="bg1">
                    <a:lumMod val="65000"/>
                  </a:schemeClr>
                </a:solidFill>
                <a:latin typeface="Figtree" pitchFamily="2" charset="0"/>
              </a:rPr>
              <a:t>* Items in Gray are for future discussion</a:t>
            </a:r>
          </a:p>
        </p:txBody>
      </p:sp>
      <p:grpSp>
        <p:nvGrpSpPr>
          <p:cNvPr id="15" name="Group 14">
            <a:extLst>
              <a:ext uri="{FF2B5EF4-FFF2-40B4-BE49-F238E27FC236}">
                <a16:creationId xmlns:a16="http://schemas.microsoft.com/office/drawing/2014/main" id="{8FA8E567-BA9F-0A84-55FF-C534D060294C}"/>
              </a:ext>
            </a:extLst>
          </p:cNvPr>
          <p:cNvGrpSpPr/>
          <p:nvPr/>
        </p:nvGrpSpPr>
        <p:grpSpPr>
          <a:xfrm>
            <a:off x="6256658" y="1528655"/>
            <a:ext cx="5546213" cy="4771729"/>
            <a:chOff x="6256658" y="1528655"/>
            <a:chExt cx="5546213" cy="4404263"/>
          </a:xfrm>
        </p:grpSpPr>
        <p:pic>
          <p:nvPicPr>
            <p:cNvPr id="16" name="Picture 15">
              <a:extLst>
                <a:ext uri="{FF2B5EF4-FFF2-40B4-BE49-F238E27FC236}">
                  <a16:creationId xmlns:a16="http://schemas.microsoft.com/office/drawing/2014/main" id="{8EBA8678-DD8C-70C7-4889-D0A0AD495DF9}"/>
                </a:ext>
              </a:extLst>
            </p:cNvPr>
            <p:cNvPicPr>
              <a:picLocks noChangeAspect="1"/>
            </p:cNvPicPr>
            <p:nvPr/>
          </p:nvPicPr>
          <p:blipFill>
            <a:blip r:embed="rId2"/>
            <a:stretch>
              <a:fillRect/>
            </a:stretch>
          </p:blipFill>
          <p:spPr>
            <a:xfrm flipH="1">
              <a:off x="6256658" y="1528655"/>
              <a:ext cx="5546213" cy="4404263"/>
            </a:xfrm>
            <a:prstGeom prst="rect">
              <a:avLst/>
            </a:prstGeom>
            <a:noFill/>
          </p:spPr>
        </p:pic>
        <p:sp>
          <p:nvSpPr>
            <p:cNvPr id="17" name="TextBox 16">
              <a:extLst>
                <a:ext uri="{FF2B5EF4-FFF2-40B4-BE49-F238E27FC236}">
                  <a16:creationId xmlns:a16="http://schemas.microsoft.com/office/drawing/2014/main" id="{A6E05E55-2EA2-762B-D5D3-95BB379A0C1F}"/>
                </a:ext>
              </a:extLst>
            </p:cNvPr>
            <p:cNvSpPr txBox="1"/>
            <p:nvPr/>
          </p:nvSpPr>
          <p:spPr>
            <a:xfrm flipH="1">
              <a:off x="7284868" y="2327016"/>
              <a:ext cx="3875942" cy="1960117"/>
            </a:xfrm>
            <a:prstGeom prst="rect">
              <a:avLst/>
            </a:prstGeom>
            <a:noFill/>
          </p:spPr>
          <p:txBody>
            <a:bodyPr wrap="square" rtlCol="0" anchor="t">
              <a:spAutoFit/>
            </a:bodyPr>
            <a:lstStyle/>
            <a:p>
              <a:pPr marL="285750" indent="-285750">
                <a:spcAft>
                  <a:spcPts val="1200"/>
                </a:spcAft>
                <a:buFont typeface="Arial" panose="020B0604020202020204" pitchFamily="34" charset="0"/>
                <a:buChar char="•"/>
              </a:pPr>
              <a:r>
                <a:rPr lang="en-US" sz="1600" dirty="0">
                  <a:latin typeface="Figtree"/>
                </a:rPr>
                <a:t>Better aligned to current &amp; near-future challenges in space </a:t>
              </a:r>
            </a:p>
            <a:p>
              <a:pPr marL="285750" indent="-285750">
                <a:spcAft>
                  <a:spcPts val="1200"/>
                </a:spcAft>
                <a:buFont typeface="Arial" panose="020B0604020202020204" pitchFamily="34" charset="0"/>
                <a:buChar char="•"/>
              </a:pPr>
              <a:r>
                <a:rPr lang="en-US" sz="1600" dirty="0">
                  <a:latin typeface="Figtree"/>
                </a:rPr>
                <a:t>Engaging, pithy names better capture intent and scope (and the imagination!)</a:t>
              </a:r>
            </a:p>
            <a:p>
              <a:pPr marL="285750" indent="-285750">
                <a:spcAft>
                  <a:spcPts val="1200"/>
                </a:spcAft>
                <a:buFont typeface="Arial" panose="020B0604020202020204" pitchFamily="34" charset="0"/>
                <a:buChar char="•"/>
              </a:pPr>
              <a:r>
                <a:rPr lang="en-US" sz="1600" dirty="0">
                  <a:latin typeface="Figtree"/>
                </a:rPr>
                <a:t>Technical areas oriented toward missions &amp; outcomes – “Space” no longer the dominant organizing principle</a:t>
              </a:r>
            </a:p>
          </p:txBody>
        </p:sp>
      </p:grpSp>
    </p:spTree>
    <p:extLst>
      <p:ext uri="{BB962C8B-B14F-4D97-AF65-F5344CB8AC3E}">
        <p14:creationId xmlns:p14="http://schemas.microsoft.com/office/powerpoint/2010/main" val="534499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16" end="16"/>
                                            </p:txEl>
                                          </p:spTgt>
                                        </p:tgtEl>
                                        <p:attrNameLst>
                                          <p:attrName>style.visibility</p:attrName>
                                        </p:attrNameLst>
                                      </p:cBhvr>
                                      <p:to>
                                        <p:strVal val="visible"/>
                                      </p:to>
                                    </p:set>
                                    <p:animEffect transition="in" filter="wipe(up)">
                                      <p:cBhvr>
                                        <p:cTn id="12" dur="500"/>
                                        <p:tgtEl>
                                          <p:spTgt spid="3">
                                            <p:txEl>
                                              <p:pRg st="16" end="16"/>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3">
                                            <p:txEl>
                                              <p:pRg st="17" end="17"/>
                                            </p:txEl>
                                          </p:spTgt>
                                        </p:tgtEl>
                                        <p:attrNameLst>
                                          <p:attrName>style.visibility</p:attrName>
                                        </p:attrNameLst>
                                      </p:cBhvr>
                                      <p:to>
                                        <p:strVal val="visible"/>
                                      </p:to>
                                    </p:set>
                                    <p:animEffect transition="in" filter="wipe(up)">
                                      <p:cBhvr>
                                        <p:cTn id="15" dur="500"/>
                                        <p:tgtEl>
                                          <p:spTgt spid="3">
                                            <p:txEl>
                                              <p:pRg st="17" end="17"/>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3">
                                            <p:txEl>
                                              <p:pRg st="18" end="18"/>
                                            </p:txEl>
                                          </p:spTgt>
                                        </p:tgtEl>
                                        <p:attrNameLst>
                                          <p:attrName>style.visibility</p:attrName>
                                        </p:attrNameLst>
                                      </p:cBhvr>
                                      <p:to>
                                        <p:strVal val="visible"/>
                                      </p:to>
                                    </p:set>
                                    <p:animEffect transition="in" filter="wipe(up)">
                                      <p:cBhvr>
                                        <p:cTn id="18" dur="500"/>
                                        <p:tgtEl>
                                          <p:spTgt spid="3">
                                            <p:txEl>
                                              <p:pRg st="18" end="18"/>
                                            </p:txEl>
                                          </p:spTgt>
                                        </p:tgtEl>
                                      </p:cBhvr>
                                    </p:animEffect>
                                  </p:childTnLst>
                                </p:cTn>
                              </p:par>
                              <p:par>
                                <p:cTn id="19" presetID="22" presetClass="entr" presetSubtype="1" fill="hold" nodeType="withEffect">
                                  <p:stCondLst>
                                    <p:cond delay="0"/>
                                  </p:stCondLst>
                                  <p:childTnLst>
                                    <p:set>
                                      <p:cBhvr>
                                        <p:cTn id="20" dur="1" fill="hold">
                                          <p:stCondLst>
                                            <p:cond delay="0"/>
                                          </p:stCondLst>
                                        </p:cTn>
                                        <p:tgtEl>
                                          <p:spTgt spid="3">
                                            <p:txEl>
                                              <p:pRg st="19" end="19"/>
                                            </p:txEl>
                                          </p:spTgt>
                                        </p:tgtEl>
                                        <p:attrNameLst>
                                          <p:attrName>style.visibility</p:attrName>
                                        </p:attrNameLst>
                                      </p:cBhvr>
                                      <p:to>
                                        <p:strVal val="visible"/>
                                      </p:to>
                                    </p:set>
                                    <p:animEffect transition="in" filter="wipe(up)">
                                      <p:cBhvr>
                                        <p:cTn id="21" dur="500"/>
                                        <p:tgtEl>
                                          <p:spTgt spid="3">
                                            <p:txEl>
                                              <p:pRg st="19" end="19"/>
                                            </p:txEl>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3">
                                            <p:txEl>
                                              <p:pRg st="20" end="20"/>
                                            </p:txEl>
                                          </p:spTgt>
                                        </p:tgtEl>
                                        <p:attrNameLst>
                                          <p:attrName>style.visibility</p:attrName>
                                        </p:attrNameLst>
                                      </p:cBhvr>
                                      <p:to>
                                        <p:strVal val="visible"/>
                                      </p:to>
                                    </p:set>
                                    <p:animEffect transition="in" filter="wipe(up)">
                                      <p:cBhvr>
                                        <p:cTn id="24" dur="500"/>
                                        <p:tgtEl>
                                          <p:spTgt spid="3">
                                            <p:txEl>
                                              <p:pRg st="20" end="20"/>
                                            </p:txEl>
                                          </p:spTgt>
                                        </p:tgtEl>
                                      </p:cBhvr>
                                    </p:animEffect>
                                  </p:childTnLst>
                                </p:cTn>
                              </p:par>
                              <p:par>
                                <p:cTn id="25" presetID="22" presetClass="entr" presetSubtype="1" fill="hold" nodeType="withEffect">
                                  <p:stCondLst>
                                    <p:cond delay="0"/>
                                  </p:stCondLst>
                                  <p:childTnLst>
                                    <p:set>
                                      <p:cBhvr>
                                        <p:cTn id="26" dur="1" fill="hold">
                                          <p:stCondLst>
                                            <p:cond delay="0"/>
                                          </p:stCondLst>
                                        </p:cTn>
                                        <p:tgtEl>
                                          <p:spTgt spid="3">
                                            <p:txEl>
                                              <p:pRg st="21" end="21"/>
                                            </p:txEl>
                                          </p:spTgt>
                                        </p:tgtEl>
                                        <p:attrNameLst>
                                          <p:attrName>style.visibility</p:attrName>
                                        </p:attrNameLst>
                                      </p:cBhvr>
                                      <p:to>
                                        <p:strVal val="visible"/>
                                      </p:to>
                                    </p:set>
                                    <p:animEffect transition="in" filter="wipe(up)">
                                      <p:cBhvr>
                                        <p:cTn id="27" dur="500"/>
                                        <p:tgtEl>
                                          <p:spTgt spid="3">
                                            <p:txEl>
                                              <p:pRg st="21" end="21"/>
                                            </p:txEl>
                                          </p:spTgt>
                                        </p:tgtEl>
                                      </p:cBhvr>
                                    </p:animEffect>
                                  </p:childTnLst>
                                </p:cTn>
                              </p:par>
                              <p:par>
                                <p:cTn id="28" presetID="22" presetClass="entr" presetSubtype="1" fill="hold" nodeType="withEffect">
                                  <p:stCondLst>
                                    <p:cond delay="0"/>
                                  </p:stCondLst>
                                  <p:childTnLst>
                                    <p:set>
                                      <p:cBhvr>
                                        <p:cTn id="29" dur="1" fill="hold">
                                          <p:stCondLst>
                                            <p:cond delay="0"/>
                                          </p:stCondLst>
                                        </p:cTn>
                                        <p:tgtEl>
                                          <p:spTgt spid="3">
                                            <p:txEl>
                                              <p:pRg st="22" end="22"/>
                                            </p:txEl>
                                          </p:spTgt>
                                        </p:tgtEl>
                                        <p:attrNameLst>
                                          <p:attrName>style.visibility</p:attrName>
                                        </p:attrNameLst>
                                      </p:cBhvr>
                                      <p:to>
                                        <p:strVal val="visible"/>
                                      </p:to>
                                    </p:set>
                                    <p:animEffect transition="in" filter="wipe(up)">
                                      <p:cBhvr>
                                        <p:cTn id="30" dur="500"/>
                                        <p:tgtEl>
                                          <p:spTgt spid="3">
                                            <p:txEl>
                                              <p:pRg st="22" end="22"/>
                                            </p:txEl>
                                          </p:spTgt>
                                        </p:tgtEl>
                                      </p:cBhvr>
                                    </p:animEffect>
                                  </p:childTnLst>
                                </p:cTn>
                              </p:par>
                              <p:par>
                                <p:cTn id="31" presetID="22" presetClass="entr" presetSubtype="1" fill="hold" nodeType="withEffect">
                                  <p:stCondLst>
                                    <p:cond delay="0"/>
                                  </p:stCondLst>
                                  <p:childTnLst>
                                    <p:set>
                                      <p:cBhvr>
                                        <p:cTn id="32" dur="1" fill="hold">
                                          <p:stCondLst>
                                            <p:cond delay="0"/>
                                          </p:stCondLst>
                                        </p:cTn>
                                        <p:tgtEl>
                                          <p:spTgt spid="3">
                                            <p:txEl>
                                              <p:pRg st="23" end="23"/>
                                            </p:txEl>
                                          </p:spTgt>
                                        </p:tgtEl>
                                        <p:attrNameLst>
                                          <p:attrName>style.visibility</p:attrName>
                                        </p:attrNameLst>
                                      </p:cBhvr>
                                      <p:to>
                                        <p:strVal val="visible"/>
                                      </p:to>
                                    </p:set>
                                    <p:animEffect transition="in" filter="wipe(up)">
                                      <p:cBhvr>
                                        <p:cTn id="33" dur="500"/>
                                        <p:tgtEl>
                                          <p:spTgt spid="3">
                                            <p:txEl>
                                              <p:pRg st="23" end="23"/>
                                            </p:txEl>
                                          </p:spTgt>
                                        </p:tgtEl>
                                      </p:cBhvr>
                                    </p:animEffect>
                                  </p:childTnLst>
                                </p:cTn>
                              </p:par>
                              <p:par>
                                <p:cTn id="34" presetID="22" presetClass="entr" presetSubtype="1" fill="hold" nodeType="withEffect">
                                  <p:stCondLst>
                                    <p:cond delay="0"/>
                                  </p:stCondLst>
                                  <p:childTnLst>
                                    <p:set>
                                      <p:cBhvr>
                                        <p:cTn id="35" dur="1" fill="hold">
                                          <p:stCondLst>
                                            <p:cond delay="0"/>
                                          </p:stCondLst>
                                        </p:cTn>
                                        <p:tgtEl>
                                          <p:spTgt spid="3">
                                            <p:txEl>
                                              <p:pRg st="24" end="24"/>
                                            </p:txEl>
                                          </p:spTgt>
                                        </p:tgtEl>
                                        <p:attrNameLst>
                                          <p:attrName>style.visibility</p:attrName>
                                        </p:attrNameLst>
                                      </p:cBhvr>
                                      <p:to>
                                        <p:strVal val="visible"/>
                                      </p:to>
                                    </p:set>
                                    <p:animEffect transition="in" filter="wipe(up)">
                                      <p:cBhvr>
                                        <p:cTn id="36" dur="500"/>
                                        <p:tgtEl>
                                          <p:spTgt spid="3">
                                            <p:txEl>
                                              <p:pRg st="24" end="24"/>
                                            </p:txEl>
                                          </p:spTgt>
                                        </p:tgtEl>
                                      </p:cBhvr>
                                    </p:animEffect>
                                  </p:childTnLst>
                                </p:cTn>
                              </p:par>
                              <p:par>
                                <p:cTn id="37" presetID="22" presetClass="entr" presetSubtype="1" fill="hold" nodeType="withEffect">
                                  <p:stCondLst>
                                    <p:cond delay="0"/>
                                  </p:stCondLst>
                                  <p:childTnLst>
                                    <p:set>
                                      <p:cBhvr>
                                        <p:cTn id="38" dur="1" fill="hold">
                                          <p:stCondLst>
                                            <p:cond delay="0"/>
                                          </p:stCondLst>
                                        </p:cTn>
                                        <p:tgtEl>
                                          <p:spTgt spid="3">
                                            <p:txEl>
                                              <p:pRg st="25" end="25"/>
                                            </p:txEl>
                                          </p:spTgt>
                                        </p:tgtEl>
                                        <p:attrNameLst>
                                          <p:attrName>style.visibility</p:attrName>
                                        </p:attrNameLst>
                                      </p:cBhvr>
                                      <p:to>
                                        <p:strVal val="visible"/>
                                      </p:to>
                                    </p:set>
                                    <p:animEffect transition="in" filter="wipe(up)">
                                      <p:cBhvr>
                                        <p:cTn id="39" dur="500"/>
                                        <p:tgtEl>
                                          <p:spTgt spid="3">
                                            <p:txEl>
                                              <p:pRg st="25" end="25"/>
                                            </p:txEl>
                                          </p:spTgt>
                                        </p:tgtEl>
                                      </p:cBhvr>
                                    </p:animEffect>
                                  </p:childTnLst>
                                </p:cTn>
                              </p:par>
                              <p:par>
                                <p:cTn id="40" presetID="22" presetClass="entr" presetSubtype="1" fill="hold" nodeType="withEffect">
                                  <p:stCondLst>
                                    <p:cond delay="0"/>
                                  </p:stCondLst>
                                  <p:childTnLst>
                                    <p:set>
                                      <p:cBhvr>
                                        <p:cTn id="41" dur="1" fill="hold">
                                          <p:stCondLst>
                                            <p:cond delay="0"/>
                                          </p:stCondLst>
                                        </p:cTn>
                                        <p:tgtEl>
                                          <p:spTgt spid="3">
                                            <p:txEl>
                                              <p:pRg st="26" end="26"/>
                                            </p:txEl>
                                          </p:spTgt>
                                        </p:tgtEl>
                                        <p:attrNameLst>
                                          <p:attrName>style.visibility</p:attrName>
                                        </p:attrNameLst>
                                      </p:cBhvr>
                                      <p:to>
                                        <p:strVal val="visible"/>
                                      </p:to>
                                    </p:set>
                                    <p:animEffect transition="in" filter="wipe(up)">
                                      <p:cBhvr>
                                        <p:cTn id="42" dur="500"/>
                                        <p:tgtEl>
                                          <p:spTgt spid="3">
                                            <p:txEl>
                                              <p:pRg st="26" end="26"/>
                                            </p:txEl>
                                          </p:spTgt>
                                        </p:tgtEl>
                                      </p:cBhvr>
                                    </p:animEffect>
                                  </p:childTnLst>
                                </p:cTn>
                              </p:par>
                              <p:par>
                                <p:cTn id="43" presetID="22" presetClass="entr" presetSubtype="1" fill="hold" nodeType="withEffect">
                                  <p:stCondLst>
                                    <p:cond delay="0"/>
                                  </p:stCondLst>
                                  <p:childTnLst>
                                    <p:set>
                                      <p:cBhvr>
                                        <p:cTn id="44" dur="1" fill="hold">
                                          <p:stCondLst>
                                            <p:cond delay="0"/>
                                          </p:stCondLst>
                                        </p:cTn>
                                        <p:tgtEl>
                                          <p:spTgt spid="3">
                                            <p:txEl>
                                              <p:pRg st="27" end="27"/>
                                            </p:txEl>
                                          </p:spTgt>
                                        </p:tgtEl>
                                        <p:attrNameLst>
                                          <p:attrName>style.visibility</p:attrName>
                                        </p:attrNameLst>
                                      </p:cBhvr>
                                      <p:to>
                                        <p:strVal val="visible"/>
                                      </p:to>
                                    </p:set>
                                    <p:animEffect transition="in" filter="wipe(up)">
                                      <p:cBhvr>
                                        <p:cTn id="45" dur="500"/>
                                        <p:tgtEl>
                                          <p:spTgt spid="3">
                                            <p:txEl>
                                              <p:pRg st="27" end="27"/>
                                            </p:txEl>
                                          </p:spTgt>
                                        </p:tgtEl>
                                      </p:cBhvr>
                                    </p:animEffect>
                                  </p:childTnLst>
                                </p:cTn>
                              </p:par>
                              <p:par>
                                <p:cTn id="46" presetID="22" presetClass="entr" presetSubtype="1" fill="hold" nodeType="withEffect">
                                  <p:stCondLst>
                                    <p:cond delay="0"/>
                                  </p:stCondLst>
                                  <p:childTnLst>
                                    <p:set>
                                      <p:cBhvr>
                                        <p:cTn id="47" dur="1" fill="hold">
                                          <p:stCondLst>
                                            <p:cond delay="0"/>
                                          </p:stCondLst>
                                        </p:cTn>
                                        <p:tgtEl>
                                          <p:spTgt spid="3">
                                            <p:txEl>
                                              <p:pRg st="28" end="28"/>
                                            </p:txEl>
                                          </p:spTgt>
                                        </p:tgtEl>
                                        <p:attrNameLst>
                                          <p:attrName>style.visibility</p:attrName>
                                        </p:attrNameLst>
                                      </p:cBhvr>
                                      <p:to>
                                        <p:strVal val="visible"/>
                                      </p:to>
                                    </p:set>
                                    <p:animEffect transition="in" filter="wipe(up)">
                                      <p:cBhvr>
                                        <p:cTn id="48" dur="500"/>
                                        <p:tgtEl>
                                          <p:spTgt spid="3">
                                            <p:txEl>
                                              <p:pRg st="28" end="28"/>
                                            </p:txEl>
                                          </p:spTgt>
                                        </p:tgtEl>
                                      </p:cBhvr>
                                    </p:animEffect>
                                  </p:childTnLst>
                                </p:cTn>
                              </p:par>
                              <p:par>
                                <p:cTn id="49" presetID="22" presetClass="entr" presetSubtype="1" fill="hold" nodeType="withEffect">
                                  <p:stCondLst>
                                    <p:cond delay="0"/>
                                  </p:stCondLst>
                                  <p:childTnLst>
                                    <p:set>
                                      <p:cBhvr>
                                        <p:cTn id="50" dur="1" fill="hold">
                                          <p:stCondLst>
                                            <p:cond delay="0"/>
                                          </p:stCondLst>
                                        </p:cTn>
                                        <p:tgtEl>
                                          <p:spTgt spid="3">
                                            <p:txEl>
                                              <p:pRg st="29" end="29"/>
                                            </p:txEl>
                                          </p:spTgt>
                                        </p:tgtEl>
                                        <p:attrNameLst>
                                          <p:attrName>style.visibility</p:attrName>
                                        </p:attrNameLst>
                                      </p:cBhvr>
                                      <p:to>
                                        <p:strVal val="visible"/>
                                      </p:to>
                                    </p:set>
                                    <p:animEffect transition="in" filter="wipe(up)">
                                      <p:cBhvr>
                                        <p:cTn id="51" dur="500"/>
                                        <p:tgtEl>
                                          <p:spTgt spid="3">
                                            <p:txEl>
                                              <p:pRg st="29" end="29"/>
                                            </p:txEl>
                                          </p:spTgt>
                                        </p:tgtEl>
                                      </p:cBhvr>
                                    </p:animEffect>
                                  </p:childTnLst>
                                </p:cTn>
                              </p:par>
                              <p:par>
                                <p:cTn id="52" presetID="22" presetClass="entr" presetSubtype="1" fill="hold" nodeType="withEffect">
                                  <p:stCondLst>
                                    <p:cond delay="0"/>
                                  </p:stCondLst>
                                  <p:childTnLst>
                                    <p:set>
                                      <p:cBhvr>
                                        <p:cTn id="53" dur="1" fill="hold">
                                          <p:stCondLst>
                                            <p:cond delay="0"/>
                                          </p:stCondLst>
                                        </p:cTn>
                                        <p:tgtEl>
                                          <p:spTgt spid="3">
                                            <p:txEl>
                                              <p:pRg st="30" end="30"/>
                                            </p:txEl>
                                          </p:spTgt>
                                        </p:tgtEl>
                                        <p:attrNameLst>
                                          <p:attrName>style.visibility</p:attrName>
                                        </p:attrNameLst>
                                      </p:cBhvr>
                                      <p:to>
                                        <p:strVal val="visible"/>
                                      </p:to>
                                    </p:set>
                                    <p:animEffect transition="in" filter="wipe(up)">
                                      <p:cBhvr>
                                        <p:cTn id="54" dur="500"/>
                                        <p:tgtEl>
                                          <p:spTgt spid="3">
                                            <p:txEl>
                                              <p:pRg st="30" end="30"/>
                                            </p:txEl>
                                          </p:spTgt>
                                        </p:tgtEl>
                                      </p:cBhvr>
                                    </p:animEffect>
                                  </p:childTnLst>
                                </p:cTn>
                              </p:par>
                              <p:par>
                                <p:cTn id="55" presetID="22" presetClass="entr" presetSubtype="1" fill="hold" nodeType="withEffect">
                                  <p:stCondLst>
                                    <p:cond delay="0"/>
                                  </p:stCondLst>
                                  <p:childTnLst>
                                    <p:set>
                                      <p:cBhvr>
                                        <p:cTn id="56" dur="1" fill="hold">
                                          <p:stCondLst>
                                            <p:cond delay="0"/>
                                          </p:stCondLst>
                                        </p:cTn>
                                        <p:tgtEl>
                                          <p:spTgt spid="3">
                                            <p:txEl>
                                              <p:pRg st="31" end="31"/>
                                            </p:txEl>
                                          </p:spTgt>
                                        </p:tgtEl>
                                        <p:attrNameLst>
                                          <p:attrName>style.visibility</p:attrName>
                                        </p:attrNameLst>
                                      </p:cBhvr>
                                      <p:to>
                                        <p:strVal val="visible"/>
                                      </p:to>
                                    </p:set>
                                    <p:animEffect transition="in" filter="wipe(up)">
                                      <p:cBhvr>
                                        <p:cTn id="57" dur="500"/>
                                        <p:tgtEl>
                                          <p:spTgt spid="3">
                                            <p:txEl>
                                              <p:pRg st="31" end="31"/>
                                            </p:txEl>
                                          </p:spTgt>
                                        </p:tgtEl>
                                      </p:cBhvr>
                                    </p:animEffect>
                                  </p:childTnLst>
                                </p:cTn>
                              </p:par>
                              <p:par>
                                <p:cTn id="58" presetID="22" presetClass="entr" presetSubtype="1" fill="hold" nodeType="withEffect">
                                  <p:stCondLst>
                                    <p:cond delay="0"/>
                                  </p:stCondLst>
                                  <p:childTnLst>
                                    <p:set>
                                      <p:cBhvr>
                                        <p:cTn id="59" dur="1" fill="hold">
                                          <p:stCondLst>
                                            <p:cond delay="0"/>
                                          </p:stCondLst>
                                        </p:cTn>
                                        <p:tgtEl>
                                          <p:spTgt spid="3">
                                            <p:txEl>
                                              <p:pRg st="32" end="32"/>
                                            </p:txEl>
                                          </p:spTgt>
                                        </p:tgtEl>
                                        <p:attrNameLst>
                                          <p:attrName>style.visibility</p:attrName>
                                        </p:attrNameLst>
                                      </p:cBhvr>
                                      <p:to>
                                        <p:strVal val="visible"/>
                                      </p:to>
                                    </p:set>
                                    <p:animEffect transition="in" filter="wipe(up)">
                                      <p:cBhvr>
                                        <p:cTn id="60" dur="500"/>
                                        <p:tgtEl>
                                          <p:spTgt spid="3">
                                            <p:txEl>
                                              <p:pRg st="32" end="32"/>
                                            </p:txEl>
                                          </p:spTgt>
                                        </p:tgtEl>
                                      </p:cBhvr>
                                    </p:animEffect>
                                  </p:childTnLst>
                                </p:cTn>
                              </p:par>
                              <p:par>
                                <p:cTn id="61" presetID="1" presetClass="entr" presetSubtype="0" fill="hold" nodeType="withEffect">
                                  <p:stCondLst>
                                    <p:cond delay="0"/>
                                  </p:stCondLst>
                                  <p:childTnLst>
                                    <p:set>
                                      <p:cBhvr>
                                        <p:cTn id="62" dur="1" fill="hold">
                                          <p:stCondLst>
                                            <p:cond delay="0"/>
                                          </p:stCondLst>
                                        </p:cTn>
                                        <p:tgtEl>
                                          <p:spTgt spid="7"/>
                                        </p:tgtEl>
                                        <p:attrNameLst>
                                          <p:attrName>style.visibility</p:attrName>
                                        </p:attrNameLst>
                                      </p:cBhvr>
                                      <p:to>
                                        <p:strVal val="visible"/>
                                      </p:to>
                                    </p:set>
                                  </p:childTnLst>
                                </p:cTn>
                              </p:par>
                              <p:par>
                                <p:cTn id="63" presetID="22" presetClass="entr" presetSubtype="1"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wipe(up)">
                                      <p:cBhvr>
                                        <p:cTn id="65" dur="500"/>
                                        <p:tgtEl>
                                          <p:spTgt spid="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6A467-2B28-9E35-D5E2-42C21B3DF421}"/>
              </a:ext>
            </a:extLst>
          </p:cNvPr>
          <p:cNvSpPr>
            <a:spLocks noGrp="1"/>
          </p:cNvSpPr>
          <p:nvPr>
            <p:ph type="title"/>
          </p:nvPr>
        </p:nvSpPr>
        <p:spPr/>
        <p:txBody>
          <a:bodyPr/>
          <a:lstStyle/>
          <a:p>
            <a:r>
              <a:rPr lang="en-US" dirty="0">
                <a:latin typeface="Figtree"/>
                <a:ea typeface="Calibri" panose="020F0502020204030204" pitchFamily="34" charset="0"/>
                <a:cs typeface="Calibri" panose="020F0502020204030204" pitchFamily="34" charset="0"/>
              </a:rPr>
              <a:t>We’re Mapping Old Space to New Space</a:t>
            </a:r>
          </a:p>
        </p:txBody>
      </p:sp>
      <p:graphicFrame>
        <p:nvGraphicFramePr>
          <p:cNvPr id="6" name="Table 5">
            <a:extLst>
              <a:ext uri="{FF2B5EF4-FFF2-40B4-BE49-F238E27FC236}">
                <a16:creationId xmlns:a16="http://schemas.microsoft.com/office/drawing/2014/main" id="{788D084E-D165-767A-6C60-356D59B45DE3}"/>
              </a:ext>
            </a:extLst>
          </p:cNvPr>
          <p:cNvGraphicFramePr>
            <a:graphicFrameLocks noGrp="1"/>
          </p:cNvGraphicFramePr>
          <p:nvPr/>
        </p:nvGraphicFramePr>
        <p:xfrm>
          <a:off x="2168593" y="1601874"/>
          <a:ext cx="2933700" cy="3289300"/>
        </p:xfrm>
        <a:graphic>
          <a:graphicData uri="http://schemas.openxmlformats.org/drawingml/2006/table">
            <a:tbl>
              <a:tblPr firstRow="1" bandRow="1">
                <a:tableStyleId>{5C22544A-7EE6-4342-B048-85BDC9FD1C3A}</a:tableStyleId>
              </a:tblPr>
              <a:tblGrid>
                <a:gridCol w="2933700">
                  <a:extLst>
                    <a:ext uri="{9D8B030D-6E8A-4147-A177-3AD203B41FA5}">
                      <a16:colId xmlns:a16="http://schemas.microsoft.com/office/drawing/2014/main" val="1719404713"/>
                    </a:ext>
                  </a:extLst>
                </a:gridCol>
              </a:tblGrid>
              <a:tr h="190500">
                <a:tc>
                  <a:txBody>
                    <a:bodyPr/>
                    <a:lstStyle/>
                    <a:p>
                      <a:pPr algn="ctr" fontAlgn="ctr">
                        <a:buNone/>
                      </a:pPr>
                      <a:r>
                        <a:rPr lang="en-US" sz="1400" u="none" strike="noStrike" dirty="0">
                          <a:effectLst/>
                          <a:latin typeface="Figtree"/>
                        </a:rPr>
                        <a:t>EXISTING SPACE TCs (13)</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1519069479"/>
                  </a:ext>
                </a:extLst>
              </a:tr>
              <a:tr h="190500">
                <a:tc>
                  <a:txBody>
                    <a:bodyPr/>
                    <a:lstStyle/>
                    <a:p>
                      <a:pPr algn="ctr" fontAlgn="ctr">
                        <a:buNone/>
                      </a:pPr>
                      <a:r>
                        <a:rPr lang="en-US" sz="1400" u="none" strike="noStrike" dirty="0">
                          <a:effectLst/>
                          <a:latin typeface="Figtree"/>
                        </a:rPr>
                        <a:t>Gravity Dependent Science and Technology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182937884"/>
                  </a:ext>
                </a:extLst>
              </a:tr>
              <a:tr h="190500">
                <a:tc>
                  <a:txBody>
                    <a:bodyPr/>
                    <a:lstStyle/>
                    <a:p>
                      <a:pPr algn="ctr" fontAlgn="ctr">
                        <a:buNone/>
                      </a:pPr>
                      <a:r>
                        <a:rPr lang="en-US" sz="1400" u="none" strike="noStrike" dirty="0">
                          <a:effectLst/>
                          <a:latin typeface="Figtree"/>
                        </a:rPr>
                        <a:t>Life Sciences and Systems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1029476352"/>
                  </a:ext>
                </a:extLst>
              </a:tr>
              <a:tr h="190500">
                <a:tc>
                  <a:txBody>
                    <a:bodyPr/>
                    <a:lstStyle/>
                    <a:p>
                      <a:pPr algn="ctr" fontAlgn="ctr">
                        <a:buNone/>
                      </a:pPr>
                      <a:r>
                        <a:rPr lang="en-US" sz="1400" u="none" strike="noStrike" dirty="0">
                          <a:effectLst/>
                          <a:latin typeface="Figtree"/>
                        </a:rPr>
                        <a:t>Reuseable Launch Vehicles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2718871583"/>
                  </a:ext>
                </a:extLst>
              </a:tr>
              <a:tr h="190500">
                <a:tc>
                  <a:txBody>
                    <a:bodyPr/>
                    <a:lstStyle/>
                    <a:p>
                      <a:pPr algn="ctr" fontAlgn="ctr">
                        <a:buNone/>
                      </a:pPr>
                      <a:r>
                        <a:rPr lang="en-US" sz="1400" u="none" strike="noStrike" dirty="0">
                          <a:effectLst/>
                          <a:latin typeface="Figtree"/>
                        </a:rPr>
                        <a:t>Small Satellite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160135554"/>
                  </a:ext>
                </a:extLst>
              </a:tr>
              <a:tr h="190500">
                <a:tc>
                  <a:txBody>
                    <a:bodyPr/>
                    <a:lstStyle/>
                    <a:p>
                      <a:pPr algn="ctr" fontAlgn="ctr">
                        <a:buNone/>
                      </a:pPr>
                      <a:r>
                        <a:rPr lang="en-US" sz="1400" u="none" strike="noStrike" dirty="0">
                          <a:effectLst/>
                          <a:latin typeface="Figtree"/>
                        </a:rPr>
                        <a:t>Space Architecture TC </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1052587042"/>
                  </a:ext>
                </a:extLst>
              </a:tr>
              <a:tr h="190500">
                <a:tc>
                  <a:txBody>
                    <a:bodyPr/>
                    <a:lstStyle/>
                    <a:p>
                      <a:pPr algn="ctr" fontAlgn="ctr">
                        <a:buNone/>
                      </a:pPr>
                      <a:r>
                        <a:rPr lang="en-US" sz="1400" u="none" strike="noStrike" dirty="0">
                          <a:effectLst/>
                          <a:latin typeface="Figtree"/>
                        </a:rPr>
                        <a:t>Space Automation and Robotics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1245581603"/>
                  </a:ext>
                </a:extLst>
              </a:tr>
              <a:tr h="190500">
                <a:tc>
                  <a:txBody>
                    <a:bodyPr/>
                    <a:lstStyle/>
                    <a:p>
                      <a:pPr algn="ctr" fontAlgn="ctr">
                        <a:buNone/>
                      </a:pPr>
                      <a:r>
                        <a:rPr lang="en-US" sz="1400" u="none" strike="noStrike" dirty="0">
                          <a:effectLst/>
                          <a:latin typeface="Figtree"/>
                        </a:rPr>
                        <a:t>Space Logistics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897398260"/>
                  </a:ext>
                </a:extLst>
              </a:tr>
              <a:tr h="190500">
                <a:tc>
                  <a:txBody>
                    <a:bodyPr/>
                    <a:lstStyle/>
                    <a:p>
                      <a:pPr algn="ctr" fontAlgn="ctr">
                        <a:buNone/>
                      </a:pPr>
                      <a:r>
                        <a:rPr lang="en-US" sz="1400" u="none" strike="noStrike" dirty="0">
                          <a:effectLst/>
                          <a:latin typeface="Figtree"/>
                        </a:rPr>
                        <a:t>Space Operations and Support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3122233867"/>
                  </a:ext>
                </a:extLst>
              </a:tr>
              <a:tr h="190500">
                <a:tc>
                  <a:txBody>
                    <a:bodyPr/>
                    <a:lstStyle/>
                    <a:p>
                      <a:pPr algn="ctr" fontAlgn="ctr">
                        <a:buNone/>
                      </a:pPr>
                      <a:r>
                        <a:rPr lang="en-US" sz="1400" u="none" strike="noStrike" dirty="0">
                          <a:effectLst/>
                          <a:latin typeface="Figtree"/>
                        </a:rPr>
                        <a:t>Space Resources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34761636"/>
                  </a:ext>
                </a:extLst>
              </a:tr>
              <a:tr h="190500">
                <a:tc>
                  <a:txBody>
                    <a:bodyPr/>
                    <a:lstStyle/>
                    <a:p>
                      <a:pPr algn="ctr" fontAlgn="ctr">
                        <a:buNone/>
                      </a:pPr>
                      <a:r>
                        <a:rPr lang="en-US" sz="1400" u="none" strike="noStrike" dirty="0">
                          <a:solidFill>
                            <a:schemeClr val="tx1"/>
                          </a:solidFill>
                          <a:effectLst/>
                          <a:latin typeface="Figtree"/>
                        </a:rPr>
                        <a:t>Space Settlement TC</a:t>
                      </a:r>
                      <a:endParaRPr lang="en-US" sz="1400" b="0" i="0" u="none" strike="noStrike" dirty="0">
                        <a:solidFill>
                          <a:schemeClr val="tx1"/>
                        </a:solidFill>
                        <a:effectLst/>
                        <a:latin typeface="Figtree"/>
                      </a:endParaRPr>
                    </a:p>
                  </a:txBody>
                  <a:tcPr marL="6350" marR="6350" marT="6350" marB="0" anchor="ctr"/>
                </a:tc>
                <a:extLst>
                  <a:ext uri="{0D108BD9-81ED-4DB2-BD59-A6C34878D82A}">
                    <a16:rowId xmlns:a16="http://schemas.microsoft.com/office/drawing/2014/main" val="3934813223"/>
                  </a:ext>
                </a:extLst>
              </a:tr>
              <a:tr h="190500">
                <a:tc>
                  <a:txBody>
                    <a:bodyPr/>
                    <a:lstStyle/>
                    <a:p>
                      <a:pPr algn="ctr" fontAlgn="ctr">
                        <a:buNone/>
                      </a:pPr>
                      <a:r>
                        <a:rPr lang="en-US" sz="1400" u="none" strike="noStrike" dirty="0">
                          <a:effectLst/>
                          <a:latin typeface="Figtree"/>
                        </a:rPr>
                        <a:t>Space Systems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3244002473"/>
                  </a:ext>
                </a:extLst>
              </a:tr>
              <a:tr h="190500">
                <a:tc>
                  <a:txBody>
                    <a:bodyPr/>
                    <a:lstStyle/>
                    <a:p>
                      <a:pPr algn="ctr" fontAlgn="ctr">
                        <a:buNone/>
                      </a:pPr>
                      <a:r>
                        <a:rPr lang="en-US" sz="1400" u="none" strike="sngStrike" baseline="0" dirty="0">
                          <a:solidFill>
                            <a:schemeClr val="accent6"/>
                          </a:solidFill>
                          <a:effectLst/>
                          <a:latin typeface="Figtree"/>
                        </a:rPr>
                        <a:t>Space Tethers TC</a:t>
                      </a:r>
                      <a:endParaRPr lang="en-US" sz="1400" b="0" i="0" u="none" strike="sngStrike" baseline="0" dirty="0">
                        <a:solidFill>
                          <a:schemeClr val="accent6"/>
                        </a:solidFill>
                        <a:effectLst/>
                        <a:latin typeface="Figtree"/>
                      </a:endParaRPr>
                    </a:p>
                  </a:txBody>
                  <a:tcPr marL="6350" marR="6350" marT="6350" marB="0" anchor="ctr"/>
                </a:tc>
                <a:extLst>
                  <a:ext uri="{0D108BD9-81ED-4DB2-BD59-A6C34878D82A}">
                    <a16:rowId xmlns:a16="http://schemas.microsoft.com/office/drawing/2014/main" val="468710907"/>
                  </a:ext>
                </a:extLst>
              </a:tr>
              <a:tr h="190500">
                <a:tc>
                  <a:txBody>
                    <a:bodyPr/>
                    <a:lstStyle/>
                    <a:p>
                      <a:pPr algn="ctr" fontAlgn="ctr">
                        <a:buNone/>
                      </a:pPr>
                      <a:r>
                        <a:rPr lang="en-US" sz="1400" u="none" strike="noStrike" dirty="0">
                          <a:effectLst/>
                          <a:latin typeface="Figtree"/>
                        </a:rPr>
                        <a:t>Space Transportation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578557131"/>
                  </a:ext>
                </a:extLst>
              </a:tr>
            </a:tbl>
          </a:graphicData>
        </a:graphic>
      </p:graphicFrame>
      <p:graphicFrame>
        <p:nvGraphicFramePr>
          <p:cNvPr id="7" name="Table 6">
            <a:extLst>
              <a:ext uri="{FF2B5EF4-FFF2-40B4-BE49-F238E27FC236}">
                <a16:creationId xmlns:a16="http://schemas.microsoft.com/office/drawing/2014/main" id="{E8DAF5A7-4C64-5C2E-C478-48689F801824}"/>
              </a:ext>
            </a:extLst>
          </p:cNvPr>
          <p:cNvGraphicFramePr>
            <a:graphicFrameLocks noGrp="1"/>
          </p:cNvGraphicFramePr>
          <p:nvPr/>
        </p:nvGraphicFramePr>
        <p:xfrm>
          <a:off x="6913548" y="2257873"/>
          <a:ext cx="5145374" cy="2197100"/>
        </p:xfrm>
        <a:graphic>
          <a:graphicData uri="http://schemas.openxmlformats.org/drawingml/2006/table">
            <a:tbl>
              <a:tblPr firstRow="1" bandRow="1">
                <a:tableStyleId>{7DF18680-E054-41AD-8BC1-D1AEF772440D}</a:tableStyleId>
              </a:tblPr>
              <a:tblGrid>
                <a:gridCol w="5145374">
                  <a:extLst>
                    <a:ext uri="{9D8B030D-6E8A-4147-A177-3AD203B41FA5}">
                      <a16:colId xmlns:a16="http://schemas.microsoft.com/office/drawing/2014/main" val="2390321432"/>
                    </a:ext>
                  </a:extLst>
                </a:gridCol>
              </a:tblGrid>
              <a:tr h="190500">
                <a:tc>
                  <a:txBody>
                    <a:bodyPr/>
                    <a:lstStyle/>
                    <a:p>
                      <a:pPr algn="ctr" fontAlgn="b">
                        <a:buNone/>
                      </a:pPr>
                      <a:r>
                        <a:rPr lang="en-US" sz="1400" b="1" u="none" strike="noStrike" dirty="0">
                          <a:solidFill>
                            <a:schemeClr val="bg1"/>
                          </a:solidFill>
                          <a:effectLst/>
                          <a:latin typeface="Figtree"/>
                        </a:rPr>
                        <a:t>PROPOSED SPACE TCs (9)</a:t>
                      </a:r>
                      <a:endParaRPr lang="en-US" sz="1400" b="1" i="0" u="none" strike="noStrike" dirty="0">
                        <a:solidFill>
                          <a:schemeClr val="bg1"/>
                        </a:solidFill>
                        <a:effectLst/>
                        <a:latin typeface="Figtree"/>
                      </a:endParaRPr>
                    </a:p>
                  </a:txBody>
                  <a:tcPr marL="6350" marR="6350" marT="6350" marB="0" anchor="ctr"/>
                </a:tc>
                <a:extLst>
                  <a:ext uri="{0D108BD9-81ED-4DB2-BD59-A6C34878D82A}">
                    <a16:rowId xmlns:a16="http://schemas.microsoft.com/office/drawing/2014/main" val="4229295179"/>
                  </a:ext>
                </a:extLst>
              </a:tr>
              <a:tr h="190500">
                <a:tc>
                  <a:txBody>
                    <a:bodyPr/>
                    <a:lstStyle/>
                    <a:p>
                      <a:pPr algn="ctr" fontAlgn="ctr">
                        <a:buNone/>
                      </a:pPr>
                      <a:r>
                        <a:rPr lang="en-US" sz="1400" u="none" strike="noStrike" dirty="0">
                          <a:effectLst/>
                          <a:latin typeface="Figtree"/>
                        </a:rPr>
                        <a:t>Gravity-Dependent Sciences and Technology (GDST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205003631"/>
                  </a:ext>
                </a:extLst>
              </a:tr>
              <a:tr h="190500">
                <a:tc>
                  <a:txBody>
                    <a:bodyPr/>
                    <a:lstStyle/>
                    <a:p>
                      <a:pPr algn="ctr" fontAlgn="ctr">
                        <a:buNone/>
                      </a:pPr>
                      <a:r>
                        <a:rPr lang="en-US" sz="1400" u="none" strike="noStrike" dirty="0">
                          <a:effectLst/>
                          <a:latin typeface="Figtree"/>
                        </a:rPr>
                        <a:t>Spacefaring Health and Performance (SHP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2243171901"/>
                  </a:ext>
                </a:extLst>
              </a:tr>
              <a:tr h="190500">
                <a:tc>
                  <a:txBody>
                    <a:bodyPr/>
                    <a:lstStyle/>
                    <a:p>
                      <a:pPr algn="ctr" fontAlgn="ctr">
                        <a:buNone/>
                      </a:pPr>
                      <a:r>
                        <a:rPr lang="en-US" sz="1400" u="none" strike="noStrike" dirty="0">
                          <a:effectLst/>
                          <a:latin typeface="Figtree"/>
                        </a:rPr>
                        <a:t>Launch Vehicle and Entry Systems (LVES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768233378"/>
                  </a:ext>
                </a:extLst>
              </a:tr>
              <a:tr h="190500">
                <a:tc>
                  <a:txBody>
                    <a:bodyPr/>
                    <a:lstStyle/>
                    <a:p>
                      <a:pPr algn="ctr" fontAlgn="ctr">
                        <a:buNone/>
                      </a:pPr>
                      <a:r>
                        <a:rPr lang="en-US" sz="1400" u="none" strike="noStrike" dirty="0">
                          <a:effectLst/>
                          <a:latin typeface="Figtree"/>
                        </a:rPr>
                        <a:t>Mission Operations, Rendezvous and Rescue (MORR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2388687559"/>
                  </a:ext>
                </a:extLst>
              </a:tr>
              <a:tr h="190500">
                <a:tc>
                  <a:txBody>
                    <a:bodyPr/>
                    <a:lstStyle/>
                    <a:p>
                      <a:pPr algn="ctr" fontAlgn="ctr">
                        <a:buNone/>
                      </a:pPr>
                      <a:r>
                        <a:rPr lang="en-US" sz="1400" u="none" strike="noStrike" dirty="0">
                          <a:effectLst/>
                          <a:latin typeface="Figtree"/>
                        </a:rPr>
                        <a:t>Small Satellites, Constellations, and Commoditized Systems (SSCCS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778424058"/>
                  </a:ext>
                </a:extLst>
              </a:tr>
              <a:tr h="190500">
                <a:tc>
                  <a:txBody>
                    <a:bodyPr/>
                    <a:lstStyle/>
                    <a:p>
                      <a:pPr algn="ctr" fontAlgn="ctr">
                        <a:buNone/>
                      </a:pPr>
                      <a:r>
                        <a:rPr lang="en-US" sz="1400" u="none" strike="noStrike" dirty="0">
                          <a:effectLst/>
                          <a:latin typeface="Figtree"/>
                        </a:rPr>
                        <a:t>Space Architecture and Habitats (SAH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2565831989"/>
                  </a:ext>
                </a:extLst>
              </a:tr>
              <a:tr h="190500">
                <a:tc>
                  <a:txBody>
                    <a:bodyPr/>
                    <a:lstStyle/>
                    <a:p>
                      <a:pPr algn="ctr" fontAlgn="ctr">
                        <a:buNone/>
                      </a:pPr>
                      <a:r>
                        <a:rPr lang="en-US" sz="1400" u="none" strike="noStrike" dirty="0">
                          <a:effectLst/>
                          <a:latin typeface="Figtree"/>
                        </a:rPr>
                        <a:t>Space Industrial Logistics and Manufacturing (SILM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4148762672"/>
                  </a:ext>
                </a:extLst>
              </a:tr>
              <a:tr h="190500">
                <a:tc>
                  <a:txBody>
                    <a:bodyPr/>
                    <a:lstStyle/>
                    <a:p>
                      <a:pPr algn="ctr" fontAlgn="ctr">
                        <a:buNone/>
                      </a:pPr>
                      <a:r>
                        <a:rPr lang="en-US" sz="1400" u="none" strike="noStrike" dirty="0">
                          <a:effectLst/>
                          <a:latin typeface="Figtree"/>
                        </a:rPr>
                        <a:t>Space Resources Exploitation (SRE TC)</a:t>
                      </a:r>
                      <a:endParaRPr lang="en-US" sz="1400" b="0" i="0" u="none" strike="noStrike" dirty="0">
                        <a:solidFill>
                          <a:srgbClr val="000000"/>
                        </a:solidFill>
                        <a:effectLst/>
                        <a:latin typeface="Figtree"/>
                      </a:endParaRPr>
                    </a:p>
                  </a:txBody>
                  <a:tcPr marL="6350" marR="6350" marT="6350" marB="0" anchor="ctr"/>
                </a:tc>
                <a:extLst>
                  <a:ext uri="{0D108BD9-81ED-4DB2-BD59-A6C34878D82A}">
                    <a16:rowId xmlns:a16="http://schemas.microsoft.com/office/drawing/2014/main" val="1309890069"/>
                  </a:ext>
                </a:extLst>
              </a:tr>
              <a:tr h="190500">
                <a:tc>
                  <a:txBody>
                    <a:bodyPr/>
                    <a:lstStyle/>
                    <a:p>
                      <a:pPr algn="ctr" fontAlgn="ctr">
                        <a:buNone/>
                      </a:pPr>
                      <a:r>
                        <a:rPr lang="en-US" sz="1400" b="0" i="0" u="none" strike="noStrike" dirty="0">
                          <a:solidFill>
                            <a:srgbClr val="000000"/>
                          </a:solidFill>
                          <a:effectLst/>
                          <a:latin typeface="Figtree"/>
                        </a:rPr>
                        <a:t>Space Settlement (SpSet TC)</a:t>
                      </a:r>
                    </a:p>
                  </a:txBody>
                  <a:tcPr marL="6350" marR="6350" marT="6350" marB="0" anchor="ctr"/>
                </a:tc>
                <a:extLst>
                  <a:ext uri="{0D108BD9-81ED-4DB2-BD59-A6C34878D82A}">
                    <a16:rowId xmlns:a16="http://schemas.microsoft.com/office/drawing/2014/main" val="3525237785"/>
                  </a:ext>
                </a:extLst>
              </a:tr>
            </a:tbl>
          </a:graphicData>
        </a:graphic>
      </p:graphicFrame>
      <p:cxnSp>
        <p:nvCxnSpPr>
          <p:cNvPr id="9" name="Straight Arrow Connector 8">
            <a:extLst>
              <a:ext uri="{FF2B5EF4-FFF2-40B4-BE49-F238E27FC236}">
                <a16:creationId xmlns:a16="http://schemas.microsoft.com/office/drawing/2014/main" id="{59109FAC-77B0-9780-A56A-729823532127}"/>
              </a:ext>
            </a:extLst>
          </p:cNvPr>
          <p:cNvCxnSpPr>
            <a:cxnSpLocks/>
          </p:cNvCxnSpPr>
          <p:nvPr/>
        </p:nvCxnSpPr>
        <p:spPr>
          <a:xfrm>
            <a:off x="5088256" y="1999369"/>
            <a:ext cx="1825291" cy="590767"/>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D6B6DBB-5115-6C18-BD5E-F58A22C07A55}"/>
              </a:ext>
            </a:extLst>
          </p:cNvPr>
          <p:cNvCxnSpPr>
            <a:cxnSpLocks/>
          </p:cNvCxnSpPr>
          <p:nvPr/>
        </p:nvCxnSpPr>
        <p:spPr>
          <a:xfrm>
            <a:off x="5088256" y="2343140"/>
            <a:ext cx="1825291" cy="479148"/>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B4E4B9A-2D9B-8D79-DEA7-49329D9BB184}"/>
              </a:ext>
            </a:extLst>
          </p:cNvPr>
          <p:cNvCxnSpPr>
            <a:cxnSpLocks/>
          </p:cNvCxnSpPr>
          <p:nvPr/>
        </p:nvCxnSpPr>
        <p:spPr>
          <a:xfrm>
            <a:off x="5095275" y="2575292"/>
            <a:ext cx="1832309" cy="461751"/>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49659D8-477B-EDA4-49FB-CA0270D54EDE}"/>
              </a:ext>
            </a:extLst>
          </p:cNvPr>
          <p:cNvCxnSpPr>
            <a:cxnSpLocks/>
          </p:cNvCxnSpPr>
          <p:nvPr/>
        </p:nvCxnSpPr>
        <p:spPr>
          <a:xfrm flipV="1">
            <a:off x="5088256" y="3027023"/>
            <a:ext cx="1825291" cy="1757443"/>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2E2AAF9-80E3-6177-9373-6143FB7917E3}"/>
              </a:ext>
            </a:extLst>
          </p:cNvPr>
          <p:cNvCxnSpPr>
            <a:cxnSpLocks/>
          </p:cNvCxnSpPr>
          <p:nvPr/>
        </p:nvCxnSpPr>
        <p:spPr>
          <a:xfrm>
            <a:off x="5088256" y="2794871"/>
            <a:ext cx="1825291" cy="674057"/>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0C4C0A9-F6C4-AE3B-2240-11A535F472CF}"/>
              </a:ext>
            </a:extLst>
          </p:cNvPr>
          <p:cNvCxnSpPr>
            <a:cxnSpLocks/>
          </p:cNvCxnSpPr>
          <p:nvPr/>
        </p:nvCxnSpPr>
        <p:spPr>
          <a:xfrm>
            <a:off x="5102293" y="3007221"/>
            <a:ext cx="1811254" cy="666290"/>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CB65BA6-E9D6-88B9-60B4-55D476A3D181}"/>
              </a:ext>
            </a:extLst>
          </p:cNvPr>
          <p:cNvCxnSpPr>
            <a:cxnSpLocks/>
          </p:cNvCxnSpPr>
          <p:nvPr/>
        </p:nvCxnSpPr>
        <p:spPr>
          <a:xfrm>
            <a:off x="5102292" y="3438523"/>
            <a:ext cx="1811255" cy="451653"/>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AE5417C5-8CCC-1478-EE8D-C7FBCECF2761}"/>
              </a:ext>
            </a:extLst>
          </p:cNvPr>
          <p:cNvCxnSpPr>
            <a:cxnSpLocks/>
          </p:cNvCxnSpPr>
          <p:nvPr/>
        </p:nvCxnSpPr>
        <p:spPr>
          <a:xfrm flipV="1">
            <a:off x="5109311" y="3246524"/>
            <a:ext cx="1804236" cy="443859"/>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B4FAB916-D9A8-2BC3-AB9A-7797A2779029}"/>
              </a:ext>
            </a:extLst>
          </p:cNvPr>
          <p:cNvCxnSpPr>
            <a:cxnSpLocks/>
          </p:cNvCxnSpPr>
          <p:nvPr/>
        </p:nvCxnSpPr>
        <p:spPr>
          <a:xfrm>
            <a:off x="5088255" y="3895118"/>
            <a:ext cx="1825292" cy="226567"/>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A8F19933-BAF3-CB9E-E4AC-5A07BE7E8B48}"/>
              </a:ext>
            </a:extLst>
          </p:cNvPr>
          <p:cNvSpPr/>
          <p:nvPr/>
        </p:nvSpPr>
        <p:spPr>
          <a:xfrm>
            <a:off x="146918" y="3820356"/>
            <a:ext cx="893135" cy="508249"/>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latin typeface="Figtree"/>
              </a:rPr>
              <a:t>AIED</a:t>
            </a:r>
          </a:p>
        </p:txBody>
      </p:sp>
      <p:sp>
        <p:nvSpPr>
          <p:cNvPr id="42" name="Rectangle 41">
            <a:extLst>
              <a:ext uri="{FF2B5EF4-FFF2-40B4-BE49-F238E27FC236}">
                <a16:creationId xmlns:a16="http://schemas.microsoft.com/office/drawing/2014/main" id="{DA161412-EC0D-1FFD-C7FF-859D6D06ADF6}"/>
              </a:ext>
            </a:extLst>
          </p:cNvPr>
          <p:cNvSpPr/>
          <p:nvPr/>
        </p:nvSpPr>
        <p:spPr>
          <a:xfrm>
            <a:off x="214639" y="4936915"/>
            <a:ext cx="1414130" cy="508249"/>
          </a:xfrm>
          <a:prstGeom prst="rect">
            <a:avLst/>
          </a:prstGeom>
          <a:solidFill>
            <a:schemeClr val="accent6"/>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latin typeface="Figtree"/>
              </a:rPr>
              <a:t>TAD/PEG</a:t>
            </a:r>
          </a:p>
        </p:txBody>
      </p:sp>
      <p:cxnSp>
        <p:nvCxnSpPr>
          <p:cNvPr id="43" name="Straight Arrow Connector 42">
            <a:extLst>
              <a:ext uri="{FF2B5EF4-FFF2-40B4-BE49-F238E27FC236}">
                <a16:creationId xmlns:a16="http://schemas.microsoft.com/office/drawing/2014/main" id="{C28CF70B-90A2-5A05-9E59-D423CCD820B7}"/>
              </a:ext>
            </a:extLst>
          </p:cNvPr>
          <p:cNvCxnSpPr>
            <a:cxnSpLocks/>
            <a:endCxn id="42" idx="3"/>
          </p:cNvCxnSpPr>
          <p:nvPr/>
        </p:nvCxnSpPr>
        <p:spPr>
          <a:xfrm flipH="1">
            <a:off x="1628769" y="4559870"/>
            <a:ext cx="539823" cy="631170"/>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D15A40A6-DA06-1FCF-853D-F8CBE5898F42}"/>
              </a:ext>
            </a:extLst>
          </p:cNvPr>
          <p:cNvCxnSpPr>
            <a:cxnSpLocks/>
            <a:endCxn id="41" idx="3"/>
          </p:cNvCxnSpPr>
          <p:nvPr/>
        </p:nvCxnSpPr>
        <p:spPr>
          <a:xfrm flipH="1" flipV="1">
            <a:off x="1040053" y="4074481"/>
            <a:ext cx="1128539" cy="254124"/>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E27077B2-1A6D-953E-4567-E875B1F82F06}"/>
              </a:ext>
            </a:extLst>
          </p:cNvPr>
          <p:cNvCxnSpPr>
            <a:cxnSpLocks/>
            <a:stCxn id="6" idx="1"/>
            <a:endCxn id="12" idx="3"/>
          </p:cNvCxnSpPr>
          <p:nvPr/>
        </p:nvCxnSpPr>
        <p:spPr>
          <a:xfrm flipH="1" flipV="1">
            <a:off x="1503609" y="2067511"/>
            <a:ext cx="664984" cy="117901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4" name="Slide Number Placeholder 5">
            <a:extLst>
              <a:ext uri="{FF2B5EF4-FFF2-40B4-BE49-F238E27FC236}">
                <a16:creationId xmlns:a16="http://schemas.microsoft.com/office/drawing/2014/main" id="{C9A0AE92-DA55-9A37-22F6-9F6801076BBC}"/>
              </a:ext>
            </a:extLst>
          </p:cNvPr>
          <p:cNvSpPr>
            <a:spLocks noGrp="1"/>
          </p:cNvSpPr>
          <p:nvPr>
            <p:ph type="sldNum" sz="quarter" idx="12"/>
          </p:nvPr>
        </p:nvSpPr>
        <p:spPr>
          <a:xfrm>
            <a:off x="11615981" y="6454131"/>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fld id="{8FBCB428-D880-FC4A-9B26-64132A65A030}" type="slidenum">
              <a:rPr lang="en-US" smtClean="0"/>
              <a:pPr/>
              <a:t>17</a:t>
            </a:fld>
            <a:endParaRPr lang="en-US" dirty="0"/>
          </a:p>
        </p:txBody>
      </p:sp>
      <p:graphicFrame>
        <p:nvGraphicFramePr>
          <p:cNvPr id="8" name="Table 7">
            <a:extLst>
              <a:ext uri="{FF2B5EF4-FFF2-40B4-BE49-F238E27FC236}">
                <a16:creationId xmlns:a16="http://schemas.microsoft.com/office/drawing/2014/main" id="{A06F978A-190B-B57F-5A5B-2E8CE228A7D2}"/>
              </a:ext>
            </a:extLst>
          </p:cNvPr>
          <p:cNvGraphicFramePr>
            <a:graphicFrameLocks noGrp="1"/>
          </p:cNvGraphicFramePr>
          <p:nvPr/>
        </p:nvGraphicFramePr>
        <p:xfrm>
          <a:off x="3708873" y="5257550"/>
          <a:ext cx="4776387" cy="1318260"/>
        </p:xfrm>
        <a:graphic>
          <a:graphicData uri="http://schemas.openxmlformats.org/drawingml/2006/table">
            <a:tbl>
              <a:tblPr firstRow="1" bandRow="1">
                <a:tableStyleId>{073A0DAA-6AF3-43AB-8588-CEC1D06C72B9}</a:tableStyleId>
              </a:tblPr>
              <a:tblGrid>
                <a:gridCol w="4776387">
                  <a:extLst>
                    <a:ext uri="{9D8B030D-6E8A-4147-A177-3AD203B41FA5}">
                      <a16:colId xmlns:a16="http://schemas.microsoft.com/office/drawing/2014/main" val="2390321432"/>
                    </a:ext>
                  </a:extLst>
                </a:gridCol>
              </a:tblGrid>
              <a:tr h="190500">
                <a:tc>
                  <a:txBody>
                    <a:bodyPr/>
                    <a:lstStyle/>
                    <a:p>
                      <a:pPr algn="ctr" fontAlgn="b">
                        <a:buNone/>
                      </a:pPr>
                      <a:r>
                        <a:rPr lang="en-US" sz="1400" b="1" u="none" strike="noStrike" dirty="0">
                          <a:solidFill>
                            <a:schemeClr val="bg2">
                              <a:lumMod val="50000"/>
                            </a:schemeClr>
                          </a:solidFill>
                          <a:effectLst/>
                          <a:latin typeface="Figtree"/>
                        </a:rPr>
                        <a:t>POSSIBLE GAPS FOR FUTURE CONSIDERATION</a:t>
                      </a:r>
                      <a:endParaRPr lang="en-US" sz="1400" b="1" i="0" u="none" strike="noStrike" dirty="0">
                        <a:solidFill>
                          <a:schemeClr val="bg2">
                            <a:lumMod val="50000"/>
                          </a:schemeClr>
                        </a:solidFill>
                        <a:effectLst/>
                        <a:latin typeface="Figtree"/>
                      </a:endParaRPr>
                    </a:p>
                  </a:txBody>
                  <a:tcPr marL="6350" marR="6350" marT="6350" marB="0" anchor="ctr"/>
                </a:tc>
                <a:extLst>
                  <a:ext uri="{0D108BD9-81ED-4DB2-BD59-A6C34878D82A}">
                    <a16:rowId xmlns:a16="http://schemas.microsoft.com/office/drawing/2014/main" val="4229295179"/>
                  </a:ext>
                </a:extLst>
              </a:tr>
              <a:tr h="190500">
                <a:tc>
                  <a:txBody>
                    <a:bodyPr/>
                    <a:lstStyle/>
                    <a:p>
                      <a:pPr algn="ctr" fontAlgn="ctr">
                        <a:buNone/>
                      </a:pPr>
                      <a:r>
                        <a:rPr lang="fr-FR" sz="1400" u="none" strike="noStrike" dirty="0">
                          <a:solidFill>
                            <a:schemeClr val="bg2">
                              <a:lumMod val="50000"/>
                            </a:schemeClr>
                          </a:solidFill>
                          <a:effectLst/>
                          <a:latin typeface="Figtree"/>
                        </a:rPr>
                        <a:t>Cislunar &amp; Lunar Surface Exploration</a:t>
                      </a:r>
                      <a:endParaRPr lang="fr-FR" sz="1400" b="0" i="0" u="none" strike="noStrike" dirty="0">
                        <a:solidFill>
                          <a:schemeClr val="bg2">
                            <a:lumMod val="50000"/>
                          </a:schemeClr>
                        </a:solidFill>
                        <a:effectLst/>
                        <a:latin typeface="Figtree"/>
                      </a:endParaRPr>
                    </a:p>
                  </a:txBody>
                  <a:tcPr marL="6350" marR="6350" marT="6350" marB="0" anchor="ctr"/>
                </a:tc>
                <a:extLst>
                  <a:ext uri="{0D108BD9-81ED-4DB2-BD59-A6C34878D82A}">
                    <a16:rowId xmlns:a16="http://schemas.microsoft.com/office/drawing/2014/main" val="2909553552"/>
                  </a:ext>
                </a:extLst>
              </a:tr>
              <a:tr h="190500">
                <a:tc>
                  <a:txBody>
                    <a:bodyPr/>
                    <a:lstStyle/>
                    <a:p>
                      <a:pPr algn="ctr" fontAlgn="ctr">
                        <a:buNone/>
                      </a:pPr>
                      <a:r>
                        <a:rPr lang="en-US" sz="1400" u="none" strike="noStrike" baseline="0" dirty="0">
                          <a:solidFill>
                            <a:schemeClr val="bg2">
                              <a:lumMod val="50000"/>
                            </a:schemeClr>
                          </a:solidFill>
                          <a:effectLst/>
                          <a:latin typeface="Figtree"/>
                        </a:rPr>
                        <a:t>Communications and Space Data Infrastructure</a:t>
                      </a:r>
                      <a:endParaRPr lang="en-US" sz="1400" b="0" i="0" u="none" strike="noStrike" baseline="0" dirty="0">
                        <a:solidFill>
                          <a:schemeClr val="bg2">
                            <a:lumMod val="50000"/>
                          </a:schemeClr>
                        </a:solidFill>
                        <a:effectLst/>
                        <a:latin typeface="Figtree"/>
                      </a:endParaRPr>
                    </a:p>
                  </a:txBody>
                  <a:tcPr marL="6350" marR="6350" marT="6350" marB="0" anchor="ctr"/>
                </a:tc>
                <a:extLst>
                  <a:ext uri="{0D108BD9-81ED-4DB2-BD59-A6C34878D82A}">
                    <a16:rowId xmlns:a16="http://schemas.microsoft.com/office/drawing/2014/main" val="2335166014"/>
                  </a:ext>
                </a:extLst>
              </a:tr>
              <a:tr h="190500">
                <a:tc>
                  <a:txBody>
                    <a:bodyPr/>
                    <a:lstStyle/>
                    <a:p>
                      <a:pPr algn="ctr" fontAlgn="ctr">
                        <a:buNone/>
                      </a:pPr>
                      <a:r>
                        <a:rPr lang="en-US" sz="1400" u="none" strike="noStrike" dirty="0">
                          <a:solidFill>
                            <a:schemeClr val="bg2">
                              <a:lumMod val="50000"/>
                            </a:schemeClr>
                          </a:solidFill>
                          <a:effectLst/>
                          <a:latin typeface="Figtree"/>
                        </a:rPr>
                        <a:t>Earth and Planetary Sensing and Applications</a:t>
                      </a:r>
                      <a:endParaRPr lang="en-US" sz="1400" b="0" i="0" u="none" strike="noStrike" dirty="0">
                        <a:solidFill>
                          <a:schemeClr val="bg2">
                            <a:lumMod val="50000"/>
                          </a:schemeClr>
                        </a:solidFill>
                        <a:effectLst/>
                        <a:latin typeface="Figtree"/>
                      </a:endParaRPr>
                    </a:p>
                  </a:txBody>
                  <a:tcPr marL="6350" marR="6350" marT="6350" marB="0" anchor="ctr"/>
                </a:tc>
                <a:extLst>
                  <a:ext uri="{0D108BD9-81ED-4DB2-BD59-A6C34878D82A}">
                    <a16:rowId xmlns:a16="http://schemas.microsoft.com/office/drawing/2014/main" val="1778268692"/>
                  </a:ext>
                </a:extLst>
              </a:tr>
              <a:tr h="190500">
                <a:tc>
                  <a:txBody>
                    <a:bodyPr/>
                    <a:lstStyle/>
                    <a:p>
                      <a:pPr algn="ctr" fontAlgn="ctr">
                        <a:buNone/>
                      </a:pPr>
                      <a:r>
                        <a:rPr lang="en-US" sz="1400" u="none" strike="noStrike" dirty="0">
                          <a:solidFill>
                            <a:schemeClr val="bg2">
                              <a:lumMod val="50000"/>
                            </a:schemeClr>
                          </a:solidFill>
                          <a:effectLst/>
                          <a:latin typeface="Figtree"/>
                        </a:rPr>
                        <a:t>In-Space Servicing, Assembly &amp; Manufacturing</a:t>
                      </a:r>
                      <a:endParaRPr lang="en-US" sz="1400" b="0" i="0" u="none" strike="noStrike" dirty="0">
                        <a:solidFill>
                          <a:schemeClr val="bg2">
                            <a:lumMod val="50000"/>
                          </a:schemeClr>
                        </a:solidFill>
                        <a:effectLst/>
                        <a:latin typeface="Figtree"/>
                      </a:endParaRPr>
                    </a:p>
                  </a:txBody>
                  <a:tcPr marL="6350" marR="6350" marT="6350" marB="0" anchor="ctr"/>
                </a:tc>
                <a:extLst>
                  <a:ext uri="{0D108BD9-81ED-4DB2-BD59-A6C34878D82A}">
                    <a16:rowId xmlns:a16="http://schemas.microsoft.com/office/drawing/2014/main" val="266252920"/>
                  </a:ext>
                </a:extLst>
              </a:tr>
              <a:tr h="190500">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US" sz="1400" u="none" strike="noStrike" dirty="0">
                          <a:solidFill>
                            <a:schemeClr val="bg2">
                              <a:lumMod val="50000"/>
                            </a:schemeClr>
                          </a:solidFill>
                          <a:effectLst/>
                          <a:latin typeface="Figtree"/>
                        </a:rPr>
                        <a:t>Space Domain Awareness and Orbital Sustainability</a:t>
                      </a:r>
                      <a:endParaRPr lang="en-US" sz="1400" b="0" i="0" u="none" strike="noStrike" dirty="0">
                        <a:solidFill>
                          <a:schemeClr val="bg2">
                            <a:lumMod val="50000"/>
                          </a:schemeClr>
                        </a:solidFill>
                        <a:effectLst/>
                        <a:latin typeface="Figtree"/>
                      </a:endParaRPr>
                    </a:p>
                  </a:txBody>
                  <a:tcPr marL="6350" marR="6350" marT="6350" marB="0" anchor="ctr"/>
                </a:tc>
                <a:extLst>
                  <a:ext uri="{0D108BD9-81ED-4DB2-BD59-A6C34878D82A}">
                    <a16:rowId xmlns:a16="http://schemas.microsoft.com/office/drawing/2014/main" val="1426332930"/>
                  </a:ext>
                </a:extLst>
              </a:tr>
            </a:tbl>
          </a:graphicData>
        </a:graphic>
      </p:graphicFrame>
      <p:sp>
        <p:nvSpPr>
          <p:cNvPr id="3" name="Rectangle 2">
            <a:extLst>
              <a:ext uri="{FF2B5EF4-FFF2-40B4-BE49-F238E27FC236}">
                <a16:creationId xmlns:a16="http://schemas.microsoft.com/office/drawing/2014/main" id="{8D358228-A0F7-21C2-97C1-1D58884A2CBE}"/>
              </a:ext>
            </a:extLst>
          </p:cNvPr>
          <p:cNvSpPr/>
          <p:nvPr/>
        </p:nvSpPr>
        <p:spPr>
          <a:xfrm>
            <a:off x="9129505" y="5552700"/>
            <a:ext cx="1414130" cy="508249"/>
          </a:xfrm>
          <a:prstGeom prst="rect">
            <a:avLst/>
          </a:prstGeom>
          <a:solidFill>
            <a:schemeClr val="accent2"/>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latin typeface="Figtree"/>
              </a:rPr>
              <a:t>TAD/ISG</a:t>
            </a:r>
          </a:p>
        </p:txBody>
      </p:sp>
      <p:cxnSp>
        <p:nvCxnSpPr>
          <p:cNvPr id="5" name="Straight Arrow Connector 4">
            <a:extLst>
              <a:ext uri="{FF2B5EF4-FFF2-40B4-BE49-F238E27FC236}">
                <a16:creationId xmlns:a16="http://schemas.microsoft.com/office/drawing/2014/main" id="{955B7C78-7CDD-6D3C-BDF7-C802D7967EC4}"/>
              </a:ext>
            </a:extLst>
          </p:cNvPr>
          <p:cNvCxnSpPr>
            <a:cxnSpLocks/>
            <a:endCxn id="3" idx="1"/>
          </p:cNvCxnSpPr>
          <p:nvPr/>
        </p:nvCxnSpPr>
        <p:spPr>
          <a:xfrm>
            <a:off x="8485260" y="5806825"/>
            <a:ext cx="644245" cy="0"/>
          </a:xfrm>
          <a:prstGeom prst="straightConnector1">
            <a:avLst/>
          </a:prstGeom>
          <a:ln>
            <a:solidFill>
              <a:schemeClr val="accent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04D1213C-92F5-9865-303F-34B4F45D897B}"/>
              </a:ext>
            </a:extLst>
          </p:cNvPr>
          <p:cNvCxnSpPr>
            <a:cxnSpLocks/>
          </p:cNvCxnSpPr>
          <p:nvPr/>
        </p:nvCxnSpPr>
        <p:spPr>
          <a:xfrm>
            <a:off x="1965533" y="5100699"/>
            <a:ext cx="1734794" cy="1362912"/>
          </a:xfrm>
          <a:prstGeom prst="bentConnector3">
            <a:avLst>
              <a:gd name="adj1" fmla="val 50000"/>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F3CDA521-06AA-BB62-17A6-E419D839ED49}"/>
              </a:ext>
            </a:extLst>
          </p:cNvPr>
          <p:cNvCxnSpPr>
            <a:cxnSpLocks/>
          </p:cNvCxnSpPr>
          <p:nvPr/>
        </p:nvCxnSpPr>
        <p:spPr>
          <a:xfrm flipV="1">
            <a:off x="1956987" y="4784466"/>
            <a:ext cx="8546" cy="325919"/>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A47158EB-3124-8992-0DF5-E511BDFC7480}"/>
              </a:ext>
            </a:extLst>
          </p:cNvPr>
          <p:cNvSpPr/>
          <p:nvPr/>
        </p:nvSpPr>
        <p:spPr>
          <a:xfrm>
            <a:off x="89479" y="1813386"/>
            <a:ext cx="1414130" cy="508249"/>
          </a:xfrm>
          <a:prstGeom prst="rect">
            <a:avLst/>
          </a:prstGeom>
          <a:solidFill>
            <a:schemeClr val="accent2"/>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latin typeface="Figtree"/>
              </a:rPr>
              <a:t>TAD/ISG</a:t>
            </a:r>
          </a:p>
        </p:txBody>
      </p:sp>
      <p:cxnSp>
        <p:nvCxnSpPr>
          <p:cNvPr id="14" name="Straight Arrow Connector 13">
            <a:extLst>
              <a:ext uri="{FF2B5EF4-FFF2-40B4-BE49-F238E27FC236}">
                <a16:creationId xmlns:a16="http://schemas.microsoft.com/office/drawing/2014/main" id="{79C1E651-4C3B-E8AF-8FF4-07F4DC106858}"/>
              </a:ext>
            </a:extLst>
          </p:cNvPr>
          <p:cNvCxnSpPr>
            <a:cxnSpLocks/>
          </p:cNvCxnSpPr>
          <p:nvPr/>
        </p:nvCxnSpPr>
        <p:spPr>
          <a:xfrm>
            <a:off x="5102292" y="4124141"/>
            <a:ext cx="1825292" cy="239119"/>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1899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005A2FCC-9255-F888-58DA-577E32DCF42A}"/>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l="25930" r="25930"/>
          <a:stretch/>
        </p:blipFill>
        <p:spPr/>
      </p:pic>
      <p:sp>
        <p:nvSpPr>
          <p:cNvPr id="2" name="Title 1">
            <a:extLst>
              <a:ext uri="{FF2B5EF4-FFF2-40B4-BE49-F238E27FC236}">
                <a16:creationId xmlns:a16="http://schemas.microsoft.com/office/drawing/2014/main" id="{4BECE4D6-2B9D-0644-F4E4-9487225BC02B}"/>
              </a:ext>
            </a:extLst>
          </p:cNvPr>
          <p:cNvSpPr>
            <a:spLocks noGrp="1"/>
          </p:cNvSpPr>
          <p:nvPr>
            <p:ph type="title"/>
          </p:nvPr>
        </p:nvSpPr>
        <p:spPr/>
        <p:txBody>
          <a:bodyPr>
            <a:normAutofit/>
          </a:bodyPr>
          <a:lstStyle/>
          <a:p>
            <a:r>
              <a:rPr lang="en-US" dirty="0"/>
              <a:t>Spacefaring Health &amp; Performance (SHP TC)</a:t>
            </a:r>
          </a:p>
        </p:txBody>
      </p:sp>
      <p:sp>
        <p:nvSpPr>
          <p:cNvPr id="3" name="Content Placeholder 2">
            <a:extLst>
              <a:ext uri="{FF2B5EF4-FFF2-40B4-BE49-F238E27FC236}">
                <a16:creationId xmlns:a16="http://schemas.microsoft.com/office/drawing/2014/main" id="{462B2245-3CB0-75A0-5195-A27BD9CDA7C7}"/>
              </a:ext>
            </a:extLst>
          </p:cNvPr>
          <p:cNvSpPr>
            <a:spLocks noGrp="1"/>
          </p:cNvSpPr>
          <p:nvPr>
            <p:ph type="body" sz="half" idx="2"/>
          </p:nvPr>
        </p:nvSpPr>
        <p:spPr/>
        <p:txBody>
          <a:bodyPr/>
          <a:lstStyle/>
          <a:p>
            <a:r>
              <a:rPr lang="en-US" sz="1600" dirty="0"/>
              <a:t>Advances the science, engineering, operational methods and standards required to protect, sustain, and optimize human life and performance in space environments. Areas include radiation protection, human physiology, behavioral health, crew systems and habitability, life-support and environmental control systems, medical care and training, safety and risk mitigation, and performance in extreme and long-duration missions across LEO, lunar, and deep-space missions. </a:t>
            </a:r>
          </a:p>
          <a:p>
            <a:pPr marL="285750" indent="-285750">
              <a:buFont typeface="Arial" panose="020B0604020202020204" pitchFamily="34" charset="0"/>
              <a:buChar char="•"/>
            </a:pPr>
            <a:r>
              <a:rPr lang="en-US" sz="1600" dirty="0"/>
              <a:t>Distinct from gravity-dependent physical/biological sciences and manufacturing</a:t>
            </a:r>
          </a:p>
          <a:p>
            <a:pPr marL="285750" indent="-285750">
              <a:buFont typeface="Arial" panose="020B0604020202020204" pitchFamily="34" charset="0"/>
              <a:buChar char="•"/>
            </a:pPr>
            <a:r>
              <a:rPr lang="en-US" sz="1600" dirty="0"/>
              <a:t>Coordinates with </a:t>
            </a:r>
            <a:r>
              <a:rPr lang="en-US" sz="1600" i="1" dirty="0"/>
              <a:t>Space Architecture &amp; Habitats</a:t>
            </a:r>
            <a:r>
              <a:rPr lang="en-US" sz="1600" dirty="0"/>
              <a:t> on built-environment interfaces and with </a:t>
            </a:r>
            <a:r>
              <a:rPr lang="en-US" sz="1600" i="1" dirty="0"/>
              <a:t>Mission Operations Rendezvous and Rescue </a:t>
            </a:r>
            <a:r>
              <a:rPr lang="en-US" sz="1600" dirty="0"/>
              <a:t>on procedures and training</a:t>
            </a:r>
          </a:p>
          <a:p>
            <a:endParaRPr lang="en-US" sz="1600" dirty="0"/>
          </a:p>
        </p:txBody>
      </p:sp>
      <p:sp>
        <p:nvSpPr>
          <p:cNvPr id="4" name="Slide Number Placeholder 3">
            <a:extLst>
              <a:ext uri="{FF2B5EF4-FFF2-40B4-BE49-F238E27FC236}">
                <a16:creationId xmlns:a16="http://schemas.microsoft.com/office/drawing/2014/main" id="{FDA69AC8-CC75-9A40-7D10-163002EBF9F9}"/>
              </a:ext>
            </a:extLst>
          </p:cNvPr>
          <p:cNvSpPr>
            <a:spLocks noGrp="1"/>
          </p:cNvSpPr>
          <p:nvPr>
            <p:ph type="sldNum" sz="quarter" idx="12"/>
          </p:nvPr>
        </p:nvSpPr>
        <p:spPr/>
        <p:txBody>
          <a:bodyPr/>
          <a:lstStyle/>
          <a:p>
            <a:fld id="{8FBCB428-D880-FC4A-9B26-64132A65A030}" type="slidenum">
              <a:rPr lang="en-US" smtClean="0"/>
              <a:pPr/>
              <a:t>18</a:t>
            </a:fld>
            <a:endParaRPr lang="en-US" dirty="0"/>
          </a:p>
        </p:txBody>
      </p:sp>
      <p:pic>
        <p:nvPicPr>
          <p:cNvPr id="36" name="Picture 35">
            <a:extLst>
              <a:ext uri="{FF2B5EF4-FFF2-40B4-BE49-F238E27FC236}">
                <a16:creationId xmlns:a16="http://schemas.microsoft.com/office/drawing/2014/main" id="{85EA67EA-531C-9753-4AF4-1CA1DA355A2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994860" y="3171826"/>
            <a:ext cx="5197140" cy="3686174"/>
          </a:xfrm>
          <a:prstGeom prst="rect">
            <a:avLst/>
          </a:prstGeom>
        </p:spPr>
      </p:pic>
      <p:pic>
        <p:nvPicPr>
          <p:cNvPr id="12" name="Picture 11">
            <a:extLst>
              <a:ext uri="{FF2B5EF4-FFF2-40B4-BE49-F238E27FC236}">
                <a16:creationId xmlns:a16="http://schemas.microsoft.com/office/drawing/2014/main" id="{08952C6B-E645-955A-267C-15D18C712A9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915797" y="419100"/>
            <a:ext cx="4161903" cy="234315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224719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FB8E1-21D0-3A64-51B1-7A8D79A64556}"/>
            </a:ext>
          </a:extLst>
        </p:cNvPr>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A9D736FD-C924-9F11-693D-FE809744677D}"/>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l="25930" r="25930"/>
          <a:stretch/>
        </p:blipFill>
        <p:spPr/>
      </p:pic>
      <p:sp>
        <p:nvSpPr>
          <p:cNvPr id="2" name="Title 1">
            <a:extLst>
              <a:ext uri="{FF2B5EF4-FFF2-40B4-BE49-F238E27FC236}">
                <a16:creationId xmlns:a16="http://schemas.microsoft.com/office/drawing/2014/main" id="{557CBEAF-28F1-F3B5-4AB5-AEE66AB10058}"/>
              </a:ext>
            </a:extLst>
          </p:cNvPr>
          <p:cNvSpPr>
            <a:spLocks noGrp="1"/>
          </p:cNvSpPr>
          <p:nvPr>
            <p:ph type="title"/>
          </p:nvPr>
        </p:nvSpPr>
        <p:spPr/>
        <p:txBody>
          <a:bodyPr>
            <a:normAutofit fontScale="90000"/>
          </a:bodyPr>
          <a:lstStyle/>
          <a:p>
            <a:r>
              <a:rPr lang="en-US" dirty="0"/>
              <a:t>Gravity-Dependent Sciences and Technology (GDST TC) </a:t>
            </a:r>
          </a:p>
        </p:txBody>
      </p:sp>
      <p:sp>
        <p:nvSpPr>
          <p:cNvPr id="3" name="Content Placeholder 2">
            <a:extLst>
              <a:ext uri="{FF2B5EF4-FFF2-40B4-BE49-F238E27FC236}">
                <a16:creationId xmlns:a16="http://schemas.microsoft.com/office/drawing/2014/main" id="{7FEEEBAF-4ED3-AF18-3AF6-26286AEAB743}"/>
              </a:ext>
            </a:extLst>
          </p:cNvPr>
          <p:cNvSpPr>
            <a:spLocks noGrp="1"/>
          </p:cNvSpPr>
          <p:nvPr>
            <p:ph type="body" sz="half" idx="2"/>
          </p:nvPr>
        </p:nvSpPr>
        <p:spPr/>
        <p:txBody>
          <a:bodyPr/>
          <a:lstStyle/>
          <a:p>
            <a:r>
              <a:rPr lang="en-US" dirty="0"/>
              <a:t>Advance microgravity and partial-gravity science and their applications to materials, physical, and biological processes and in-space manufacturing that depend on the gravity regime. Encompasses experiment design, flight platforms and payloads, process modeling, and validation for pharmaceutical, crystal growth, additive manufacturing, and advanced materials. </a:t>
            </a:r>
          </a:p>
          <a:p>
            <a:pPr marL="285750" indent="-285750">
              <a:buFont typeface="Arial" panose="020B0604020202020204" pitchFamily="34" charset="0"/>
              <a:buChar char="•"/>
            </a:pPr>
            <a:r>
              <a:rPr lang="en-US" sz="1600" dirty="0"/>
              <a:t>Excludes crew biomedical policy and human-systems integration (addressed by Spacefaring Health and Performance) and excludes mission operations execution (addressed by Mission Operations Rendezvous and Rescue)</a:t>
            </a:r>
            <a:endParaRPr lang="en-US" sz="1400" dirty="0"/>
          </a:p>
        </p:txBody>
      </p:sp>
      <p:sp>
        <p:nvSpPr>
          <p:cNvPr id="4" name="Slide Number Placeholder 3">
            <a:extLst>
              <a:ext uri="{FF2B5EF4-FFF2-40B4-BE49-F238E27FC236}">
                <a16:creationId xmlns:a16="http://schemas.microsoft.com/office/drawing/2014/main" id="{895FF0CC-F024-A923-D9EF-6972B8FBD952}"/>
              </a:ext>
            </a:extLst>
          </p:cNvPr>
          <p:cNvSpPr>
            <a:spLocks noGrp="1"/>
          </p:cNvSpPr>
          <p:nvPr>
            <p:ph type="sldNum" sz="quarter" idx="12"/>
          </p:nvPr>
        </p:nvSpPr>
        <p:spPr/>
        <p:txBody>
          <a:bodyPr/>
          <a:lstStyle/>
          <a:p>
            <a:fld id="{8FBCB428-D880-FC4A-9B26-64132A65A030}" type="slidenum">
              <a:rPr lang="en-US" smtClean="0"/>
              <a:pPr/>
              <a:t>19</a:t>
            </a:fld>
            <a:endParaRPr lang="en-US" dirty="0"/>
          </a:p>
        </p:txBody>
      </p:sp>
      <p:pic>
        <p:nvPicPr>
          <p:cNvPr id="8" name="Picture 7" descr="Black hole devouring neon planet">
            <a:extLst>
              <a:ext uri="{FF2B5EF4-FFF2-40B4-BE49-F238E27FC236}">
                <a16:creationId xmlns:a16="http://schemas.microsoft.com/office/drawing/2014/main" id="{9208E226-6FA3-20E2-C139-73BC3D3BD7E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486775" y="335725"/>
            <a:ext cx="3026690" cy="253877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9" name="Picture 8">
            <a:extLst>
              <a:ext uri="{FF2B5EF4-FFF2-40B4-BE49-F238E27FC236}">
                <a16:creationId xmlns:a16="http://schemas.microsoft.com/office/drawing/2014/main" id="{6BE92093-C88A-6FE8-F402-F163111D0CF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983578" y="3164207"/>
            <a:ext cx="5208422" cy="3694176"/>
          </a:xfrm>
          <a:prstGeom prst="rect">
            <a:avLst/>
          </a:prstGeom>
        </p:spPr>
      </p:pic>
    </p:spTree>
    <p:extLst>
      <p:ext uri="{BB962C8B-B14F-4D97-AF65-F5344CB8AC3E}">
        <p14:creationId xmlns:p14="http://schemas.microsoft.com/office/powerpoint/2010/main" val="1068624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E2199-B7D7-4C4E-521D-BF361A9BE254}"/>
            </a:ext>
          </a:extLst>
        </p:cNvPr>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417E6CD4-2603-D762-9562-18E98B056D23}"/>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l="25930" r="25930"/>
          <a:stretch/>
        </p:blipFill>
        <p:spPr/>
      </p:pic>
      <p:sp>
        <p:nvSpPr>
          <p:cNvPr id="2" name="Title 1">
            <a:extLst>
              <a:ext uri="{FF2B5EF4-FFF2-40B4-BE49-F238E27FC236}">
                <a16:creationId xmlns:a16="http://schemas.microsoft.com/office/drawing/2014/main" id="{712C2F9B-9CD6-04E7-1DE5-2594D1C9A64D}"/>
              </a:ext>
            </a:extLst>
          </p:cNvPr>
          <p:cNvSpPr>
            <a:spLocks noGrp="1"/>
          </p:cNvSpPr>
          <p:nvPr>
            <p:ph type="title"/>
          </p:nvPr>
        </p:nvSpPr>
        <p:spPr/>
        <p:txBody>
          <a:bodyPr>
            <a:normAutofit fontScale="90000"/>
          </a:bodyPr>
          <a:lstStyle/>
          <a:p>
            <a:r>
              <a:rPr lang="en-US" dirty="0"/>
              <a:t>Launch Vehicle and Entry Systems (LVES TC) </a:t>
            </a:r>
          </a:p>
        </p:txBody>
      </p:sp>
      <p:sp>
        <p:nvSpPr>
          <p:cNvPr id="3" name="Content Placeholder 2">
            <a:extLst>
              <a:ext uri="{FF2B5EF4-FFF2-40B4-BE49-F238E27FC236}">
                <a16:creationId xmlns:a16="http://schemas.microsoft.com/office/drawing/2014/main" id="{9211A18D-112B-61A6-4EE8-FEAD1E0825FB}"/>
              </a:ext>
            </a:extLst>
          </p:cNvPr>
          <p:cNvSpPr>
            <a:spLocks noGrp="1"/>
          </p:cNvSpPr>
          <p:nvPr>
            <p:ph type="body" sz="half" idx="2"/>
          </p:nvPr>
        </p:nvSpPr>
        <p:spPr/>
        <p:txBody>
          <a:bodyPr/>
          <a:lstStyle/>
          <a:p>
            <a:r>
              <a:rPr lang="en-US" sz="1600" dirty="0"/>
              <a:t>Promote the development and implementation of operationally responsive and economically viable commercial, military, and civil space transportation for crewed and uncrewed missions including reusable and expendable launch vehicle stages, entry, descent  and landing systems, crew capsules, spaceplanes, in-space tugs, abort/escape systems, range/spaceport, and certification. Covers enabling technologies such as TPS, aerocapture, and advanced concepts as part of vehicle systems. </a:t>
            </a:r>
          </a:p>
          <a:p>
            <a:pPr marL="285750" indent="-285750">
              <a:buFont typeface="Arial" panose="020B0604020202020204" pitchFamily="34" charset="0"/>
              <a:buChar char="•"/>
            </a:pPr>
            <a:r>
              <a:rPr lang="en-US" sz="1400" dirty="0"/>
              <a:t>Operations execution and proximity operations remain with MORR</a:t>
            </a:r>
          </a:p>
          <a:p>
            <a:pPr marL="285750" indent="-285750">
              <a:buFont typeface="Arial" panose="020B0604020202020204" pitchFamily="34" charset="0"/>
              <a:buChar char="•"/>
            </a:pPr>
            <a:r>
              <a:rPr lang="en-US" sz="1400" dirty="0"/>
              <a:t>Collaborates with PEG, ASG, ADSG on cross-cutting concerns</a:t>
            </a:r>
          </a:p>
        </p:txBody>
      </p:sp>
      <p:sp>
        <p:nvSpPr>
          <p:cNvPr id="4" name="Slide Number Placeholder 3">
            <a:extLst>
              <a:ext uri="{FF2B5EF4-FFF2-40B4-BE49-F238E27FC236}">
                <a16:creationId xmlns:a16="http://schemas.microsoft.com/office/drawing/2014/main" id="{A680238E-B057-E9B0-9056-B21538FE1A90}"/>
              </a:ext>
            </a:extLst>
          </p:cNvPr>
          <p:cNvSpPr>
            <a:spLocks noGrp="1"/>
          </p:cNvSpPr>
          <p:nvPr>
            <p:ph type="sldNum" sz="quarter" idx="12"/>
          </p:nvPr>
        </p:nvSpPr>
        <p:spPr/>
        <p:txBody>
          <a:bodyPr/>
          <a:lstStyle/>
          <a:p>
            <a:fld id="{8FBCB428-D880-FC4A-9B26-64132A65A030}" type="slidenum">
              <a:rPr lang="en-US" smtClean="0"/>
              <a:pPr/>
              <a:t>20</a:t>
            </a:fld>
            <a:endParaRPr lang="en-US" dirty="0"/>
          </a:p>
        </p:txBody>
      </p:sp>
      <p:pic>
        <p:nvPicPr>
          <p:cNvPr id="14" name="Picture 13">
            <a:extLst>
              <a:ext uri="{FF2B5EF4-FFF2-40B4-BE49-F238E27FC236}">
                <a16:creationId xmlns:a16="http://schemas.microsoft.com/office/drawing/2014/main" id="{7A0F37C5-FF28-0449-5A9C-0E9B3F17072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945318" y="457200"/>
            <a:ext cx="4051662" cy="227906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8" name="Picture 27">
            <a:extLst>
              <a:ext uri="{FF2B5EF4-FFF2-40B4-BE49-F238E27FC236}">
                <a16:creationId xmlns:a16="http://schemas.microsoft.com/office/drawing/2014/main" id="{7B53FEBB-56F9-5018-CB32-6297B58A5A8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991661" y="3169907"/>
            <a:ext cx="5200339" cy="3688400"/>
          </a:xfrm>
          <a:prstGeom prst="rect">
            <a:avLst/>
          </a:prstGeom>
        </p:spPr>
      </p:pic>
    </p:spTree>
    <p:extLst>
      <p:ext uri="{BB962C8B-B14F-4D97-AF65-F5344CB8AC3E}">
        <p14:creationId xmlns:p14="http://schemas.microsoft.com/office/powerpoint/2010/main" val="2009910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FEC9B-855A-BF6B-B23F-D77F705D65C2}"/>
            </a:ext>
          </a:extLst>
        </p:cNvPr>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9FE4F4DC-F125-AFD4-CB86-6B8173DF9FF3}"/>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l="25930" r="25930"/>
          <a:stretch/>
        </p:blipFill>
        <p:spPr/>
      </p:pic>
      <p:sp>
        <p:nvSpPr>
          <p:cNvPr id="2" name="Title 1">
            <a:extLst>
              <a:ext uri="{FF2B5EF4-FFF2-40B4-BE49-F238E27FC236}">
                <a16:creationId xmlns:a16="http://schemas.microsoft.com/office/drawing/2014/main" id="{2B2C356F-EFA7-956A-DA00-6AF3B7494841}"/>
              </a:ext>
            </a:extLst>
          </p:cNvPr>
          <p:cNvSpPr>
            <a:spLocks noGrp="1"/>
          </p:cNvSpPr>
          <p:nvPr>
            <p:ph type="title"/>
          </p:nvPr>
        </p:nvSpPr>
        <p:spPr/>
        <p:txBody>
          <a:bodyPr>
            <a:normAutofit fontScale="90000"/>
          </a:bodyPr>
          <a:lstStyle/>
          <a:p>
            <a:r>
              <a:rPr lang="en-US" dirty="0"/>
              <a:t>Mission Operations, Rendezvous, and Rescue (MORR TC) </a:t>
            </a:r>
          </a:p>
        </p:txBody>
      </p:sp>
      <p:sp>
        <p:nvSpPr>
          <p:cNvPr id="3" name="Content Placeholder 2">
            <a:extLst>
              <a:ext uri="{FF2B5EF4-FFF2-40B4-BE49-F238E27FC236}">
                <a16:creationId xmlns:a16="http://schemas.microsoft.com/office/drawing/2014/main" id="{A7739044-02C9-E5A6-F183-8AA9AD1B602D}"/>
              </a:ext>
            </a:extLst>
          </p:cNvPr>
          <p:cNvSpPr>
            <a:spLocks noGrp="1"/>
          </p:cNvSpPr>
          <p:nvPr>
            <p:ph type="body" sz="half" idx="2"/>
          </p:nvPr>
        </p:nvSpPr>
        <p:spPr/>
        <p:txBody>
          <a:bodyPr/>
          <a:lstStyle/>
          <a:p>
            <a:r>
              <a:rPr lang="en-US" dirty="0"/>
              <a:t>Advance concepts of operations, mission planning, flight dynamics, telemetry/command, onboard/ground data handling, autonomy (as applied to operations), and decommissioning. Focuses on rendezvous, proximity operations, docking/berthing, in-space assembly servicing execution, contingency ops, and emergency response/space rescue architectures and procedures.  </a:t>
            </a:r>
          </a:p>
          <a:p>
            <a:pPr marL="285750" indent="-285750">
              <a:buFont typeface="Arial" panose="020B0604020202020204" pitchFamily="34" charset="0"/>
              <a:buChar char="•"/>
            </a:pPr>
            <a:r>
              <a:rPr lang="en-US" sz="1600" dirty="0"/>
              <a:t>Interfaces with LVES on vehicle capabilities and with SILM on OSAM-related logistics architectures</a:t>
            </a:r>
          </a:p>
          <a:p>
            <a:pPr marL="285750" indent="-285750">
              <a:buFont typeface="Arial" panose="020B0604020202020204" pitchFamily="34" charset="0"/>
              <a:buChar char="•"/>
            </a:pPr>
            <a:r>
              <a:rPr lang="en-US" sz="1600" dirty="0"/>
              <a:t>Collaborates with ISG on application of AI/ML to mission operations</a:t>
            </a:r>
            <a:endParaRPr lang="en-US" sz="1100" dirty="0"/>
          </a:p>
        </p:txBody>
      </p:sp>
      <p:sp>
        <p:nvSpPr>
          <p:cNvPr id="4" name="Slide Number Placeholder 3">
            <a:extLst>
              <a:ext uri="{FF2B5EF4-FFF2-40B4-BE49-F238E27FC236}">
                <a16:creationId xmlns:a16="http://schemas.microsoft.com/office/drawing/2014/main" id="{A8B9C54E-8159-191C-8B3F-5077CC5A670E}"/>
              </a:ext>
            </a:extLst>
          </p:cNvPr>
          <p:cNvSpPr>
            <a:spLocks noGrp="1"/>
          </p:cNvSpPr>
          <p:nvPr>
            <p:ph type="sldNum" sz="quarter" idx="12"/>
          </p:nvPr>
        </p:nvSpPr>
        <p:spPr/>
        <p:txBody>
          <a:bodyPr/>
          <a:lstStyle/>
          <a:p>
            <a:fld id="{8FBCB428-D880-FC4A-9B26-64132A65A030}" type="slidenum">
              <a:rPr lang="en-US" smtClean="0"/>
              <a:pPr/>
              <a:t>21</a:t>
            </a:fld>
            <a:endParaRPr lang="en-US" dirty="0"/>
          </a:p>
        </p:txBody>
      </p:sp>
      <p:pic>
        <p:nvPicPr>
          <p:cNvPr id="5" name="Picture 4">
            <a:extLst>
              <a:ext uri="{FF2B5EF4-FFF2-40B4-BE49-F238E27FC236}">
                <a16:creationId xmlns:a16="http://schemas.microsoft.com/office/drawing/2014/main" id="{3ED7A2DF-210E-28EB-CFFD-D650A25F9D6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981825" y="3170818"/>
            <a:ext cx="5210175" cy="3695419"/>
          </a:xfrm>
          <a:prstGeom prst="rect">
            <a:avLst/>
          </a:prstGeom>
        </p:spPr>
      </p:pic>
      <p:pic>
        <p:nvPicPr>
          <p:cNvPr id="8" name="Picture 7" descr="Astronaut in suit">
            <a:extLst>
              <a:ext uri="{FF2B5EF4-FFF2-40B4-BE49-F238E27FC236}">
                <a16:creationId xmlns:a16="http://schemas.microsoft.com/office/drawing/2014/main" id="{D913B995-9C35-7DBB-AECF-F252CF06975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517" y="123966"/>
            <a:ext cx="3631561" cy="29527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893187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04DF4-0047-B103-3A87-B14128C0552A}"/>
            </a:ext>
          </a:extLst>
        </p:cNvPr>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CCD96D44-9CAB-EA40-DD66-663D3FB7EDA7}"/>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l="25930" r="25930"/>
          <a:stretch/>
        </p:blipFill>
        <p:spPr/>
      </p:pic>
      <p:sp>
        <p:nvSpPr>
          <p:cNvPr id="2" name="Title 1">
            <a:extLst>
              <a:ext uri="{FF2B5EF4-FFF2-40B4-BE49-F238E27FC236}">
                <a16:creationId xmlns:a16="http://schemas.microsoft.com/office/drawing/2014/main" id="{24167B13-61B9-6A11-8361-4579C4863657}"/>
              </a:ext>
            </a:extLst>
          </p:cNvPr>
          <p:cNvSpPr>
            <a:spLocks noGrp="1"/>
          </p:cNvSpPr>
          <p:nvPr>
            <p:ph type="title"/>
          </p:nvPr>
        </p:nvSpPr>
        <p:spPr/>
        <p:txBody>
          <a:bodyPr>
            <a:normAutofit/>
          </a:bodyPr>
          <a:lstStyle/>
          <a:p>
            <a:r>
              <a:rPr lang="fr-FR" dirty="0"/>
              <a:t>Space Resources Exploitation (SRE TC)</a:t>
            </a:r>
            <a:endParaRPr lang="en-US" dirty="0"/>
          </a:p>
        </p:txBody>
      </p:sp>
      <p:sp>
        <p:nvSpPr>
          <p:cNvPr id="3" name="Content Placeholder 2">
            <a:extLst>
              <a:ext uri="{FF2B5EF4-FFF2-40B4-BE49-F238E27FC236}">
                <a16:creationId xmlns:a16="http://schemas.microsoft.com/office/drawing/2014/main" id="{E5237110-4886-8806-72EA-2CA51730B60D}"/>
              </a:ext>
            </a:extLst>
          </p:cNvPr>
          <p:cNvSpPr>
            <a:spLocks noGrp="1"/>
          </p:cNvSpPr>
          <p:nvPr>
            <p:ph type="body" sz="half" idx="2"/>
          </p:nvPr>
        </p:nvSpPr>
        <p:spPr/>
        <p:txBody>
          <a:bodyPr/>
          <a:lstStyle/>
          <a:p>
            <a:r>
              <a:rPr lang="en-US" sz="1400" dirty="0"/>
              <a:t>Advance the science, technology, and systems to identify, extract, process, store, and apply resources from the Moon, Mars, asteroids, and other celestial bodies to support sustained human and robotic missions and infrastructure. The scope includes resource prospecting and in-situ characterization; tailored extraction and processing methods for producing propellants, consumables, and construction materials; and system development from design through analog, laboratory, flight demonstrations, and large-scale operations. It also encompasses the integration of ISRU-derived products into depots, supply-chain nodes, and inventory management systems, alongside design principles for interoperability, maintainability, and circularity. Sustainability, planetary protection, and responsible utilization are core considerations.</a:t>
            </a:r>
          </a:p>
          <a:p>
            <a:pPr marL="285750" indent="-285750">
              <a:buFont typeface="Arial" panose="020B0604020202020204" pitchFamily="34" charset="0"/>
              <a:buChar char="•"/>
            </a:pPr>
            <a:r>
              <a:rPr lang="en-US" sz="1200" dirty="0"/>
              <a:t>Habitat design remains with SAH TC.</a:t>
            </a:r>
            <a:endParaRPr lang="en-US" sz="700" dirty="0"/>
          </a:p>
        </p:txBody>
      </p:sp>
      <p:sp>
        <p:nvSpPr>
          <p:cNvPr id="4" name="Slide Number Placeholder 3">
            <a:extLst>
              <a:ext uri="{FF2B5EF4-FFF2-40B4-BE49-F238E27FC236}">
                <a16:creationId xmlns:a16="http://schemas.microsoft.com/office/drawing/2014/main" id="{8DC70A63-B942-A043-797B-D434CB6967FA}"/>
              </a:ext>
            </a:extLst>
          </p:cNvPr>
          <p:cNvSpPr>
            <a:spLocks noGrp="1"/>
          </p:cNvSpPr>
          <p:nvPr>
            <p:ph type="sldNum" sz="quarter" idx="12"/>
          </p:nvPr>
        </p:nvSpPr>
        <p:spPr/>
        <p:txBody>
          <a:bodyPr/>
          <a:lstStyle/>
          <a:p>
            <a:fld id="{8FBCB428-D880-FC4A-9B26-64132A65A030}" type="slidenum">
              <a:rPr lang="en-US" smtClean="0"/>
              <a:pPr/>
              <a:t>22</a:t>
            </a:fld>
            <a:endParaRPr lang="en-US" dirty="0"/>
          </a:p>
        </p:txBody>
      </p:sp>
      <p:pic>
        <p:nvPicPr>
          <p:cNvPr id="8" name="Picture 7" descr="Astronaut holding an object">
            <a:extLst>
              <a:ext uri="{FF2B5EF4-FFF2-40B4-BE49-F238E27FC236}">
                <a16:creationId xmlns:a16="http://schemas.microsoft.com/office/drawing/2014/main" id="{8E3A5B25-32EE-FE63-5AB9-5ACA67A7506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86700" y="423130"/>
            <a:ext cx="4171950" cy="234672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4" name="Picture 13">
            <a:extLst>
              <a:ext uri="{FF2B5EF4-FFF2-40B4-BE49-F238E27FC236}">
                <a16:creationId xmlns:a16="http://schemas.microsoft.com/office/drawing/2014/main" id="{B8D6BA1C-F870-545B-A588-4FD9C54F6C2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967275" y="3160674"/>
            <a:ext cx="5224725" cy="3700593"/>
          </a:xfrm>
          <a:prstGeom prst="rect">
            <a:avLst/>
          </a:prstGeom>
        </p:spPr>
      </p:pic>
    </p:spTree>
    <p:extLst>
      <p:ext uri="{BB962C8B-B14F-4D97-AF65-F5344CB8AC3E}">
        <p14:creationId xmlns:p14="http://schemas.microsoft.com/office/powerpoint/2010/main" val="3675524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30084-7A27-EFD6-666A-FB3D74D7B751}"/>
            </a:ext>
          </a:extLst>
        </p:cNvPr>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D13F1DBF-E6EA-5C64-4311-AE4CCD3C4F91}"/>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l="25930" r="25930"/>
          <a:stretch/>
        </p:blipFill>
        <p:spPr/>
      </p:pic>
      <p:sp>
        <p:nvSpPr>
          <p:cNvPr id="2" name="Title 1">
            <a:extLst>
              <a:ext uri="{FF2B5EF4-FFF2-40B4-BE49-F238E27FC236}">
                <a16:creationId xmlns:a16="http://schemas.microsoft.com/office/drawing/2014/main" id="{D386BE69-D4EA-29D2-5258-DD928170942A}"/>
              </a:ext>
            </a:extLst>
          </p:cNvPr>
          <p:cNvSpPr>
            <a:spLocks noGrp="1"/>
          </p:cNvSpPr>
          <p:nvPr>
            <p:ph type="title"/>
          </p:nvPr>
        </p:nvSpPr>
        <p:spPr/>
        <p:txBody>
          <a:bodyPr>
            <a:normAutofit/>
          </a:bodyPr>
          <a:lstStyle/>
          <a:p>
            <a:r>
              <a:rPr lang="en-US" dirty="0"/>
              <a:t>Space Architecture and Habitats (SAH TC)</a:t>
            </a:r>
          </a:p>
        </p:txBody>
      </p:sp>
      <p:sp>
        <p:nvSpPr>
          <p:cNvPr id="3" name="Content Placeholder 2">
            <a:extLst>
              <a:ext uri="{FF2B5EF4-FFF2-40B4-BE49-F238E27FC236}">
                <a16:creationId xmlns:a16="http://schemas.microsoft.com/office/drawing/2014/main" id="{31E4F467-79DD-288D-A161-A6FE2FAACC33}"/>
              </a:ext>
            </a:extLst>
          </p:cNvPr>
          <p:cNvSpPr>
            <a:spLocks noGrp="1"/>
          </p:cNvSpPr>
          <p:nvPr>
            <p:ph type="body" sz="half" idx="2"/>
          </p:nvPr>
        </p:nvSpPr>
        <p:spPr/>
        <p:txBody>
          <a:bodyPr/>
          <a:lstStyle/>
          <a:p>
            <a:r>
              <a:rPr lang="en-US" sz="1600" dirty="0"/>
              <a:t>Advance the architectural design of living and working environments in space vehicles, stations, surface outposts, and future settlements. Emphasizes safety, habitability, human reliability, crew productivity, manufacturability, modularity, and integration with ISRU-derived materials and OSAM build methods. Includes relevant terrestrial analogs, standards development, and long-term architectural planning for scalable, multi-phase habitation systems that can evolve from outposts to permanent settlements.</a:t>
            </a:r>
          </a:p>
          <a:p>
            <a:pPr marL="285750" indent="-285750">
              <a:buFont typeface="Arial" panose="020B0604020202020204" pitchFamily="34" charset="0"/>
              <a:buChar char="•"/>
            </a:pPr>
            <a:r>
              <a:rPr lang="en-US" sz="1400" dirty="0"/>
              <a:t>Biomedical and human performance research remains with SHP</a:t>
            </a:r>
          </a:p>
          <a:p>
            <a:pPr marL="285750" indent="-285750">
              <a:buFont typeface="Arial" panose="020B0604020202020204" pitchFamily="34" charset="0"/>
              <a:buChar char="•"/>
            </a:pPr>
            <a:r>
              <a:rPr lang="en-US" sz="1400" dirty="0"/>
              <a:t>Logistics and supply-chain strategies remain with SILM</a:t>
            </a:r>
          </a:p>
          <a:p>
            <a:pPr marL="285750" indent="-285750">
              <a:buFont typeface="Arial" panose="020B0604020202020204" pitchFamily="34" charset="0"/>
              <a:buChar char="•"/>
            </a:pPr>
            <a:r>
              <a:rPr lang="en-US" sz="1400" dirty="0"/>
              <a:t>Collaborates on habitat design with SpSet, on operational concepts for use with MORR, and on survivability and performance issues with SHP</a:t>
            </a:r>
            <a:endParaRPr lang="en-US" sz="1000" dirty="0"/>
          </a:p>
        </p:txBody>
      </p:sp>
      <p:sp>
        <p:nvSpPr>
          <p:cNvPr id="4" name="Slide Number Placeholder 3">
            <a:extLst>
              <a:ext uri="{FF2B5EF4-FFF2-40B4-BE49-F238E27FC236}">
                <a16:creationId xmlns:a16="http://schemas.microsoft.com/office/drawing/2014/main" id="{36A9A21F-EEFC-1A16-95F2-5D0793C61F46}"/>
              </a:ext>
            </a:extLst>
          </p:cNvPr>
          <p:cNvSpPr>
            <a:spLocks noGrp="1"/>
          </p:cNvSpPr>
          <p:nvPr>
            <p:ph type="sldNum" sz="quarter" idx="12"/>
          </p:nvPr>
        </p:nvSpPr>
        <p:spPr/>
        <p:txBody>
          <a:bodyPr/>
          <a:lstStyle/>
          <a:p>
            <a:fld id="{8FBCB428-D880-FC4A-9B26-64132A65A030}" type="slidenum">
              <a:rPr lang="en-US" smtClean="0"/>
              <a:pPr/>
              <a:t>23</a:t>
            </a:fld>
            <a:endParaRPr lang="en-US" dirty="0"/>
          </a:p>
        </p:txBody>
      </p:sp>
      <p:pic>
        <p:nvPicPr>
          <p:cNvPr id="11" name="Picture 10">
            <a:extLst>
              <a:ext uri="{FF2B5EF4-FFF2-40B4-BE49-F238E27FC236}">
                <a16:creationId xmlns:a16="http://schemas.microsoft.com/office/drawing/2014/main" id="{7336BFE3-5579-CB1F-E964-41A94382DA6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15740" y="660430"/>
            <a:ext cx="4304149" cy="3548180"/>
          </a:xfrm>
          <a:prstGeom prst="rect">
            <a:avLst/>
          </a:prstGeom>
        </p:spPr>
      </p:pic>
      <p:pic>
        <p:nvPicPr>
          <p:cNvPr id="5" name="Picture 4">
            <a:extLst>
              <a:ext uri="{FF2B5EF4-FFF2-40B4-BE49-F238E27FC236}">
                <a16:creationId xmlns:a16="http://schemas.microsoft.com/office/drawing/2014/main" id="{034A3214-984D-3DF7-D61D-2F441F8034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976589" y="3163824"/>
            <a:ext cx="5208422" cy="3694176"/>
          </a:xfrm>
          <a:prstGeom prst="rect">
            <a:avLst/>
          </a:prstGeom>
        </p:spPr>
      </p:pic>
    </p:spTree>
    <p:extLst>
      <p:ext uri="{BB962C8B-B14F-4D97-AF65-F5344CB8AC3E}">
        <p14:creationId xmlns:p14="http://schemas.microsoft.com/office/powerpoint/2010/main" val="1450725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2ABFB-E126-B677-9577-0C6A14C220E5}"/>
            </a:ext>
          </a:extLst>
        </p:cNvPr>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2FD3C85F-A732-C071-CDCB-CF88C721FB6E}"/>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l="25930" r="25930"/>
          <a:stretch/>
        </p:blipFill>
        <p:spPr/>
      </p:pic>
      <p:sp>
        <p:nvSpPr>
          <p:cNvPr id="2" name="Title 1">
            <a:extLst>
              <a:ext uri="{FF2B5EF4-FFF2-40B4-BE49-F238E27FC236}">
                <a16:creationId xmlns:a16="http://schemas.microsoft.com/office/drawing/2014/main" id="{0758066A-4BEC-4FE5-6EF7-F8E6282AE826}"/>
              </a:ext>
            </a:extLst>
          </p:cNvPr>
          <p:cNvSpPr>
            <a:spLocks noGrp="1"/>
          </p:cNvSpPr>
          <p:nvPr>
            <p:ph type="title"/>
          </p:nvPr>
        </p:nvSpPr>
        <p:spPr/>
        <p:txBody>
          <a:bodyPr>
            <a:normAutofit fontScale="90000"/>
          </a:bodyPr>
          <a:lstStyle/>
          <a:p>
            <a:r>
              <a:rPr lang="en-US" dirty="0"/>
              <a:t>Space Industrial Logistics and Manufacturing </a:t>
            </a:r>
            <a:br>
              <a:rPr lang="en-US" dirty="0"/>
            </a:br>
            <a:r>
              <a:rPr lang="en-US" dirty="0"/>
              <a:t>(SILM TC)</a:t>
            </a:r>
          </a:p>
        </p:txBody>
      </p:sp>
      <p:sp>
        <p:nvSpPr>
          <p:cNvPr id="3" name="Content Placeholder 2">
            <a:extLst>
              <a:ext uri="{FF2B5EF4-FFF2-40B4-BE49-F238E27FC236}">
                <a16:creationId xmlns:a16="http://schemas.microsoft.com/office/drawing/2014/main" id="{866BEBA0-5FC9-2264-D7EE-806ED5A01C4F}"/>
              </a:ext>
            </a:extLst>
          </p:cNvPr>
          <p:cNvSpPr>
            <a:spLocks noGrp="1"/>
          </p:cNvSpPr>
          <p:nvPr>
            <p:ph type="body" sz="half" idx="2"/>
          </p:nvPr>
        </p:nvSpPr>
        <p:spPr/>
        <p:txBody>
          <a:bodyPr/>
          <a:lstStyle/>
          <a:p>
            <a:r>
              <a:rPr lang="en-US" sz="1400" dirty="0"/>
              <a:t>Advance logistics architectures, industrial systems, and manufacturing technologies that enable sustainable, scalable space operations and commercial activity from Earth orbit to cislunar space and beyond. The scope includes end-to-end logistics planning and campaign analysis; supply-chain architectures with depots and distribution nodes for propellants, consumables, spares, and feedstocks; lifecycle management and design-for-commonality; interoperability and standardization across commercial and government systems; and techno-economic assessment of industrialization pathways. The TC’s core identity centers on systems engineering for space-based supply chains and industrial ecosystems operating at scale.</a:t>
            </a:r>
          </a:p>
          <a:p>
            <a:pPr marL="285750" indent="-285750">
              <a:buFont typeface="Arial" panose="020B0604020202020204" pitchFamily="34" charset="0"/>
              <a:buChar char="•"/>
            </a:pPr>
            <a:r>
              <a:rPr lang="en-US" sz="1200" dirty="0"/>
              <a:t>SILM covers the integration of ISRU-derived inputs into manufacturing and logistics networks, while ISRU extraction and processing remain with SRE, rendezvous and proximity operations with MORR, and vehicle system design and transportation with LVES</a:t>
            </a:r>
          </a:p>
          <a:p>
            <a:pPr marL="285750" indent="-285750">
              <a:buFont typeface="Arial" panose="020B0604020202020204" pitchFamily="34" charset="0"/>
              <a:buChar char="•"/>
            </a:pPr>
            <a:r>
              <a:rPr lang="en-US" sz="1200" dirty="0"/>
              <a:t>Interacts with other TCs and AIECs to ensure supportability concepts</a:t>
            </a:r>
            <a:br>
              <a:rPr lang="en-US" sz="1100" dirty="0"/>
            </a:br>
            <a:r>
              <a:rPr lang="en-US" sz="1100" dirty="0"/>
              <a:t>permeate across all focus areas</a:t>
            </a:r>
            <a:endParaRPr lang="en-US" sz="1200" dirty="0"/>
          </a:p>
        </p:txBody>
      </p:sp>
      <p:sp>
        <p:nvSpPr>
          <p:cNvPr id="4" name="Slide Number Placeholder 3">
            <a:extLst>
              <a:ext uri="{FF2B5EF4-FFF2-40B4-BE49-F238E27FC236}">
                <a16:creationId xmlns:a16="http://schemas.microsoft.com/office/drawing/2014/main" id="{82C03C8F-7B70-0097-926E-FD31B02FF917}"/>
              </a:ext>
            </a:extLst>
          </p:cNvPr>
          <p:cNvSpPr>
            <a:spLocks noGrp="1"/>
          </p:cNvSpPr>
          <p:nvPr>
            <p:ph type="sldNum" sz="quarter" idx="12"/>
          </p:nvPr>
        </p:nvSpPr>
        <p:spPr/>
        <p:txBody>
          <a:bodyPr/>
          <a:lstStyle/>
          <a:p>
            <a:fld id="{8FBCB428-D880-FC4A-9B26-64132A65A030}" type="slidenum">
              <a:rPr lang="en-US" smtClean="0"/>
              <a:pPr/>
              <a:t>24</a:t>
            </a:fld>
            <a:endParaRPr lang="en-US" dirty="0"/>
          </a:p>
        </p:txBody>
      </p:sp>
      <p:pic>
        <p:nvPicPr>
          <p:cNvPr id="7" name="Picture 6">
            <a:extLst>
              <a:ext uri="{FF2B5EF4-FFF2-40B4-BE49-F238E27FC236}">
                <a16:creationId xmlns:a16="http://schemas.microsoft.com/office/drawing/2014/main" id="{10E11DE8-027E-7FCF-9B0E-0EF8D73DC69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071907" y="523875"/>
            <a:ext cx="3843867" cy="216217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9" name="Picture 8">
            <a:extLst>
              <a:ext uri="{FF2B5EF4-FFF2-40B4-BE49-F238E27FC236}">
                <a16:creationId xmlns:a16="http://schemas.microsoft.com/office/drawing/2014/main" id="{EBB1BDC1-BCC7-BFCE-BCC0-F17D3DBF0A8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970686" y="3170418"/>
            <a:ext cx="5221314" cy="3703320"/>
          </a:xfrm>
          <a:prstGeom prst="rect">
            <a:avLst/>
          </a:prstGeom>
        </p:spPr>
      </p:pic>
    </p:spTree>
    <p:extLst>
      <p:ext uri="{BB962C8B-B14F-4D97-AF65-F5344CB8AC3E}">
        <p14:creationId xmlns:p14="http://schemas.microsoft.com/office/powerpoint/2010/main" val="1411642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394B0-ECD7-BFF1-1A85-7A2A7B304723}"/>
            </a:ext>
          </a:extLst>
        </p:cNvPr>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ED4FA906-064A-A6AD-8A03-F74DC15708C7}"/>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l="25930" r="25930"/>
          <a:stretch/>
        </p:blipFill>
        <p:spPr/>
      </p:pic>
      <p:sp>
        <p:nvSpPr>
          <p:cNvPr id="2" name="Title 1">
            <a:extLst>
              <a:ext uri="{FF2B5EF4-FFF2-40B4-BE49-F238E27FC236}">
                <a16:creationId xmlns:a16="http://schemas.microsoft.com/office/drawing/2014/main" id="{8033C8B8-2433-4773-248D-E3D448DD65A5}"/>
              </a:ext>
            </a:extLst>
          </p:cNvPr>
          <p:cNvSpPr>
            <a:spLocks noGrp="1"/>
          </p:cNvSpPr>
          <p:nvPr>
            <p:ph type="title"/>
          </p:nvPr>
        </p:nvSpPr>
        <p:spPr/>
        <p:txBody>
          <a:bodyPr>
            <a:normAutofit fontScale="90000"/>
          </a:bodyPr>
          <a:lstStyle/>
          <a:p>
            <a:r>
              <a:rPr lang="en-US" dirty="0"/>
              <a:t>Small Satellites, Constellations, and Commoditized Systems (SSCCS TC)</a:t>
            </a:r>
          </a:p>
        </p:txBody>
      </p:sp>
      <p:sp>
        <p:nvSpPr>
          <p:cNvPr id="3" name="Content Placeholder 2">
            <a:extLst>
              <a:ext uri="{FF2B5EF4-FFF2-40B4-BE49-F238E27FC236}">
                <a16:creationId xmlns:a16="http://schemas.microsoft.com/office/drawing/2014/main" id="{3918FAE5-7416-F917-D3AA-EE6A8428A7D2}"/>
              </a:ext>
            </a:extLst>
          </p:cNvPr>
          <p:cNvSpPr>
            <a:spLocks noGrp="1"/>
          </p:cNvSpPr>
          <p:nvPr>
            <p:ph type="body" sz="half" idx="2"/>
          </p:nvPr>
        </p:nvSpPr>
        <p:spPr/>
        <p:txBody>
          <a:bodyPr/>
          <a:lstStyle/>
          <a:p>
            <a:r>
              <a:rPr lang="en-US" dirty="0"/>
              <a:t>Advance design, manufacturing, testing, and operations at scale for CubeSats through microsats and proliferated constellations. Emphasizes modular/open architectures, hosted payloads, rideshare/multi-manifest integration, supply chains, ground automation for fleet ops, reliability at scale, and commercialization/commoditization practices. </a:t>
            </a:r>
          </a:p>
          <a:p>
            <a:pPr marL="285750" indent="-285750">
              <a:buFont typeface="Arial" panose="020B0604020202020204" pitchFamily="34" charset="0"/>
              <a:buChar char="•"/>
            </a:pPr>
            <a:r>
              <a:rPr lang="en-US" sz="1600" dirty="0"/>
              <a:t>Mission-specific payloads and applications reside in other TCs</a:t>
            </a:r>
          </a:p>
          <a:p>
            <a:pPr marL="285750" indent="-285750">
              <a:buFont typeface="Arial" panose="020B0604020202020204" pitchFamily="34" charset="0"/>
              <a:buChar char="•"/>
            </a:pPr>
            <a:r>
              <a:rPr lang="en-US" sz="1600" dirty="0"/>
              <a:t>Collaborates with LVES on commoditized launch and integration with launch systems</a:t>
            </a:r>
          </a:p>
          <a:p>
            <a:pPr marL="285750" indent="-285750">
              <a:buFont typeface="Arial" panose="020B0604020202020204" pitchFamily="34" charset="0"/>
              <a:buChar char="•"/>
            </a:pPr>
            <a:r>
              <a:rPr lang="en-US" sz="1600" dirty="0"/>
              <a:t>Comms/PNT networks and ground data centers are in the purview of CSDI (or equivalent) in ISG</a:t>
            </a:r>
            <a:endParaRPr lang="en-US" sz="1050" dirty="0"/>
          </a:p>
        </p:txBody>
      </p:sp>
      <p:sp>
        <p:nvSpPr>
          <p:cNvPr id="4" name="Slide Number Placeholder 3">
            <a:extLst>
              <a:ext uri="{FF2B5EF4-FFF2-40B4-BE49-F238E27FC236}">
                <a16:creationId xmlns:a16="http://schemas.microsoft.com/office/drawing/2014/main" id="{B3B6DDE8-FCE7-44C3-F612-1E51FA7BD670}"/>
              </a:ext>
            </a:extLst>
          </p:cNvPr>
          <p:cNvSpPr>
            <a:spLocks noGrp="1"/>
          </p:cNvSpPr>
          <p:nvPr>
            <p:ph type="sldNum" sz="quarter" idx="12"/>
          </p:nvPr>
        </p:nvSpPr>
        <p:spPr/>
        <p:txBody>
          <a:bodyPr/>
          <a:lstStyle/>
          <a:p>
            <a:fld id="{8FBCB428-D880-FC4A-9B26-64132A65A030}" type="slidenum">
              <a:rPr lang="en-US" smtClean="0"/>
              <a:pPr/>
              <a:t>25</a:t>
            </a:fld>
            <a:endParaRPr lang="en-US" dirty="0"/>
          </a:p>
        </p:txBody>
      </p:sp>
      <p:pic>
        <p:nvPicPr>
          <p:cNvPr id="5" name="Picture 4">
            <a:extLst>
              <a:ext uri="{FF2B5EF4-FFF2-40B4-BE49-F238E27FC236}">
                <a16:creationId xmlns:a16="http://schemas.microsoft.com/office/drawing/2014/main" id="{96EF3D1C-8D60-8B27-787A-A7B7D21F165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972300" y="3164062"/>
            <a:ext cx="5219700" cy="3702175"/>
          </a:xfrm>
          <a:prstGeom prst="rect">
            <a:avLst/>
          </a:prstGeom>
        </p:spPr>
      </p:pic>
      <p:pic>
        <p:nvPicPr>
          <p:cNvPr id="8" name="Picture 7" descr="Minimalist globe graphic">
            <a:extLst>
              <a:ext uri="{FF2B5EF4-FFF2-40B4-BE49-F238E27FC236}">
                <a16:creationId xmlns:a16="http://schemas.microsoft.com/office/drawing/2014/main" id="{E4271C82-2224-F696-8AC3-0FF0FAE47B8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67775" y="347536"/>
            <a:ext cx="2476500" cy="25046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598234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BCDE6-4B84-6950-3E49-A92ED179DD1A}"/>
            </a:ext>
          </a:extLst>
        </p:cNvPr>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4C273191-DA61-1240-EC74-3035705CAA88}"/>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l="25930" r="25930"/>
          <a:stretch/>
        </p:blipFill>
        <p:spPr/>
      </p:pic>
      <p:sp>
        <p:nvSpPr>
          <p:cNvPr id="2" name="Title 1">
            <a:extLst>
              <a:ext uri="{FF2B5EF4-FFF2-40B4-BE49-F238E27FC236}">
                <a16:creationId xmlns:a16="http://schemas.microsoft.com/office/drawing/2014/main" id="{64FF7D97-7C92-32A3-BBEF-CCC231DAB1DE}"/>
              </a:ext>
            </a:extLst>
          </p:cNvPr>
          <p:cNvSpPr>
            <a:spLocks noGrp="1"/>
          </p:cNvSpPr>
          <p:nvPr>
            <p:ph type="title"/>
          </p:nvPr>
        </p:nvSpPr>
        <p:spPr/>
        <p:txBody>
          <a:bodyPr>
            <a:normAutofit/>
          </a:bodyPr>
          <a:lstStyle/>
          <a:p>
            <a:r>
              <a:rPr lang="en-US" dirty="0"/>
              <a:t>Space Settlement (SpSet TC) [P*]</a:t>
            </a:r>
          </a:p>
        </p:txBody>
      </p:sp>
      <p:sp>
        <p:nvSpPr>
          <p:cNvPr id="3" name="Content Placeholder 2">
            <a:extLst>
              <a:ext uri="{FF2B5EF4-FFF2-40B4-BE49-F238E27FC236}">
                <a16:creationId xmlns:a16="http://schemas.microsoft.com/office/drawing/2014/main" id="{BFFA03F0-7DB6-CCC5-68AD-E138BA6008F4}"/>
              </a:ext>
            </a:extLst>
          </p:cNvPr>
          <p:cNvSpPr>
            <a:spLocks noGrp="1"/>
          </p:cNvSpPr>
          <p:nvPr>
            <p:ph type="body" sz="half" idx="2"/>
          </p:nvPr>
        </p:nvSpPr>
        <p:spPr/>
        <p:txBody>
          <a:bodyPr/>
          <a:lstStyle/>
          <a:p>
            <a:r>
              <a:rPr lang="en-US" dirty="0"/>
              <a:t>Further the long-term expansion of the human species beyond Earth's atmosphere, as an opportunity and benefit for humans of all genders, races and creeds. Space Settlement includes free-floating habitats and habitats on planetary bodies including the Moon, Mars, asteroids, or others. In the pursuit of space settlement, Earth will benefit as well.</a:t>
            </a:r>
          </a:p>
          <a:p>
            <a:pPr marL="285750" indent="-285750">
              <a:buFont typeface="Arial" panose="020B0604020202020204" pitchFamily="34" charset="0"/>
              <a:buChar char="•"/>
            </a:pPr>
            <a:r>
              <a:rPr lang="en-US" sz="1600" dirty="0"/>
              <a:t>Focuses on the needs of humans living off-Earth</a:t>
            </a:r>
          </a:p>
          <a:p>
            <a:pPr marL="285750" indent="-285750">
              <a:buFont typeface="Arial" panose="020B0604020202020204" pitchFamily="34" charset="0"/>
              <a:buChar char="•"/>
            </a:pPr>
            <a:r>
              <a:rPr lang="en-US" sz="1600" dirty="0"/>
              <a:t>Collaborates on habitat design with SAH, on operational concepts for living with MORR, and on survivability and performance issues with SHP</a:t>
            </a:r>
            <a:endParaRPr lang="en-US" sz="1050" dirty="0"/>
          </a:p>
        </p:txBody>
      </p:sp>
      <p:sp>
        <p:nvSpPr>
          <p:cNvPr id="4" name="Slide Number Placeholder 3">
            <a:extLst>
              <a:ext uri="{FF2B5EF4-FFF2-40B4-BE49-F238E27FC236}">
                <a16:creationId xmlns:a16="http://schemas.microsoft.com/office/drawing/2014/main" id="{8006270C-D720-80BB-5AE8-CA6DBA040F38}"/>
              </a:ext>
            </a:extLst>
          </p:cNvPr>
          <p:cNvSpPr>
            <a:spLocks noGrp="1"/>
          </p:cNvSpPr>
          <p:nvPr>
            <p:ph type="sldNum" sz="quarter" idx="12"/>
          </p:nvPr>
        </p:nvSpPr>
        <p:spPr/>
        <p:txBody>
          <a:bodyPr/>
          <a:lstStyle/>
          <a:p>
            <a:fld id="{8FBCB428-D880-FC4A-9B26-64132A65A030}" type="slidenum">
              <a:rPr lang="en-US" smtClean="0"/>
              <a:pPr/>
              <a:t>26</a:t>
            </a:fld>
            <a:endParaRPr lang="en-US" dirty="0"/>
          </a:p>
        </p:txBody>
      </p:sp>
      <p:pic>
        <p:nvPicPr>
          <p:cNvPr id="9" name="Picture 8" descr="View of desert landscape of Mars">
            <a:extLst>
              <a:ext uri="{FF2B5EF4-FFF2-40B4-BE49-F238E27FC236}">
                <a16:creationId xmlns:a16="http://schemas.microsoft.com/office/drawing/2014/main" id="{37FF420A-5F88-983C-58F3-B90649DB958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19128" y="550606"/>
            <a:ext cx="4284380" cy="241005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TextBox 9">
            <a:extLst>
              <a:ext uri="{FF2B5EF4-FFF2-40B4-BE49-F238E27FC236}">
                <a16:creationId xmlns:a16="http://schemas.microsoft.com/office/drawing/2014/main" id="{DC52B5F2-59B7-5B39-3165-B6175286C503}"/>
              </a:ext>
            </a:extLst>
          </p:cNvPr>
          <p:cNvSpPr txBox="1"/>
          <p:nvPr/>
        </p:nvSpPr>
        <p:spPr>
          <a:xfrm>
            <a:off x="2727143" y="6400800"/>
            <a:ext cx="2441542" cy="369332"/>
          </a:xfrm>
          <a:prstGeom prst="rect">
            <a:avLst/>
          </a:prstGeom>
          <a:noFill/>
        </p:spPr>
        <p:txBody>
          <a:bodyPr wrap="square" rtlCol="0">
            <a:spAutoFit/>
          </a:bodyPr>
          <a:lstStyle/>
          <a:p>
            <a:pPr algn="ctr"/>
            <a:r>
              <a:rPr lang="en-US" b="1" dirty="0">
                <a:solidFill>
                  <a:srgbClr val="FF0000"/>
                </a:solidFill>
              </a:rPr>
              <a:t>[P*] = </a:t>
            </a:r>
            <a:r>
              <a:rPr lang="en-US" b="1" i="1" dirty="0">
                <a:solidFill>
                  <a:srgbClr val="FF0000"/>
                </a:solidFill>
              </a:rPr>
              <a:t>Probation</a:t>
            </a:r>
          </a:p>
        </p:txBody>
      </p:sp>
      <p:pic>
        <p:nvPicPr>
          <p:cNvPr id="6" name="Picture 5">
            <a:extLst>
              <a:ext uri="{FF2B5EF4-FFF2-40B4-BE49-F238E27FC236}">
                <a16:creationId xmlns:a16="http://schemas.microsoft.com/office/drawing/2014/main" id="{564A359E-40B1-294E-5665-24C4872DADF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983578" y="3172445"/>
            <a:ext cx="5208422" cy="3694176"/>
          </a:xfrm>
          <a:prstGeom prst="rect">
            <a:avLst/>
          </a:prstGeom>
        </p:spPr>
      </p:pic>
    </p:spTree>
    <p:extLst>
      <p:ext uri="{BB962C8B-B14F-4D97-AF65-F5344CB8AC3E}">
        <p14:creationId xmlns:p14="http://schemas.microsoft.com/office/powerpoint/2010/main" val="2881059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BD290-9A6E-17D3-1251-CC6AECAD4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2C3C6-2086-CD0B-809B-68B8ECA4800B}"/>
              </a:ext>
            </a:extLst>
          </p:cNvPr>
          <p:cNvSpPr>
            <a:spLocks noGrp="1"/>
          </p:cNvSpPr>
          <p:nvPr>
            <p:ph type="title"/>
          </p:nvPr>
        </p:nvSpPr>
        <p:spPr/>
        <p:txBody>
          <a:bodyPr>
            <a:normAutofit/>
          </a:bodyPr>
          <a:lstStyle/>
          <a:p>
            <a:r>
              <a:rPr lang="en-US" dirty="0"/>
              <a:t>Moving to TAD/ISG</a:t>
            </a:r>
          </a:p>
        </p:txBody>
      </p:sp>
      <p:sp>
        <p:nvSpPr>
          <p:cNvPr id="4" name="Slide Number Placeholder 3">
            <a:extLst>
              <a:ext uri="{FF2B5EF4-FFF2-40B4-BE49-F238E27FC236}">
                <a16:creationId xmlns:a16="http://schemas.microsoft.com/office/drawing/2014/main" id="{D4407802-4023-D0FB-9E2A-B3D72645F706}"/>
              </a:ext>
            </a:extLst>
          </p:cNvPr>
          <p:cNvSpPr>
            <a:spLocks noGrp="1"/>
          </p:cNvSpPr>
          <p:nvPr>
            <p:ph type="sldNum" sz="quarter" idx="12"/>
          </p:nvPr>
        </p:nvSpPr>
        <p:spPr/>
        <p:txBody>
          <a:bodyPr/>
          <a:lstStyle/>
          <a:p>
            <a:fld id="{8FBCB428-D880-FC4A-9B26-64132A65A030}" type="slidenum">
              <a:rPr lang="en-US" smtClean="0"/>
              <a:pPr/>
              <a:t>27</a:t>
            </a:fld>
            <a:endParaRPr lang="en-US" dirty="0"/>
          </a:p>
        </p:txBody>
      </p:sp>
      <p:sp>
        <p:nvSpPr>
          <p:cNvPr id="7" name="Content Placeholder 6">
            <a:extLst>
              <a:ext uri="{FF2B5EF4-FFF2-40B4-BE49-F238E27FC236}">
                <a16:creationId xmlns:a16="http://schemas.microsoft.com/office/drawing/2014/main" id="{C96B96ED-097C-2FC8-F12E-722CAAFEBF12}"/>
              </a:ext>
            </a:extLst>
          </p:cNvPr>
          <p:cNvSpPr>
            <a:spLocks noGrp="1"/>
          </p:cNvSpPr>
          <p:nvPr>
            <p:ph idx="1"/>
          </p:nvPr>
        </p:nvSpPr>
        <p:spPr>
          <a:xfrm>
            <a:off x="566929" y="1825624"/>
            <a:ext cx="6276932" cy="4125723"/>
          </a:xfrm>
        </p:spPr>
        <p:txBody>
          <a:bodyPr/>
          <a:lstStyle/>
          <a:p>
            <a:r>
              <a:rPr lang="en-US" sz="2400" b="1" dirty="0"/>
              <a:t>Space Automation and Robotics TC</a:t>
            </a:r>
          </a:p>
          <a:p>
            <a:pPr marL="285750" indent="-285750">
              <a:buFont typeface="Arial" panose="020B0604020202020204" pitchFamily="34" charset="0"/>
              <a:buChar char="•"/>
            </a:pPr>
            <a:r>
              <a:rPr lang="en-US" dirty="0"/>
              <a:t>Addresses the science, engineering, and application of automation and robotic systems for space missions across Earth orbit, cislunar space, planetary environments, and deep space. The scope covers all aspects of robotics including sensing and perception, guidance, navigation and control, manipulation and mobility, artificial intelligence and decision making, system dynamics, modeling and simulation, and human–autonomy interaction, as well as system-level aspects such as architecture, verification and validation, safety, reliability, and mission operations.</a:t>
            </a:r>
          </a:p>
        </p:txBody>
      </p:sp>
      <p:pic>
        <p:nvPicPr>
          <p:cNvPr id="5" name="Picture 4">
            <a:extLst>
              <a:ext uri="{FF2B5EF4-FFF2-40B4-BE49-F238E27FC236}">
                <a16:creationId xmlns:a16="http://schemas.microsoft.com/office/drawing/2014/main" id="{ED5FEBDA-2B2D-48DA-7B0E-F39F12DCB9E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983578" y="3163824"/>
            <a:ext cx="5208422" cy="3694176"/>
          </a:xfrm>
          <a:prstGeom prst="rect">
            <a:avLst/>
          </a:prstGeom>
        </p:spPr>
      </p:pic>
    </p:spTree>
    <p:extLst>
      <p:ext uri="{BB962C8B-B14F-4D97-AF65-F5344CB8AC3E}">
        <p14:creationId xmlns:p14="http://schemas.microsoft.com/office/powerpoint/2010/main" val="3848421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DBE37-F8AC-3A0F-268B-3B56ED24C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4C68F-AF2A-E80E-D041-E82B9488C409}"/>
              </a:ext>
            </a:extLst>
          </p:cNvPr>
          <p:cNvSpPr>
            <a:spLocks noGrp="1"/>
          </p:cNvSpPr>
          <p:nvPr>
            <p:ph type="title"/>
          </p:nvPr>
        </p:nvSpPr>
        <p:spPr/>
        <p:txBody>
          <a:bodyPr>
            <a:normAutofit/>
          </a:bodyPr>
          <a:lstStyle/>
          <a:p>
            <a:r>
              <a:rPr lang="en-US" dirty="0"/>
              <a:t>Moving to AIED</a:t>
            </a:r>
          </a:p>
        </p:txBody>
      </p:sp>
      <p:sp>
        <p:nvSpPr>
          <p:cNvPr id="4" name="Slide Number Placeholder 3">
            <a:extLst>
              <a:ext uri="{FF2B5EF4-FFF2-40B4-BE49-F238E27FC236}">
                <a16:creationId xmlns:a16="http://schemas.microsoft.com/office/drawing/2014/main" id="{02D7FBD2-535A-C930-742A-D65F2B985AEF}"/>
              </a:ext>
            </a:extLst>
          </p:cNvPr>
          <p:cNvSpPr>
            <a:spLocks noGrp="1"/>
          </p:cNvSpPr>
          <p:nvPr>
            <p:ph type="sldNum" sz="quarter" idx="12"/>
          </p:nvPr>
        </p:nvSpPr>
        <p:spPr/>
        <p:txBody>
          <a:bodyPr/>
          <a:lstStyle/>
          <a:p>
            <a:fld id="{8FBCB428-D880-FC4A-9B26-64132A65A030}" type="slidenum">
              <a:rPr lang="en-US" smtClean="0"/>
              <a:pPr/>
              <a:t>28</a:t>
            </a:fld>
            <a:endParaRPr lang="en-US" dirty="0"/>
          </a:p>
        </p:txBody>
      </p:sp>
      <p:sp>
        <p:nvSpPr>
          <p:cNvPr id="7" name="Content Placeholder 6">
            <a:extLst>
              <a:ext uri="{FF2B5EF4-FFF2-40B4-BE49-F238E27FC236}">
                <a16:creationId xmlns:a16="http://schemas.microsoft.com/office/drawing/2014/main" id="{B1A54328-8198-A368-3315-9E67BEB87FCA}"/>
              </a:ext>
            </a:extLst>
          </p:cNvPr>
          <p:cNvSpPr>
            <a:spLocks noGrp="1"/>
          </p:cNvSpPr>
          <p:nvPr>
            <p:ph idx="1"/>
          </p:nvPr>
        </p:nvSpPr>
        <p:spPr>
          <a:xfrm>
            <a:off x="566928" y="1825624"/>
            <a:ext cx="6267505" cy="4125723"/>
          </a:xfrm>
        </p:spPr>
        <p:txBody>
          <a:bodyPr/>
          <a:lstStyle/>
          <a:p>
            <a:r>
              <a:rPr lang="en-US" sz="2400" b="1" dirty="0"/>
              <a:t>Space Systems TC</a:t>
            </a:r>
          </a:p>
          <a:p>
            <a:pPr marL="285750" indent="-285750">
              <a:buFont typeface="Arial" panose="020B0604020202020204" pitchFamily="34" charset="0"/>
              <a:buChar char="•"/>
            </a:pPr>
            <a:r>
              <a:rPr lang="en-US" dirty="0"/>
              <a:t>Fosters the development, application, and operation of general space systems, and addresses and provides informed positions on emerging space system issues. Interests and activities range from science and technology to program management to policy</a:t>
            </a:r>
            <a:endParaRPr lang="en-US" dirty="0">
              <a:solidFill>
                <a:srgbClr val="FF0000"/>
              </a:solidFill>
            </a:endParaRPr>
          </a:p>
          <a:p>
            <a:endParaRPr lang="en-US" dirty="0"/>
          </a:p>
        </p:txBody>
      </p:sp>
      <p:pic>
        <p:nvPicPr>
          <p:cNvPr id="8" name="Picture 7">
            <a:extLst>
              <a:ext uri="{FF2B5EF4-FFF2-40B4-BE49-F238E27FC236}">
                <a16:creationId xmlns:a16="http://schemas.microsoft.com/office/drawing/2014/main" id="{C321D346-EDCE-C912-BB6F-F9786701BF6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983578" y="3163824"/>
            <a:ext cx="5208422" cy="3694176"/>
          </a:xfrm>
          <a:prstGeom prst="rect">
            <a:avLst/>
          </a:prstGeom>
        </p:spPr>
      </p:pic>
    </p:spTree>
    <p:extLst>
      <p:ext uri="{BB962C8B-B14F-4D97-AF65-F5344CB8AC3E}">
        <p14:creationId xmlns:p14="http://schemas.microsoft.com/office/powerpoint/2010/main" val="16151579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87E7F-B7ED-9929-C905-D6F20B621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1C912-2501-1EE8-796E-A8697AB7494E}"/>
              </a:ext>
            </a:extLst>
          </p:cNvPr>
          <p:cNvSpPr>
            <a:spLocks noGrp="1"/>
          </p:cNvSpPr>
          <p:nvPr>
            <p:ph type="title"/>
          </p:nvPr>
        </p:nvSpPr>
        <p:spPr/>
        <p:txBody>
          <a:bodyPr>
            <a:normAutofit/>
          </a:bodyPr>
          <a:lstStyle/>
          <a:p>
            <a:r>
              <a:rPr lang="en-US" dirty="0"/>
              <a:t>Sunsetting</a:t>
            </a:r>
          </a:p>
        </p:txBody>
      </p:sp>
      <p:sp>
        <p:nvSpPr>
          <p:cNvPr id="4" name="Slide Number Placeholder 3">
            <a:extLst>
              <a:ext uri="{FF2B5EF4-FFF2-40B4-BE49-F238E27FC236}">
                <a16:creationId xmlns:a16="http://schemas.microsoft.com/office/drawing/2014/main" id="{2255D025-CFF3-53E4-D6E1-0B01DDB0C46A}"/>
              </a:ext>
            </a:extLst>
          </p:cNvPr>
          <p:cNvSpPr>
            <a:spLocks noGrp="1"/>
          </p:cNvSpPr>
          <p:nvPr>
            <p:ph type="sldNum" sz="quarter" idx="12"/>
          </p:nvPr>
        </p:nvSpPr>
        <p:spPr/>
        <p:txBody>
          <a:bodyPr/>
          <a:lstStyle/>
          <a:p>
            <a:fld id="{8FBCB428-D880-FC4A-9B26-64132A65A030}" type="slidenum">
              <a:rPr lang="en-US" smtClean="0"/>
              <a:pPr/>
              <a:t>29</a:t>
            </a:fld>
            <a:endParaRPr lang="en-US" dirty="0"/>
          </a:p>
        </p:txBody>
      </p:sp>
      <p:sp>
        <p:nvSpPr>
          <p:cNvPr id="7" name="Content Placeholder 6">
            <a:extLst>
              <a:ext uri="{FF2B5EF4-FFF2-40B4-BE49-F238E27FC236}">
                <a16:creationId xmlns:a16="http://schemas.microsoft.com/office/drawing/2014/main" id="{5970967B-1386-2B4A-4E70-8C76E4E6B760}"/>
              </a:ext>
            </a:extLst>
          </p:cNvPr>
          <p:cNvSpPr>
            <a:spLocks noGrp="1"/>
          </p:cNvSpPr>
          <p:nvPr>
            <p:ph idx="1"/>
          </p:nvPr>
        </p:nvSpPr>
        <p:spPr>
          <a:xfrm>
            <a:off x="566928" y="1825624"/>
            <a:ext cx="6258078" cy="4125723"/>
          </a:xfrm>
        </p:spPr>
        <p:txBody>
          <a:bodyPr/>
          <a:lstStyle/>
          <a:p>
            <a:r>
              <a:rPr lang="en-US" sz="2400" b="1" dirty="0"/>
              <a:t>Space Tethers TC</a:t>
            </a:r>
          </a:p>
          <a:p>
            <a:pPr marL="285750" indent="-285750">
              <a:buFont typeface="Arial" panose="020B0604020202020204" pitchFamily="34" charset="0"/>
              <a:buChar char="•"/>
            </a:pPr>
            <a:r>
              <a:rPr lang="en-US" i="1" dirty="0"/>
              <a:t>Active</a:t>
            </a:r>
            <a:r>
              <a:rPr lang="en-US" dirty="0"/>
              <a:t> members whose interests include power and propulsion applications will transfer to the Propulsion and Energy Group (PEG)</a:t>
            </a:r>
          </a:p>
          <a:p>
            <a:pPr marL="285750" indent="-285750">
              <a:buFont typeface="Arial" panose="020B0604020202020204" pitchFamily="34" charset="0"/>
              <a:buChar char="•"/>
            </a:pPr>
            <a:r>
              <a:rPr lang="en-US" i="1" dirty="0"/>
              <a:t>Active</a:t>
            </a:r>
            <a:r>
              <a:rPr lang="en-US" dirty="0"/>
              <a:t> members whose interests include space debris removal applications will have the opportunity to participate in standing up </a:t>
            </a:r>
            <a:r>
              <a:rPr lang="en-US" dirty="0">
                <a:latin typeface="Figtree"/>
              </a:rPr>
              <a:t>Space Domain Awareness and Orbital Sustainability (SDAOS)</a:t>
            </a:r>
          </a:p>
          <a:p>
            <a:pPr marL="285750" indent="-285750">
              <a:buFont typeface="Arial" panose="020B0604020202020204" pitchFamily="34" charset="0"/>
              <a:buChar char="•"/>
            </a:pPr>
            <a:r>
              <a:rPr lang="en-US" dirty="0"/>
              <a:t>Chair &amp; Vice Chair, Gonzalo Sanchez-Arriaga and Hirohisa Kojima, become special SMG Deputies, responsible for facilitating transition of members (including themselves) and technology to their new homes</a:t>
            </a:r>
            <a:endParaRPr lang="en-US" dirty="0">
              <a:solidFill>
                <a:srgbClr val="FF0000"/>
              </a:solidFill>
            </a:endParaRPr>
          </a:p>
        </p:txBody>
      </p:sp>
      <p:pic>
        <p:nvPicPr>
          <p:cNvPr id="5" name="Picture 4">
            <a:extLst>
              <a:ext uri="{FF2B5EF4-FFF2-40B4-BE49-F238E27FC236}">
                <a16:creationId xmlns:a16="http://schemas.microsoft.com/office/drawing/2014/main" id="{986F3B6D-B5DD-878B-B63E-CBAF0ECBE5D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961633" y="3163824"/>
            <a:ext cx="5230367" cy="3694176"/>
          </a:xfrm>
          <a:prstGeom prst="rect">
            <a:avLst/>
          </a:prstGeom>
        </p:spPr>
      </p:pic>
      <p:sp>
        <p:nvSpPr>
          <p:cNvPr id="3" name="Rectangle 2">
            <a:extLst>
              <a:ext uri="{FF2B5EF4-FFF2-40B4-BE49-F238E27FC236}">
                <a16:creationId xmlns:a16="http://schemas.microsoft.com/office/drawing/2014/main" id="{CA2D6A11-032B-B1A8-F738-EB6E0A4F0CAD}"/>
              </a:ext>
            </a:extLst>
          </p:cNvPr>
          <p:cNvSpPr/>
          <p:nvPr/>
        </p:nvSpPr>
        <p:spPr>
          <a:xfrm>
            <a:off x="540478" y="5358481"/>
            <a:ext cx="6355165" cy="9905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Tethers are an </a:t>
            </a:r>
            <a:r>
              <a:rPr lang="en-US" i="1" dirty="0"/>
              <a:t>important part of the AIAA technical community</a:t>
            </a:r>
            <a:r>
              <a:rPr lang="en-US" dirty="0"/>
              <a:t>,</a:t>
            </a:r>
            <a:br>
              <a:rPr lang="en-US" dirty="0"/>
            </a:br>
            <a:r>
              <a:rPr lang="en-US" dirty="0"/>
              <a:t>just not as a standalone entity</a:t>
            </a:r>
          </a:p>
        </p:txBody>
      </p:sp>
    </p:spTree>
    <p:extLst>
      <p:ext uri="{BB962C8B-B14F-4D97-AF65-F5344CB8AC3E}">
        <p14:creationId xmlns:p14="http://schemas.microsoft.com/office/powerpoint/2010/main" val="23031921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790F7-3F72-A4C4-95AF-AA5001F6B337}"/>
            </a:ext>
          </a:extLst>
        </p:cNvPr>
        <p:cNvGrpSpPr/>
        <p:nvPr/>
      </p:nvGrpSpPr>
      <p:grpSpPr>
        <a:xfrm>
          <a:off x="0" y="0"/>
          <a:ext cx="0" cy="0"/>
          <a:chOff x="0" y="0"/>
          <a:chExt cx="0" cy="0"/>
        </a:xfrm>
      </p:grpSpPr>
      <p:pic>
        <p:nvPicPr>
          <p:cNvPr id="27" name="Picture Placeholder 26">
            <a:extLst>
              <a:ext uri="{FF2B5EF4-FFF2-40B4-BE49-F238E27FC236}">
                <a16:creationId xmlns:a16="http://schemas.microsoft.com/office/drawing/2014/main" id="{A4230586-6B65-8892-E9BD-A16B73F161D6}"/>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l="25841" r="25841"/>
          <a:stretch/>
        </p:blipFill>
        <p:spPr/>
      </p:pic>
      <p:sp>
        <p:nvSpPr>
          <p:cNvPr id="2" name="Title 1">
            <a:extLst>
              <a:ext uri="{FF2B5EF4-FFF2-40B4-BE49-F238E27FC236}">
                <a16:creationId xmlns:a16="http://schemas.microsoft.com/office/drawing/2014/main" id="{F43498DB-92C8-BFAF-D5E8-85D6CBD26662}"/>
              </a:ext>
            </a:extLst>
          </p:cNvPr>
          <p:cNvSpPr>
            <a:spLocks noGrp="1"/>
          </p:cNvSpPr>
          <p:nvPr>
            <p:ph type="title"/>
          </p:nvPr>
        </p:nvSpPr>
        <p:spPr/>
        <p:txBody>
          <a:bodyPr>
            <a:normAutofit/>
          </a:bodyPr>
          <a:lstStyle/>
          <a:p>
            <a:r>
              <a:rPr lang="en-US" dirty="0"/>
              <a:t>Missile Systems TC</a:t>
            </a:r>
            <a:br>
              <a:rPr lang="en-US" dirty="0"/>
            </a:br>
            <a:r>
              <a:rPr lang="en-US" i="1" dirty="0"/>
              <a:t>(No Change)</a:t>
            </a:r>
          </a:p>
        </p:txBody>
      </p:sp>
      <p:sp>
        <p:nvSpPr>
          <p:cNvPr id="3" name="Content Placeholder 2">
            <a:extLst>
              <a:ext uri="{FF2B5EF4-FFF2-40B4-BE49-F238E27FC236}">
                <a16:creationId xmlns:a16="http://schemas.microsoft.com/office/drawing/2014/main" id="{BEFAAF81-C503-CC9F-FB2E-258FA6353018}"/>
              </a:ext>
            </a:extLst>
          </p:cNvPr>
          <p:cNvSpPr>
            <a:spLocks noGrp="1"/>
          </p:cNvSpPr>
          <p:nvPr>
            <p:ph type="body" sz="half" idx="2"/>
          </p:nvPr>
        </p:nvSpPr>
        <p:spPr/>
        <p:txBody>
          <a:bodyPr/>
          <a:lstStyle/>
          <a:p>
            <a:r>
              <a:rPr lang="en-US" dirty="0"/>
              <a:t>Promotes engineering and rationale for development and operation of tactical and strategic, offensive, and defensive missile systems.</a:t>
            </a:r>
          </a:p>
        </p:txBody>
      </p:sp>
      <p:sp>
        <p:nvSpPr>
          <p:cNvPr id="4" name="Slide Number Placeholder 3">
            <a:extLst>
              <a:ext uri="{FF2B5EF4-FFF2-40B4-BE49-F238E27FC236}">
                <a16:creationId xmlns:a16="http://schemas.microsoft.com/office/drawing/2014/main" id="{6267F03E-F8F7-C18F-88F4-8FA2A5A17820}"/>
              </a:ext>
            </a:extLst>
          </p:cNvPr>
          <p:cNvSpPr>
            <a:spLocks noGrp="1"/>
          </p:cNvSpPr>
          <p:nvPr>
            <p:ph type="sldNum" sz="quarter" idx="12"/>
          </p:nvPr>
        </p:nvSpPr>
        <p:spPr/>
        <p:txBody>
          <a:bodyPr/>
          <a:lstStyle/>
          <a:p>
            <a:fld id="{8FBCB428-D880-FC4A-9B26-64132A65A030}" type="slidenum">
              <a:rPr lang="en-US" smtClean="0"/>
              <a:pPr/>
              <a:t>30</a:t>
            </a:fld>
            <a:endParaRPr lang="en-US" dirty="0"/>
          </a:p>
        </p:txBody>
      </p:sp>
      <p:pic>
        <p:nvPicPr>
          <p:cNvPr id="9" name="Picture 8" descr="Long exposure of a rocket launch">
            <a:extLst>
              <a:ext uri="{FF2B5EF4-FFF2-40B4-BE49-F238E27FC236}">
                <a16:creationId xmlns:a16="http://schemas.microsoft.com/office/drawing/2014/main" id="{EF53A20A-3CBA-D874-431C-67E933AEB0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00403" y="225826"/>
            <a:ext cx="3833046" cy="274377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5" name="Picture 14">
            <a:extLst>
              <a:ext uri="{FF2B5EF4-FFF2-40B4-BE49-F238E27FC236}">
                <a16:creationId xmlns:a16="http://schemas.microsoft.com/office/drawing/2014/main" id="{29984B99-9C66-CBC5-7517-2355AD09CC0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00568" y="3177496"/>
            <a:ext cx="5204596" cy="3691462"/>
          </a:xfrm>
          <a:prstGeom prst="rect">
            <a:avLst/>
          </a:prstGeom>
        </p:spPr>
      </p:pic>
    </p:spTree>
    <p:extLst>
      <p:ext uri="{BB962C8B-B14F-4D97-AF65-F5344CB8AC3E}">
        <p14:creationId xmlns:p14="http://schemas.microsoft.com/office/powerpoint/2010/main" val="3244933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EB6E6-4DFB-4079-5386-8E3397C31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3B33A-8CBF-0720-9116-1D1BA2CC322A}"/>
              </a:ext>
            </a:extLst>
          </p:cNvPr>
          <p:cNvSpPr>
            <a:spLocks noGrp="1"/>
          </p:cNvSpPr>
          <p:nvPr>
            <p:ph type="title"/>
          </p:nvPr>
        </p:nvSpPr>
        <p:spPr/>
        <p:txBody>
          <a:bodyPr>
            <a:normAutofit fontScale="90000"/>
          </a:bodyPr>
          <a:lstStyle/>
          <a:p>
            <a:r>
              <a:rPr lang="en-US" dirty="0"/>
              <a:t>Weapons Systems Effectiveness TC</a:t>
            </a:r>
            <a:br>
              <a:rPr lang="en-US" dirty="0"/>
            </a:br>
            <a:r>
              <a:rPr lang="en-US" i="1" dirty="0"/>
              <a:t>(No Change)</a:t>
            </a:r>
          </a:p>
        </p:txBody>
      </p:sp>
      <p:pic>
        <p:nvPicPr>
          <p:cNvPr id="27" name="Picture Placeholder 26">
            <a:extLst>
              <a:ext uri="{FF2B5EF4-FFF2-40B4-BE49-F238E27FC236}">
                <a16:creationId xmlns:a16="http://schemas.microsoft.com/office/drawing/2014/main" id="{FB665799-EED2-BCAD-8D0A-D5567735E357}"/>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l="25841" r="25841"/>
          <a:stretch/>
        </p:blipFill>
        <p:spPr/>
      </p:pic>
      <p:sp>
        <p:nvSpPr>
          <p:cNvPr id="3" name="Content Placeholder 2">
            <a:extLst>
              <a:ext uri="{FF2B5EF4-FFF2-40B4-BE49-F238E27FC236}">
                <a16:creationId xmlns:a16="http://schemas.microsoft.com/office/drawing/2014/main" id="{96226E2E-7B25-B4AE-C1D0-35D2DB4D6A66}"/>
              </a:ext>
            </a:extLst>
          </p:cNvPr>
          <p:cNvSpPr>
            <a:spLocks noGrp="1"/>
          </p:cNvSpPr>
          <p:nvPr>
            <p:ph type="body" sz="half" idx="2"/>
          </p:nvPr>
        </p:nvSpPr>
        <p:spPr/>
        <p:txBody>
          <a:bodyPr/>
          <a:lstStyle/>
          <a:p>
            <a:r>
              <a:rPr lang="en-US" dirty="0"/>
              <a:t>Develops and promotes the science and technology of predicting, measuring, evaluating, and improving the lethality, or effectiveness, of weapon systems.</a:t>
            </a:r>
            <a:endParaRPr lang="en-US" sz="1050" dirty="0">
              <a:solidFill>
                <a:srgbClr val="FF0000"/>
              </a:solidFill>
            </a:endParaRPr>
          </a:p>
        </p:txBody>
      </p:sp>
      <p:sp>
        <p:nvSpPr>
          <p:cNvPr id="4" name="Slide Number Placeholder 3">
            <a:extLst>
              <a:ext uri="{FF2B5EF4-FFF2-40B4-BE49-F238E27FC236}">
                <a16:creationId xmlns:a16="http://schemas.microsoft.com/office/drawing/2014/main" id="{281D25F8-7039-D6ED-34FC-48EE5A4A3324}"/>
              </a:ext>
            </a:extLst>
          </p:cNvPr>
          <p:cNvSpPr>
            <a:spLocks noGrp="1"/>
          </p:cNvSpPr>
          <p:nvPr>
            <p:ph type="sldNum" sz="quarter" idx="12"/>
          </p:nvPr>
        </p:nvSpPr>
        <p:spPr/>
        <p:txBody>
          <a:bodyPr/>
          <a:lstStyle/>
          <a:p>
            <a:fld id="{8FBCB428-D880-FC4A-9B26-64132A65A030}" type="slidenum">
              <a:rPr lang="en-US" smtClean="0"/>
              <a:pPr/>
              <a:t>31</a:t>
            </a:fld>
            <a:endParaRPr lang="en-US" dirty="0"/>
          </a:p>
        </p:txBody>
      </p:sp>
      <p:pic>
        <p:nvPicPr>
          <p:cNvPr id="6" name="Picture 5" descr="Formulas on a background">
            <a:extLst>
              <a:ext uri="{FF2B5EF4-FFF2-40B4-BE49-F238E27FC236}">
                <a16:creationId xmlns:a16="http://schemas.microsoft.com/office/drawing/2014/main" id="{3C2899B8-CB54-D890-FCA5-CA151320B1E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88126" y="217149"/>
            <a:ext cx="3657600" cy="27432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F0679F87-EFB3-0AE0-6E6F-34679B434AA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980903" y="3171758"/>
            <a:ext cx="5211097" cy="3696073"/>
          </a:xfrm>
          <a:prstGeom prst="rect">
            <a:avLst/>
          </a:prstGeom>
        </p:spPr>
      </p:pic>
    </p:spTree>
    <p:extLst>
      <p:ext uri="{BB962C8B-B14F-4D97-AF65-F5344CB8AC3E}">
        <p14:creationId xmlns:p14="http://schemas.microsoft.com/office/powerpoint/2010/main" val="1228091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2" name="Group 161">
            <a:extLst>
              <a:ext uri="{FF2B5EF4-FFF2-40B4-BE49-F238E27FC236}">
                <a16:creationId xmlns:a16="http://schemas.microsoft.com/office/drawing/2014/main" id="{7930977A-2B84-D882-1F59-BBA67B9ED76F}"/>
              </a:ext>
            </a:extLst>
          </p:cNvPr>
          <p:cNvGrpSpPr/>
          <p:nvPr/>
        </p:nvGrpSpPr>
        <p:grpSpPr>
          <a:xfrm>
            <a:off x="4932714" y="4393751"/>
            <a:ext cx="3048000" cy="1119673"/>
            <a:chOff x="4507853" y="4510685"/>
            <a:chExt cx="3048000" cy="1119673"/>
          </a:xfrm>
        </p:grpSpPr>
        <p:sp>
          <p:nvSpPr>
            <p:cNvPr id="158" name="Rectangle 157" descr="Earth as a particle with gold and blue">
              <a:extLst>
                <a:ext uri="{FF2B5EF4-FFF2-40B4-BE49-F238E27FC236}">
                  <a16:creationId xmlns:a16="http://schemas.microsoft.com/office/drawing/2014/main" id="{B299755C-F3CC-AF8B-3140-CAAA0C6B5B6A}"/>
                </a:ext>
              </a:extLst>
            </p:cNvPr>
            <p:cNvSpPr>
              <a:spLocks noChangeAspect="1"/>
            </p:cNvSpPr>
            <p:nvPr/>
          </p:nvSpPr>
          <p:spPr bwMode="auto">
            <a:xfrm>
              <a:off x="4507853" y="4510685"/>
              <a:ext cx="3048000" cy="1119673"/>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w="317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Arial" charset="0"/>
                  <a:ea typeface="ＭＳ Ｐゴシック" pitchFamily="80" charset="-128"/>
                  <a:cs typeface="+mn-cs"/>
                </a:rPr>
                <a:t>Mission Operations, Rendezvous, and Rescue</a:t>
              </a:r>
            </a:p>
          </p:txBody>
        </p:sp>
        <p:grpSp>
          <p:nvGrpSpPr>
            <p:cNvPr id="89" name="Group 88">
              <a:extLst>
                <a:ext uri="{FF2B5EF4-FFF2-40B4-BE49-F238E27FC236}">
                  <a16:creationId xmlns:a16="http://schemas.microsoft.com/office/drawing/2014/main" id="{8B48A607-52C6-DBE2-6D98-5D81AD4193DC}"/>
                </a:ext>
              </a:extLst>
            </p:cNvPr>
            <p:cNvGrpSpPr/>
            <p:nvPr/>
          </p:nvGrpSpPr>
          <p:grpSpPr>
            <a:xfrm>
              <a:off x="6150756" y="4765722"/>
              <a:ext cx="609601" cy="830632"/>
              <a:chOff x="4409087" y="4177482"/>
              <a:chExt cx="457200" cy="622974"/>
            </a:xfrm>
          </p:grpSpPr>
          <p:pic>
            <p:nvPicPr>
              <p:cNvPr id="7" name="Picture 6">
                <a:extLst>
                  <a:ext uri="{FF2B5EF4-FFF2-40B4-BE49-F238E27FC236}">
                    <a16:creationId xmlns:a16="http://schemas.microsoft.com/office/drawing/2014/main" id="{2F02A779-6728-A465-7BA0-CAED025536F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409087" y="4177482"/>
                <a:ext cx="457200" cy="457200"/>
              </a:xfrm>
              <a:prstGeom prst="rect">
                <a:avLst/>
              </a:prstGeom>
              <a:ln>
                <a:solidFill>
                  <a:schemeClr val="bg1"/>
                </a:solidFill>
              </a:ln>
            </p:spPr>
          </p:pic>
          <p:sp>
            <p:nvSpPr>
              <p:cNvPr id="71" name="TextBox 70">
                <a:extLst>
                  <a:ext uri="{FF2B5EF4-FFF2-40B4-BE49-F238E27FC236}">
                    <a16:creationId xmlns:a16="http://schemas.microsoft.com/office/drawing/2014/main" id="{1426530A-FD92-DCE4-107F-2369255E21F9}"/>
                  </a:ext>
                </a:extLst>
              </p:cNvPr>
              <p:cNvSpPr txBox="1"/>
              <p:nvPr/>
            </p:nvSpPr>
            <p:spPr>
              <a:xfrm>
                <a:off x="4409087" y="4638873"/>
                <a:ext cx="457200" cy="161583"/>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Pate</a:t>
                </a:r>
              </a:p>
            </p:txBody>
          </p:sp>
        </p:grpSp>
        <p:grpSp>
          <p:nvGrpSpPr>
            <p:cNvPr id="161" name="Group 160">
              <a:extLst>
                <a:ext uri="{FF2B5EF4-FFF2-40B4-BE49-F238E27FC236}">
                  <a16:creationId xmlns:a16="http://schemas.microsoft.com/office/drawing/2014/main" id="{124A3360-2446-63C2-167F-211D00E3C6B7}"/>
                </a:ext>
              </a:extLst>
            </p:cNvPr>
            <p:cNvGrpSpPr/>
            <p:nvPr/>
          </p:nvGrpSpPr>
          <p:grpSpPr>
            <a:xfrm>
              <a:off x="6837829" y="4765722"/>
              <a:ext cx="621560" cy="825602"/>
              <a:chOff x="6875361" y="4765722"/>
              <a:chExt cx="621560" cy="825602"/>
            </a:xfrm>
          </p:grpSpPr>
          <p:pic>
            <p:nvPicPr>
              <p:cNvPr id="160" name="Picture 159">
                <a:extLst>
                  <a:ext uri="{FF2B5EF4-FFF2-40B4-BE49-F238E27FC236}">
                    <a16:creationId xmlns:a16="http://schemas.microsoft.com/office/drawing/2014/main" id="{73A2B0FB-9974-2DAB-DB1D-FA1317CB65F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76976" y="4765722"/>
                <a:ext cx="612648" cy="612648"/>
              </a:xfrm>
              <a:prstGeom prst="rect">
                <a:avLst/>
              </a:prstGeom>
              <a:ln>
                <a:solidFill>
                  <a:schemeClr val="bg1"/>
                </a:solidFill>
              </a:ln>
            </p:spPr>
          </p:pic>
          <p:sp>
            <p:nvSpPr>
              <p:cNvPr id="72" name="TextBox 71">
                <a:extLst>
                  <a:ext uri="{FF2B5EF4-FFF2-40B4-BE49-F238E27FC236}">
                    <a16:creationId xmlns:a16="http://schemas.microsoft.com/office/drawing/2014/main" id="{98DEF511-8701-EA07-7BC8-1A133C6B3F47}"/>
                  </a:ext>
                </a:extLst>
              </p:cNvPr>
              <p:cNvSpPr txBox="1"/>
              <p:nvPr/>
            </p:nvSpPr>
            <p:spPr>
              <a:xfrm>
                <a:off x="6875361" y="5375880"/>
                <a:ext cx="621560"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Douglas</a:t>
                </a:r>
              </a:p>
            </p:txBody>
          </p:sp>
        </p:grpSp>
      </p:grpSp>
      <p:sp>
        <p:nvSpPr>
          <p:cNvPr id="4" name="Slide Number Placeholder 3">
            <a:extLst>
              <a:ext uri="{FF2B5EF4-FFF2-40B4-BE49-F238E27FC236}">
                <a16:creationId xmlns:a16="http://schemas.microsoft.com/office/drawing/2014/main" id="{C32041A5-14C9-AED8-C21E-061A4AE7635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86D440-F702-449A-AAC2-9ACFF17038B8}"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0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2" name="Title 1">
            <a:extLst>
              <a:ext uri="{FF2B5EF4-FFF2-40B4-BE49-F238E27FC236}">
                <a16:creationId xmlns:a16="http://schemas.microsoft.com/office/drawing/2014/main" id="{36E24D77-DD42-0214-7D55-BE5CB9EEEFD5}"/>
              </a:ext>
            </a:extLst>
          </p:cNvPr>
          <p:cNvSpPr>
            <a:spLocks noGrp="1"/>
          </p:cNvSpPr>
          <p:nvPr>
            <p:ph type="title"/>
          </p:nvPr>
        </p:nvSpPr>
        <p:spPr/>
        <p:txBody>
          <a:bodyPr anchor="t"/>
          <a:lstStyle/>
          <a:p>
            <a:r>
              <a:rPr lang="en-US" sz="3867" b="1" dirty="0">
                <a:solidFill>
                  <a:schemeClr val="bg1"/>
                </a:solidFill>
              </a:rPr>
              <a:t>The Refreshed SMG</a:t>
            </a:r>
          </a:p>
        </p:txBody>
      </p:sp>
      <p:grpSp>
        <p:nvGrpSpPr>
          <p:cNvPr id="164" name="Group 163">
            <a:extLst>
              <a:ext uri="{FF2B5EF4-FFF2-40B4-BE49-F238E27FC236}">
                <a16:creationId xmlns:a16="http://schemas.microsoft.com/office/drawing/2014/main" id="{C54EA76B-9A1D-E97E-B63C-7E14DE59B742}"/>
              </a:ext>
            </a:extLst>
          </p:cNvPr>
          <p:cNvGrpSpPr/>
          <p:nvPr/>
        </p:nvGrpSpPr>
        <p:grpSpPr>
          <a:xfrm>
            <a:off x="8101341" y="4386928"/>
            <a:ext cx="3048000" cy="1127345"/>
            <a:chOff x="7848674" y="4417258"/>
            <a:chExt cx="3048000" cy="1127345"/>
          </a:xfrm>
        </p:grpSpPr>
        <p:sp>
          <p:nvSpPr>
            <p:cNvPr id="127" name="Rectangle 126">
              <a:extLst>
                <a:ext uri="{FF2B5EF4-FFF2-40B4-BE49-F238E27FC236}">
                  <a16:creationId xmlns:a16="http://schemas.microsoft.com/office/drawing/2014/main" id="{FE7197B7-9B18-C0FC-50C2-CE70090B8F5D}"/>
                </a:ext>
              </a:extLst>
            </p:cNvPr>
            <p:cNvSpPr>
              <a:spLocks noChangeAspect="1"/>
            </p:cNvSpPr>
            <p:nvPr/>
          </p:nvSpPr>
          <p:spPr bwMode="auto">
            <a:xfrm>
              <a:off x="7848674" y="4417258"/>
              <a:ext cx="3048000" cy="1119673"/>
            </a:xfrm>
            <a:prstGeom prst="rect">
              <a:avLst/>
            </a:prstGeom>
            <a:blipFill>
              <a:blip r:embed="rId5" cstate="email">
                <a:extLst>
                  <a:ext uri="{28A0092B-C50C-407E-A947-70E740481C1C}">
                    <a14:useLocalDpi xmlns:a14="http://schemas.microsoft.com/office/drawing/2010/main"/>
                  </a:ext>
                </a:extLst>
              </a:blip>
              <a:stretch>
                <a:fillRect/>
              </a:stretch>
            </a:blipFill>
            <a:ln w="317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Arial" charset="0"/>
                  <a:ea typeface="ＭＳ Ｐゴシック" pitchFamily="80" charset="-128"/>
                  <a:cs typeface="+mn-cs"/>
                </a:rPr>
                <a:t>Space Resources Exploitation</a:t>
              </a:r>
            </a:p>
          </p:txBody>
        </p:sp>
        <p:grpSp>
          <p:nvGrpSpPr>
            <p:cNvPr id="163" name="Group 162">
              <a:extLst>
                <a:ext uri="{FF2B5EF4-FFF2-40B4-BE49-F238E27FC236}">
                  <a16:creationId xmlns:a16="http://schemas.microsoft.com/office/drawing/2014/main" id="{77B9B75D-E713-8E6A-66B5-B321505E29D8}"/>
                </a:ext>
              </a:extLst>
            </p:cNvPr>
            <p:cNvGrpSpPr/>
            <p:nvPr/>
          </p:nvGrpSpPr>
          <p:grpSpPr>
            <a:xfrm>
              <a:off x="8015276" y="4716511"/>
              <a:ext cx="612648" cy="828092"/>
              <a:chOff x="8015276" y="4716511"/>
              <a:chExt cx="612648" cy="828092"/>
            </a:xfrm>
          </p:grpSpPr>
          <p:sp>
            <p:nvSpPr>
              <p:cNvPr id="73" name="TextBox 72">
                <a:extLst>
                  <a:ext uri="{FF2B5EF4-FFF2-40B4-BE49-F238E27FC236}">
                    <a16:creationId xmlns:a16="http://schemas.microsoft.com/office/drawing/2014/main" id="{E583F29C-1E9B-278C-1D11-069608880BDC}"/>
                  </a:ext>
                </a:extLst>
              </p:cNvPr>
              <p:cNvSpPr txBox="1"/>
              <p:nvPr/>
            </p:nvSpPr>
            <p:spPr>
              <a:xfrm>
                <a:off x="8015276" y="5329159"/>
                <a:ext cx="612648"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Moses</a:t>
                </a:r>
              </a:p>
            </p:txBody>
          </p:sp>
          <p:pic>
            <p:nvPicPr>
              <p:cNvPr id="23" name="Picture 22">
                <a:extLst>
                  <a:ext uri="{FF2B5EF4-FFF2-40B4-BE49-F238E27FC236}">
                    <a16:creationId xmlns:a16="http://schemas.microsoft.com/office/drawing/2014/main" id="{DD08EAA7-73A8-E9FD-8485-E75ABA7A4FA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015276" y="4716511"/>
                <a:ext cx="612648" cy="612648"/>
              </a:xfrm>
              <a:prstGeom prst="rect">
                <a:avLst/>
              </a:prstGeom>
              <a:ln>
                <a:solidFill>
                  <a:schemeClr val="bg1"/>
                </a:solidFill>
              </a:ln>
            </p:spPr>
          </p:pic>
        </p:grpSp>
        <p:grpSp>
          <p:nvGrpSpPr>
            <p:cNvPr id="134" name="Group 133">
              <a:extLst>
                <a:ext uri="{FF2B5EF4-FFF2-40B4-BE49-F238E27FC236}">
                  <a16:creationId xmlns:a16="http://schemas.microsoft.com/office/drawing/2014/main" id="{C13185A9-4023-FC6F-6326-6D93DB3106B8}"/>
                </a:ext>
              </a:extLst>
            </p:cNvPr>
            <p:cNvGrpSpPr/>
            <p:nvPr/>
          </p:nvGrpSpPr>
          <p:grpSpPr>
            <a:xfrm>
              <a:off x="10164536" y="4713557"/>
              <a:ext cx="612648" cy="825044"/>
              <a:chOff x="10103120" y="4713557"/>
              <a:chExt cx="612648" cy="825044"/>
            </a:xfrm>
          </p:grpSpPr>
          <p:sp>
            <p:nvSpPr>
              <p:cNvPr id="74" name="TextBox 73">
                <a:extLst>
                  <a:ext uri="{FF2B5EF4-FFF2-40B4-BE49-F238E27FC236}">
                    <a16:creationId xmlns:a16="http://schemas.microsoft.com/office/drawing/2014/main" id="{4202007F-E18F-A123-4EB2-67A4C516B3A7}"/>
                  </a:ext>
                </a:extLst>
              </p:cNvPr>
              <p:cNvSpPr txBox="1"/>
              <p:nvPr/>
            </p:nvSpPr>
            <p:spPr>
              <a:xfrm>
                <a:off x="10103120" y="5323157"/>
                <a:ext cx="612648"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Incoming</a:t>
                </a:r>
              </a:p>
            </p:txBody>
          </p:sp>
          <p:sp>
            <p:nvSpPr>
              <p:cNvPr id="24" name="Rectangle 23">
                <a:extLst>
                  <a:ext uri="{FF2B5EF4-FFF2-40B4-BE49-F238E27FC236}">
                    <a16:creationId xmlns:a16="http://schemas.microsoft.com/office/drawing/2014/main" id="{58D7F5B8-58C5-0BAD-7D17-70E046BBDDF1}"/>
                  </a:ext>
                </a:extLst>
              </p:cNvPr>
              <p:cNvSpPr/>
              <p:nvPr/>
            </p:nvSpPr>
            <p:spPr bwMode="auto">
              <a:xfrm>
                <a:off x="10127004" y="4713557"/>
                <a:ext cx="560832" cy="6096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rPr>
                  <a:t>Photo</a:t>
                </a:r>
                <a:br>
                  <a:rPr kumimoji="0" lang="en-US" sz="8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rPr>
                </a:br>
                <a:r>
                  <a:rPr kumimoji="0" lang="en-US" sz="8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rPr>
                  <a:t>Not</a:t>
                </a:r>
                <a:br>
                  <a:rPr kumimoji="0" lang="en-US" sz="8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rPr>
                </a:br>
                <a:r>
                  <a:rPr kumimoji="0" lang="en-US" sz="8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rPr>
                  <a:t>A</a:t>
                </a:r>
                <a:r>
                  <a:rPr kumimoji="0" lang="en-US" sz="8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rPr>
                  <a:t>vail</a:t>
                </a:r>
              </a:p>
            </p:txBody>
          </p:sp>
        </p:grpSp>
      </p:grpSp>
      <p:grpSp>
        <p:nvGrpSpPr>
          <p:cNvPr id="170" name="Group 169">
            <a:extLst>
              <a:ext uri="{FF2B5EF4-FFF2-40B4-BE49-F238E27FC236}">
                <a16:creationId xmlns:a16="http://schemas.microsoft.com/office/drawing/2014/main" id="{24738547-9DB9-979D-C0C2-76351B1010F8}"/>
              </a:ext>
            </a:extLst>
          </p:cNvPr>
          <p:cNvGrpSpPr/>
          <p:nvPr/>
        </p:nvGrpSpPr>
        <p:grpSpPr>
          <a:xfrm>
            <a:off x="4874322" y="3127309"/>
            <a:ext cx="3048000" cy="1119674"/>
            <a:chOff x="4590984" y="2317754"/>
            <a:chExt cx="3048000" cy="1119674"/>
          </a:xfrm>
        </p:grpSpPr>
        <p:sp>
          <p:nvSpPr>
            <p:cNvPr id="118" name="Rectangle 117">
              <a:extLst>
                <a:ext uri="{FF2B5EF4-FFF2-40B4-BE49-F238E27FC236}">
                  <a16:creationId xmlns:a16="http://schemas.microsoft.com/office/drawing/2014/main" id="{78C9981E-34E4-C7CC-FF5E-C4B6AC9E2CA1}"/>
                </a:ext>
              </a:extLst>
            </p:cNvPr>
            <p:cNvSpPr>
              <a:spLocks noChangeAspect="1"/>
            </p:cNvSpPr>
            <p:nvPr/>
          </p:nvSpPr>
          <p:spPr bwMode="auto">
            <a:xfrm>
              <a:off x="4590984" y="2317754"/>
              <a:ext cx="3048000" cy="1119674"/>
            </a:xfrm>
            <a:prstGeom prst="rect">
              <a:avLst/>
            </a:prstGeom>
            <a:blipFill>
              <a:blip r:embed="rId7" cstate="email">
                <a:extLst>
                  <a:ext uri="{28A0092B-C50C-407E-A947-70E740481C1C}">
                    <a14:useLocalDpi xmlns:a14="http://schemas.microsoft.com/office/drawing/2010/main"/>
                  </a:ext>
                </a:extLst>
              </a:blip>
              <a:stretch>
                <a:fillRect/>
              </a:stretch>
            </a:blipFill>
            <a:ln w="317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33" b="0" i="0" u="none" strike="noStrike" kern="1200" cap="none" spc="0" normalizeH="0" baseline="0" noProof="0" dirty="0">
                  <a:ln>
                    <a:noFill/>
                  </a:ln>
                  <a:solidFill>
                    <a:srgbClr val="000000"/>
                  </a:solidFill>
                  <a:effectLst/>
                  <a:uLnTx/>
                  <a:uFillTx/>
                  <a:latin typeface="Arial" panose="020B0604020202020204" pitchFamily="34" charset="0"/>
                  <a:ea typeface="ＭＳ Ｐゴシック" pitchFamily="80" charset="-128"/>
                  <a:cs typeface="Arial" panose="020B0604020202020204" pitchFamily="34" charset="0"/>
                </a:rPr>
                <a:t>Small Satellites,</a:t>
              </a:r>
              <a:br>
                <a:rPr kumimoji="0" lang="en-US" sz="1333" b="0" i="0" u="none" strike="noStrike" kern="1200" cap="none" spc="0" normalizeH="0" baseline="0" noProof="0" dirty="0">
                  <a:ln>
                    <a:noFill/>
                  </a:ln>
                  <a:solidFill>
                    <a:srgbClr val="000000"/>
                  </a:solidFill>
                  <a:effectLst/>
                  <a:uLnTx/>
                  <a:uFillTx/>
                  <a:latin typeface="Arial" panose="020B0604020202020204" pitchFamily="34" charset="0"/>
                  <a:ea typeface="ＭＳ Ｐゴシック" pitchFamily="80" charset="-128"/>
                  <a:cs typeface="Arial" panose="020B0604020202020204" pitchFamily="34" charset="0"/>
                </a:rPr>
              </a:br>
              <a:r>
                <a:rPr kumimoji="0" lang="en-US" sz="1333" b="0" i="0" u="none" strike="noStrike" kern="1200" cap="none" spc="0" normalizeH="0" baseline="0" noProof="0" dirty="0">
                  <a:ln>
                    <a:noFill/>
                  </a:ln>
                  <a:solidFill>
                    <a:srgbClr val="000000"/>
                  </a:solidFill>
                  <a:effectLst/>
                  <a:uLnTx/>
                  <a:uFillTx/>
                  <a:latin typeface="Arial" panose="020B0604020202020204" pitchFamily="34" charset="0"/>
                  <a:ea typeface="ＭＳ Ｐゴシック" pitchFamily="80" charset="-128"/>
                  <a:cs typeface="Arial" panose="020B0604020202020204" pitchFamily="34" charset="0"/>
                </a:rPr>
                <a:t>Constellations, &amp; </a:t>
              </a:r>
              <a:br>
                <a:rPr kumimoji="0" lang="en-US" sz="1333" b="0" i="0" u="none" strike="noStrike" kern="1200" cap="none" spc="0" normalizeH="0" baseline="0" noProof="0" dirty="0">
                  <a:ln>
                    <a:noFill/>
                  </a:ln>
                  <a:solidFill>
                    <a:srgbClr val="000000"/>
                  </a:solidFill>
                  <a:effectLst/>
                  <a:uLnTx/>
                  <a:uFillTx/>
                  <a:latin typeface="Arial" panose="020B0604020202020204" pitchFamily="34" charset="0"/>
                  <a:ea typeface="ＭＳ Ｐゴシック" pitchFamily="80" charset="-128"/>
                  <a:cs typeface="Arial" panose="020B0604020202020204" pitchFamily="34" charset="0"/>
                </a:rPr>
              </a:br>
              <a:r>
                <a:rPr kumimoji="0" lang="en-US" sz="1333" b="0" i="0" u="none" strike="noStrike" kern="1200" cap="none" spc="0" normalizeH="0" baseline="0" noProof="0" dirty="0">
                  <a:ln>
                    <a:noFill/>
                  </a:ln>
                  <a:solidFill>
                    <a:srgbClr val="000000"/>
                  </a:solidFill>
                  <a:effectLst/>
                  <a:uLnTx/>
                  <a:uFillTx/>
                  <a:latin typeface="Arial" panose="020B0604020202020204" pitchFamily="34" charset="0"/>
                  <a:ea typeface="ＭＳ Ｐゴシック" pitchFamily="80" charset="-128"/>
                  <a:cs typeface="Arial" panose="020B0604020202020204" pitchFamily="34" charset="0"/>
                </a:rPr>
                <a:t>Commoditized</a:t>
              </a:r>
              <a:br>
                <a:rPr kumimoji="0" lang="en-US" sz="1333" b="0" i="0" u="none" strike="noStrike" kern="1200" cap="none" spc="0" normalizeH="0" baseline="0" noProof="0" dirty="0">
                  <a:ln>
                    <a:noFill/>
                  </a:ln>
                  <a:solidFill>
                    <a:srgbClr val="000000"/>
                  </a:solidFill>
                  <a:effectLst/>
                  <a:uLnTx/>
                  <a:uFillTx/>
                  <a:latin typeface="Arial" panose="020B0604020202020204" pitchFamily="34" charset="0"/>
                  <a:ea typeface="ＭＳ Ｐゴシック" pitchFamily="80" charset="-128"/>
                  <a:cs typeface="Arial" panose="020B0604020202020204" pitchFamily="34" charset="0"/>
                </a:rPr>
              </a:br>
              <a:r>
                <a:rPr kumimoji="0" lang="en-US" sz="1333" b="0" i="0" u="none" strike="noStrike" kern="1200" cap="none" spc="0" normalizeH="0" baseline="0" noProof="0" dirty="0">
                  <a:ln>
                    <a:noFill/>
                  </a:ln>
                  <a:solidFill>
                    <a:srgbClr val="000000"/>
                  </a:solidFill>
                  <a:effectLst/>
                  <a:uLnTx/>
                  <a:uFillTx/>
                  <a:latin typeface="Arial" panose="020B0604020202020204" pitchFamily="34" charset="0"/>
                  <a:ea typeface="ＭＳ Ｐゴシック" pitchFamily="80" charset="-128"/>
                  <a:cs typeface="Arial" panose="020B0604020202020204" pitchFamily="34" charset="0"/>
                </a:rPr>
                <a:t>Systems </a:t>
              </a:r>
            </a:p>
          </p:txBody>
        </p:sp>
        <p:grpSp>
          <p:nvGrpSpPr>
            <p:cNvPr id="91" name="Group 90">
              <a:extLst>
                <a:ext uri="{FF2B5EF4-FFF2-40B4-BE49-F238E27FC236}">
                  <a16:creationId xmlns:a16="http://schemas.microsoft.com/office/drawing/2014/main" id="{26D92909-C54A-B57E-7FCA-0BEC9C592D38}"/>
                </a:ext>
              </a:extLst>
            </p:cNvPr>
            <p:cNvGrpSpPr/>
            <p:nvPr/>
          </p:nvGrpSpPr>
          <p:grpSpPr>
            <a:xfrm>
              <a:off x="6206594" y="2542273"/>
              <a:ext cx="567349" cy="837466"/>
              <a:chOff x="1885808" y="4280119"/>
              <a:chExt cx="425512" cy="628099"/>
            </a:xfrm>
          </p:grpSpPr>
          <p:pic>
            <p:nvPicPr>
              <p:cNvPr id="48" name="Picture 47">
                <a:extLst>
                  <a:ext uri="{FF2B5EF4-FFF2-40B4-BE49-F238E27FC236}">
                    <a16:creationId xmlns:a16="http://schemas.microsoft.com/office/drawing/2014/main" id="{292D3501-F7CC-2ED0-3106-AA5D42C8FAF5}"/>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1894246" y="4280119"/>
                <a:ext cx="410794" cy="457200"/>
              </a:xfrm>
              <a:prstGeom prst="rect">
                <a:avLst/>
              </a:prstGeom>
              <a:ln>
                <a:solidFill>
                  <a:schemeClr val="tx1"/>
                </a:solidFill>
              </a:ln>
            </p:spPr>
          </p:pic>
          <p:sp>
            <p:nvSpPr>
              <p:cNvPr id="64" name="TextBox 63">
                <a:extLst>
                  <a:ext uri="{FF2B5EF4-FFF2-40B4-BE49-F238E27FC236}">
                    <a16:creationId xmlns:a16="http://schemas.microsoft.com/office/drawing/2014/main" id="{3CD2DB00-1C64-8508-2465-BEC783226CE9}"/>
                  </a:ext>
                </a:extLst>
              </p:cNvPr>
              <p:cNvSpPr txBox="1"/>
              <p:nvPr/>
            </p:nvSpPr>
            <p:spPr>
              <a:xfrm>
                <a:off x="1885808" y="4746635"/>
                <a:ext cx="425512" cy="161583"/>
              </a:xfrm>
              <a:prstGeom prst="rect">
                <a:avLst/>
              </a:prstGeom>
              <a:solidFill>
                <a:schemeClr val="tx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ptos" panose="02110004020202020204"/>
                    <a:ea typeface="+mn-ea"/>
                    <a:cs typeface="+mn-cs"/>
                  </a:rPr>
                  <a:t>Statham</a:t>
                </a:r>
              </a:p>
            </p:txBody>
          </p:sp>
        </p:grpSp>
        <p:grpSp>
          <p:nvGrpSpPr>
            <p:cNvPr id="46" name="Group 45">
              <a:extLst>
                <a:ext uri="{FF2B5EF4-FFF2-40B4-BE49-F238E27FC236}">
                  <a16:creationId xmlns:a16="http://schemas.microsoft.com/office/drawing/2014/main" id="{42009A60-45DC-CE25-21A9-6C7BC2C5CD56}"/>
                </a:ext>
              </a:extLst>
            </p:cNvPr>
            <p:cNvGrpSpPr/>
            <p:nvPr/>
          </p:nvGrpSpPr>
          <p:grpSpPr>
            <a:xfrm>
              <a:off x="6914601" y="2543273"/>
              <a:ext cx="567350" cy="836468"/>
              <a:chOff x="6846233" y="2543273"/>
              <a:chExt cx="567350" cy="836468"/>
            </a:xfrm>
          </p:grpSpPr>
          <p:sp>
            <p:nvSpPr>
              <p:cNvPr id="65" name="TextBox 64">
                <a:extLst>
                  <a:ext uri="{FF2B5EF4-FFF2-40B4-BE49-F238E27FC236}">
                    <a16:creationId xmlns:a16="http://schemas.microsoft.com/office/drawing/2014/main" id="{071CB813-8FB6-761C-91EB-0AA12EF44EF6}"/>
                  </a:ext>
                </a:extLst>
              </p:cNvPr>
              <p:cNvSpPr txBox="1"/>
              <p:nvPr/>
            </p:nvSpPr>
            <p:spPr>
              <a:xfrm>
                <a:off x="6846233" y="3164297"/>
                <a:ext cx="567350" cy="215444"/>
              </a:xfrm>
              <a:prstGeom prst="rect">
                <a:avLst/>
              </a:prstGeom>
              <a:solidFill>
                <a:schemeClr val="tx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ptos" panose="02110004020202020204"/>
                    <a:ea typeface="+mn-ea"/>
                    <a:cs typeface="+mn-cs"/>
                  </a:rPr>
                  <a:t>Dahir</a:t>
                </a:r>
              </a:p>
            </p:txBody>
          </p:sp>
          <p:pic>
            <p:nvPicPr>
              <p:cNvPr id="45" name="Picture 44">
                <a:extLst>
                  <a:ext uri="{FF2B5EF4-FFF2-40B4-BE49-F238E27FC236}">
                    <a16:creationId xmlns:a16="http://schemas.microsoft.com/office/drawing/2014/main" id="{1338A2A9-829E-4BB4-CECA-59EB91D0DC3B}"/>
                  </a:ext>
                </a:extLst>
              </p:cNvPr>
              <p:cNvPicPr>
                <a:picLocks noChangeAspect="1"/>
              </p:cNvPicPr>
              <p:nvPr/>
            </p:nvPicPr>
            <p:blipFill>
              <a:blip r:embed="rId9" cstate="email">
                <a:extLst>
                  <a:ext uri="{28A0092B-C50C-407E-A947-70E740481C1C}">
                    <a14:useLocalDpi xmlns:a14="http://schemas.microsoft.com/office/drawing/2010/main"/>
                  </a:ext>
                </a:extLst>
              </a:blip>
              <a:srcRect/>
              <a:stretch>
                <a:fillRect/>
              </a:stretch>
            </p:blipFill>
            <p:spPr>
              <a:xfrm>
                <a:off x="6848096" y="2543273"/>
                <a:ext cx="565486" cy="612648"/>
              </a:xfrm>
              <a:prstGeom prst="rect">
                <a:avLst/>
              </a:prstGeom>
              <a:ln>
                <a:solidFill>
                  <a:schemeClr val="tx1"/>
                </a:solidFill>
              </a:ln>
            </p:spPr>
          </p:pic>
        </p:grpSp>
      </p:grpSp>
      <p:grpSp>
        <p:nvGrpSpPr>
          <p:cNvPr id="167" name="Group 166">
            <a:extLst>
              <a:ext uri="{FF2B5EF4-FFF2-40B4-BE49-F238E27FC236}">
                <a16:creationId xmlns:a16="http://schemas.microsoft.com/office/drawing/2014/main" id="{04872459-8110-D220-F42E-6EC166D043DC}"/>
              </a:ext>
            </a:extLst>
          </p:cNvPr>
          <p:cNvGrpSpPr/>
          <p:nvPr/>
        </p:nvGrpSpPr>
        <p:grpSpPr>
          <a:xfrm>
            <a:off x="1644423" y="5673020"/>
            <a:ext cx="3048000" cy="1119673"/>
            <a:chOff x="7848674" y="17736"/>
            <a:chExt cx="3048000" cy="1119673"/>
          </a:xfrm>
        </p:grpSpPr>
        <p:sp>
          <p:nvSpPr>
            <p:cNvPr id="113" name="Rectangle 112">
              <a:extLst>
                <a:ext uri="{FF2B5EF4-FFF2-40B4-BE49-F238E27FC236}">
                  <a16:creationId xmlns:a16="http://schemas.microsoft.com/office/drawing/2014/main" id="{BE105477-2257-97AE-3C41-2E7394A7C8B8}"/>
                </a:ext>
              </a:extLst>
            </p:cNvPr>
            <p:cNvSpPr>
              <a:spLocks noChangeAspect="1"/>
            </p:cNvSpPr>
            <p:nvPr/>
          </p:nvSpPr>
          <p:spPr bwMode="auto">
            <a:xfrm>
              <a:off x="7848674" y="17736"/>
              <a:ext cx="3048000" cy="1119673"/>
            </a:xfrm>
            <a:prstGeom prst="rect">
              <a:avLst/>
            </a:prstGeom>
            <a:blipFill>
              <a:blip r:embed="rId10" cstate="email">
                <a:extLst>
                  <a:ext uri="{28A0092B-C50C-407E-A947-70E740481C1C}">
                    <a14:useLocalDpi xmlns:a14="http://schemas.microsoft.com/office/drawing/2010/main"/>
                  </a:ext>
                </a:extLst>
              </a:blip>
              <a:stretch>
                <a:fillRect/>
              </a:stretch>
            </a:blipFill>
            <a:ln w="317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Arial" charset="0"/>
                  <a:ea typeface="ＭＳ Ｐゴシック" pitchFamily="80" charset="-128"/>
                  <a:cs typeface="+mn-cs"/>
                </a:rPr>
                <a:t>Missile Systems</a:t>
              </a:r>
            </a:p>
          </p:txBody>
        </p:sp>
        <p:grpSp>
          <p:nvGrpSpPr>
            <p:cNvPr id="104" name="Group 103">
              <a:extLst>
                <a:ext uri="{FF2B5EF4-FFF2-40B4-BE49-F238E27FC236}">
                  <a16:creationId xmlns:a16="http://schemas.microsoft.com/office/drawing/2014/main" id="{56A6CD99-0F8F-8626-A4E8-3358851A1FB3}"/>
                </a:ext>
              </a:extLst>
            </p:cNvPr>
            <p:cNvGrpSpPr/>
            <p:nvPr/>
          </p:nvGrpSpPr>
          <p:grpSpPr>
            <a:xfrm>
              <a:off x="10281787" y="306369"/>
              <a:ext cx="571598" cy="826568"/>
              <a:chOff x="10141895" y="306369"/>
              <a:chExt cx="571598" cy="826568"/>
            </a:xfrm>
          </p:grpSpPr>
          <p:pic>
            <p:nvPicPr>
              <p:cNvPr id="98" name="Picture 97">
                <a:extLst>
                  <a:ext uri="{FF2B5EF4-FFF2-40B4-BE49-F238E27FC236}">
                    <a16:creationId xmlns:a16="http://schemas.microsoft.com/office/drawing/2014/main" id="{B8A865C8-6E7D-80F6-8744-CABA0243415E}"/>
                  </a:ext>
                </a:extLst>
              </p:cNvPr>
              <p:cNvPicPr>
                <a:picLocks noChangeAspect="1"/>
              </p:cNvPicPr>
              <p:nvPr/>
            </p:nvPicPr>
            <p:blipFill>
              <a:blip r:embed="rId11" cstate="email">
                <a:extLst>
                  <a:ext uri="{28A0092B-C50C-407E-A947-70E740481C1C}">
                    <a14:useLocalDpi xmlns:a14="http://schemas.microsoft.com/office/drawing/2010/main"/>
                  </a:ext>
                </a:extLst>
              </a:blip>
              <a:srcRect/>
              <a:stretch>
                <a:fillRect/>
              </a:stretch>
            </p:blipFill>
            <p:spPr>
              <a:xfrm>
                <a:off x="10162366" y="306369"/>
                <a:ext cx="538578" cy="612648"/>
              </a:xfrm>
              <a:prstGeom prst="rect">
                <a:avLst/>
              </a:prstGeom>
              <a:solidFill>
                <a:schemeClr val="accent2"/>
              </a:solidFill>
              <a:ln>
                <a:solidFill>
                  <a:schemeClr val="bg1"/>
                </a:solidFill>
              </a:ln>
            </p:spPr>
          </p:pic>
          <p:sp>
            <p:nvSpPr>
              <p:cNvPr id="60" name="TextBox 59">
                <a:extLst>
                  <a:ext uri="{FF2B5EF4-FFF2-40B4-BE49-F238E27FC236}">
                    <a16:creationId xmlns:a16="http://schemas.microsoft.com/office/drawing/2014/main" id="{EFCC8ECF-C740-43D8-0F38-F1039AFF7EB1}"/>
                  </a:ext>
                </a:extLst>
              </p:cNvPr>
              <p:cNvSpPr txBox="1"/>
              <p:nvPr/>
            </p:nvSpPr>
            <p:spPr>
              <a:xfrm>
                <a:off x="10141895" y="917493"/>
                <a:ext cx="571598"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McIntire</a:t>
                </a:r>
              </a:p>
            </p:txBody>
          </p:sp>
        </p:grpSp>
        <p:grpSp>
          <p:nvGrpSpPr>
            <p:cNvPr id="114" name="Group 113">
              <a:extLst>
                <a:ext uri="{FF2B5EF4-FFF2-40B4-BE49-F238E27FC236}">
                  <a16:creationId xmlns:a16="http://schemas.microsoft.com/office/drawing/2014/main" id="{8CCEB2FB-9039-4208-AC14-DFA1465FDB9F}"/>
                </a:ext>
              </a:extLst>
            </p:cNvPr>
            <p:cNvGrpSpPr/>
            <p:nvPr/>
          </p:nvGrpSpPr>
          <p:grpSpPr>
            <a:xfrm>
              <a:off x="9556890" y="307594"/>
              <a:ext cx="695230" cy="825343"/>
              <a:chOff x="9167922" y="307594"/>
              <a:chExt cx="695230" cy="825343"/>
            </a:xfrm>
          </p:grpSpPr>
          <p:sp>
            <p:nvSpPr>
              <p:cNvPr id="61" name="TextBox 60">
                <a:extLst>
                  <a:ext uri="{FF2B5EF4-FFF2-40B4-BE49-F238E27FC236}">
                    <a16:creationId xmlns:a16="http://schemas.microsoft.com/office/drawing/2014/main" id="{2E720E24-8812-6C0F-470A-EAAB57EE1964}"/>
                  </a:ext>
                </a:extLst>
              </p:cNvPr>
              <p:cNvSpPr txBox="1"/>
              <p:nvPr/>
            </p:nvSpPr>
            <p:spPr>
              <a:xfrm>
                <a:off x="9167922" y="917493"/>
                <a:ext cx="695230"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Chynoweth</a:t>
                </a:r>
              </a:p>
            </p:txBody>
          </p:sp>
          <p:pic>
            <p:nvPicPr>
              <p:cNvPr id="112" name="Picture 111">
                <a:extLst>
                  <a:ext uri="{FF2B5EF4-FFF2-40B4-BE49-F238E27FC236}">
                    <a16:creationId xmlns:a16="http://schemas.microsoft.com/office/drawing/2014/main" id="{7C899C8D-0AAD-2BB9-2CDA-94493C9906B4}"/>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9289330" y="307594"/>
                <a:ext cx="459486" cy="612648"/>
              </a:xfrm>
              <a:prstGeom prst="rect">
                <a:avLst/>
              </a:prstGeom>
              <a:ln>
                <a:solidFill>
                  <a:schemeClr val="bg1"/>
                </a:solidFill>
              </a:ln>
            </p:spPr>
          </p:pic>
        </p:grpSp>
      </p:grpSp>
      <p:grpSp>
        <p:nvGrpSpPr>
          <p:cNvPr id="15" name="Group 14">
            <a:extLst>
              <a:ext uri="{FF2B5EF4-FFF2-40B4-BE49-F238E27FC236}">
                <a16:creationId xmlns:a16="http://schemas.microsoft.com/office/drawing/2014/main" id="{9DEF75FD-73E0-5094-A930-0ABF5996158E}"/>
              </a:ext>
            </a:extLst>
          </p:cNvPr>
          <p:cNvGrpSpPr/>
          <p:nvPr/>
        </p:nvGrpSpPr>
        <p:grpSpPr>
          <a:xfrm>
            <a:off x="4882008" y="5673020"/>
            <a:ext cx="3048000" cy="1119673"/>
            <a:chOff x="8120806" y="5493908"/>
            <a:chExt cx="3048000" cy="1119673"/>
          </a:xfrm>
        </p:grpSpPr>
        <p:sp>
          <p:nvSpPr>
            <p:cNvPr id="27" name="Rectangle 26">
              <a:extLst>
                <a:ext uri="{FF2B5EF4-FFF2-40B4-BE49-F238E27FC236}">
                  <a16:creationId xmlns:a16="http://schemas.microsoft.com/office/drawing/2014/main" id="{2C39049F-1F08-168E-2C35-5BC0A981458D}"/>
                </a:ext>
              </a:extLst>
            </p:cNvPr>
            <p:cNvSpPr>
              <a:spLocks noChangeAspect="1"/>
            </p:cNvSpPr>
            <p:nvPr/>
          </p:nvSpPr>
          <p:spPr bwMode="auto">
            <a:xfrm>
              <a:off x="8120806" y="5493908"/>
              <a:ext cx="3048000" cy="1119673"/>
            </a:xfrm>
            <a:prstGeom prst="rect">
              <a:avLst/>
            </a:prstGeom>
            <a:blipFill>
              <a:blip r:embed="rId13" cstate="email">
                <a:extLst>
                  <a:ext uri="{28A0092B-C50C-407E-A947-70E740481C1C}">
                    <a14:useLocalDpi xmlns:a14="http://schemas.microsoft.com/office/drawing/2010/main"/>
                  </a:ext>
                </a:extLst>
              </a:blip>
              <a:stretch>
                <a:fillRect/>
              </a:stretch>
            </a:blipFill>
            <a:ln w="3175" cap="flat" cmpd="sng" algn="ctr">
              <a:noFill/>
              <a:prstDash val="solid"/>
              <a:round/>
              <a:headEnd type="none" w="med" len="med"/>
              <a:tailEnd type="none" w="med" len="med"/>
            </a:ln>
            <a:effectLst/>
          </p:spPr>
          <p:txBody>
            <a:bodyPr vert="horz" wrap="square" lIns="121920" tIns="60960" rIns="121920" bIns="60960" numCol="1" rtlCol="0" anchor="b" anchorCtr="0" compatLnSpc="1">
              <a:prstTxWarp prst="textNoShape">
                <a:avLst/>
              </a:prstTxWarp>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33" b="0" i="0" u="none" strike="noStrike" kern="1200" cap="none" spc="0" normalizeH="0" baseline="0" noProof="0" dirty="0">
                  <a:ln>
                    <a:noFill/>
                  </a:ln>
                  <a:solidFill>
                    <a:srgbClr val="FFFFFF"/>
                  </a:solidFill>
                  <a:effectLst>
                    <a:glow rad="63500">
                      <a:srgbClr val="CC4100">
                        <a:satMod val="175000"/>
                        <a:alpha val="40000"/>
                      </a:srgbClr>
                    </a:glow>
                  </a:effectLst>
                  <a:uLnTx/>
                  <a:uFillTx/>
                  <a:latin typeface="Arial" charset="0"/>
                  <a:ea typeface="ＭＳ Ｐゴシック" pitchFamily="80" charset="-128"/>
                  <a:cs typeface="+mn-cs"/>
                </a:rPr>
                <a:t>Weapon System Effectiveness</a:t>
              </a:r>
            </a:p>
          </p:txBody>
        </p:sp>
        <p:grpSp>
          <p:nvGrpSpPr>
            <p:cNvPr id="81" name="Group 80">
              <a:extLst>
                <a:ext uri="{FF2B5EF4-FFF2-40B4-BE49-F238E27FC236}">
                  <a16:creationId xmlns:a16="http://schemas.microsoft.com/office/drawing/2014/main" id="{A559ED65-C721-FED6-15D8-F9C53CBCDDDE}"/>
                </a:ext>
              </a:extLst>
            </p:cNvPr>
            <p:cNvGrpSpPr/>
            <p:nvPr/>
          </p:nvGrpSpPr>
          <p:grpSpPr>
            <a:xfrm>
              <a:off x="9786223" y="5531121"/>
              <a:ext cx="669427" cy="817028"/>
              <a:chOff x="8087287" y="3073333"/>
              <a:chExt cx="502070" cy="612771"/>
            </a:xfrm>
          </p:grpSpPr>
          <p:pic>
            <p:nvPicPr>
              <p:cNvPr id="26" name="Picture 25" descr="A person in a suit and tie&#10;&#10;Description automatically generated with medium confidence">
                <a:extLst>
                  <a:ext uri="{FF2B5EF4-FFF2-40B4-BE49-F238E27FC236}">
                    <a16:creationId xmlns:a16="http://schemas.microsoft.com/office/drawing/2014/main" id="{D6ACE9F5-57E7-76BC-61EB-F2C2A759DDD6}"/>
                  </a:ext>
                </a:extLst>
              </p:cNvPr>
              <p:cNvPicPr>
                <a:picLocks noChangeAspect="1"/>
              </p:cNvPicPr>
              <p:nvPr/>
            </p:nvPicPr>
            <p:blipFill rotWithShape="1">
              <a:blip r:embed="rId14" cstate="email">
                <a:extLst>
                  <a:ext uri="{28A0092B-C50C-407E-A947-70E740481C1C}">
                    <a14:useLocalDpi xmlns:a14="http://schemas.microsoft.com/office/drawing/2010/main"/>
                  </a:ext>
                </a:extLst>
              </a:blip>
              <a:srcRect/>
              <a:stretch/>
            </p:blipFill>
            <p:spPr>
              <a:xfrm>
                <a:off x="8125672" y="3073333"/>
                <a:ext cx="425868" cy="457200"/>
              </a:xfrm>
              <a:prstGeom prst="rect">
                <a:avLst/>
              </a:prstGeom>
              <a:ln>
                <a:solidFill>
                  <a:schemeClr val="bg1"/>
                </a:solidFill>
              </a:ln>
            </p:spPr>
          </p:pic>
          <p:sp>
            <p:nvSpPr>
              <p:cNvPr id="79" name="TextBox 78">
                <a:extLst>
                  <a:ext uri="{FF2B5EF4-FFF2-40B4-BE49-F238E27FC236}">
                    <a16:creationId xmlns:a16="http://schemas.microsoft.com/office/drawing/2014/main" id="{0011FA44-B584-DB52-55EC-432EBA567DCE}"/>
                  </a:ext>
                </a:extLst>
              </p:cNvPr>
              <p:cNvSpPr txBox="1"/>
              <p:nvPr/>
            </p:nvSpPr>
            <p:spPr>
              <a:xfrm>
                <a:off x="8087287" y="3524521"/>
                <a:ext cx="502070" cy="161583"/>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Mueschke</a:t>
                </a:r>
              </a:p>
            </p:txBody>
          </p:sp>
        </p:grpSp>
        <p:grpSp>
          <p:nvGrpSpPr>
            <p:cNvPr id="133" name="Group 132">
              <a:extLst>
                <a:ext uri="{FF2B5EF4-FFF2-40B4-BE49-F238E27FC236}">
                  <a16:creationId xmlns:a16="http://schemas.microsoft.com/office/drawing/2014/main" id="{DB52A1F3-98A6-DC1A-5C54-5A34597DE8EB}"/>
                </a:ext>
              </a:extLst>
            </p:cNvPr>
            <p:cNvGrpSpPr/>
            <p:nvPr/>
          </p:nvGrpSpPr>
          <p:grpSpPr>
            <a:xfrm>
              <a:off x="10503568" y="5528073"/>
              <a:ext cx="572689" cy="820076"/>
              <a:chOff x="10095256" y="5622193"/>
              <a:chExt cx="572689" cy="820076"/>
            </a:xfrm>
          </p:grpSpPr>
          <p:sp>
            <p:nvSpPr>
              <p:cNvPr id="78" name="TextBox 77">
                <a:extLst>
                  <a:ext uri="{FF2B5EF4-FFF2-40B4-BE49-F238E27FC236}">
                    <a16:creationId xmlns:a16="http://schemas.microsoft.com/office/drawing/2014/main" id="{68E09B0B-14F0-5CCB-7CE0-8EBDEF680155}"/>
                  </a:ext>
                </a:extLst>
              </p:cNvPr>
              <p:cNvSpPr txBox="1"/>
              <p:nvPr/>
            </p:nvSpPr>
            <p:spPr>
              <a:xfrm>
                <a:off x="10095256" y="6226825"/>
                <a:ext cx="572689"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Komives</a:t>
                </a:r>
              </a:p>
            </p:txBody>
          </p:sp>
          <p:pic>
            <p:nvPicPr>
              <p:cNvPr id="132" name="Picture 131">
                <a:extLst>
                  <a:ext uri="{FF2B5EF4-FFF2-40B4-BE49-F238E27FC236}">
                    <a16:creationId xmlns:a16="http://schemas.microsoft.com/office/drawing/2014/main" id="{3A1317C5-1157-0613-F420-60AB77201350}"/>
                  </a:ext>
                </a:extLst>
              </p:cNvPr>
              <p:cNvPicPr>
                <a:picLocks noChangeAspect="1"/>
              </p:cNvPicPr>
              <p:nvPr/>
            </p:nvPicPr>
            <p:blipFill>
              <a:blip r:embed="rId15" cstate="email">
                <a:extLst>
                  <a:ext uri="{28A0092B-C50C-407E-A947-70E740481C1C}">
                    <a14:useLocalDpi xmlns:a14="http://schemas.microsoft.com/office/drawing/2010/main"/>
                  </a:ext>
                </a:extLst>
              </a:blip>
              <a:srcRect/>
              <a:stretch>
                <a:fillRect/>
              </a:stretch>
            </p:blipFill>
            <p:spPr>
              <a:xfrm>
                <a:off x="10108904" y="5622193"/>
                <a:ext cx="546557" cy="612648"/>
              </a:xfrm>
              <a:prstGeom prst="rect">
                <a:avLst/>
              </a:prstGeom>
              <a:ln>
                <a:solidFill>
                  <a:schemeClr val="bg1"/>
                </a:solidFill>
              </a:ln>
            </p:spPr>
          </p:pic>
        </p:grpSp>
      </p:grpSp>
      <p:grpSp>
        <p:nvGrpSpPr>
          <p:cNvPr id="171" name="Group 170">
            <a:extLst>
              <a:ext uri="{FF2B5EF4-FFF2-40B4-BE49-F238E27FC236}">
                <a16:creationId xmlns:a16="http://schemas.microsoft.com/office/drawing/2014/main" id="{FD398EB6-058D-6F30-D483-F3F487346167}"/>
              </a:ext>
            </a:extLst>
          </p:cNvPr>
          <p:cNvGrpSpPr/>
          <p:nvPr/>
        </p:nvGrpSpPr>
        <p:grpSpPr>
          <a:xfrm>
            <a:off x="8046633" y="3128611"/>
            <a:ext cx="3048000" cy="1119673"/>
            <a:chOff x="8174873" y="2963147"/>
            <a:chExt cx="3048000" cy="1119673"/>
          </a:xfrm>
        </p:grpSpPr>
        <p:sp>
          <p:nvSpPr>
            <p:cNvPr id="138" name="Rectangle 137">
              <a:extLst>
                <a:ext uri="{FF2B5EF4-FFF2-40B4-BE49-F238E27FC236}">
                  <a16:creationId xmlns:a16="http://schemas.microsoft.com/office/drawing/2014/main" id="{6196C476-232A-0347-8684-E7A1137072C0}"/>
                </a:ext>
              </a:extLst>
            </p:cNvPr>
            <p:cNvSpPr>
              <a:spLocks noChangeAspect="1"/>
            </p:cNvSpPr>
            <p:nvPr/>
          </p:nvSpPr>
          <p:spPr bwMode="auto">
            <a:xfrm>
              <a:off x="8174873" y="2963147"/>
              <a:ext cx="3048000" cy="1119673"/>
            </a:xfrm>
            <a:prstGeom prst="rect">
              <a:avLst/>
            </a:prstGeom>
            <a:blipFill>
              <a:blip r:embed="rId16" cstate="email">
                <a:extLst>
                  <a:ext uri="{28A0092B-C50C-407E-A947-70E740481C1C}">
                    <a14:useLocalDpi xmlns:a14="http://schemas.microsoft.com/office/drawing/2010/main"/>
                  </a:ext>
                </a:extLst>
              </a:blip>
              <a:stretch>
                <a:fillRect/>
              </a:stretch>
            </a:blipFill>
            <a:ln w="317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33" b="0" i="0" u="none" strike="noStrike" kern="1200" cap="none" spc="0" normalizeH="0" baseline="0" noProof="0" dirty="0">
                  <a:ln>
                    <a:noFill/>
                  </a:ln>
                  <a:solidFill>
                    <a:srgbClr val="FFFFFF"/>
                  </a:solidFill>
                  <a:effectLst>
                    <a:glow rad="63500">
                      <a:srgbClr val="CC4100">
                        <a:satMod val="175000"/>
                        <a:alpha val="40000"/>
                      </a:srgbClr>
                    </a:glow>
                  </a:effectLst>
                  <a:uLnTx/>
                  <a:uFillTx/>
                  <a:latin typeface="Arial" charset="0"/>
                  <a:ea typeface="ＭＳ Ｐゴシック" pitchFamily="80" charset="-128"/>
                  <a:cs typeface="+mn-cs"/>
                </a:rPr>
                <a:t>Space Industrial Logistics and Manufacturing </a:t>
              </a:r>
            </a:p>
          </p:txBody>
        </p:sp>
        <p:grpSp>
          <p:nvGrpSpPr>
            <p:cNvPr id="111" name="Group 110">
              <a:extLst>
                <a:ext uri="{FF2B5EF4-FFF2-40B4-BE49-F238E27FC236}">
                  <a16:creationId xmlns:a16="http://schemas.microsoft.com/office/drawing/2014/main" id="{5DE50391-6847-4891-B6AE-D783C8B570B0}"/>
                </a:ext>
              </a:extLst>
            </p:cNvPr>
            <p:cNvGrpSpPr/>
            <p:nvPr/>
          </p:nvGrpSpPr>
          <p:grpSpPr>
            <a:xfrm>
              <a:off x="9782328" y="3242503"/>
              <a:ext cx="582168" cy="821254"/>
              <a:chOff x="3379876" y="3613666"/>
              <a:chExt cx="436626" cy="615941"/>
            </a:xfrm>
          </p:grpSpPr>
          <p:pic>
            <p:nvPicPr>
              <p:cNvPr id="20" name="Content Placeholder 6" descr="A person in a suit and glasses&#10;&#10;Description automatically generated">
                <a:extLst>
                  <a:ext uri="{FF2B5EF4-FFF2-40B4-BE49-F238E27FC236}">
                    <a16:creationId xmlns:a16="http://schemas.microsoft.com/office/drawing/2014/main" id="{DE6E9F04-F8E2-FB0E-BD74-9021DBEF8AAB}"/>
                  </a:ext>
                </a:extLst>
              </p:cNvPr>
              <p:cNvPicPr>
                <a:picLocks noChangeAspect="1"/>
              </p:cNvPicPr>
              <p:nvPr/>
            </p:nvPicPr>
            <p:blipFill rotWithShape="1">
              <a:blip r:embed="rId17" cstate="email">
                <a:extLst>
                  <a:ext uri="{28A0092B-C50C-407E-A947-70E740481C1C}">
                    <a14:useLocalDpi xmlns:a14="http://schemas.microsoft.com/office/drawing/2010/main"/>
                  </a:ext>
                </a:extLst>
              </a:blip>
              <a:srcRect/>
              <a:stretch/>
            </p:blipFill>
            <p:spPr>
              <a:xfrm>
                <a:off x="3379876" y="3613666"/>
                <a:ext cx="436626" cy="457200"/>
              </a:xfrm>
              <a:prstGeom prst="rect">
                <a:avLst/>
              </a:prstGeom>
              <a:solidFill>
                <a:srgbClr val="E98B01"/>
              </a:solidFill>
              <a:ln>
                <a:solidFill>
                  <a:schemeClr val="bg1"/>
                </a:solidFill>
              </a:ln>
            </p:spPr>
          </p:pic>
          <p:sp>
            <p:nvSpPr>
              <p:cNvPr id="70" name="TextBox 69">
                <a:extLst>
                  <a:ext uri="{FF2B5EF4-FFF2-40B4-BE49-F238E27FC236}">
                    <a16:creationId xmlns:a16="http://schemas.microsoft.com/office/drawing/2014/main" id="{B123F91A-D2E7-D7BF-1842-707606375F52}"/>
                  </a:ext>
                </a:extLst>
              </p:cNvPr>
              <p:cNvSpPr txBox="1"/>
              <p:nvPr/>
            </p:nvSpPr>
            <p:spPr>
              <a:xfrm>
                <a:off x="3379876" y="4068024"/>
                <a:ext cx="436626" cy="161583"/>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Chen</a:t>
                </a:r>
              </a:p>
            </p:txBody>
          </p:sp>
        </p:grpSp>
        <p:grpSp>
          <p:nvGrpSpPr>
            <p:cNvPr id="135" name="Group 134">
              <a:extLst>
                <a:ext uri="{FF2B5EF4-FFF2-40B4-BE49-F238E27FC236}">
                  <a16:creationId xmlns:a16="http://schemas.microsoft.com/office/drawing/2014/main" id="{34F3B321-D398-14D7-75EB-5DE2102C5C4E}"/>
                </a:ext>
              </a:extLst>
            </p:cNvPr>
            <p:cNvGrpSpPr/>
            <p:nvPr/>
          </p:nvGrpSpPr>
          <p:grpSpPr>
            <a:xfrm>
              <a:off x="10478814" y="3242503"/>
              <a:ext cx="614095" cy="825044"/>
              <a:chOff x="10097625" y="4713557"/>
              <a:chExt cx="614095" cy="825044"/>
            </a:xfrm>
          </p:grpSpPr>
          <p:sp>
            <p:nvSpPr>
              <p:cNvPr id="136" name="TextBox 135">
                <a:extLst>
                  <a:ext uri="{FF2B5EF4-FFF2-40B4-BE49-F238E27FC236}">
                    <a16:creationId xmlns:a16="http://schemas.microsoft.com/office/drawing/2014/main" id="{EEA06C4E-67F3-DAC3-0A7D-3B5F77D8F5D4}"/>
                  </a:ext>
                </a:extLst>
              </p:cNvPr>
              <p:cNvSpPr txBox="1"/>
              <p:nvPr/>
            </p:nvSpPr>
            <p:spPr>
              <a:xfrm>
                <a:off x="10097625" y="5323157"/>
                <a:ext cx="614095"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Incoming</a:t>
                </a:r>
              </a:p>
            </p:txBody>
          </p:sp>
          <p:sp>
            <p:nvSpPr>
              <p:cNvPr id="137" name="Rectangle 136">
                <a:extLst>
                  <a:ext uri="{FF2B5EF4-FFF2-40B4-BE49-F238E27FC236}">
                    <a16:creationId xmlns:a16="http://schemas.microsoft.com/office/drawing/2014/main" id="{BC9FDB6A-A891-61CD-1CFF-C34C225534FD}"/>
                  </a:ext>
                </a:extLst>
              </p:cNvPr>
              <p:cNvSpPr/>
              <p:nvPr/>
            </p:nvSpPr>
            <p:spPr bwMode="auto">
              <a:xfrm>
                <a:off x="10123592" y="4713557"/>
                <a:ext cx="560832" cy="6096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rPr>
                  <a:t>Photo</a:t>
                </a:r>
                <a:br>
                  <a:rPr kumimoji="0" lang="en-US" sz="8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rPr>
                </a:br>
                <a:r>
                  <a:rPr kumimoji="0" lang="en-US" sz="8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rPr>
                  <a:t>Not</a:t>
                </a:r>
                <a:br>
                  <a:rPr kumimoji="0" lang="en-US" sz="8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rPr>
                </a:br>
                <a:r>
                  <a:rPr kumimoji="0" lang="en-US" sz="8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rPr>
                  <a:t>A</a:t>
                </a:r>
                <a:r>
                  <a:rPr kumimoji="0" lang="en-US" sz="8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rPr>
                  <a:t>vail</a:t>
                </a:r>
              </a:p>
            </p:txBody>
          </p:sp>
        </p:grpSp>
      </p:grpSp>
      <p:grpSp>
        <p:nvGrpSpPr>
          <p:cNvPr id="169" name="Group 168">
            <a:extLst>
              <a:ext uri="{FF2B5EF4-FFF2-40B4-BE49-F238E27FC236}">
                <a16:creationId xmlns:a16="http://schemas.microsoft.com/office/drawing/2014/main" id="{607DE89A-E386-236F-441D-BE38510F9158}"/>
              </a:ext>
            </a:extLst>
          </p:cNvPr>
          <p:cNvGrpSpPr/>
          <p:nvPr/>
        </p:nvGrpSpPr>
        <p:grpSpPr>
          <a:xfrm>
            <a:off x="4757169" y="529309"/>
            <a:ext cx="3279194" cy="1204601"/>
            <a:chOff x="4475032" y="138827"/>
            <a:chExt cx="3279194" cy="1204601"/>
          </a:xfrm>
        </p:grpSpPr>
        <p:sp>
          <p:nvSpPr>
            <p:cNvPr id="75" name="Rectangle 74">
              <a:extLst>
                <a:ext uri="{FF2B5EF4-FFF2-40B4-BE49-F238E27FC236}">
                  <a16:creationId xmlns:a16="http://schemas.microsoft.com/office/drawing/2014/main" id="{C71A4F3F-C3E8-E150-6359-AA4AB10C0F92}"/>
                </a:ext>
              </a:extLst>
            </p:cNvPr>
            <p:cNvSpPr>
              <a:spLocks noChangeAspect="1"/>
            </p:cNvSpPr>
            <p:nvPr/>
          </p:nvSpPr>
          <p:spPr bwMode="auto">
            <a:xfrm>
              <a:off x="4475032" y="138827"/>
              <a:ext cx="3279194" cy="1204601"/>
            </a:xfrm>
            <a:prstGeom prst="rect">
              <a:avLst/>
            </a:prstGeom>
            <a:blipFill dpi="0" rotWithShape="1">
              <a:blip r:embed="rId18" cstate="email">
                <a:extLst>
                  <a:ext uri="{28A0092B-C50C-407E-A947-70E740481C1C}">
                    <a14:useLocalDpi xmlns:a14="http://schemas.microsoft.com/office/drawing/2010/main"/>
                  </a:ext>
                </a:extLst>
              </a:blip>
              <a:srcRect/>
              <a:stretch>
                <a:fillRect/>
              </a:stretch>
            </a:blipFill>
            <a:ln w="317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lang="en-US" sz="1333" dirty="0">
                  <a:latin typeface="Arial" charset="0"/>
                  <a:ea typeface="ＭＳ Ｐゴシック" pitchFamily="80" charset="-128"/>
                </a:rPr>
                <a:t>Spacefaring Health</a:t>
              </a:r>
              <a:br>
                <a:rPr lang="en-US" sz="1333" dirty="0">
                  <a:latin typeface="Arial" charset="0"/>
                  <a:ea typeface="ＭＳ Ｐゴシック" pitchFamily="80" charset="-128"/>
                </a:rPr>
              </a:br>
              <a:r>
                <a:rPr lang="en-US" sz="1333" dirty="0">
                  <a:latin typeface="Arial" charset="0"/>
                  <a:ea typeface="ＭＳ Ｐゴシック" pitchFamily="80" charset="-128"/>
                </a:rPr>
                <a:t>&amp; Performance</a:t>
              </a:r>
              <a:endParaRPr kumimoji="0" lang="en-US" sz="1333" b="0" i="0" u="none" strike="noStrike" kern="1200" cap="none" spc="0" normalizeH="0" baseline="0" noProof="0" dirty="0">
                <a:ln>
                  <a:noFill/>
                </a:ln>
                <a:effectLst/>
                <a:uLnTx/>
                <a:uFillTx/>
                <a:latin typeface="Arial" charset="0"/>
                <a:ea typeface="ＭＳ Ｐゴシック" pitchFamily="80" charset="-128"/>
                <a:cs typeface="+mn-cs"/>
              </a:endParaRPr>
            </a:p>
          </p:txBody>
        </p:sp>
        <p:grpSp>
          <p:nvGrpSpPr>
            <p:cNvPr id="39" name="Group 38">
              <a:extLst>
                <a:ext uri="{FF2B5EF4-FFF2-40B4-BE49-F238E27FC236}">
                  <a16:creationId xmlns:a16="http://schemas.microsoft.com/office/drawing/2014/main" id="{97B86F43-37A2-500D-1877-7AD04E0AB308}"/>
                </a:ext>
              </a:extLst>
            </p:cNvPr>
            <p:cNvGrpSpPr/>
            <p:nvPr/>
          </p:nvGrpSpPr>
          <p:grpSpPr>
            <a:xfrm>
              <a:off x="6814174" y="333477"/>
              <a:ext cx="758803" cy="814450"/>
              <a:chOff x="475328" y="946833"/>
              <a:chExt cx="569102" cy="610838"/>
            </a:xfrm>
          </p:grpSpPr>
          <p:pic>
            <p:nvPicPr>
              <p:cNvPr id="47" name="Picture 46" descr="A person smiling at the camera&#10;&#10;Description automatically generated">
                <a:extLst>
                  <a:ext uri="{FF2B5EF4-FFF2-40B4-BE49-F238E27FC236}">
                    <a16:creationId xmlns:a16="http://schemas.microsoft.com/office/drawing/2014/main" id="{9E8983A6-4A51-9174-36E8-B53F3D334D79}"/>
                  </a:ext>
                </a:extLst>
              </p:cNvPr>
              <p:cNvPicPr>
                <a:picLocks noChangeAspect="1"/>
              </p:cNvPicPr>
              <p:nvPr/>
            </p:nvPicPr>
            <p:blipFill rotWithShape="1">
              <a:blip r:embed="rId19" cstate="email">
                <a:extLst>
                  <a:ext uri="{28A0092B-C50C-407E-A947-70E740481C1C}">
                    <a14:useLocalDpi xmlns:a14="http://schemas.microsoft.com/office/drawing/2010/main"/>
                  </a:ext>
                </a:extLst>
              </a:blip>
              <a:srcRect/>
              <a:stretch/>
            </p:blipFill>
            <p:spPr>
              <a:xfrm>
                <a:off x="551599" y="946833"/>
                <a:ext cx="416560" cy="457200"/>
              </a:xfrm>
              <a:prstGeom prst="rect">
                <a:avLst/>
              </a:prstGeom>
              <a:ln>
                <a:solidFill>
                  <a:schemeClr val="bg1"/>
                </a:solidFill>
              </a:ln>
            </p:spPr>
          </p:pic>
          <p:sp>
            <p:nvSpPr>
              <p:cNvPr id="49" name="TextBox 48">
                <a:extLst>
                  <a:ext uri="{FF2B5EF4-FFF2-40B4-BE49-F238E27FC236}">
                    <a16:creationId xmlns:a16="http://schemas.microsoft.com/office/drawing/2014/main" id="{DC5A2CFE-FBE0-D7B2-1117-5101E84C95C2}"/>
                  </a:ext>
                </a:extLst>
              </p:cNvPr>
              <p:cNvSpPr txBox="1"/>
              <p:nvPr/>
            </p:nvSpPr>
            <p:spPr>
              <a:xfrm>
                <a:off x="475328" y="1396088"/>
                <a:ext cx="569102" cy="161583"/>
              </a:xfrm>
              <a:prstGeom prst="rect">
                <a:avLst/>
              </a:prstGeom>
              <a:solidFill>
                <a:schemeClr val="tx1"/>
              </a:solidFill>
              <a:ln>
                <a:noFill/>
              </a:ln>
              <a:effectLst>
                <a:softEdge rad="31750"/>
              </a:effectLst>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800" b="0" i="0" u="none" strike="noStrike" cap="none" spc="0" normalizeH="0" baseline="0">
                    <a:ln>
                      <a:noFill/>
                    </a:ln>
                    <a:solidFill>
                      <a:schemeClr val="bg1"/>
                    </a:solidFill>
                    <a:effectLst/>
                    <a:uLnTx/>
                    <a:uFillTx/>
                    <a:latin typeface="Aptos" panose="02110004020202020204"/>
                  </a:defRPr>
                </a:lvl1pPr>
              </a:lstStyle>
              <a:p>
                <a:r>
                  <a:rPr lang="en-US" dirty="0"/>
                  <a:t>Narayanan</a:t>
                </a:r>
              </a:p>
            </p:txBody>
          </p:sp>
        </p:grpSp>
        <p:grpSp>
          <p:nvGrpSpPr>
            <p:cNvPr id="53" name="Group 52">
              <a:extLst>
                <a:ext uri="{FF2B5EF4-FFF2-40B4-BE49-F238E27FC236}">
                  <a16:creationId xmlns:a16="http://schemas.microsoft.com/office/drawing/2014/main" id="{3AAD18A9-084A-5CBB-8CD6-4216E5468B70}"/>
                </a:ext>
              </a:extLst>
            </p:cNvPr>
            <p:cNvGrpSpPr/>
            <p:nvPr/>
          </p:nvGrpSpPr>
          <p:grpSpPr>
            <a:xfrm>
              <a:off x="6223888" y="336835"/>
              <a:ext cx="519378" cy="808437"/>
              <a:chOff x="75141" y="942263"/>
              <a:chExt cx="389534" cy="606328"/>
            </a:xfrm>
          </p:grpSpPr>
          <p:pic>
            <p:nvPicPr>
              <p:cNvPr id="54" name="Picture 53">
                <a:extLst>
                  <a:ext uri="{FF2B5EF4-FFF2-40B4-BE49-F238E27FC236}">
                    <a16:creationId xmlns:a16="http://schemas.microsoft.com/office/drawing/2014/main" id="{7239ED0D-9A83-FC92-DCFF-29DA4E56D736}"/>
                  </a:ext>
                </a:extLst>
              </p:cNvPr>
              <p:cNvPicPr>
                <a:picLocks noChangeAspect="1"/>
              </p:cNvPicPr>
              <p:nvPr/>
            </p:nvPicPr>
            <p:blipFill rotWithShape="1">
              <a:blip r:embed="rId20" cstate="email">
                <a:extLst>
                  <a:ext uri="{28A0092B-C50C-407E-A947-70E740481C1C}">
                    <a14:useLocalDpi xmlns:a14="http://schemas.microsoft.com/office/drawing/2010/main"/>
                  </a:ext>
                </a:extLst>
              </a:blip>
              <a:srcRect/>
              <a:stretch/>
            </p:blipFill>
            <p:spPr>
              <a:xfrm>
                <a:off x="75141" y="942263"/>
                <a:ext cx="388511" cy="457200"/>
              </a:xfrm>
              <a:prstGeom prst="rect">
                <a:avLst/>
              </a:prstGeom>
              <a:ln>
                <a:solidFill>
                  <a:schemeClr val="bg1"/>
                </a:solidFill>
              </a:ln>
            </p:spPr>
          </p:pic>
          <p:sp>
            <p:nvSpPr>
              <p:cNvPr id="55" name="TextBox 54">
                <a:extLst>
                  <a:ext uri="{FF2B5EF4-FFF2-40B4-BE49-F238E27FC236}">
                    <a16:creationId xmlns:a16="http://schemas.microsoft.com/office/drawing/2014/main" id="{A36D84B5-FB55-62F5-8FE1-F05706DCC1F4}"/>
                  </a:ext>
                </a:extLst>
              </p:cNvPr>
              <p:cNvSpPr txBox="1"/>
              <p:nvPr/>
            </p:nvSpPr>
            <p:spPr>
              <a:xfrm>
                <a:off x="81132" y="1387008"/>
                <a:ext cx="383543" cy="161583"/>
              </a:xfrm>
              <a:prstGeom prst="rect">
                <a:avLst/>
              </a:prstGeom>
              <a:solidFill>
                <a:schemeClr val="tx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Aptos" panose="02110004020202020204"/>
                    <a:ea typeface="+mn-ea"/>
                    <a:cs typeface="+mn-cs"/>
                  </a:rPr>
                  <a:t>Nie</a:t>
                </a:r>
              </a:p>
            </p:txBody>
          </p:sp>
        </p:grpSp>
      </p:grpSp>
      <p:grpSp>
        <p:nvGrpSpPr>
          <p:cNvPr id="14" name="Group 13">
            <a:extLst>
              <a:ext uri="{FF2B5EF4-FFF2-40B4-BE49-F238E27FC236}">
                <a16:creationId xmlns:a16="http://schemas.microsoft.com/office/drawing/2014/main" id="{0F3C16DC-F8A3-3EFA-B54B-F927654066C8}"/>
              </a:ext>
            </a:extLst>
          </p:cNvPr>
          <p:cNvGrpSpPr/>
          <p:nvPr/>
        </p:nvGrpSpPr>
        <p:grpSpPr>
          <a:xfrm>
            <a:off x="8055723" y="567069"/>
            <a:ext cx="3048000" cy="1119673"/>
            <a:chOff x="8183963" y="353837"/>
            <a:chExt cx="3048000" cy="1119673"/>
          </a:xfrm>
        </p:grpSpPr>
        <p:sp>
          <p:nvSpPr>
            <p:cNvPr id="142" name="Rectangle 141">
              <a:extLst>
                <a:ext uri="{FF2B5EF4-FFF2-40B4-BE49-F238E27FC236}">
                  <a16:creationId xmlns:a16="http://schemas.microsoft.com/office/drawing/2014/main" id="{417E350E-4011-0E69-467E-7514CE97785F}"/>
                </a:ext>
              </a:extLst>
            </p:cNvPr>
            <p:cNvSpPr>
              <a:spLocks noChangeAspect="1"/>
            </p:cNvSpPr>
            <p:nvPr/>
          </p:nvSpPr>
          <p:spPr bwMode="auto">
            <a:xfrm>
              <a:off x="8183963" y="353837"/>
              <a:ext cx="3048000" cy="1119673"/>
            </a:xfrm>
            <a:prstGeom prst="rect">
              <a:avLst/>
            </a:prstGeom>
            <a:blipFill>
              <a:blip r:embed="rId21" cstate="email">
                <a:extLst>
                  <a:ext uri="{28A0092B-C50C-407E-A947-70E740481C1C}">
                    <a14:useLocalDpi xmlns:a14="http://schemas.microsoft.com/office/drawing/2010/main"/>
                  </a:ext>
                </a:extLst>
              </a:blip>
              <a:stretch>
                <a:fillRect/>
              </a:stretch>
            </a:blipFill>
            <a:ln w="317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Arial" charset="0"/>
                  <a:ea typeface="ＭＳ Ｐゴシック" pitchFamily="80" charset="-128"/>
                  <a:cs typeface="+mn-cs"/>
                </a:rPr>
                <a:t>Launch Vehicle and Entry Systems</a:t>
              </a:r>
            </a:p>
          </p:txBody>
        </p:sp>
        <p:grpSp>
          <p:nvGrpSpPr>
            <p:cNvPr id="97" name="Group 96">
              <a:extLst>
                <a:ext uri="{FF2B5EF4-FFF2-40B4-BE49-F238E27FC236}">
                  <a16:creationId xmlns:a16="http://schemas.microsoft.com/office/drawing/2014/main" id="{333D7C18-E1BA-D03B-9BF6-C63FA11258C4}"/>
                </a:ext>
              </a:extLst>
            </p:cNvPr>
            <p:cNvGrpSpPr/>
            <p:nvPr/>
          </p:nvGrpSpPr>
          <p:grpSpPr>
            <a:xfrm>
              <a:off x="9584740" y="626511"/>
              <a:ext cx="633550" cy="796892"/>
              <a:chOff x="846848" y="4868032"/>
              <a:chExt cx="475162" cy="597670"/>
            </a:xfrm>
          </p:grpSpPr>
          <p:pic>
            <p:nvPicPr>
              <p:cNvPr id="17" name="Picture 2">
                <a:extLst>
                  <a:ext uri="{FF2B5EF4-FFF2-40B4-BE49-F238E27FC236}">
                    <a16:creationId xmlns:a16="http://schemas.microsoft.com/office/drawing/2014/main" id="{3C97B230-1A50-CB3C-EF8D-7E898814D9AD}"/>
                  </a:ext>
                </a:extLst>
              </p:cNvPr>
              <p:cNvPicPr>
                <a:picLocks noChangeAspect="1" noChangeArrowheads="1"/>
              </p:cNvPicPr>
              <p:nvPr/>
            </p:nvPicPr>
            <p:blipFill rotWithShape="1">
              <a:blip r:embed="rId22" cstate="email">
                <a:extLst>
                  <a:ext uri="{28A0092B-C50C-407E-A947-70E740481C1C}">
                    <a14:useLocalDpi xmlns:a14="http://schemas.microsoft.com/office/drawing/2010/main"/>
                  </a:ext>
                </a:extLst>
              </a:blip>
              <a:srcRect/>
              <a:stretch/>
            </p:blipFill>
            <p:spPr bwMode="auto">
              <a:xfrm>
                <a:off x="872362" y="4868032"/>
                <a:ext cx="421498" cy="457200"/>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
            <p:nvSpPr>
              <p:cNvPr id="62" name="TextBox 61">
                <a:extLst>
                  <a:ext uri="{FF2B5EF4-FFF2-40B4-BE49-F238E27FC236}">
                    <a16:creationId xmlns:a16="http://schemas.microsoft.com/office/drawing/2014/main" id="{71FC6C7B-911C-969D-5860-12D268CFBE36}"/>
                  </a:ext>
                </a:extLst>
              </p:cNvPr>
              <p:cNvSpPr txBox="1"/>
              <p:nvPr/>
            </p:nvSpPr>
            <p:spPr>
              <a:xfrm>
                <a:off x="846848" y="5304119"/>
                <a:ext cx="475162" cy="161583"/>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Anilkumar</a:t>
                </a:r>
              </a:p>
            </p:txBody>
          </p:sp>
        </p:grpSp>
        <p:grpSp>
          <p:nvGrpSpPr>
            <p:cNvPr id="13" name="Group 12">
              <a:extLst>
                <a:ext uri="{FF2B5EF4-FFF2-40B4-BE49-F238E27FC236}">
                  <a16:creationId xmlns:a16="http://schemas.microsoft.com/office/drawing/2014/main" id="{A42ED07D-42D9-A6D4-F27D-E44124AF6FA4}"/>
                </a:ext>
              </a:extLst>
            </p:cNvPr>
            <p:cNvGrpSpPr/>
            <p:nvPr/>
          </p:nvGrpSpPr>
          <p:grpSpPr>
            <a:xfrm>
              <a:off x="10547476" y="623575"/>
              <a:ext cx="513524" cy="809372"/>
              <a:chOff x="10547476" y="623575"/>
              <a:chExt cx="513524" cy="809372"/>
            </a:xfrm>
          </p:grpSpPr>
          <p:sp>
            <p:nvSpPr>
              <p:cNvPr id="63" name="TextBox 62">
                <a:extLst>
                  <a:ext uri="{FF2B5EF4-FFF2-40B4-BE49-F238E27FC236}">
                    <a16:creationId xmlns:a16="http://schemas.microsoft.com/office/drawing/2014/main" id="{CD86EF17-6DA0-A572-99A1-82F7A421310E}"/>
                  </a:ext>
                </a:extLst>
              </p:cNvPr>
              <p:cNvSpPr txBox="1"/>
              <p:nvPr/>
            </p:nvSpPr>
            <p:spPr>
              <a:xfrm>
                <a:off x="10547476" y="1217503"/>
                <a:ext cx="513524"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Vinson</a:t>
                </a:r>
              </a:p>
            </p:txBody>
          </p:sp>
          <p:pic>
            <p:nvPicPr>
              <p:cNvPr id="12" name="Picture 11">
                <a:extLst>
                  <a:ext uri="{FF2B5EF4-FFF2-40B4-BE49-F238E27FC236}">
                    <a16:creationId xmlns:a16="http://schemas.microsoft.com/office/drawing/2014/main" id="{0D508E5F-BBF5-B44E-1FD4-F07798680979}"/>
                  </a:ext>
                </a:extLst>
              </p:cNvPr>
              <p:cNvPicPr>
                <a:picLocks noChangeAspect="1"/>
              </p:cNvPicPr>
              <p:nvPr/>
            </p:nvPicPr>
            <p:blipFill>
              <a:blip r:embed="rId23" cstate="email">
                <a:extLst>
                  <a:ext uri="{28A0092B-C50C-407E-A947-70E740481C1C}">
                    <a14:useLocalDpi xmlns:a14="http://schemas.microsoft.com/office/drawing/2010/main"/>
                  </a:ext>
                </a:extLst>
              </a:blip>
              <a:srcRect/>
              <a:stretch>
                <a:fillRect/>
              </a:stretch>
            </p:blipFill>
            <p:spPr>
              <a:xfrm>
                <a:off x="10547476" y="623575"/>
                <a:ext cx="513524" cy="612648"/>
              </a:xfrm>
              <a:prstGeom prst="rect">
                <a:avLst/>
              </a:prstGeom>
              <a:noFill/>
              <a:ln>
                <a:solidFill>
                  <a:schemeClr val="bg1"/>
                </a:solidFill>
              </a:ln>
            </p:spPr>
          </p:pic>
        </p:grpSp>
      </p:grpSp>
      <p:grpSp>
        <p:nvGrpSpPr>
          <p:cNvPr id="21" name="Group 20">
            <a:extLst>
              <a:ext uri="{FF2B5EF4-FFF2-40B4-BE49-F238E27FC236}">
                <a16:creationId xmlns:a16="http://schemas.microsoft.com/office/drawing/2014/main" id="{611D02DC-A276-72A4-58EA-54EE3FED5230}"/>
              </a:ext>
            </a:extLst>
          </p:cNvPr>
          <p:cNvGrpSpPr/>
          <p:nvPr/>
        </p:nvGrpSpPr>
        <p:grpSpPr>
          <a:xfrm>
            <a:off x="4870056" y="1814829"/>
            <a:ext cx="3053420" cy="1121664"/>
            <a:chOff x="4861816" y="1635717"/>
            <a:chExt cx="3053420" cy="1121664"/>
          </a:xfrm>
        </p:grpSpPr>
        <p:sp>
          <p:nvSpPr>
            <p:cNvPr id="82" name="Rectangle 81">
              <a:extLst>
                <a:ext uri="{FF2B5EF4-FFF2-40B4-BE49-F238E27FC236}">
                  <a16:creationId xmlns:a16="http://schemas.microsoft.com/office/drawing/2014/main" id="{75EC92F8-4C49-BB7E-828A-D70D21A6C3EC}"/>
                </a:ext>
              </a:extLst>
            </p:cNvPr>
            <p:cNvSpPr>
              <a:spLocks noChangeAspect="1"/>
            </p:cNvSpPr>
            <p:nvPr/>
          </p:nvSpPr>
          <p:spPr bwMode="auto">
            <a:xfrm>
              <a:off x="4861816" y="1635717"/>
              <a:ext cx="3053420" cy="1121664"/>
            </a:xfrm>
            <a:prstGeom prst="rect">
              <a:avLst/>
            </a:prstGeom>
            <a:blipFill>
              <a:blip r:embed="rId24" cstate="email">
                <a:extLst>
                  <a:ext uri="{28A0092B-C50C-407E-A947-70E740481C1C}">
                    <a14:useLocalDpi xmlns:a14="http://schemas.microsoft.com/office/drawing/2010/main"/>
                  </a:ext>
                </a:extLst>
              </a:blip>
              <a:stretch>
                <a:fillRect/>
              </a:stretch>
            </a:blipFill>
            <a:ln w="317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Arial" charset="0"/>
                  <a:ea typeface="ＭＳ Ｐゴシック" pitchFamily="80" charset="-128"/>
                  <a:cs typeface="+mn-cs"/>
                </a:rPr>
                <a:t>Gravity Dependent Science and Technology </a:t>
              </a:r>
            </a:p>
          </p:txBody>
        </p:sp>
        <p:sp>
          <p:nvSpPr>
            <p:cNvPr id="58" name="TextBox 57">
              <a:extLst>
                <a:ext uri="{FF2B5EF4-FFF2-40B4-BE49-F238E27FC236}">
                  <a16:creationId xmlns:a16="http://schemas.microsoft.com/office/drawing/2014/main" id="{072BB21A-39C0-7596-102A-4D2DA51968BD}"/>
                </a:ext>
              </a:extLst>
            </p:cNvPr>
            <p:cNvSpPr txBox="1"/>
            <p:nvPr/>
          </p:nvSpPr>
          <p:spPr>
            <a:xfrm>
              <a:off x="7167243" y="2528974"/>
              <a:ext cx="607627"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Lee</a:t>
              </a:r>
            </a:p>
          </p:txBody>
        </p:sp>
        <p:grpSp>
          <p:nvGrpSpPr>
            <p:cNvPr id="68" name="Group 67">
              <a:extLst>
                <a:ext uri="{FF2B5EF4-FFF2-40B4-BE49-F238E27FC236}">
                  <a16:creationId xmlns:a16="http://schemas.microsoft.com/office/drawing/2014/main" id="{D648334B-D83E-B801-1FEA-269724E27F24}"/>
                </a:ext>
              </a:extLst>
            </p:cNvPr>
            <p:cNvGrpSpPr/>
            <p:nvPr/>
          </p:nvGrpSpPr>
          <p:grpSpPr>
            <a:xfrm>
              <a:off x="6253345" y="1917374"/>
              <a:ext cx="836508" cy="829935"/>
              <a:chOff x="5907312" y="1495301"/>
              <a:chExt cx="836508" cy="829935"/>
            </a:xfrm>
          </p:grpSpPr>
          <p:sp>
            <p:nvSpPr>
              <p:cNvPr id="59" name="TextBox 58">
                <a:extLst>
                  <a:ext uri="{FF2B5EF4-FFF2-40B4-BE49-F238E27FC236}">
                    <a16:creationId xmlns:a16="http://schemas.microsoft.com/office/drawing/2014/main" id="{7730B168-F10A-BD56-BAF9-01C4208F0156}"/>
                  </a:ext>
                </a:extLst>
              </p:cNvPr>
              <p:cNvSpPr txBox="1"/>
              <p:nvPr/>
            </p:nvSpPr>
            <p:spPr>
              <a:xfrm>
                <a:off x="5907312" y="2109792"/>
                <a:ext cx="836508"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Romero-Calvo</a:t>
                </a:r>
              </a:p>
            </p:txBody>
          </p:sp>
          <p:pic>
            <p:nvPicPr>
              <p:cNvPr id="67" name="Picture 66">
                <a:extLst>
                  <a:ext uri="{FF2B5EF4-FFF2-40B4-BE49-F238E27FC236}">
                    <a16:creationId xmlns:a16="http://schemas.microsoft.com/office/drawing/2014/main" id="{11F53E3E-E791-74D7-EFC3-86C3E07D6CCB}"/>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6087493" y="1495301"/>
                <a:ext cx="476151" cy="612648"/>
              </a:xfrm>
              <a:prstGeom prst="rect">
                <a:avLst/>
              </a:prstGeom>
              <a:noFill/>
              <a:ln>
                <a:solidFill>
                  <a:schemeClr val="bg1"/>
                </a:solidFill>
              </a:ln>
            </p:spPr>
          </p:pic>
        </p:grpSp>
        <p:pic>
          <p:nvPicPr>
            <p:cNvPr id="19" name="Picture 18">
              <a:extLst>
                <a:ext uri="{FF2B5EF4-FFF2-40B4-BE49-F238E27FC236}">
                  <a16:creationId xmlns:a16="http://schemas.microsoft.com/office/drawing/2014/main" id="{D6D4520D-E804-9DC5-5387-55FC5E190030}"/>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7236904" y="1915905"/>
              <a:ext cx="474802" cy="612648"/>
            </a:xfrm>
            <a:prstGeom prst="rect">
              <a:avLst/>
            </a:prstGeom>
            <a:noFill/>
            <a:ln>
              <a:solidFill>
                <a:schemeClr val="bg1"/>
              </a:solidFill>
            </a:ln>
          </p:spPr>
        </p:pic>
      </p:grpSp>
      <p:grpSp>
        <p:nvGrpSpPr>
          <p:cNvPr id="18" name="Group 17">
            <a:extLst>
              <a:ext uri="{FF2B5EF4-FFF2-40B4-BE49-F238E27FC236}">
                <a16:creationId xmlns:a16="http://schemas.microsoft.com/office/drawing/2014/main" id="{FCA9435F-2215-4C26-CD8C-11F49811DA75}"/>
              </a:ext>
            </a:extLst>
          </p:cNvPr>
          <p:cNvGrpSpPr/>
          <p:nvPr/>
        </p:nvGrpSpPr>
        <p:grpSpPr>
          <a:xfrm>
            <a:off x="8101584" y="1796838"/>
            <a:ext cx="2953512" cy="1204104"/>
            <a:chOff x="8101584" y="1796838"/>
            <a:chExt cx="2953512" cy="1204104"/>
          </a:xfrm>
        </p:grpSpPr>
        <p:sp>
          <p:nvSpPr>
            <p:cNvPr id="22" name="Rectangle 21">
              <a:extLst>
                <a:ext uri="{FF2B5EF4-FFF2-40B4-BE49-F238E27FC236}">
                  <a16:creationId xmlns:a16="http://schemas.microsoft.com/office/drawing/2014/main" id="{4272BEE1-5039-BFF4-6490-A424A9557097}"/>
                </a:ext>
              </a:extLst>
            </p:cNvPr>
            <p:cNvSpPr>
              <a:spLocks noChangeAspect="1"/>
            </p:cNvSpPr>
            <p:nvPr/>
          </p:nvSpPr>
          <p:spPr>
            <a:xfrm>
              <a:off x="8101584" y="1796838"/>
              <a:ext cx="2953512" cy="1204104"/>
            </a:xfrm>
            <a:prstGeom prst="rect">
              <a:avLst/>
            </a:prstGeom>
            <a:blipFill dpi="0" rotWithShape="1">
              <a:blip r:embed="rId27"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330" dirty="0">
                  <a:solidFill>
                    <a:srgbClr val="FFFFFF"/>
                  </a:solidFill>
                  <a:effectLst>
                    <a:glow rad="63500">
                      <a:srgbClr val="2D2D8A">
                        <a:satMod val="175000"/>
                        <a:alpha val="40000"/>
                      </a:srgbClr>
                    </a:glow>
                  </a:effectLst>
                  <a:latin typeface="Arial" charset="0"/>
                  <a:ea typeface="ＭＳ Ｐゴシック" pitchFamily="80" charset="-128"/>
                  <a:cs typeface="Arial" charset="0"/>
                </a:rPr>
                <a:t>Space Architecture and Habitats</a:t>
              </a:r>
            </a:p>
          </p:txBody>
        </p:sp>
        <p:grpSp>
          <p:nvGrpSpPr>
            <p:cNvPr id="83" name="Group 82">
              <a:extLst>
                <a:ext uri="{FF2B5EF4-FFF2-40B4-BE49-F238E27FC236}">
                  <a16:creationId xmlns:a16="http://schemas.microsoft.com/office/drawing/2014/main" id="{6255FD66-97BB-4116-DB5A-EF4198B15D43}"/>
                </a:ext>
              </a:extLst>
            </p:cNvPr>
            <p:cNvGrpSpPr/>
            <p:nvPr/>
          </p:nvGrpSpPr>
          <p:grpSpPr>
            <a:xfrm>
              <a:off x="9944814" y="2068118"/>
              <a:ext cx="637948" cy="795742"/>
              <a:chOff x="10391903" y="1939625"/>
              <a:chExt cx="637948" cy="795742"/>
            </a:xfrm>
          </p:grpSpPr>
          <p:sp>
            <p:nvSpPr>
              <p:cNvPr id="5" name="Rectangle 4">
                <a:extLst>
                  <a:ext uri="{FF2B5EF4-FFF2-40B4-BE49-F238E27FC236}">
                    <a16:creationId xmlns:a16="http://schemas.microsoft.com/office/drawing/2014/main" id="{E8E76C66-878A-4665-A3A3-81AA93324244}"/>
                  </a:ext>
                </a:extLst>
              </p:cNvPr>
              <p:cNvSpPr/>
              <p:nvPr/>
            </p:nvSpPr>
            <p:spPr bwMode="auto">
              <a:xfrm>
                <a:off x="10430128" y="1939625"/>
                <a:ext cx="560832" cy="6096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rPr>
                  <a:t>Photo</a:t>
                </a:r>
                <a:br>
                  <a:rPr kumimoji="0" lang="en-US" sz="8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rPr>
                </a:br>
                <a:r>
                  <a:rPr kumimoji="0" lang="en-US" sz="8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rPr>
                  <a:t>Not</a:t>
                </a:r>
                <a:br>
                  <a:rPr kumimoji="0" lang="en-US" sz="8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rPr>
                </a:br>
                <a:r>
                  <a:rPr kumimoji="0" lang="en-US" sz="8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rPr>
                  <a:t>A</a:t>
                </a:r>
                <a:r>
                  <a:rPr kumimoji="0" lang="en-US" sz="800" b="0" i="0" u="none" strike="noStrike" kern="1200" cap="none" spc="0" normalizeH="0" baseline="0" noProof="0" dirty="0">
                    <a:ln>
                      <a:noFill/>
                    </a:ln>
                    <a:solidFill>
                      <a:srgbClr val="000000"/>
                    </a:solidFill>
                    <a:effectLst/>
                    <a:uLnTx/>
                    <a:uFillTx/>
                    <a:latin typeface="Arial" charset="0"/>
                    <a:ea typeface="ＭＳ Ｐゴシック" pitchFamily="80" charset="-128"/>
                    <a:cs typeface="+mn-cs"/>
                  </a:rPr>
                  <a:t>vail</a:t>
                </a:r>
              </a:p>
            </p:txBody>
          </p:sp>
          <p:sp>
            <p:nvSpPr>
              <p:cNvPr id="155" name="TextBox 154">
                <a:extLst>
                  <a:ext uri="{FF2B5EF4-FFF2-40B4-BE49-F238E27FC236}">
                    <a16:creationId xmlns:a16="http://schemas.microsoft.com/office/drawing/2014/main" id="{A9938EE0-4FE7-453C-79C1-D47969495D89}"/>
                  </a:ext>
                </a:extLst>
              </p:cNvPr>
              <p:cNvSpPr txBox="1"/>
              <p:nvPr/>
            </p:nvSpPr>
            <p:spPr>
              <a:xfrm>
                <a:off x="10391903" y="2519923"/>
                <a:ext cx="637948"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Incoming</a:t>
                </a:r>
              </a:p>
            </p:txBody>
          </p:sp>
        </p:grpSp>
        <p:grpSp>
          <p:nvGrpSpPr>
            <p:cNvPr id="16" name="Group 15">
              <a:extLst>
                <a:ext uri="{FF2B5EF4-FFF2-40B4-BE49-F238E27FC236}">
                  <a16:creationId xmlns:a16="http://schemas.microsoft.com/office/drawing/2014/main" id="{DF96EB79-323A-3D55-8C35-4A90FA7371CC}"/>
                </a:ext>
              </a:extLst>
            </p:cNvPr>
            <p:cNvGrpSpPr/>
            <p:nvPr/>
          </p:nvGrpSpPr>
          <p:grpSpPr>
            <a:xfrm>
              <a:off x="8491248" y="2068989"/>
              <a:ext cx="575144" cy="814215"/>
              <a:chOff x="8491248" y="2068989"/>
              <a:chExt cx="575144" cy="814215"/>
            </a:xfrm>
          </p:grpSpPr>
          <p:pic>
            <p:nvPicPr>
              <p:cNvPr id="3" name="Picture 2">
                <a:extLst>
                  <a:ext uri="{FF2B5EF4-FFF2-40B4-BE49-F238E27FC236}">
                    <a16:creationId xmlns:a16="http://schemas.microsoft.com/office/drawing/2014/main" id="{2DCC7440-7FCF-8C6D-1E34-5A841724438D}"/>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8548467" y="2068989"/>
                <a:ext cx="461706" cy="612648"/>
              </a:xfrm>
              <a:prstGeom prst="rect">
                <a:avLst/>
              </a:prstGeom>
              <a:ln>
                <a:solidFill>
                  <a:schemeClr val="tx1"/>
                </a:solidFill>
              </a:ln>
            </p:spPr>
          </p:pic>
          <p:sp>
            <p:nvSpPr>
              <p:cNvPr id="157" name="TextBox 156">
                <a:extLst>
                  <a:ext uri="{FF2B5EF4-FFF2-40B4-BE49-F238E27FC236}">
                    <a16:creationId xmlns:a16="http://schemas.microsoft.com/office/drawing/2014/main" id="{B34F65DD-8E2B-59D6-59EC-9390128F3334}"/>
                  </a:ext>
                </a:extLst>
              </p:cNvPr>
              <p:cNvSpPr txBox="1"/>
              <p:nvPr/>
            </p:nvSpPr>
            <p:spPr>
              <a:xfrm>
                <a:off x="8491248" y="2667760"/>
                <a:ext cx="575144"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Yashar</a:t>
                </a:r>
              </a:p>
            </p:txBody>
          </p:sp>
        </p:grpSp>
      </p:grpSp>
      <p:grpSp>
        <p:nvGrpSpPr>
          <p:cNvPr id="41" name="Group 40">
            <a:extLst>
              <a:ext uri="{FF2B5EF4-FFF2-40B4-BE49-F238E27FC236}">
                <a16:creationId xmlns:a16="http://schemas.microsoft.com/office/drawing/2014/main" id="{8D5A3A55-8D8F-1DA9-15FD-1404896936BE}"/>
              </a:ext>
            </a:extLst>
          </p:cNvPr>
          <p:cNvGrpSpPr/>
          <p:nvPr/>
        </p:nvGrpSpPr>
        <p:grpSpPr>
          <a:xfrm>
            <a:off x="539496" y="1141596"/>
            <a:ext cx="4023425" cy="4352395"/>
            <a:chOff x="539496" y="1259042"/>
            <a:chExt cx="4023425" cy="4352395"/>
          </a:xfrm>
        </p:grpSpPr>
        <p:sp>
          <p:nvSpPr>
            <p:cNvPr id="29" name="Rectangle 28">
              <a:extLst>
                <a:ext uri="{FF2B5EF4-FFF2-40B4-BE49-F238E27FC236}">
                  <a16:creationId xmlns:a16="http://schemas.microsoft.com/office/drawing/2014/main" id="{973936C7-4BF2-AFD8-CE66-5F1316E86C32}"/>
                </a:ext>
              </a:extLst>
            </p:cNvPr>
            <p:cNvSpPr/>
            <p:nvPr/>
          </p:nvSpPr>
          <p:spPr bwMode="auto">
            <a:xfrm>
              <a:off x="539496" y="1259042"/>
              <a:ext cx="4023425" cy="4352395"/>
            </a:xfrm>
            <a:prstGeom prst="rect">
              <a:avLst/>
            </a:prstGeom>
            <a:solidFill>
              <a:schemeClr val="accent4">
                <a:lumMod val="50000"/>
              </a:schemeClr>
            </a:solidFill>
            <a:ln w="9525" cap="flat" cmpd="sng" algn="ctr">
              <a:solidFill>
                <a:schemeClr val="bg1"/>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r" defTabSz="121917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Arial" charset="0"/>
                  <a:ea typeface="ＭＳ Ｐゴシック" pitchFamily="80" charset="-128"/>
                  <a:cs typeface="+mn-cs"/>
                </a:rPr>
                <a:t>Group</a:t>
              </a:r>
              <a:br>
                <a:rPr kumimoji="0" lang="en-US" sz="3200" b="0" i="0" u="none" strike="noStrike" kern="1200" cap="none" spc="0" normalizeH="0" baseline="0" noProof="0" dirty="0">
                  <a:ln>
                    <a:noFill/>
                  </a:ln>
                  <a:solidFill>
                    <a:srgbClr val="FFFFFF"/>
                  </a:solidFill>
                  <a:effectLst/>
                  <a:uLnTx/>
                  <a:uFillTx/>
                  <a:latin typeface="Arial" charset="0"/>
                  <a:ea typeface="ＭＳ Ｐゴシック" pitchFamily="80" charset="-128"/>
                  <a:cs typeface="+mn-cs"/>
                </a:rPr>
              </a:br>
              <a:r>
                <a:rPr kumimoji="0" lang="en-US" sz="3200" b="0" i="0" u="none" strike="noStrike" kern="1200" cap="none" spc="0" normalizeH="0" baseline="0" noProof="0" dirty="0">
                  <a:ln>
                    <a:noFill/>
                  </a:ln>
                  <a:solidFill>
                    <a:srgbClr val="FFFFFF"/>
                  </a:solidFill>
                  <a:effectLst/>
                  <a:uLnTx/>
                  <a:uFillTx/>
                  <a:latin typeface="Arial" charset="0"/>
                  <a:ea typeface="ＭＳ Ｐゴシック" pitchFamily="80" charset="-128"/>
                  <a:cs typeface="+mn-cs"/>
                </a:rPr>
                <a:t>Director</a:t>
              </a:r>
              <a:br>
                <a:rPr kumimoji="0" lang="en-US" sz="3200" b="0" i="0" u="none" strike="noStrike" kern="1200" cap="none" spc="0" normalizeH="0" baseline="0" noProof="0" dirty="0">
                  <a:ln>
                    <a:noFill/>
                  </a:ln>
                  <a:solidFill>
                    <a:srgbClr val="FFFFFF"/>
                  </a:solidFill>
                  <a:effectLst/>
                  <a:uLnTx/>
                  <a:uFillTx/>
                  <a:latin typeface="Arial" charset="0"/>
                  <a:ea typeface="ＭＳ Ｐゴシック" pitchFamily="80" charset="-128"/>
                  <a:cs typeface="+mn-cs"/>
                </a:rPr>
              </a:br>
              <a:r>
                <a:rPr kumimoji="0" lang="en-US" sz="3200" b="0" i="0" u="none" strike="noStrike" kern="1200" cap="none" spc="0" normalizeH="0" baseline="0" noProof="0" dirty="0">
                  <a:ln>
                    <a:noFill/>
                  </a:ln>
                  <a:solidFill>
                    <a:srgbClr val="FFFFFF"/>
                  </a:solidFill>
                  <a:effectLst/>
                  <a:uLnTx/>
                  <a:uFillTx/>
                  <a:latin typeface="Arial" charset="0"/>
                  <a:ea typeface="ＭＳ Ｐゴシック" pitchFamily="80" charset="-128"/>
                  <a:cs typeface="+mn-cs"/>
                </a:rPr>
                <a:t>&amp; Deputies</a:t>
              </a:r>
            </a:p>
          </p:txBody>
        </p:sp>
        <p:grpSp>
          <p:nvGrpSpPr>
            <p:cNvPr id="11" name="Group 10">
              <a:extLst>
                <a:ext uri="{FF2B5EF4-FFF2-40B4-BE49-F238E27FC236}">
                  <a16:creationId xmlns:a16="http://schemas.microsoft.com/office/drawing/2014/main" id="{60B3C499-AFE8-55D3-8699-62BF32A6F3F3}"/>
                </a:ext>
              </a:extLst>
            </p:cNvPr>
            <p:cNvGrpSpPr/>
            <p:nvPr/>
          </p:nvGrpSpPr>
          <p:grpSpPr>
            <a:xfrm>
              <a:off x="1016667" y="1356511"/>
              <a:ext cx="1186469" cy="1499548"/>
              <a:chOff x="3424914" y="761026"/>
              <a:chExt cx="889852" cy="1124661"/>
            </a:xfrm>
          </p:grpSpPr>
          <p:pic>
            <p:nvPicPr>
              <p:cNvPr id="30" name="Content Placeholder 6">
                <a:extLst>
                  <a:ext uri="{FF2B5EF4-FFF2-40B4-BE49-F238E27FC236}">
                    <a16:creationId xmlns:a16="http://schemas.microsoft.com/office/drawing/2014/main" id="{B320A470-23E2-AA40-3534-904BC080B2DD}"/>
                  </a:ext>
                </a:extLst>
              </p:cNvPr>
              <p:cNvPicPr>
                <a:picLocks noChangeAspect="1"/>
              </p:cNvPicPr>
              <p:nvPr/>
            </p:nvPicPr>
            <p:blipFill rotWithShape="1">
              <a:blip r:embed="rId29" cstate="email">
                <a:extLst>
                  <a:ext uri="{28A0092B-C50C-407E-A947-70E740481C1C}">
                    <a14:useLocalDpi xmlns:a14="http://schemas.microsoft.com/office/drawing/2010/main"/>
                  </a:ext>
                </a:extLst>
              </a:blip>
              <a:srcRect/>
              <a:stretch/>
            </p:blipFill>
            <p:spPr bwMode="auto">
              <a:xfrm>
                <a:off x="3424914" y="971287"/>
                <a:ext cx="889852" cy="914400"/>
              </a:xfrm>
              <a:prstGeom prst="rect">
                <a:avLst/>
              </a:prstGeom>
              <a:noFill/>
              <a:ln w="28575">
                <a:solidFill>
                  <a:schemeClr val="bg1"/>
                </a:solidFill>
                <a:miter lim="800000"/>
                <a:headEnd/>
                <a:tailEnd/>
              </a:ln>
            </p:spPr>
          </p:pic>
          <p:sp>
            <p:nvSpPr>
              <p:cNvPr id="34" name="TextBox 33">
                <a:extLst>
                  <a:ext uri="{FF2B5EF4-FFF2-40B4-BE49-F238E27FC236}">
                    <a16:creationId xmlns:a16="http://schemas.microsoft.com/office/drawing/2014/main" id="{D7275928-997E-F7E6-3EE5-70576C2987B7}"/>
                  </a:ext>
                </a:extLst>
              </p:cNvPr>
              <p:cNvSpPr txBox="1"/>
              <p:nvPr/>
            </p:nvSpPr>
            <p:spPr>
              <a:xfrm>
                <a:off x="3526940" y="761026"/>
                <a:ext cx="685800" cy="192409"/>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dirty="0">
                    <a:ln>
                      <a:noFill/>
                    </a:ln>
                    <a:solidFill>
                      <a:srgbClr val="000000"/>
                    </a:solidFill>
                    <a:effectLst/>
                    <a:uLnTx/>
                    <a:uFillTx/>
                    <a:latin typeface="Aptos" panose="02110004020202020204"/>
                    <a:ea typeface="+mn-ea"/>
                    <a:cs typeface="+mn-cs"/>
                  </a:rPr>
                  <a:t>Blanchette</a:t>
                </a:r>
              </a:p>
            </p:txBody>
          </p:sp>
        </p:grpSp>
        <p:grpSp>
          <p:nvGrpSpPr>
            <p:cNvPr id="42" name="Group 41">
              <a:extLst>
                <a:ext uri="{FF2B5EF4-FFF2-40B4-BE49-F238E27FC236}">
                  <a16:creationId xmlns:a16="http://schemas.microsoft.com/office/drawing/2014/main" id="{3B06BF0B-6317-CA4D-C0BD-48FD780702A5}"/>
                </a:ext>
              </a:extLst>
            </p:cNvPr>
            <p:cNvGrpSpPr/>
            <p:nvPr/>
          </p:nvGrpSpPr>
          <p:grpSpPr>
            <a:xfrm>
              <a:off x="1625917" y="3023682"/>
              <a:ext cx="918123" cy="1165715"/>
              <a:chOff x="3881852" y="2011400"/>
              <a:chExt cx="688592" cy="874286"/>
            </a:xfrm>
          </p:grpSpPr>
          <p:pic>
            <p:nvPicPr>
              <p:cNvPr id="8" name="Picture 7" descr="A person with white beard and mustache&#10;&#10;Description automatically generated">
                <a:extLst>
                  <a:ext uri="{FF2B5EF4-FFF2-40B4-BE49-F238E27FC236}">
                    <a16:creationId xmlns:a16="http://schemas.microsoft.com/office/drawing/2014/main" id="{70F9FB9E-7B41-65BD-0109-873A35E9F2D1}"/>
                  </a:ext>
                </a:extLst>
              </p:cNvPr>
              <p:cNvPicPr>
                <a:picLocks noChangeAspect="1"/>
              </p:cNvPicPr>
              <p:nvPr/>
            </p:nvPicPr>
            <p:blipFill rotWithShape="1">
              <a:blip r:embed="rId30" cstate="email">
                <a:extLst>
                  <a:ext uri="{28A0092B-C50C-407E-A947-70E740481C1C}">
                    <a14:useLocalDpi xmlns:a14="http://schemas.microsoft.com/office/drawing/2010/main"/>
                  </a:ext>
                </a:extLst>
              </a:blip>
              <a:srcRect/>
              <a:stretch/>
            </p:blipFill>
            <p:spPr>
              <a:xfrm rot="16200000">
                <a:off x="3891799" y="2004245"/>
                <a:ext cx="671490" cy="685800"/>
              </a:xfrm>
              <a:prstGeom prst="rect">
                <a:avLst/>
              </a:prstGeom>
              <a:ln w="12700">
                <a:solidFill>
                  <a:schemeClr val="bg1"/>
                </a:solidFill>
              </a:ln>
            </p:spPr>
          </p:pic>
          <p:sp>
            <p:nvSpPr>
              <p:cNvPr id="35" name="TextBox 34">
                <a:extLst>
                  <a:ext uri="{FF2B5EF4-FFF2-40B4-BE49-F238E27FC236}">
                    <a16:creationId xmlns:a16="http://schemas.microsoft.com/office/drawing/2014/main" id="{4C83975A-1F9A-4793-EEBD-B7BA2D9B8CC5}"/>
                  </a:ext>
                </a:extLst>
              </p:cNvPr>
              <p:cNvSpPr txBox="1"/>
              <p:nvPr/>
            </p:nvSpPr>
            <p:spPr>
              <a:xfrm>
                <a:off x="3881852" y="2693277"/>
                <a:ext cx="685800" cy="192409"/>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dirty="0">
                    <a:ln>
                      <a:noFill/>
                    </a:ln>
                    <a:solidFill>
                      <a:srgbClr val="000000"/>
                    </a:solidFill>
                    <a:effectLst/>
                    <a:uLnTx/>
                    <a:uFillTx/>
                    <a:latin typeface="Aptos" panose="02110004020202020204"/>
                    <a:ea typeface="+mn-ea"/>
                    <a:cs typeface="+mn-cs"/>
                  </a:rPr>
                  <a:t>Kohl</a:t>
                </a:r>
              </a:p>
            </p:txBody>
          </p:sp>
        </p:grpSp>
        <p:grpSp>
          <p:nvGrpSpPr>
            <p:cNvPr id="43" name="Group 42">
              <a:extLst>
                <a:ext uri="{FF2B5EF4-FFF2-40B4-BE49-F238E27FC236}">
                  <a16:creationId xmlns:a16="http://schemas.microsoft.com/office/drawing/2014/main" id="{0C37FC81-7E74-4D7B-3A1D-1690AB20A967}"/>
                </a:ext>
              </a:extLst>
            </p:cNvPr>
            <p:cNvGrpSpPr/>
            <p:nvPr/>
          </p:nvGrpSpPr>
          <p:grpSpPr>
            <a:xfrm>
              <a:off x="2564692" y="3020873"/>
              <a:ext cx="914400" cy="1175153"/>
              <a:chOff x="4585933" y="2009293"/>
              <a:chExt cx="685800" cy="881365"/>
            </a:xfrm>
          </p:grpSpPr>
          <p:pic>
            <p:nvPicPr>
              <p:cNvPr id="9" name="Picture 8">
                <a:extLst>
                  <a:ext uri="{FF2B5EF4-FFF2-40B4-BE49-F238E27FC236}">
                    <a16:creationId xmlns:a16="http://schemas.microsoft.com/office/drawing/2014/main" id="{9AC34779-87F8-FE68-A161-728E8F106F7B}"/>
                  </a:ext>
                </a:extLst>
              </p:cNvPr>
              <p:cNvPicPr>
                <a:picLocks noChangeAspect="1"/>
              </p:cNvPicPr>
              <p:nvPr/>
            </p:nvPicPr>
            <p:blipFill rotWithShape="1">
              <a:blip r:embed="rId31" cstate="email">
                <a:extLst>
                  <a:ext uri="{28A0092B-C50C-407E-A947-70E740481C1C}">
                    <a14:useLocalDpi xmlns:a14="http://schemas.microsoft.com/office/drawing/2010/main"/>
                  </a:ext>
                </a:extLst>
              </a:blip>
              <a:srcRect/>
              <a:stretch/>
            </p:blipFill>
            <p:spPr>
              <a:xfrm>
                <a:off x="4618873" y="2009293"/>
                <a:ext cx="623460" cy="685800"/>
              </a:xfrm>
              <a:prstGeom prst="rect">
                <a:avLst/>
              </a:prstGeom>
              <a:ln w="12700">
                <a:solidFill>
                  <a:schemeClr val="bg1"/>
                </a:solidFill>
              </a:ln>
            </p:spPr>
          </p:pic>
          <p:sp>
            <p:nvSpPr>
              <p:cNvPr id="36" name="TextBox 35">
                <a:extLst>
                  <a:ext uri="{FF2B5EF4-FFF2-40B4-BE49-F238E27FC236}">
                    <a16:creationId xmlns:a16="http://schemas.microsoft.com/office/drawing/2014/main" id="{5304F1F6-5F39-D161-60B9-2073D4EC6A75}"/>
                  </a:ext>
                </a:extLst>
              </p:cNvPr>
              <p:cNvSpPr txBox="1"/>
              <p:nvPr/>
            </p:nvSpPr>
            <p:spPr>
              <a:xfrm>
                <a:off x="4585933" y="2698249"/>
                <a:ext cx="685800" cy="192409"/>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dirty="0">
                    <a:ln>
                      <a:noFill/>
                    </a:ln>
                    <a:solidFill>
                      <a:srgbClr val="000000"/>
                    </a:solidFill>
                    <a:effectLst/>
                    <a:uLnTx/>
                    <a:uFillTx/>
                    <a:latin typeface="Aptos" panose="02110004020202020204"/>
                    <a:ea typeface="+mn-ea"/>
                    <a:cs typeface="+mn-cs"/>
                  </a:rPr>
                  <a:t>Otten</a:t>
                </a:r>
              </a:p>
            </p:txBody>
          </p:sp>
        </p:grpSp>
        <p:grpSp>
          <p:nvGrpSpPr>
            <p:cNvPr id="44" name="Group 43">
              <a:extLst>
                <a:ext uri="{FF2B5EF4-FFF2-40B4-BE49-F238E27FC236}">
                  <a16:creationId xmlns:a16="http://schemas.microsoft.com/office/drawing/2014/main" id="{177D4B1D-0D35-E830-8830-067D0E53BCA4}"/>
                </a:ext>
              </a:extLst>
            </p:cNvPr>
            <p:cNvGrpSpPr/>
            <p:nvPr/>
          </p:nvGrpSpPr>
          <p:grpSpPr>
            <a:xfrm>
              <a:off x="3476466" y="3027271"/>
              <a:ext cx="914400" cy="1168755"/>
              <a:chOff x="5269764" y="2014092"/>
              <a:chExt cx="685800" cy="876566"/>
            </a:xfrm>
          </p:grpSpPr>
          <p:pic>
            <p:nvPicPr>
              <p:cNvPr id="10" name="Picture 9" descr="A picture containing person, person, suit, tan&#10;&#10;Description automatically generated">
                <a:extLst>
                  <a:ext uri="{FF2B5EF4-FFF2-40B4-BE49-F238E27FC236}">
                    <a16:creationId xmlns:a16="http://schemas.microsoft.com/office/drawing/2014/main" id="{02656B7C-CB8A-EF25-11C3-60422AA9D419}"/>
                  </a:ext>
                </a:extLst>
              </p:cNvPr>
              <p:cNvPicPr>
                <a:picLocks noChangeAspect="1"/>
              </p:cNvPicPr>
              <p:nvPr/>
            </p:nvPicPr>
            <p:blipFill rotWithShape="1">
              <a:blip r:embed="rId32" cstate="email">
                <a:extLst>
                  <a:ext uri="{28A0092B-C50C-407E-A947-70E740481C1C}">
                    <a14:useLocalDpi xmlns:a14="http://schemas.microsoft.com/office/drawing/2010/main"/>
                  </a:ext>
                </a:extLst>
              </a:blip>
              <a:srcRect/>
              <a:stretch/>
            </p:blipFill>
            <p:spPr>
              <a:xfrm>
                <a:off x="5290762" y="2014092"/>
                <a:ext cx="642074" cy="685800"/>
              </a:xfrm>
              <a:prstGeom prst="rect">
                <a:avLst/>
              </a:prstGeom>
              <a:ln w="12700">
                <a:solidFill>
                  <a:schemeClr val="bg1"/>
                </a:solidFill>
              </a:ln>
            </p:spPr>
          </p:pic>
          <p:sp>
            <p:nvSpPr>
              <p:cNvPr id="38" name="TextBox 37">
                <a:extLst>
                  <a:ext uri="{FF2B5EF4-FFF2-40B4-BE49-F238E27FC236}">
                    <a16:creationId xmlns:a16="http://schemas.microsoft.com/office/drawing/2014/main" id="{72DC54C9-ED61-4CE4-E7E6-2C943339493E}"/>
                  </a:ext>
                </a:extLst>
              </p:cNvPr>
              <p:cNvSpPr txBox="1"/>
              <p:nvPr/>
            </p:nvSpPr>
            <p:spPr>
              <a:xfrm>
                <a:off x="5269764" y="2698249"/>
                <a:ext cx="685800" cy="192409"/>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dirty="0">
                    <a:ln>
                      <a:noFill/>
                    </a:ln>
                    <a:solidFill>
                      <a:srgbClr val="000000"/>
                    </a:solidFill>
                    <a:effectLst/>
                    <a:uLnTx/>
                    <a:uFillTx/>
                    <a:latin typeface="Aptos" panose="02110004020202020204"/>
                    <a:ea typeface="+mn-ea"/>
                    <a:cs typeface="+mn-cs"/>
                  </a:rPr>
                  <a:t>Wadhams</a:t>
                </a:r>
              </a:p>
            </p:txBody>
          </p:sp>
        </p:grpSp>
        <p:grpSp>
          <p:nvGrpSpPr>
            <p:cNvPr id="32" name="Group 31">
              <a:extLst>
                <a:ext uri="{FF2B5EF4-FFF2-40B4-BE49-F238E27FC236}">
                  <a16:creationId xmlns:a16="http://schemas.microsoft.com/office/drawing/2014/main" id="{F8B86C08-7316-D59F-CCF3-2F2F93FD7127}"/>
                </a:ext>
              </a:extLst>
            </p:cNvPr>
            <p:cNvGrpSpPr/>
            <p:nvPr/>
          </p:nvGrpSpPr>
          <p:grpSpPr>
            <a:xfrm>
              <a:off x="676892" y="3014142"/>
              <a:ext cx="914400" cy="1177676"/>
              <a:chOff x="3170083" y="2004245"/>
              <a:chExt cx="685800" cy="883257"/>
            </a:xfrm>
          </p:grpSpPr>
          <p:sp>
            <p:nvSpPr>
              <p:cNvPr id="37" name="TextBox 36">
                <a:extLst>
                  <a:ext uri="{FF2B5EF4-FFF2-40B4-BE49-F238E27FC236}">
                    <a16:creationId xmlns:a16="http://schemas.microsoft.com/office/drawing/2014/main" id="{C8C0CA7C-888B-48FE-D225-F46617868D5D}"/>
                  </a:ext>
                </a:extLst>
              </p:cNvPr>
              <p:cNvSpPr txBox="1"/>
              <p:nvPr/>
            </p:nvSpPr>
            <p:spPr>
              <a:xfrm>
                <a:off x="3170083" y="2695093"/>
                <a:ext cx="685800" cy="192409"/>
              </a:xfrm>
              <a:prstGeom prst="rect">
                <a:avLst/>
              </a:prstGeom>
              <a:solidFill>
                <a:schemeClr val="bg1"/>
              </a:solidFill>
              <a:ln>
                <a:noFill/>
              </a:ln>
              <a:effectLst>
                <a:softEdge rad="3175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dirty="0">
                    <a:ln>
                      <a:noFill/>
                    </a:ln>
                    <a:solidFill>
                      <a:srgbClr val="000000"/>
                    </a:solidFill>
                    <a:effectLst/>
                    <a:uLnTx/>
                    <a:uFillTx/>
                    <a:latin typeface="Aptos" panose="02110004020202020204"/>
                    <a:ea typeface="+mn-ea"/>
                    <a:cs typeface="+mn-cs"/>
                  </a:rPr>
                  <a:t>Barker</a:t>
                </a:r>
              </a:p>
            </p:txBody>
          </p:sp>
          <p:pic>
            <p:nvPicPr>
              <p:cNvPr id="6" name="Picture 5">
                <a:extLst>
                  <a:ext uri="{FF2B5EF4-FFF2-40B4-BE49-F238E27FC236}">
                    <a16:creationId xmlns:a16="http://schemas.microsoft.com/office/drawing/2014/main" id="{60C45136-BDEF-352E-CBEA-E238C4E4333A}"/>
                  </a:ext>
                </a:extLst>
              </p:cNvPr>
              <p:cNvPicPr>
                <a:picLocks noChangeAspect="1"/>
              </p:cNvPicPr>
              <p:nvPr/>
            </p:nvPicPr>
            <p:blipFill rotWithShape="1">
              <a:blip r:embed="rId33" cstate="email">
                <a:extLst>
                  <a:ext uri="{28A0092B-C50C-407E-A947-70E740481C1C}">
                    <a14:useLocalDpi xmlns:a14="http://schemas.microsoft.com/office/drawing/2010/main"/>
                  </a:ext>
                </a:extLst>
              </a:blip>
              <a:srcRect/>
              <a:stretch/>
            </p:blipFill>
            <p:spPr>
              <a:xfrm>
                <a:off x="3201709" y="2004245"/>
                <a:ext cx="622548" cy="685800"/>
              </a:xfrm>
              <a:prstGeom prst="rect">
                <a:avLst/>
              </a:prstGeom>
              <a:ln w="12700">
                <a:solidFill>
                  <a:schemeClr val="bg1"/>
                </a:solidFill>
              </a:ln>
            </p:spPr>
          </p:pic>
        </p:grpSp>
        <p:grpSp>
          <p:nvGrpSpPr>
            <p:cNvPr id="51" name="Group 50">
              <a:extLst>
                <a:ext uri="{FF2B5EF4-FFF2-40B4-BE49-F238E27FC236}">
                  <a16:creationId xmlns:a16="http://schemas.microsoft.com/office/drawing/2014/main" id="{9B332B29-A269-27E2-7C65-C9D7F15EAF92}"/>
                </a:ext>
              </a:extLst>
            </p:cNvPr>
            <p:cNvGrpSpPr/>
            <p:nvPr/>
          </p:nvGrpSpPr>
          <p:grpSpPr>
            <a:xfrm>
              <a:off x="1485333" y="4354035"/>
              <a:ext cx="1198313" cy="1186133"/>
              <a:chOff x="2194907" y="4665525"/>
              <a:chExt cx="1198313" cy="1186133"/>
            </a:xfrm>
          </p:grpSpPr>
          <p:pic>
            <p:nvPicPr>
              <p:cNvPr id="33" name="Picture 32">
                <a:extLst>
                  <a:ext uri="{FF2B5EF4-FFF2-40B4-BE49-F238E27FC236}">
                    <a16:creationId xmlns:a16="http://schemas.microsoft.com/office/drawing/2014/main" id="{0CE846AA-9720-CEE8-8245-6BEA00D750D5}"/>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2399707" y="4665525"/>
                <a:ext cx="784893" cy="914400"/>
              </a:xfrm>
              <a:prstGeom prst="rect">
                <a:avLst/>
              </a:prstGeom>
              <a:ln w="12700">
                <a:solidFill>
                  <a:schemeClr val="bg1"/>
                </a:solidFill>
              </a:ln>
            </p:spPr>
          </p:pic>
          <p:sp>
            <p:nvSpPr>
              <p:cNvPr id="40" name="TextBox 39">
                <a:extLst>
                  <a:ext uri="{FF2B5EF4-FFF2-40B4-BE49-F238E27FC236}">
                    <a16:creationId xmlns:a16="http://schemas.microsoft.com/office/drawing/2014/main" id="{77D5AA30-3FA1-1D5C-1589-BF1A1F76B678}"/>
                  </a:ext>
                </a:extLst>
              </p:cNvPr>
              <p:cNvSpPr txBox="1"/>
              <p:nvPr/>
            </p:nvSpPr>
            <p:spPr>
              <a:xfrm>
                <a:off x="2194907" y="5595113"/>
                <a:ext cx="1198313" cy="256545"/>
              </a:xfrm>
              <a:prstGeom prst="rect">
                <a:avLst/>
              </a:prstGeom>
              <a:solidFill>
                <a:schemeClr val="bg1"/>
              </a:solidFill>
              <a:ln>
                <a:noFill/>
              </a:ln>
              <a:effectLst>
                <a:softEdge rad="3175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dirty="0">
                    <a:ln>
                      <a:noFill/>
                    </a:ln>
                    <a:solidFill>
                      <a:srgbClr val="000000"/>
                    </a:solidFill>
                    <a:effectLst/>
                    <a:uLnTx/>
                    <a:uFillTx/>
                    <a:latin typeface="Aptos" panose="02110004020202020204"/>
                    <a:ea typeface="+mn-ea"/>
                    <a:cs typeface="+mn-cs"/>
                  </a:rPr>
                  <a:t>Sanchez-Arriaga</a:t>
                </a:r>
              </a:p>
            </p:txBody>
          </p:sp>
        </p:grpSp>
        <p:grpSp>
          <p:nvGrpSpPr>
            <p:cNvPr id="52" name="Group 51">
              <a:extLst>
                <a:ext uri="{FF2B5EF4-FFF2-40B4-BE49-F238E27FC236}">
                  <a16:creationId xmlns:a16="http://schemas.microsoft.com/office/drawing/2014/main" id="{0142E58A-98D5-C952-67A5-D16CD905ACD0}"/>
                </a:ext>
              </a:extLst>
            </p:cNvPr>
            <p:cNvGrpSpPr/>
            <p:nvPr/>
          </p:nvGrpSpPr>
          <p:grpSpPr>
            <a:xfrm>
              <a:off x="2704608" y="4354035"/>
              <a:ext cx="698944" cy="1173841"/>
              <a:chOff x="-804759" y="1582309"/>
              <a:chExt cx="698944" cy="1173841"/>
            </a:xfrm>
          </p:grpSpPr>
          <p:pic>
            <p:nvPicPr>
              <p:cNvPr id="25" name="Picture 24">
                <a:extLst>
                  <a:ext uri="{FF2B5EF4-FFF2-40B4-BE49-F238E27FC236}">
                    <a16:creationId xmlns:a16="http://schemas.microsoft.com/office/drawing/2014/main" id="{A768858E-1C68-0538-9237-7296D84ADF6B}"/>
                  </a:ext>
                </a:extLst>
              </p:cNvPr>
              <p:cNvPicPr>
                <a:picLocks noChangeAspect="1"/>
              </p:cNvPicPr>
              <p:nvPr/>
            </p:nvPicPr>
            <p:blipFill>
              <a:blip r:embed="rId35" cstate="email">
                <a:extLst>
                  <a:ext uri="{28A0092B-C50C-407E-A947-70E740481C1C}">
                    <a14:useLocalDpi xmlns:a14="http://schemas.microsoft.com/office/drawing/2010/main"/>
                  </a:ext>
                </a:extLst>
              </a:blip>
              <a:srcRect/>
              <a:stretch>
                <a:fillRect/>
              </a:stretch>
            </p:blipFill>
            <p:spPr>
              <a:xfrm>
                <a:off x="-804759" y="1582309"/>
                <a:ext cx="698944" cy="914400"/>
              </a:xfrm>
              <a:prstGeom prst="rect">
                <a:avLst/>
              </a:prstGeom>
              <a:ln w="12700">
                <a:solidFill>
                  <a:schemeClr val="bg1"/>
                </a:solidFill>
              </a:ln>
            </p:spPr>
          </p:pic>
          <p:sp>
            <p:nvSpPr>
              <p:cNvPr id="28" name="Rectangle 27">
                <a:extLst>
                  <a:ext uri="{FF2B5EF4-FFF2-40B4-BE49-F238E27FC236}">
                    <a16:creationId xmlns:a16="http://schemas.microsoft.com/office/drawing/2014/main" id="{7B136B23-25ED-2557-C9D9-308341CB3994}"/>
                  </a:ext>
                </a:extLst>
              </p:cNvPr>
              <p:cNvSpPr/>
              <p:nvPr/>
            </p:nvSpPr>
            <p:spPr>
              <a:xfrm>
                <a:off x="-770227" y="2499605"/>
                <a:ext cx="631737" cy="256545"/>
              </a:xfrm>
              <a:prstGeom prst="rect">
                <a:avLst/>
              </a:prstGeom>
              <a:solidFill>
                <a:schemeClr val="bg1"/>
              </a:solidFill>
              <a:ln>
                <a:noFill/>
              </a:ln>
              <a:effectLst>
                <a:softEdge rad="31750"/>
              </a:effectLst>
            </p:spPr>
            <p:txBody>
              <a:bodyPr wrap="square" rtlCol="0">
                <a:spAutoFit/>
              </a:bodyPr>
              <a:lstStyle/>
              <a:p>
                <a:pPr algn="ctr"/>
                <a:r>
                  <a:rPr lang="en-US" sz="1067" dirty="0">
                    <a:solidFill>
                      <a:srgbClr val="000000"/>
                    </a:solidFill>
                    <a:latin typeface="Aptos" panose="02110004020202020204"/>
                  </a:rPr>
                  <a:t>Kojima</a:t>
                </a:r>
              </a:p>
            </p:txBody>
          </p:sp>
        </p:grpSp>
        <p:cxnSp>
          <p:nvCxnSpPr>
            <p:cNvPr id="96" name="Straight Connector 95">
              <a:extLst>
                <a:ext uri="{FF2B5EF4-FFF2-40B4-BE49-F238E27FC236}">
                  <a16:creationId xmlns:a16="http://schemas.microsoft.com/office/drawing/2014/main" id="{2E48D215-A625-22AD-F9A3-99EF14B11723}"/>
                </a:ext>
              </a:extLst>
            </p:cNvPr>
            <p:cNvCxnSpPr>
              <a:cxnSpLocks/>
            </p:cNvCxnSpPr>
            <p:nvPr/>
          </p:nvCxnSpPr>
          <p:spPr>
            <a:xfrm>
              <a:off x="608524" y="4258269"/>
              <a:ext cx="3886029"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84" name="Group 83">
            <a:extLst>
              <a:ext uri="{FF2B5EF4-FFF2-40B4-BE49-F238E27FC236}">
                <a16:creationId xmlns:a16="http://schemas.microsoft.com/office/drawing/2014/main" id="{252FDECD-A0FA-BEBE-48FA-F7F24B440F87}"/>
              </a:ext>
            </a:extLst>
          </p:cNvPr>
          <p:cNvGrpSpPr/>
          <p:nvPr/>
        </p:nvGrpSpPr>
        <p:grpSpPr>
          <a:xfrm>
            <a:off x="8095309" y="5679847"/>
            <a:ext cx="3048000" cy="1119673"/>
            <a:chOff x="8095309" y="5679847"/>
            <a:chExt cx="3048000" cy="1119673"/>
          </a:xfrm>
        </p:grpSpPr>
        <p:sp>
          <p:nvSpPr>
            <p:cNvPr id="50" name="Rectangle 49" descr="View of desert landscape of Mars">
              <a:extLst>
                <a:ext uri="{FF2B5EF4-FFF2-40B4-BE49-F238E27FC236}">
                  <a16:creationId xmlns:a16="http://schemas.microsoft.com/office/drawing/2014/main" id="{8C4C84E4-4DA4-44B6-5AE4-FF71CF62CEDE}"/>
                </a:ext>
              </a:extLst>
            </p:cNvPr>
            <p:cNvSpPr>
              <a:spLocks noChangeAspect="1"/>
            </p:cNvSpPr>
            <p:nvPr/>
          </p:nvSpPr>
          <p:spPr bwMode="auto">
            <a:xfrm>
              <a:off x="8095309" y="5679847"/>
              <a:ext cx="3048000" cy="1119673"/>
            </a:xfrm>
            <a:prstGeom prst="rect">
              <a:avLst/>
            </a:prstGeom>
            <a:blipFill dpi="0" rotWithShape="1">
              <a:blip r:embed="rId36" cstate="email">
                <a:extLst>
                  <a:ext uri="{28A0092B-C50C-407E-A947-70E740481C1C}">
                    <a14:useLocalDpi xmlns:a14="http://schemas.microsoft.com/office/drawing/2010/main"/>
                  </a:ext>
                </a:extLst>
              </a:blip>
              <a:srcRect/>
              <a:stretch>
                <a:fillRect/>
              </a:stretch>
            </a:blipFill>
            <a:ln w="317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lang="en-US" sz="1333" dirty="0">
                  <a:solidFill>
                    <a:srgbClr val="FFFFFF"/>
                  </a:solidFill>
                  <a:latin typeface="Arial" charset="0"/>
                  <a:ea typeface="ＭＳ Ｐゴシック" pitchFamily="80" charset="-128"/>
                </a:rPr>
                <a:t>Space Settlement</a:t>
              </a:r>
              <a:endParaRPr kumimoji="0" lang="en-US" sz="1333" b="0" i="0" u="none" strike="noStrike" kern="1200" cap="none" spc="0" normalizeH="0" baseline="0" noProof="0" dirty="0">
                <a:ln>
                  <a:noFill/>
                </a:ln>
                <a:solidFill>
                  <a:srgbClr val="FFFFFF"/>
                </a:solidFill>
                <a:effectLst/>
                <a:uLnTx/>
                <a:uFillTx/>
                <a:latin typeface="Arial" charset="0"/>
                <a:ea typeface="ＭＳ Ｐゴシック" pitchFamily="80" charset="-128"/>
                <a:cs typeface="+mn-cs"/>
              </a:endParaRPr>
            </a:p>
          </p:txBody>
        </p:sp>
        <p:grpSp>
          <p:nvGrpSpPr>
            <p:cNvPr id="69" name="Group 68">
              <a:extLst>
                <a:ext uri="{FF2B5EF4-FFF2-40B4-BE49-F238E27FC236}">
                  <a16:creationId xmlns:a16="http://schemas.microsoft.com/office/drawing/2014/main" id="{A2337EE1-F73C-DC1F-3DB0-BB70C4748671}"/>
                </a:ext>
              </a:extLst>
            </p:cNvPr>
            <p:cNvGrpSpPr/>
            <p:nvPr/>
          </p:nvGrpSpPr>
          <p:grpSpPr>
            <a:xfrm>
              <a:off x="8138598" y="5974879"/>
              <a:ext cx="695230" cy="824586"/>
              <a:chOff x="8165894" y="6008999"/>
              <a:chExt cx="695230" cy="824586"/>
            </a:xfrm>
          </p:grpSpPr>
          <p:pic>
            <p:nvPicPr>
              <p:cNvPr id="88" name="Picture 87">
                <a:extLst>
                  <a:ext uri="{FF2B5EF4-FFF2-40B4-BE49-F238E27FC236}">
                    <a16:creationId xmlns:a16="http://schemas.microsoft.com/office/drawing/2014/main" id="{986155B5-5FD8-6DC4-6AF8-D0B7864F2918}"/>
                  </a:ext>
                </a:extLst>
              </p:cNvPr>
              <p:cNvPicPr>
                <a:picLocks noChangeAspect="1"/>
              </p:cNvPicPr>
              <p:nvPr/>
            </p:nvPicPr>
            <p:blipFill>
              <a:blip r:embed="rId37" cstate="email">
                <a:extLst>
                  <a:ext uri="{28A0092B-C50C-407E-A947-70E740481C1C}">
                    <a14:useLocalDpi xmlns:a14="http://schemas.microsoft.com/office/drawing/2010/main"/>
                  </a:ext>
                </a:extLst>
              </a:blip>
              <a:srcRect/>
              <a:stretch>
                <a:fillRect/>
              </a:stretch>
            </p:blipFill>
            <p:spPr>
              <a:xfrm>
                <a:off x="8260388" y="6008999"/>
                <a:ext cx="506771" cy="612648"/>
              </a:xfrm>
              <a:prstGeom prst="rect">
                <a:avLst/>
              </a:prstGeom>
              <a:ln w="12700">
                <a:solidFill>
                  <a:schemeClr val="bg1"/>
                </a:solidFill>
              </a:ln>
            </p:spPr>
          </p:pic>
          <p:sp>
            <p:nvSpPr>
              <p:cNvPr id="57" name="TextBox 56">
                <a:extLst>
                  <a:ext uri="{FF2B5EF4-FFF2-40B4-BE49-F238E27FC236}">
                    <a16:creationId xmlns:a16="http://schemas.microsoft.com/office/drawing/2014/main" id="{A8478448-3C4E-727E-56E7-B57AEC89A10C}"/>
                  </a:ext>
                </a:extLst>
              </p:cNvPr>
              <p:cNvSpPr txBox="1"/>
              <p:nvPr/>
            </p:nvSpPr>
            <p:spPr>
              <a:xfrm>
                <a:off x="8165894" y="6618141"/>
                <a:ext cx="695230"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Noteboom</a:t>
                </a:r>
              </a:p>
            </p:txBody>
          </p:sp>
        </p:grpSp>
      </p:grpSp>
      <p:grpSp>
        <p:nvGrpSpPr>
          <p:cNvPr id="80" name="Group 79">
            <a:extLst>
              <a:ext uri="{FF2B5EF4-FFF2-40B4-BE49-F238E27FC236}">
                <a16:creationId xmlns:a16="http://schemas.microsoft.com/office/drawing/2014/main" id="{741FC4C6-5EC6-3F46-913C-53A8F154F9BA}"/>
              </a:ext>
            </a:extLst>
          </p:cNvPr>
          <p:cNvGrpSpPr/>
          <p:nvPr/>
        </p:nvGrpSpPr>
        <p:grpSpPr>
          <a:xfrm>
            <a:off x="8848107" y="5971318"/>
            <a:ext cx="695230" cy="828147"/>
            <a:chOff x="8848107" y="5971318"/>
            <a:chExt cx="695230" cy="828147"/>
          </a:xfrm>
        </p:grpSpPr>
        <p:grpSp>
          <p:nvGrpSpPr>
            <p:cNvPr id="76" name="Group 75">
              <a:extLst>
                <a:ext uri="{FF2B5EF4-FFF2-40B4-BE49-F238E27FC236}">
                  <a16:creationId xmlns:a16="http://schemas.microsoft.com/office/drawing/2014/main" id="{AE22D8D4-F145-9F06-2ECB-CC4B18A218BE}"/>
                </a:ext>
              </a:extLst>
            </p:cNvPr>
            <p:cNvGrpSpPr/>
            <p:nvPr/>
          </p:nvGrpSpPr>
          <p:grpSpPr>
            <a:xfrm>
              <a:off x="8848107" y="5971373"/>
              <a:ext cx="695230" cy="828092"/>
              <a:chOff x="8875403" y="6005493"/>
              <a:chExt cx="695230" cy="828092"/>
            </a:xfrm>
          </p:grpSpPr>
          <p:pic>
            <p:nvPicPr>
              <p:cNvPr id="90" name="Picture 89">
                <a:extLst>
                  <a:ext uri="{FF2B5EF4-FFF2-40B4-BE49-F238E27FC236}">
                    <a16:creationId xmlns:a16="http://schemas.microsoft.com/office/drawing/2014/main" id="{8D0E5062-F6B7-2074-27E8-EDACE24FBC7F}"/>
                  </a:ext>
                </a:extLst>
              </p:cNvPr>
              <p:cNvPicPr>
                <a:picLocks noChangeAspect="1"/>
              </p:cNvPicPr>
              <p:nvPr/>
            </p:nvPicPr>
            <p:blipFill>
              <a:blip r:embed="rId38" cstate="email">
                <a:extLst>
                  <a:ext uri="{28A0092B-C50C-407E-A947-70E740481C1C}">
                    <a14:useLocalDpi xmlns:a14="http://schemas.microsoft.com/office/drawing/2010/main"/>
                  </a:ext>
                </a:extLst>
              </a:blip>
              <a:srcRect/>
              <a:stretch>
                <a:fillRect/>
              </a:stretch>
            </p:blipFill>
            <p:spPr>
              <a:xfrm>
                <a:off x="8998907" y="6005493"/>
                <a:ext cx="453693" cy="612648"/>
              </a:xfrm>
              <a:prstGeom prst="rect">
                <a:avLst/>
              </a:prstGeom>
              <a:ln w="12700">
                <a:solidFill>
                  <a:schemeClr val="bg1"/>
                </a:solidFill>
              </a:ln>
            </p:spPr>
          </p:pic>
          <p:sp>
            <p:nvSpPr>
              <p:cNvPr id="66" name="TextBox 65">
                <a:extLst>
                  <a:ext uri="{FF2B5EF4-FFF2-40B4-BE49-F238E27FC236}">
                    <a16:creationId xmlns:a16="http://schemas.microsoft.com/office/drawing/2014/main" id="{9F4747FC-2ACC-C1D0-9A01-1338C1D4C782}"/>
                  </a:ext>
                </a:extLst>
              </p:cNvPr>
              <p:cNvSpPr txBox="1"/>
              <p:nvPr/>
            </p:nvSpPr>
            <p:spPr>
              <a:xfrm>
                <a:off x="8875403" y="6618141"/>
                <a:ext cx="695230" cy="215444"/>
              </a:xfrm>
              <a:prstGeom prst="rect">
                <a:avLst/>
              </a:prstGeom>
              <a:solidFill>
                <a:schemeClr val="bg1"/>
              </a:solidFill>
              <a:ln>
                <a:noFill/>
              </a:ln>
              <a:effectLst>
                <a:softEdge rad="31750"/>
              </a:effectLst>
            </p:spPr>
            <p:txBody>
              <a:bodyPr wrap="square" rtlCol="0">
                <a:spAutoFit/>
              </a:bodyPr>
              <a:lstStyle>
                <a:defPPr>
                  <a:defRPr lang="en-US"/>
                </a:defPPr>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ptos" panose="02110004020202020204"/>
                    <a:ea typeface="+mn-ea"/>
                    <a:cs typeface="+mn-cs"/>
                  </a:rPr>
                  <a:t>Bruce</a:t>
                </a:r>
              </a:p>
            </p:txBody>
          </p:sp>
        </p:grpSp>
        <p:pic>
          <p:nvPicPr>
            <p:cNvPr id="56" name="Picture 55">
              <a:extLst>
                <a:ext uri="{FF2B5EF4-FFF2-40B4-BE49-F238E27FC236}">
                  <a16:creationId xmlns:a16="http://schemas.microsoft.com/office/drawing/2014/main" id="{99597C75-667B-B881-5F83-F50B17D71693}"/>
                </a:ext>
              </a:extLst>
            </p:cNvPr>
            <p:cNvPicPr>
              <a:picLocks noChangeAspect="1"/>
            </p:cNvPicPr>
            <p:nvPr/>
          </p:nvPicPr>
          <p:blipFill>
            <a:blip r:embed="rId39" cstate="email">
              <a:extLst>
                <a:ext uri="{28A0092B-C50C-407E-A947-70E740481C1C}">
                  <a14:useLocalDpi xmlns:a14="http://schemas.microsoft.com/office/drawing/2010/main"/>
                </a:ext>
              </a:extLst>
            </a:blip>
            <a:srcRect/>
            <a:stretch>
              <a:fillRect/>
            </a:stretch>
          </p:blipFill>
          <p:spPr>
            <a:xfrm>
              <a:off x="8942336" y="5971318"/>
              <a:ext cx="506771" cy="612648"/>
            </a:xfrm>
            <a:prstGeom prst="rect">
              <a:avLst/>
            </a:prstGeom>
            <a:ln w="12700">
              <a:solidFill>
                <a:schemeClr val="bg1"/>
              </a:solidFill>
            </a:ln>
          </p:spPr>
        </p:pic>
      </p:grpSp>
    </p:spTree>
    <p:extLst>
      <p:ext uri="{BB962C8B-B14F-4D97-AF65-F5344CB8AC3E}">
        <p14:creationId xmlns:p14="http://schemas.microsoft.com/office/powerpoint/2010/main" val="3666887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EE9F5-1ADD-8885-D6A3-F5207AE9BAB2}"/>
              </a:ext>
            </a:extLst>
          </p:cNvPr>
          <p:cNvSpPr>
            <a:spLocks noGrp="1"/>
          </p:cNvSpPr>
          <p:nvPr>
            <p:ph type="title"/>
          </p:nvPr>
        </p:nvSpPr>
        <p:spPr/>
        <p:txBody>
          <a:bodyPr/>
          <a:lstStyle/>
          <a:p>
            <a:r>
              <a:rPr lang="en-US" dirty="0"/>
              <a:t>We Have a Phased Implementation Plan</a:t>
            </a:r>
          </a:p>
        </p:txBody>
      </p:sp>
      <p:sp>
        <p:nvSpPr>
          <p:cNvPr id="3" name="Content Placeholder 2">
            <a:extLst>
              <a:ext uri="{FF2B5EF4-FFF2-40B4-BE49-F238E27FC236}">
                <a16:creationId xmlns:a16="http://schemas.microsoft.com/office/drawing/2014/main" id="{1F4C3113-3742-904E-8A98-50AC16C74985}"/>
              </a:ext>
            </a:extLst>
          </p:cNvPr>
          <p:cNvSpPr>
            <a:spLocks noGrp="1"/>
          </p:cNvSpPr>
          <p:nvPr>
            <p:ph idx="1"/>
          </p:nvPr>
        </p:nvSpPr>
        <p:spPr/>
        <p:txBody>
          <a:bodyPr/>
          <a:lstStyle/>
          <a:p>
            <a:r>
              <a:rPr lang="en-US" dirty="0"/>
              <a:t>Phase 1:</a:t>
            </a:r>
          </a:p>
          <a:p>
            <a:pPr marL="285750" indent="-285750">
              <a:buFont typeface="Arial" panose="020B0604020202020204" pitchFamily="34" charset="0"/>
              <a:buChar char="•"/>
            </a:pPr>
            <a:r>
              <a:rPr lang="en-US" dirty="0"/>
              <a:t>Re-charter existing TCs</a:t>
            </a:r>
          </a:p>
          <a:p>
            <a:pPr marL="285750" indent="-285750">
              <a:buFont typeface="Arial" panose="020B0604020202020204" pitchFamily="34" charset="0"/>
              <a:buChar char="•"/>
            </a:pPr>
            <a:r>
              <a:rPr lang="en-US" dirty="0"/>
              <a:t>Shift people as needed</a:t>
            </a:r>
          </a:p>
          <a:p>
            <a:pPr marL="285750" indent="-285750">
              <a:buFont typeface="Arial" panose="020B0604020202020204" pitchFamily="34" charset="0"/>
              <a:buChar char="•"/>
            </a:pPr>
            <a:r>
              <a:rPr lang="en-US" dirty="0"/>
              <a:t>Begin executing in the new construct by late summer 2026</a:t>
            </a:r>
          </a:p>
          <a:p>
            <a:pPr marL="285750" indent="-285750">
              <a:buFont typeface="Arial" panose="020B0604020202020204" pitchFamily="34" charset="0"/>
              <a:buChar char="•"/>
            </a:pPr>
            <a:endParaRPr lang="en-US" dirty="0"/>
          </a:p>
          <a:p>
            <a:r>
              <a:rPr lang="en-US" dirty="0"/>
              <a:t>Phase 2:</a:t>
            </a:r>
          </a:p>
          <a:p>
            <a:pPr marL="285750" indent="-285750">
              <a:buFont typeface="Arial" panose="020B0604020202020204" pitchFamily="34" charset="0"/>
              <a:buChar char="•"/>
            </a:pPr>
            <a:r>
              <a:rPr lang="en-US" dirty="0"/>
              <a:t>Consider how to address potential gaps</a:t>
            </a:r>
          </a:p>
          <a:p>
            <a:pPr marL="1028682" lvl="1" indent="-285750"/>
            <a:r>
              <a:rPr lang="en-US" dirty="0"/>
              <a:t>Prioritize the list</a:t>
            </a:r>
          </a:p>
          <a:p>
            <a:pPr marL="1028682" lvl="1" indent="-285750"/>
            <a:r>
              <a:rPr lang="en-US" dirty="0"/>
              <a:t>Determine if scope is partially addressed anywhere (TAD or AIED)</a:t>
            </a:r>
          </a:p>
          <a:p>
            <a:pPr marL="1028682" lvl="1" indent="-285750"/>
            <a:r>
              <a:rPr lang="en-US" dirty="0"/>
              <a:t>Canvass for interest within the volunteer community</a:t>
            </a:r>
          </a:p>
          <a:p>
            <a:pPr marL="1028682" lvl="1" indent="-285750"/>
            <a:r>
              <a:rPr lang="en-US" dirty="0"/>
              <a:t>Determine appropriate format (TC, Working Group, etc.)</a:t>
            </a:r>
          </a:p>
          <a:p>
            <a:pPr marL="1028682" lvl="1" indent="-285750"/>
            <a:r>
              <a:rPr lang="en-US" dirty="0"/>
              <a:t>Determine appropriate home (specific group within TAD or AIED)</a:t>
            </a:r>
          </a:p>
          <a:p>
            <a:pPr marL="285750" indent="-285750">
              <a:buFont typeface="Arial" panose="020B0604020202020204" pitchFamily="34" charset="0"/>
              <a:buChar char="•"/>
            </a:pPr>
            <a:r>
              <a:rPr lang="en-US" dirty="0"/>
              <a:t>Develop a plan for moving forward by the end of 2026</a:t>
            </a:r>
          </a:p>
        </p:txBody>
      </p:sp>
      <p:sp>
        <p:nvSpPr>
          <p:cNvPr id="4" name="Slide Number Placeholder 3">
            <a:extLst>
              <a:ext uri="{FF2B5EF4-FFF2-40B4-BE49-F238E27FC236}">
                <a16:creationId xmlns:a16="http://schemas.microsoft.com/office/drawing/2014/main" id="{5C15D7E0-E271-F324-09DE-627A8089CC1B}"/>
              </a:ext>
            </a:extLst>
          </p:cNvPr>
          <p:cNvSpPr>
            <a:spLocks noGrp="1"/>
          </p:cNvSpPr>
          <p:nvPr>
            <p:ph type="sldNum" sz="quarter" idx="12"/>
          </p:nvPr>
        </p:nvSpPr>
        <p:spPr/>
        <p:txBody>
          <a:bodyPr/>
          <a:lstStyle/>
          <a:p>
            <a:fld id="{8FBCB428-D880-FC4A-9B26-64132A65A030}" type="slidenum">
              <a:rPr lang="en-US" smtClean="0"/>
              <a:pPr/>
              <a:t>33</a:t>
            </a:fld>
            <a:endParaRPr lang="en-US" dirty="0"/>
          </a:p>
        </p:txBody>
      </p:sp>
    </p:spTree>
    <p:extLst>
      <p:ext uri="{BB962C8B-B14F-4D97-AF65-F5344CB8AC3E}">
        <p14:creationId xmlns:p14="http://schemas.microsoft.com/office/powerpoint/2010/main" val="28251634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10FA2-F85A-F854-EED6-1AA6D6EDB9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7063AF-86B8-2DF9-2AB8-8ED004EA6975}"/>
              </a:ext>
            </a:extLst>
          </p:cNvPr>
          <p:cNvSpPr>
            <a:spLocks noGrp="1"/>
          </p:cNvSpPr>
          <p:nvPr>
            <p:ph type="title"/>
          </p:nvPr>
        </p:nvSpPr>
        <p:spPr/>
        <p:txBody>
          <a:bodyPr/>
          <a:lstStyle/>
          <a:p>
            <a:r>
              <a:rPr lang="en-US" dirty="0"/>
              <a:t>TAD Expectations for TCs</a:t>
            </a:r>
          </a:p>
        </p:txBody>
      </p:sp>
      <p:sp>
        <p:nvSpPr>
          <p:cNvPr id="5" name="Content Placeholder 4">
            <a:extLst>
              <a:ext uri="{FF2B5EF4-FFF2-40B4-BE49-F238E27FC236}">
                <a16:creationId xmlns:a16="http://schemas.microsoft.com/office/drawing/2014/main" id="{F6246173-A1BC-4CB3-6B15-EC74948E6657}"/>
              </a:ext>
            </a:extLst>
          </p:cNvPr>
          <p:cNvSpPr>
            <a:spLocks noGrp="1"/>
          </p:cNvSpPr>
          <p:nvPr>
            <p:ph idx="1"/>
          </p:nvPr>
        </p:nvSpPr>
        <p:spPr/>
        <p:txBody>
          <a:bodyPr/>
          <a:lstStyle/>
          <a:p>
            <a:r>
              <a:rPr lang="en-US" b="1" dirty="0">
                <a:solidFill>
                  <a:srgbClr val="F1B82D"/>
                </a:solidFill>
                <a:latin typeface="Figtree SemiBold" pitchFamily="2" charset="0"/>
              </a:rPr>
              <a:t>“AIAA Technical Committees consist of worldwide experts in their fields who help develop, support, and administer AIAA products and services, including conferences, publications, awards, and student design contests”</a:t>
            </a:r>
          </a:p>
          <a:p>
            <a:r>
              <a:rPr lang="en-US" dirty="0"/>
              <a:t>TAD expects TCs to exhibit the following characteristics:</a:t>
            </a:r>
          </a:p>
          <a:p>
            <a:pPr marL="285744" indent="-285744">
              <a:buFont typeface="Arial" panose="020B0604020202020204" pitchFamily="34" charset="0"/>
              <a:buChar char="•"/>
            </a:pPr>
            <a:r>
              <a:rPr lang="en-US" sz="1600" dirty="0"/>
              <a:t>Have an up-to-date charter with well-defined and bounded scope that does not significantly overlap other AIAA committees</a:t>
            </a:r>
          </a:p>
          <a:p>
            <a:pPr marL="285744" indent="-285744">
              <a:buFont typeface="Arial" panose="020B0604020202020204" pitchFamily="34" charset="0"/>
              <a:buChar char="•"/>
            </a:pPr>
            <a:r>
              <a:rPr lang="en-US" sz="1600" dirty="0"/>
              <a:t>Be at, or near, 50-member capacity</a:t>
            </a:r>
          </a:p>
          <a:p>
            <a:pPr marL="1028674" lvl="1"/>
            <a:r>
              <a:rPr lang="en-US" sz="1400" dirty="0"/>
              <a:t>Most members active</a:t>
            </a:r>
          </a:p>
          <a:p>
            <a:pPr marL="1028674" lvl="1"/>
            <a:r>
              <a:rPr lang="en-US" sz="1400" dirty="0"/>
              <a:t>Regular roster pruning</a:t>
            </a:r>
          </a:p>
          <a:p>
            <a:pPr marL="1028674" lvl="1"/>
            <a:r>
              <a:rPr lang="en-US" sz="1400" dirty="0"/>
              <a:t>Engaged leadership with succession planning</a:t>
            </a:r>
          </a:p>
          <a:p>
            <a:pPr marL="285744" indent="-285744">
              <a:buFont typeface="Arial" panose="020B0604020202020204" pitchFamily="34" charset="0"/>
              <a:buChar char="•"/>
            </a:pPr>
            <a:r>
              <a:rPr lang="en-US" sz="1600" dirty="0"/>
              <a:t>Hold regular meetings several times per year</a:t>
            </a:r>
          </a:p>
          <a:p>
            <a:pPr marL="285744" indent="-285744">
              <a:buFont typeface="Arial" panose="020B0604020202020204" pitchFamily="34" charset="0"/>
              <a:buChar char="•"/>
            </a:pPr>
            <a:r>
              <a:rPr lang="en-US" sz="1600" dirty="0"/>
              <a:t>Have an efficient—and active—sub-committee structure</a:t>
            </a:r>
          </a:p>
          <a:p>
            <a:pPr marL="285744" indent="-285744">
              <a:buFont typeface="Arial" panose="020B0604020202020204" pitchFamily="34" charset="0"/>
              <a:buChar char="•"/>
            </a:pPr>
            <a:r>
              <a:rPr lang="en-US" sz="1600" dirty="0"/>
              <a:t>Be an active participant in one or more AIAA Forums (conference planning, content solicitation, abstract reviews, session chairing, etc.)</a:t>
            </a:r>
          </a:p>
          <a:p>
            <a:pPr marL="285744" indent="-285744">
              <a:buFont typeface="Arial" panose="020B0604020202020204" pitchFamily="34" charset="0"/>
              <a:buChar char="•"/>
            </a:pPr>
            <a:r>
              <a:rPr lang="en-US" sz="1600" dirty="0"/>
              <a:t>Be responsive to annual tasking (Year-in-Review articles, annual reports, roster updates, etc.)</a:t>
            </a:r>
          </a:p>
        </p:txBody>
      </p:sp>
      <p:sp>
        <p:nvSpPr>
          <p:cNvPr id="6" name="Slide Number Placeholder 1">
            <a:extLst>
              <a:ext uri="{FF2B5EF4-FFF2-40B4-BE49-F238E27FC236}">
                <a16:creationId xmlns:a16="http://schemas.microsoft.com/office/drawing/2014/main" id="{16D91756-1234-9151-8337-B1D01A12979A}"/>
              </a:ext>
            </a:extLst>
          </p:cNvPr>
          <p:cNvSpPr>
            <a:spLocks noGrp="1"/>
          </p:cNvSpPr>
          <p:nvPr>
            <p:ph type="sldNum" sz="quarter" idx="12"/>
          </p:nvPr>
        </p:nvSpPr>
        <p:spPr>
          <a:xfrm>
            <a:off x="11615981" y="6454131"/>
            <a:ext cx="576020" cy="228600"/>
          </a:xfrm>
        </p:spPr>
        <p:txBody>
          <a:bodyPr/>
          <a:lstStyle/>
          <a:p>
            <a:pPr>
              <a:defRPr/>
            </a:pPr>
            <a:fld id="{817B14E4-4B8C-424C-800A-68AABDD4E70E}" type="slidenum">
              <a:rPr lang="en-US" smtClean="0">
                <a:solidFill>
                  <a:schemeClr val="bg1"/>
                </a:solidFill>
              </a:rPr>
              <a:pPr>
                <a:defRPr/>
              </a:pPr>
              <a:t>34</a:t>
            </a:fld>
            <a:endParaRPr lang="en-US" dirty="0">
              <a:solidFill>
                <a:schemeClr val="bg1"/>
              </a:solidFill>
            </a:endParaRPr>
          </a:p>
        </p:txBody>
      </p:sp>
    </p:spTree>
    <p:extLst>
      <p:ext uri="{BB962C8B-B14F-4D97-AF65-F5344CB8AC3E}">
        <p14:creationId xmlns:p14="http://schemas.microsoft.com/office/powerpoint/2010/main" val="1844369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A9D6C-B8E8-0028-81B7-0FE7269C1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8E512-6965-F826-685C-FBDD9EC93867}"/>
              </a:ext>
            </a:extLst>
          </p:cNvPr>
          <p:cNvSpPr>
            <a:spLocks noGrp="1"/>
          </p:cNvSpPr>
          <p:nvPr>
            <p:ph type="title"/>
          </p:nvPr>
        </p:nvSpPr>
        <p:spPr/>
        <p:txBody>
          <a:bodyPr/>
          <a:lstStyle/>
          <a:p>
            <a:r>
              <a:rPr lang="en-US" sz="6400" dirty="0">
                <a:latin typeface="Figtree SemiBold"/>
              </a:rPr>
              <a:t>TAD Updates</a:t>
            </a:r>
          </a:p>
        </p:txBody>
      </p:sp>
      <p:sp>
        <p:nvSpPr>
          <p:cNvPr id="7" name="Slide Number Placeholder 6">
            <a:extLst>
              <a:ext uri="{FF2B5EF4-FFF2-40B4-BE49-F238E27FC236}">
                <a16:creationId xmlns:a16="http://schemas.microsoft.com/office/drawing/2014/main" id="{A7C960F8-1584-CF2D-470C-57A82E365E08}"/>
              </a:ext>
            </a:extLst>
          </p:cNvPr>
          <p:cNvSpPr>
            <a:spLocks noGrp="1"/>
          </p:cNvSpPr>
          <p:nvPr>
            <p:ph type="sldNum" sz="quarter" idx="12"/>
          </p:nvPr>
        </p:nvSpPr>
        <p:spPr/>
        <p:txBody>
          <a:bodyPr/>
          <a:lstStyle/>
          <a:p>
            <a:fld id="{8FBCB428-D880-FC4A-9B26-64132A65A030}" type="slidenum">
              <a:rPr lang="en-US" smtClean="0"/>
              <a:pPr/>
              <a:t>35</a:t>
            </a:fld>
            <a:endParaRPr lang="en-US" dirty="0"/>
          </a:p>
        </p:txBody>
      </p:sp>
      <p:sp>
        <p:nvSpPr>
          <p:cNvPr id="3" name="Slide Number Placeholder 5">
            <a:extLst>
              <a:ext uri="{FF2B5EF4-FFF2-40B4-BE49-F238E27FC236}">
                <a16:creationId xmlns:a16="http://schemas.microsoft.com/office/drawing/2014/main" id="{2C06E36C-7851-3394-0B2C-03A7C84D762C}"/>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35</a:t>
            </a:fld>
            <a:endParaRPr lang="en-US" sz="1000" dirty="0">
              <a:solidFill>
                <a:srgbClr val="FFFFFF"/>
              </a:solidFill>
            </a:endParaRPr>
          </a:p>
        </p:txBody>
      </p:sp>
      <p:cxnSp>
        <p:nvCxnSpPr>
          <p:cNvPr id="4" name="Straight Connector 3">
            <a:extLst>
              <a:ext uri="{FF2B5EF4-FFF2-40B4-BE49-F238E27FC236}">
                <a16:creationId xmlns:a16="http://schemas.microsoft.com/office/drawing/2014/main" id="{08339E55-49C4-5426-9B60-58034A4EE4EE}"/>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1">
            <a:extLst>
              <a:ext uri="{FF2B5EF4-FFF2-40B4-BE49-F238E27FC236}">
                <a16:creationId xmlns:a16="http://schemas.microsoft.com/office/drawing/2014/main" id="{A4084B77-8418-9939-9C97-1435C771B049}"/>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35</a:t>
            </a:fld>
            <a:endParaRPr lang="en-US" dirty="0">
              <a:solidFill>
                <a:srgbClr val="FFFFFF"/>
              </a:solidFill>
            </a:endParaRPr>
          </a:p>
        </p:txBody>
      </p:sp>
      <p:cxnSp>
        <p:nvCxnSpPr>
          <p:cNvPr id="6" name="Straight Connector 5">
            <a:extLst>
              <a:ext uri="{FF2B5EF4-FFF2-40B4-BE49-F238E27FC236}">
                <a16:creationId xmlns:a16="http://schemas.microsoft.com/office/drawing/2014/main" id="{E239A5EF-FFE7-66A0-11C6-BE7DF588EA38}"/>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6351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0958-9514-3689-B200-45CFD4052DA8}"/>
              </a:ext>
            </a:extLst>
          </p:cNvPr>
          <p:cNvSpPr>
            <a:spLocks noGrp="1"/>
          </p:cNvSpPr>
          <p:nvPr>
            <p:ph type="title"/>
          </p:nvPr>
        </p:nvSpPr>
        <p:spPr/>
        <p:txBody>
          <a:bodyPr/>
          <a:lstStyle/>
          <a:p>
            <a:r>
              <a:rPr lang="en-US" dirty="0"/>
              <a:t>New TAD Chief</a:t>
            </a:r>
          </a:p>
        </p:txBody>
      </p:sp>
      <p:sp>
        <p:nvSpPr>
          <p:cNvPr id="3" name="Content Placeholder 2">
            <a:extLst>
              <a:ext uri="{FF2B5EF4-FFF2-40B4-BE49-F238E27FC236}">
                <a16:creationId xmlns:a16="http://schemas.microsoft.com/office/drawing/2014/main" id="{28E71D46-A9A1-8A18-08E2-FA176CEEA7FA}"/>
              </a:ext>
            </a:extLst>
          </p:cNvPr>
          <p:cNvSpPr>
            <a:spLocks noGrp="1"/>
          </p:cNvSpPr>
          <p:nvPr>
            <p:ph idx="1"/>
          </p:nvPr>
        </p:nvSpPr>
        <p:spPr>
          <a:xfrm>
            <a:off x="796638" y="1534332"/>
            <a:ext cx="8316191" cy="4125723"/>
          </a:xfrm>
        </p:spPr>
        <p:txBody>
          <a:bodyPr/>
          <a:lstStyle/>
          <a:p>
            <a:r>
              <a:rPr lang="en-US" sz="3200" b="1" dirty="0"/>
              <a:t>Welcome (back) </a:t>
            </a:r>
            <a:r>
              <a:rPr lang="en-US" sz="3200" b="1" i="1" dirty="0"/>
              <a:t>Rick Mange</a:t>
            </a:r>
            <a:r>
              <a:rPr lang="en-US" sz="3200" b="1" dirty="0"/>
              <a:t>, TAD Chief for the 2026-2029 term</a:t>
            </a:r>
          </a:p>
          <a:p>
            <a:pPr marL="457189" indent="-457189">
              <a:buFont typeface="Arial" panose="020B0604020202020204" pitchFamily="34" charset="0"/>
              <a:buChar char="•"/>
            </a:pPr>
            <a:r>
              <a:rPr lang="en-US" sz="2800" dirty="0"/>
              <a:t>Term runs from May 1, 2026 – April 30, 2029</a:t>
            </a:r>
          </a:p>
          <a:p>
            <a:pPr marL="457189" indent="-457189">
              <a:buFont typeface="Arial" panose="020B0604020202020204" pitchFamily="34" charset="0"/>
              <a:buChar char="•"/>
            </a:pPr>
            <a:r>
              <a:rPr lang="en-US" sz="2800" dirty="0"/>
              <a:t>Bio:</a:t>
            </a:r>
          </a:p>
          <a:p>
            <a:pPr marL="457189" indent="-457189">
              <a:buFont typeface="Arial" panose="020B0604020202020204" pitchFamily="34" charset="0"/>
              <a:buChar char="•"/>
            </a:pPr>
            <a:endParaRPr lang="en-US" sz="2800" dirty="0"/>
          </a:p>
        </p:txBody>
      </p:sp>
      <p:pic>
        <p:nvPicPr>
          <p:cNvPr id="5" name="Picture 4" descr="A person smiling for the camera&#10;&#10;AI-generated content may be incorrect.">
            <a:extLst>
              <a:ext uri="{FF2B5EF4-FFF2-40B4-BE49-F238E27FC236}">
                <a16:creationId xmlns:a16="http://schemas.microsoft.com/office/drawing/2014/main" id="{90D73F22-FFB1-7372-3843-25B884EDF6C5}"/>
              </a:ext>
            </a:extLst>
          </p:cNvPr>
          <p:cNvPicPr>
            <a:picLocks noChangeAspect="1"/>
          </p:cNvPicPr>
          <p:nvPr/>
        </p:nvPicPr>
        <p:blipFill>
          <a:blip r:embed="rId2"/>
          <a:stretch>
            <a:fillRect/>
          </a:stretch>
        </p:blipFill>
        <p:spPr>
          <a:xfrm>
            <a:off x="9157305" y="365126"/>
            <a:ext cx="2617524" cy="2617524"/>
          </a:xfrm>
          <a:prstGeom prst="rect">
            <a:avLst/>
          </a:prstGeom>
        </p:spPr>
      </p:pic>
      <p:sp>
        <p:nvSpPr>
          <p:cNvPr id="6" name="Content Placeholder 2">
            <a:extLst>
              <a:ext uri="{FF2B5EF4-FFF2-40B4-BE49-F238E27FC236}">
                <a16:creationId xmlns:a16="http://schemas.microsoft.com/office/drawing/2014/main" id="{CBF92C39-844F-E14C-3A7A-A6FB2FA245F5}"/>
              </a:ext>
            </a:extLst>
          </p:cNvPr>
          <p:cNvSpPr txBox="1">
            <a:spLocks/>
          </p:cNvSpPr>
          <p:nvPr/>
        </p:nvSpPr>
        <p:spPr>
          <a:xfrm>
            <a:off x="796637" y="3491347"/>
            <a:ext cx="10082647" cy="2617524"/>
          </a:xfrm>
          <a:prstGeom prst="rect">
            <a:avLst/>
          </a:prstGeom>
        </p:spPr>
        <p:txBody>
          <a:bodyPr lIns="0" tIns="0" rIns="0" bIns="0">
            <a:noAutofit/>
          </a:bodyPr>
          <a:lstStyle>
            <a:lvl1pPr marL="0" indent="0" algn="l" defTabSz="914400" rtl="0" eaLnBrk="1" latinLnBrk="0" hangingPunct="1">
              <a:lnSpc>
                <a:spcPct val="90000"/>
              </a:lnSpc>
              <a:spcBef>
                <a:spcPts val="1000"/>
              </a:spcBef>
              <a:buFontTx/>
              <a:buNone/>
              <a:defRPr sz="1800" b="0" i="0" kern="1200">
                <a:solidFill>
                  <a:schemeClr val="tx2"/>
                </a:solidFill>
                <a:latin typeface="Figtree" pitchFamily="2" charset="0"/>
                <a:ea typeface="+mn-ea"/>
                <a:cs typeface="+mn-cs"/>
              </a:defRPr>
            </a:lvl1pPr>
            <a:lvl2pPr marL="742950" indent="-28575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Figtree" pitchFamily="2" charset="0"/>
                <a:ea typeface="+mn-ea"/>
                <a:cs typeface="+mn-cs"/>
              </a:defRPr>
            </a:lvl2pPr>
            <a:lvl3pPr marL="1200150" indent="-28575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Figtree" pitchFamily="2" charset="0"/>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Figtree" pitchFamily="2" charset="0"/>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Figtree"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00121" lvl="1" indent="-457189"/>
            <a:r>
              <a:rPr lang="en-US" sz="2400" dirty="0"/>
              <a:t>Currently Vice President of Lockheed Martin F-35 Engineering, formerly Chief Engineer of F-35 and several Skunk Works Programs</a:t>
            </a:r>
          </a:p>
          <a:p>
            <a:pPr marL="1200121" lvl="1" indent="-457189"/>
            <a:r>
              <a:rPr lang="en-US" sz="2400" dirty="0"/>
              <a:t>AIAA Fellow, 2024</a:t>
            </a:r>
          </a:p>
          <a:p>
            <a:pPr marL="1200121" lvl="1" indent="-457189"/>
            <a:r>
              <a:rPr lang="en-US" sz="2400" dirty="0"/>
              <a:t>Aircraft Technology, Integration, and Operations (ATIO) Group Director, 2020-2023</a:t>
            </a:r>
          </a:p>
          <a:p>
            <a:pPr marL="1200121" lvl="1" indent="-457189"/>
            <a:r>
              <a:rPr lang="en-US" sz="2400" dirty="0"/>
              <a:t>B.S., M.S., and Ph.D. in Aerospace Engineering from University of Illinois at Urbana-Champaign</a:t>
            </a:r>
          </a:p>
          <a:p>
            <a:pPr marL="457189" indent="-457189">
              <a:buFont typeface="Arial" panose="020B0604020202020204" pitchFamily="34" charset="0"/>
              <a:buChar char="•"/>
            </a:pPr>
            <a:endParaRPr lang="en-US" sz="2800" dirty="0"/>
          </a:p>
        </p:txBody>
      </p:sp>
      <p:sp>
        <p:nvSpPr>
          <p:cNvPr id="4" name="TextBox 3">
            <a:extLst>
              <a:ext uri="{FF2B5EF4-FFF2-40B4-BE49-F238E27FC236}">
                <a16:creationId xmlns:a16="http://schemas.microsoft.com/office/drawing/2014/main" id="{15B06677-F402-E311-D190-694031F2D56F}"/>
              </a:ext>
            </a:extLst>
          </p:cNvPr>
          <p:cNvSpPr txBox="1"/>
          <p:nvPr/>
        </p:nvSpPr>
        <p:spPr>
          <a:xfrm>
            <a:off x="2098156" y="6237769"/>
            <a:ext cx="8005137" cy="420564"/>
          </a:xfrm>
          <a:prstGeom prst="rect">
            <a:avLst/>
          </a:prstGeom>
          <a:solidFill>
            <a:schemeClr val="accent2"/>
          </a:solidFill>
        </p:spPr>
        <p:txBody>
          <a:bodyPr wrap="square" rtlCol="0">
            <a:spAutoFit/>
          </a:bodyPr>
          <a:lstStyle/>
          <a:p>
            <a:pPr algn="ctr"/>
            <a:r>
              <a:rPr lang="en-US" sz="2133" i="1" dirty="0">
                <a:solidFill>
                  <a:schemeClr val="bg1"/>
                </a:solidFill>
                <a:latin typeface="Figtree"/>
              </a:rPr>
              <a:t>Many thanks to Lesley Weitz for her leadership these last three years!</a:t>
            </a:r>
          </a:p>
        </p:txBody>
      </p:sp>
      <p:sp>
        <p:nvSpPr>
          <p:cNvPr id="7" name="Slide Number Placeholder 3">
            <a:extLst>
              <a:ext uri="{FF2B5EF4-FFF2-40B4-BE49-F238E27FC236}">
                <a16:creationId xmlns:a16="http://schemas.microsoft.com/office/drawing/2014/main" id="{5F323812-B7AE-B37E-F568-B0B3DE23B6CF}"/>
              </a:ext>
            </a:extLst>
          </p:cNvPr>
          <p:cNvSpPr>
            <a:spLocks noGrp="1"/>
          </p:cNvSpPr>
          <p:nvPr>
            <p:ph type="sldNum" sz="quarter" idx="12"/>
          </p:nvPr>
        </p:nvSpPr>
        <p:spPr>
          <a:xfrm>
            <a:off x="11615981" y="6454131"/>
            <a:ext cx="576020" cy="228600"/>
          </a:xfrm>
        </p:spPr>
        <p:txBody>
          <a:bodyPr/>
          <a:lstStyle/>
          <a:p>
            <a:pPr defTabSz="914377">
              <a:defRPr/>
            </a:pPr>
            <a:fld id="{8FBCB428-D880-FC4A-9B26-64132A65A030}" type="slidenum">
              <a:rPr lang="en-US" sz="900" b="1">
                <a:solidFill>
                  <a:srgbClr val="0070C0"/>
                </a:solidFill>
              </a:rPr>
              <a:pPr defTabSz="914377">
                <a:defRPr/>
              </a:pPr>
              <a:t>36</a:t>
            </a:fld>
            <a:endParaRPr lang="en-US" sz="900" b="1" dirty="0">
              <a:solidFill>
                <a:srgbClr val="0070C0"/>
              </a:solidFill>
            </a:endParaRPr>
          </a:p>
        </p:txBody>
      </p:sp>
    </p:spTree>
    <p:extLst>
      <p:ext uri="{BB962C8B-B14F-4D97-AF65-F5344CB8AC3E}">
        <p14:creationId xmlns:p14="http://schemas.microsoft.com/office/powerpoint/2010/main" val="1263997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FB2304-DEE0-7D3A-B5AE-71411645E96F}"/>
              </a:ext>
            </a:extLst>
          </p:cNvPr>
          <p:cNvSpPr>
            <a:spLocks noGrp="1"/>
          </p:cNvSpPr>
          <p:nvPr>
            <p:ph type="title"/>
          </p:nvPr>
        </p:nvSpPr>
        <p:spPr/>
        <p:txBody>
          <a:bodyPr/>
          <a:lstStyle/>
          <a:p>
            <a:r>
              <a:rPr lang="en-US" dirty="0"/>
              <a:t>Incoming TAD Chief Vision</a:t>
            </a:r>
          </a:p>
        </p:txBody>
      </p:sp>
      <p:sp>
        <p:nvSpPr>
          <p:cNvPr id="5" name="Content Placeholder 4">
            <a:extLst>
              <a:ext uri="{FF2B5EF4-FFF2-40B4-BE49-F238E27FC236}">
                <a16:creationId xmlns:a16="http://schemas.microsoft.com/office/drawing/2014/main" id="{01589E37-E44D-EF7E-5DD9-EEC57DE4495F}"/>
              </a:ext>
            </a:extLst>
          </p:cNvPr>
          <p:cNvSpPr>
            <a:spLocks noGrp="1"/>
          </p:cNvSpPr>
          <p:nvPr>
            <p:ph idx="1"/>
          </p:nvPr>
        </p:nvSpPr>
        <p:spPr/>
        <p:txBody>
          <a:bodyPr/>
          <a:lstStyle/>
          <a:p>
            <a:r>
              <a:rPr lang="en-US" b="1" dirty="0">
                <a:latin typeface="Figtree SemiBold" pitchFamily="2" charset="0"/>
              </a:rPr>
              <a:t>Continually improve the organization and the forum model (Data Driven!!)</a:t>
            </a:r>
          </a:p>
          <a:p>
            <a:pPr marL="285750" indent="-285750">
              <a:buFont typeface="Arial" panose="020B0604020202020204" pitchFamily="34" charset="0"/>
              <a:buChar char="•"/>
            </a:pPr>
            <a:r>
              <a:rPr lang="en-US" dirty="0"/>
              <a:t>Actively seek out and be open to feedback from TC members</a:t>
            </a:r>
          </a:p>
          <a:p>
            <a:pPr marL="285750" indent="-285750">
              <a:buFont typeface="Arial" panose="020B0604020202020204" pitchFamily="34" charset="0"/>
              <a:buChar char="•"/>
            </a:pPr>
            <a:r>
              <a:rPr lang="en-US" dirty="0"/>
              <a:t>Seek to understand and support the needs of our TCs</a:t>
            </a:r>
          </a:p>
          <a:p>
            <a:pPr marL="285750" indent="-285750">
              <a:buFont typeface="Arial" panose="020B0604020202020204" pitchFamily="34" charset="0"/>
              <a:buChar char="•"/>
            </a:pPr>
            <a:r>
              <a:rPr lang="en-US" dirty="0"/>
              <a:t>Right size and align our TCs to current-day realities</a:t>
            </a:r>
          </a:p>
          <a:p>
            <a:pPr marL="285750" indent="-285750">
              <a:buFont typeface="Arial" panose="020B0604020202020204" pitchFamily="34" charset="0"/>
              <a:buChar char="•"/>
            </a:pPr>
            <a:r>
              <a:rPr lang="en-US" dirty="0"/>
              <a:t>Be leaders in driving strategy, to include forums, publications, policy papers, etc</a:t>
            </a:r>
          </a:p>
          <a:p>
            <a:pPr marL="285750" indent="-285750">
              <a:buFont typeface="Arial" panose="020B0604020202020204" pitchFamily="34" charset="0"/>
              <a:buChar char="•"/>
            </a:pPr>
            <a:r>
              <a:rPr lang="en-US" dirty="0"/>
              <a:t>Establish and close actions to resolve forum issues such as paper withdrawals</a:t>
            </a:r>
          </a:p>
          <a:p>
            <a:endParaRPr lang="en-US" b="1" dirty="0">
              <a:latin typeface="Figtree SemiBold" pitchFamily="2" charset="0"/>
            </a:endParaRPr>
          </a:p>
          <a:p>
            <a:r>
              <a:rPr lang="en-US" b="1" dirty="0">
                <a:latin typeface="Figtree SemiBold" pitchFamily="2" charset="0"/>
              </a:rPr>
              <a:t>Collaborate purposefully and professionally with the rest of the institute (Proactive!!)</a:t>
            </a:r>
          </a:p>
          <a:p>
            <a:pPr marL="285750" indent="-285750">
              <a:buFont typeface="Arial" panose="020B0604020202020204" pitchFamily="34" charset="0"/>
              <a:buChar char="•"/>
            </a:pPr>
            <a:r>
              <a:rPr lang="en-US" dirty="0"/>
              <a:t>Work with the TAD Group Directors to solicit new ideas and opportunities from their TCs</a:t>
            </a:r>
          </a:p>
          <a:p>
            <a:pPr marL="285750" indent="-285750">
              <a:buFont typeface="Arial" panose="020B0604020202020204" pitchFamily="34" charset="0"/>
              <a:buChar char="•"/>
            </a:pPr>
            <a:r>
              <a:rPr lang="en-US" dirty="0"/>
              <a:t>Provide data-driven feedback from the TCs to the Council of Directors, the Board of Trustees, and AIAA Executives and Staff to help shape our products and strategies</a:t>
            </a:r>
          </a:p>
          <a:p>
            <a:pPr marL="285750" indent="-285750">
              <a:buFont typeface="Arial" panose="020B0604020202020204" pitchFamily="34" charset="0"/>
              <a:buChar char="•"/>
            </a:pPr>
            <a:r>
              <a:rPr lang="en-US" dirty="0"/>
              <a:t>Actively work with READ and IOD Chiefs to find ways to collaborate in advancing the Institute</a:t>
            </a:r>
          </a:p>
        </p:txBody>
      </p:sp>
      <p:sp>
        <p:nvSpPr>
          <p:cNvPr id="2" name="Slide Number Placeholder 5">
            <a:extLst>
              <a:ext uri="{FF2B5EF4-FFF2-40B4-BE49-F238E27FC236}">
                <a16:creationId xmlns:a16="http://schemas.microsoft.com/office/drawing/2014/main" id="{12FFCAC9-612C-9CC5-5F72-A27C66446A70}"/>
              </a:ext>
            </a:extLst>
          </p:cNvPr>
          <p:cNvSpPr>
            <a:spLocks noGrp="1"/>
          </p:cNvSpPr>
          <p:nvPr>
            <p:ph type="sldNum" sz="quarter" idx="12"/>
          </p:nvPr>
        </p:nvSpPr>
        <p:spPr>
          <a:xfrm>
            <a:off x="11615980" y="6465705"/>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0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6" name="Slide Number Placeholder 5">
            <a:extLst>
              <a:ext uri="{FF2B5EF4-FFF2-40B4-BE49-F238E27FC236}">
                <a16:creationId xmlns:a16="http://schemas.microsoft.com/office/drawing/2014/main" id="{CD597AE9-C912-C49A-DD8F-FA654FDF9726}"/>
              </a:ext>
            </a:extLst>
          </p:cNvPr>
          <p:cNvSpPr txBox="1">
            <a:spLocks/>
          </p:cNvSpPr>
          <p:nvPr/>
        </p:nvSpPr>
        <p:spPr>
          <a:xfrm>
            <a:off x="11629484" y="6456058"/>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lumMod val="65000"/>
                  </a:schemeClr>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Tree>
    <p:extLst>
      <p:ext uri="{BB962C8B-B14F-4D97-AF65-F5344CB8AC3E}">
        <p14:creationId xmlns:p14="http://schemas.microsoft.com/office/powerpoint/2010/main" val="16017894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AE964-0705-7A14-A477-C93B70E7EB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8F69F65-6EEA-4BC8-66FA-91C0EF794901}"/>
              </a:ext>
            </a:extLst>
          </p:cNvPr>
          <p:cNvSpPr>
            <a:spLocks noGrp="1"/>
          </p:cNvSpPr>
          <p:nvPr>
            <p:ph type="title"/>
          </p:nvPr>
        </p:nvSpPr>
        <p:spPr/>
        <p:txBody>
          <a:bodyPr/>
          <a:lstStyle/>
          <a:p>
            <a:r>
              <a:rPr lang="en-US" dirty="0"/>
              <a:t>Incoming TAD Chief Vision (Cont)</a:t>
            </a:r>
          </a:p>
        </p:txBody>
      </p:sp>
      <p:sp>
        <p:nvSpPr>
          <p:cNvPr id="5" name="Content Placeholder 4">
            <a:extLst>
              <a:ext uri="{FF2B5EF4-FFF2-40B4-BE49-F238E27FC236}">
                <a16:creationId xmlns:a16="http://schemas.microsoft.com/office/drawing/2014/main" id="{91E7DDFD-5EF6-5EFF-AAC8-AFE1A6301EA3}"/>
              </a:ext>
            </a:extLst>
          </p:cNvPr>
          <p:cNvSpPr>
            <a:spLocks noGrp="1"/>
          </p:cNvSpPr>
          <p:nvPr>
            <p:ph idx="1"/>
          </p:nvPr>
        </p:nvSpPr>
        <p:spPr/>
        <p:txBody>
          <a:bodyPr/>
          <a:lstStyle/>
          <a:p>
            <a:r>
              <a:rPr lang="en-US" b="1" dirty="0">
                <a:latin typeface="Figtree SemiBold" pitchFamily="2" charset="0"/>
              </a:rPr>
              <a:t>Reduce administrative burden (Free up volunteers and staff for the most important work!!)</a:t>
            </a:r>
          </a:p>
          <a:p>
            <a:pPr marL="285750" indent="-285750">
              <a:buFont typeface="Arial" panose="020B0604020202020204" pitchFamily="34" charset="0"/>
              <a:buChar char="•"/>
            </a:pPr>
            <a:r>
              <a:rPr lang="en-US" dirty="0"/>
              <a:t>Provide and use automation/AI tools for tasks like meeting minutes, data searches and metrics </a:t>
            </a:r>
          </a:p>
          <a:p>
            <a:pPr marL="285750" indent="-285750">
              <a:buFont typeface="Arial" panose="020B0604020202020204" pitchFamily="34" charset="0"/>
              <a:buChar char="•"/>
            </a:pPr>
            <a:r>
              <a:rPr lang="en-US" dirty="0"/>
              <a:t>Develop a go-to list of volunteers outside of elected/selected leadership to reduce individual burdens</a:t>
            </a:r>
          </a:p>
          <a:p>
            <a:pPr marL="285750" indent="-285750">
              <a:buFont typeface="Arial" panose="020B0604020202020204" pitchFamily="34" charset="0"/>
              <a:buChar char="•"/>
            </a:pPr>
            <a:r>
              <a:rPr lang="en-US" dirty="0"/>
              <a:t>Limit meeting numbers and duration – meet with a purpose and end when the purpose is achieved</a:t>
            </a:r>
          </a:p>
          <a:p>
            <a:pPr marL="285750" indent="-285750">
              <a:buFont typeface="Arial" panose="020B0604020202020204" pitchFamily="34" charset="0"/>
              <a:buChar char="•"/>
            </a:pPr>
            <a:endParaRPr lang="en-US" dirty="0"/>
          </a:p>
          <a:p>
            <a:r>
              <a:rPr lang="en-US" b="1" dirty="0">
                <a:latin typeface="Figtree SemiBold" pitchFamily="2" charset="0"/>
              </a:rPr>
              <a:t>Grow the Institute (This is existential!!)</a:t>
            </a:r>
          </a:p>
          <a:p>
            <a:pPr marL="285750" indent="-285750">
              <a:buFont typeface="Arial" panose="020B0604020202020204" pitchFamily="34" charset="0"/>
              <a:buChar char="•"/>
            </a:pPr>
            <a:r>
              <a:rPr lang="en-US" dirty="0"/>
              <a:t>Clearly communicate to members and potential members the value proposition AIAA has to offer; particularly to young professionals to whom AIAA’s professional development activities can be of great value</a:t>
            </a:r>
          </a:p>
          <a:p>
            <a:pPr marL="285750" indent="-285750">
              <a:buFont typeface="Arial" panose="020B0604020202020204" pitchFamily="34" charset="0"/>
              <a:buChar char="•"/>
            </a:pPr>
            <a:r>
              <a:rPr lang="en-US" dirty="0"/>
              <a:t>Clearly communicate to decision makers in Government and Industry, the value proposition of enabling and encouraging young professionals to join AIAA and actively participate</a:t>
            </a:r>
          </a:p>
          <a:p>
            <a:pPr marL="285750" indent="-285750">
              <a:buFont typeface="Arial" panose="020B0604020202020204" pitchFamily="34" charset="0"/>
              <a:buChar char="•"/>
            </a:pPr>
            <a:r>
              <a:rPr lang="en-US" dirty="0"/>
              <a:t>Continue to enhance our Forums, to improve our members experiences and attract new members</a:t>
            </a:r>
          </a:p>
        </p:txBody>
      </p:sp>
      <p:sp>
        <p:nvSpPr>
          <p:cNvPr id="2" name="Slide Number Placeholder 5">
            <a:extLst>
              <a:ext uri="{FF2B5EF4-FFF2-40B4-BE49-F238E27FC236}">
                <a16:creationId xmlns:a16="http://schemas.microsoft.com/office/drawing/2014/main" id="{268060FB-A309-323C-F7E5-786C1DA00131}"/>
              </a:ext>
            </a:extLst>
          </p:cNvPr>
          <p:cNvSpPr>
            <a:spLocks noGrp="1"/>
          </p:cNvSpPr>
          <p:nvPr>
            <p:ph type="sldNum" sz="quarter" idx="12"/>
          </p:nvPr>
        </p:nvSpPr>
        <p:spPr>
          <a:xfrm>
            <a:off x="11615980" y="6465705"/>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0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6" name="Slide Number Placeholder 5">
            <a:extLst>
              <a:ext uri="{FF2B5EF4-FFF2-40B4-BE49-F238E27FC236}">
                <a16:creationId xmlns:a16="http://schemas.microsoft.com/office/drawing/2014/main" id="{4BBA44C0-263E-8CB3-5288-15D21C665508}"/>
              </a:ext>
            </a:extLst>
          </p:cNvPr>
          <p:cNvSpPr txBox="1">
            <a:spLocks/>
          </p:cNvSpPr>
          <p:nvPr/>
        </p:nvSpPr>
        <p:spPr>
          <a:xfrm>
            <a:off x="11629484" y="6456058"/>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lumMod val="65000"/>
                  </a:schemeClr>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Tree>
    <p:extLst>
      <p:ext uri="{BB962C8B-B14F-4D97-AF65-F5344CB8AC3E}">
        <p14:creationId xmlns:p14="http://schemas.microsoft.com/office/powerpoint/2010/main" val="1018340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7493E-C81A-EC1A-0D72-6C55D3C65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35154-B7D5-5786-128A-52F72FBAEB4E}"/>
              </a:ext>
            </a:extLst>
          </p:cNvPr>
          <p:cNvSpPr>
            <a:spLocks noGrp="1"/>
          </p:cNvSpPr>
          <p:nvPr>
            <p:ph type="title"/>
          </p:nvPr>
        </p:nvSpPr>
        <p:spPr/>
        <p:txBody>
          <a:bodyPr/>
          <a:lstStyle/>
          <a:p>
            <a:r>
              <a:rPr lang="en-US" dirty="0"/>
              <a:t>AIAA Director’s Report</a:t>
            </a:r>
          </a:p>
        </p:txBody>
      </p:sp>
      <p:sp>
        <p:nvSpPr>
          <p:cNvPr id="3" name="Text Placeholder 2">
            <a:extLst>
              <a:ext uri="{FF2B5EF4-FFF2-40B4-BE49-F238E27FC236}">
                <a16:creationId xmlns:a16="http://schemas.microsoft.com/office/drawing/2014/main" id="{CF3C33B5-023E-6EFF-40FC-861C0908B81B}"/>
              </a:ext>
            </a:extLst>
          </p:cNvPr>
          <p:cNvSpPr>
            <a:spLocks noGrp="1"/>
          </p:cNvSpPr>
          <p:nvPr>
            <p:ph type="body" idx="1"/>
          </p:nvPr>
        </p:nvSpPr>
        <p:spPr/>
        <p:txBody>
          <a:bodyPr lIns="0" tIns="0" rIns="0" bIns="0" anchor="t"/>
          <a:lstStyle/>
          <a:p>
            <a:r>
              <a:rPr lang="en-US" dirty="0"/>
              <a:t>Michael Lagana</a:t>
            </a:r>
          </a:p>
          <a:p>
            <a:r>
              <a:rPr lang="en-US" dirty="0">
                <a:latin typeface="Figtree"/>
              </a:rPr>
              <a:t>Director, Technical &amp; Integration Communities</a:t>
            </a:r>
            <a:endParaRPr lang="en-US" dirty="0"/>
          </a:p>
        </p:txBody>
      </p:sp>
      <p:sp>
        <p:nvSpPr>
          <p:cNvPr id="4" name="Slide Number Placeholder 3">
            <a:extLst>
              <a:ext uri="{FF2B5EF4-FFF2-40B4-BE49-F238E27FC236}">
                <a16:creationId xmlns:a16="http://schemas.microsoft.com/office/drawing/2014/main" id="{DD2B88A9-142C-75E7-2556-4F1017C4FE2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0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Tree>
    <p:extLst>
      <p:ext uri="{BB962C8B-B14F-4D97-AF65-F5344CB8AC3E}">
        <p14:creationId xmlns:p14="http://schemas.microsoft.com/office/powerpoint/2010/main" val="865377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137A-E456-C127-E3CA-90FBD832C735}"/>
              </a:ext>
            </a:extLst>
          </p:cNvPr>
          <p:cNvSpPr>
            <a:spLocks noGrp="1"/>
          </p:cNvSpPr>
          <p:nvPr>
            <p:ph type="title"/>
          </p:nvPr>
        </p:nvSpPr>
        <p:spPr/>
        <p:txBody>
          <a:bodyPr/>
          <a:lstStyle/>
          <a:p>
            <a:r>
              <a:rPr lang="en-US" dirty="0">
                <a:latin typeface="Figtree SemiBold"/>
              </a:rPr>
              <a:t>Institute Financial Update</a:t>
            </a:r>
            <a:endParaRPr lang="en-US" dirty="0"/>
          </a:p>
        </p:txBody>
      </p:sp>
      <p:pic>
        <p:nvPicPr>
          <p:cNvPr id="5" name="Content Placeholder 4" descr="A screenshot of a black background&#10;&#10;AI-generated content may be incorrect.">
            <a:extLst>
              <a:ext uri="{FF2B5EF4-FFF2-40B4-BE49-F238E27FC236}">
                <a16:creationId xmlns:a16="http://schemas.microsoft.com/office/drawing/2014/main" id="{BE236C6F-ECF5-9F43-6BD6-96FB22703A73}"/>
              </a:ext>
            </a:extLst>
          </p:cNvPr>
          <p:cNvPicPr>
            <a:picLocks noGrp="1" noChangeAspect="1"/>
          </p:cNvPicPr>
          <p:nvPr>
            <p:ph idx="1"/>
          </p:nvPr>
        </p:nvPicPr>
        <p:blipFill>
          <a:blip r:embed="rId3" cstate="email">
            <a:extLst>
              <a:ext uri="{28A0092B-C50C-407E-A947-70E740481C1C}">
                <a14:useLocalDpi xmlns:a14="http://schemas.microsoft.com/office/drawing/2010/main"/>
              </a:ext>
            </a:extLst>
          </a:blip>
          <a:stretch>
            <a:fillRect/>
          </a:stretch>
        </p:blipFill>
        <p:spPr>
          <a:xfrm>
            <a:off x="330572" y="1529291"/>
            <a:ext cx="5440903" cy="3992675"/>
          </a:xfrm>
          <a:prstGeom prst="rect">
            <a:avLst/>
          </a:prstGeom>
        </p:spPr>
      </p:pic>
      <p:sp>
        <p:nvSpPr>
          <p:cNvPr id="4" name="Slide Number Placeholder 3">
            <a:extLst>
              <a:ext uri="{FF2B5EF4-FFF2-40B4-BE49-F238E27FC236}">
                <a16:creationId xmlns:a16="http://schemas.microsoft.com/office/drawing/2014/main" id="{23F66AC9-D117-8F95-0A52-AB934993FBA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pic>
        <p:nvPicPr>
          <p:cNvPr id="6" name="Picture 5" descr="A screen shot of a black background&#10;&#10;AI-generated content may be incorrect.">
            <a:extLst>
              <a:ext uri="{FF2B5EF4-FFF2-40B4-BE49-F238E27FC236}">
                <a16:creationId xmlns:a16="http://schemas.microsoft.com/office/drawing/2014/main" id="{0CD998A1-C029-1A6B-586C-18A67ACAFD4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96116" y="1534130"/>
            <a:ext cx="3836912" cy="3989313"/>
          </a:xfrm>
          <a:prstGeom prst="rect">
            <a:avLst/>
          </a:prstGeom>
        </p:spPr>
      </p:pic>
      <p:pic>
        <p:nvPicPr>
          <p:cNvPr id="7" name="Picture 6" descr="A screenshot of a black and blue screen&#10;&#10;AI-generated content may be incorrect.">
            <a:extLst>
              <a:ext uri="{FF2B5EF4-FFF2-40B4-BE49-F238E27FC236}">
                <a16:creationId xmlns:a16="http://schemas.microsoft.com/office/drawing/2014/main" id="{49FCB47A-8E9E-FD99-6041-0ABDC63EF8C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981194" y="1536700"/>
            <a:ext cx="3904041" cy="3996268"/>
          </a:xfrm>
          <a:prstGeom prst="rect">
            <a:avLst/>
          </a:prstGeom>
        </p:spPr>
      </p:pic>
      <p:pic>
        <p:nvPicPr>
          <p:cNvPr id="8" name="Picture 7" descr="A blue and black rectangle with text&#10;&#10;AI-generated content may be incorrect.">
            <a:extLst>
              <a:ext uri="{FF2B5EF4-FFF2-40B4-BE49-F238E27FC236}">
                <a16:creationId xmlns:a16="http://schemas.microsoft.com/office/drawing/2014/main" id="{F3EDB77F-4D79-0BE5-45E2-677ADE7253A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0" y="5699663"/>
            <a:ext cx="12192000" cy="599150"/>
          </a:xfrm>
          <a:prstGeom prst="rect">
            <a:avLst/>
          </a:prstGeom>
        </p:spPr>
      </p:pic>
    </p:spTree>
    <p:extLst>
      <p:ext uri="{BB962C8B-B14F-4D97-AF65-F5344CB8AC3E}">
        <p14:creationId xmlns:p14="http://schemas.microsoft.com/office/powerpoint/2010/main" val="8143549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1E937-8E1F-6D5D-3418-5E6002951F49}"/>
              </a:ext>
            </a:extLst>
          </p:cNvPr>
          <p:cNvSpPr>
            <a:spLocks noGrp="1"/>
          </p:cNvSpPr>
          <p:nvPr>
            <p:ph type="title"/>
          </p:nvPr>
        </p:nvSpPr>
        <p:spPr/>
        <p:txBody>
          <a:bodyPr/>
          <a:lstStyle/>
          <a:p>
            <a:r>
              <a:rPr lang="en-US" dirty="0">
                <a:latin typeface="Figtree SemiBold"/>
              </a:rPr>
              <a:t>IT Survey Update</a:t>
            </a:r>
          </a:p>
        </p:txBody>
      </p:sp>
      <p:sp>
        <p:nvSpPr>
          <p:cNvPr id="3" name="Content Placeholder 2">
            <a:extLst>
              <a:ext uri="{FF2B5EF4-FFF2-40B4-BE49-F238E27FC236}">
                <a16:creationId xmlns:a16="http://schemas.microsoft.com/office/drawing/2014/main" id="{F2D0B33A-2F97-9E03-E7A5-655B3D9DB200}"/>
              </a:ext>
            </a:extLst>
          </p:cNvPr>
          <p:cNvSpPr>
            <a:spLocks noGrp="1"/>
          </p:cNvSpPr>
          <p:nvPr>
            <p:ph idx="1"/>
          </p:nvPr>
        </p:nvSpPr>
        <p:spPr/>
        <p:txBody>
          <a:bodyPr lIns="0" tIns="0" rIns="0" bIns="0" anchor="t">
            <a:noAutofit/>
          </a:bodyPr>
          <a:lstStyle/>
          <a:p>
            <a:pPr marL="285750" indent="-285750">
              <a:buFont typeface="Arial"/>
              <a:buChar char="•"/>
            </a:pPr>
            <a:r>
              <a:rPr lang="en-US" sz="2800" dirty="0">
                <a:latin typeface="Figtree"/>
              </a:rPr>
              <a:t>AIAA conducted an IT Survey of TCs, IOCs, Regions, and Sections (READ)</a:t>
            </a:r>
            <a:endParaRPr lang="en-US" sz="2800" dirty="0"/>
          </a:p>
          <a:p>
            <a:pPr marL="285750" indent="-285750">
              <a:buFont typeface="Arial"/>
              <a:buChar char="•"/>
            </a:pPr>
            <a:r>
              <a:rPr lang="en-US" sz="2800" dirty="0">
                <a:latin typeface="Figtree"/>
              </a:rPr>
              <a:t>Surveys were conducted in two iterations – fall (October) and spring (February)</a:t>
            </a:r>
          </a:p>
          <a:p>
            <a:pPr marL="285750" indent="-285750">
              <a:buFont typeface="Arial"/>
              <a:buChar char="•"/>
            </a:pPr>
            <a:r>
              <a:rPr lang="en-US" sz="2800" dirty="0">
                <a:latin typeface="Figtree"/>
              </a:rPr>
              <a:t>Purpose: to determine the priority IT focus for TCs, IOCs, and READ</a:t>
            </a:r>
          </a:p>
          <a:p>
            <a:pPr marL="285750" indent="-285750">
              <a:buFont typeface="Arial"/>
              <a:buChar char="•"/>
            </a:pPr>
            <a:r>
              <a:rPr lang="en-US" sz="2800" dirty="0">
                <a:latin typeface="Figtree"/>
              </a:rPr>
              <a:t>Between TAD, IOD, and READ 133 responses were received</a:t>
            </a:r>
          </a:p>
          <a:p>
            <a:pPr marL="285750" indent="-285750">
              <a:buFont typeface="Arial"/>
              <a:buChar char="•"/>
            </a:pPr>
            <a:r>
              <a:rPr lang="en-US" sz="2800" dirty="0">
                <a:latin typeface="Figtree"/>
              </a:rPr>
              <a:t>Results from the survey have informed AIAA staff IT efforts around building collaborative tools and microsites for our communities and these efforts are in progress</a:t>
            </a:r>
          </a:p>
          <a:p>
            <a:pPr marL="285750" indent="-285750">
              <a:buFont typeface="Arial"/>
              <a:buChar char="•"/>
            </a:pPr>
            <a:endParaRPr lang="en-US" sz="2800" dirty="0">
              <a:latin typeface="Figtree"/>
            </a:endParaRPr>
          </a:p>
        </p:txBody>
      </p:sp>
      <p:sp>
        <p:nvSpPr>
          <p:cNvPr id="4" name="Slide Number Placeholder 3">
            <a:extLst>
              <a:ext uri="{FF2B5EF4-FFF2-40B4-BE49-F238E27FC236}">
                <a16:creationId xmlns:a16="http://schemas.microsoft.com/office/drawing/2014/main" id="{8CE946A9-1C7E-2FEA-4BE0-6D9C2C781BB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Tree>
    <p:extLst>
      <p:ext uri="{BB962C8B-B14F-4D97-AF65-F5344CB8AC3E}">
        <p14:creationId xmlns:p14="http://schemas.microsoft.com/office/powerpoint/2010/main" val="15889080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C3747-C034-BD5D-420F-80EEB8865A8F}"/>
              </a:ext>
            </a:extLst>
          </p:cNvPr>
          <p:cNvSpPr>
            <a:spLocks noGrp="1"/>
          </p:cNvSpPr>
          <p:nvPr>
            <p:ph type="title"/>
          </p:nvPr>
        </p:nvSpPr>
        <p:spPr/>
        <p:txBody>
          <a:bodyPr/>
          <a:lstStyle/>
          <a:p>
            <a:r>
              <a:rPr lang="en-US" dirty="0">
                <a:latin typeface="Figtree SemiBold"/>
              </a:rPr>
              <a:t>Important Dates to Remember</a:t>
            </a:r>
            <a:endParaRPr lang="en-US" dirty="0"/>
          </a:p>
        </p:txBody>
      </p:sp>
      <p:sp>
        <p:nvSpPr>
          <p:cNvPr id="3" name="Content Placeholder 2">
            <a:extLst>
              <a:ext uri="{FF2B5EF4-FFF2-40B4-BE49-F238E27FC236}">
                <a16:creationId xmlns:a16="http://schemas.microsoft.com/office/drawing/2014/main" id="{5316EDD6-6819-AA82-FF20-B375269CA71A}"/>
              </a:ext>
            </a:extLst>
          </p:cNvPr>
          <p:cNvSpPr>
            <a:spLocks noGrp="1"/>
          </p:cNvSpPr>
          <p:nvPr>
            <p:ph idx="1"/>
          </p:nvPr>
        </p:nvSpPr>
        <p:spPr>
          <a:xfrm>
            <a:off x="832152" y="1366006"/>
            <a:ext cx="10515600" cy="4125722"/>
          </a:xfrm>
        </p:spPr>
        <p:txBody>
          <a:bodyPr lIns="0" tIns="0" rIns="0" bIns="0" anchor="t">
            <a:noAutofit/>
          </a:bodyPr>
          <a:lstStyle/>
          <a:p>
            <a:pPr marL="285750" indent="-285750">
              <a:buFont typeface="Arial"/>
              <a:buChar char="•"/>
            </a:pPr>
            <a:r>
              <a:rPr lang="en-US" b="1" dirty="0">
                <a:latin typeface="Figtree"/>
              </a:rPr>
              <a:t>Recurring Deadline Cadence (These dates don't change):</a:t>
            </a:r>
          </a:p>
          <a:p>
            <a:pPr marL="1028700" lvl="1">
              <a:buFont typeface="Arial"/>
              <a:buChar char="•"/>
            </a:pPr>
            <a:r>
              <a:rPr lang="en-US" dirty="0">
                <a:latin typeface="Figtree"/>
              </a:rPr>
              <a:t>New Member Cycle: 1 September – 15 October [please designate someone from your TC to review applications!]</a:t>
            </a:r>
          </a:p>
          <a:p>
            <a:pPr marL="1028700" lvl="1">
              <a:buFont typeface="Arial"/>
              <a:buChar char="•"/>
            </a:pPr>
            <a:r>
              <a:rPr lang="en-US" dirty="0">
                <a:latin typeface="Figtree"/>
              </a:rPr>
              <a:t>Rosters due: 31 January</a:t>
            </a:r>
          </a:p>
          <a:p>
            <a:pPr marL="1028700" lvl="1">
              <a:buFont typeface="Arial"/>
              <a:buChar char="•"/>
            </a:pPr>
            <a:r>
              <a:rPr lang="en-US" dirty="0">
                <a:latin typeface="Figtree"/>
              </a:rPr>
              <a:t>Annual Reports due: 31 January</a:t>
            </a:r>
          </a:p>
          <a:p>
            <a:pPr marL="1028700" lvl="1">
              <a:buFont typeface="Arial"/>
              <a:buChar char="•"/>
            </a:pPr>
            <a:r>
              <a:rPr lang="en-US" dirty="0">
                <a:latin typeface="Figtree"/>
              </a:rPr>
              <a:t>New Rosters Effective: 1 May</a:t>
            </a:r>
          </a:p>
          <a:p>
            <a:pPr marL="285750" indent="-285750">
              <a:buFont typeface="Arial"/>
              <a:buChar char="•"/>
            </a:pPr>
            <a:r>
              <a:rPr lang="en-US" dirty="0">
                <a:latin typeface="Figtree"/>
              </a:rPr>
              <a:t>Fellow/Honorary Fellow Nominations: 1 June 2026</a:t>
            </a:r>
          </a:p>
          <a:p>
            <a:pPr marL="285750" indent="-285750">
              <a:buFont typeface="Arial"/>
              <a:buChar char="•"/>
            </a:pPr>
            <a:r>
              <a:rPr lang="en-US" dirty="0">
                <a:latin typeface="Figtree"/>
              </a:rPr>
              <a:t>Fellow/Honorary References: 1 July 2026</a:t>
            </a:r>
          </a:p>
          <a:p>
            <a:pPr marL="285750" indent="-285750">
              <a:buFont typeface="Arial"/>
              <a:buChar char="•"/>
            </a:pPr>
            <a:r>
              <a:rPr lang="en-US" i="1" dirty="0">
                <a:latin typeface="Figtree"/>
              </a:rPr>
              <a:t>Aerospace America Year-In-Review </a:t>
            </a:r>
            <a:r>
              <a:rPr lang="en-US" dirty="0">
                <a:latin typeface="Figtree"/>
              </a:rPr>
              <a:t>Article due to AIAA: 1 September</a:t>
            </a:r>
          </a:p>
          <a:p>
            <a:pPr marL="285750" indent="-285750">
              <a:buFont typeface="Arial"/>
              <a:buChar char="•"/>
            </a:pPr>
            <a:r>
              <a:rPr lang="en-US" dirty="0">
                <a:latin typeface="Figtree"/>
              </a:rPr>
              <a:t>SciTech Committee Room Requests:</a:t>
            </a:r>
          </a:p>
          <a:p>
            <a:pPr marL="1028700" lvl="1">
              <a:buFont typeface="Arial"/>
              <a:buChar char="•"/>
            </a:pPr>
            <a:r>
              <a:rPr lang="en-US" dirty="0">
                <a:latin typeface="Figtree"/>
              </a:rPr>
              <a:t>Portal Opens: 1 August 2026</a:t>
            </a:r>
          </a:p>
          <a:p>
            <a:pPr marL="1028700" lvl="1">
              <a:buFont typeface="Arial"/>
              <a:buChar char="•"/>
            </a:pPr>
            <a:r>
              <a:rPr lang="en-US" dirty="0">
                <a:latin typeface="Figtree"/>
              </a:rPr>
              <a:t>Portal Closes: 15 September 2026</a:t>
            </a:r>
          </a:p>
          <a:p>
            <a:pPr marL="285750" indent="-285750">
              <a:buFont typeface="Arial"/>
              <a:buChar char="•"/>
            </a:pPr>
            <a:r>
              <a:rPr lang="en-US" dirty="0">
                <a:latin typeface="Figtree"/>
              </a:rPr>
              <a:t>SciTech Best Paper Nominations (</a:t>
            </a:r>
            <a:r>
              <a:rPr lang="en-US" u="sng" dirty="0">
                <a:latin typeface="Figtree"/>
              </a:rPr>
              <a:t>watch your e-mails!</a:t>
            </a:r>
            <a:r>
              <a:rPr lang="en-US" dirty="0">
                <a:latin typeface="Figtree"/>
              </a:rPr>
              <a:t>) -</a:t>
            </a:r>
            <a:endParaRPr lang="en-US" dirty="0"/>
          </a:p>
          <a:p>
            <a:pPr marL="1028700" lvl="1">
              <a:buFont typeface="Arial"/>
              <a:buChar char="•"/>
            </a:pPr>
            <a:r>
              <a:rPr lang="en-US" dirty="0">
                <a:latin typeface="Figtree"/>
              </a:rPr>
              <a:t>Portal Opens: 15 June 2026</a:t>
            </a:r>
          </a:p>
          <a:p>
            <a:pPr marL="1028700" lvl="1">
              <a:buFont typeface="Arial"/>
              <a:buChar char="•"/>
            </a:pPr>
            <a:r>
              <a:rPr lang="en-US" dirty="0">
                <a:latin typeface="Figtree"/>
              </a:rPr>
              <a:t>Portal Closes: 1 October 2026</a:t>
            </a:r>
          </a:p>
          <a:p>
            <a:pPr lvl="1" indent="0">
              <a:buNone/>
            </a:pPr>
            <a:endParaRPr lang="en-US" dirty="0">
              <a:latin typeface="Figtree"/>
            </a:endParaRPr>
          </a:p>
        </p:txBody>
      </p:sp>
      <p:sp>
        <p:nvSpPr>
          <p:cNvPr id="4" name="Slide Number Placeholder 3">
            <a:extLst>
              <a:ext uri="{FF2B5EF4-FFF2-40B4-BE49-F238E27FC236}">
                <a16:creationId xmlns:a16="http://schemas.microsoft.com/office/drawing/2014/main" id="{D84CF755-944F-46AA-6A40-90E4B48C9B4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Tree>
    <p:extLst>
      <p:ext uri="{BB962C8B-B14F-4D97-AF65-F5344CB8AC3E}">
        <p14:creationId xmlns:p14="http://schemas.microsoft.com/office/powerpoint/2010/main" val="36048707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29514-2711-EF3A-6DCA-C35C1A6C9A82}"/>
              </a:ext>
            </a:extLst>
          </p:cNvPr>
          <p:cNvSpPr>
            <a:spLocks noGrp="1"/>
          </p:cNvSpPr>
          <p:nvPr>
            <p:ph type="title"/>
          </p:nvPr>
        </p:nvSpPr>
        <p:spPr/>
        <p:txBody>
          <a:bodyPr/>
          <a:lstStyle/>
          <a:p>
            <a:r>
              <a:rPr lang="en-US" dirty="0">
                <a:latin typeface="Figtree SemiBold"/>
              </a:rPr>
              <a:t>Save the Date! New Chair Orientation </a:t>
            </a:r>
            <a:endParaRPr lang="en-US" dirty="0"/>
          </a:p>
        </p:txBody>
      </p:sp>
      <p:sp>
        <p:nvSpPr>
          <p:cNvPr id="3" name="Content Placeholder 2">
            <a:extLst>
              <a:ext uri="{FF2B5EF4-FFF2-40B4-BE49-F238E27FC236}">
                <a16:creationId xmlns:a16="http://schemas.microsoft.com/office/drawing/2014/main" id="{2E5A9FD7-38AA-4DBB-457E-E3B9EB4428E8}"/>
              </a:ext>
            </a:extLst>
          </p:cNvPr>
          <p:cNvSpPr>
            <a:spLocks noGrp="1"/>
          </p:cNvSpPr>
          <p:nvPr>
            <p:ph idx="1"/>
          </p:nvPr>
        </p:nvSpPr>
        <p:spPr/>
        <p:txBody>
          <a:bodyPr lIns="0" tIns="0" rIns="0" bIns="0" anchor="t">
            <a:noAutofit/>
          </a:bodyPr>
          <a:lstStyle/>
          <a:p>
            <a:pPr marL="285750" indent="-285750">
              <a:buFont typeface="Arial"/>
              <a:buChar char="•"/>
            </a:pPr>
            <a:r>
              <a:rPr lang="en-US" dirty="0">
                <a:latin typeface="Figtree"/>
              </a:rPr>
              <a:t>New Chairs! Please </a:t>
            </a:r>
            <a:r>
              <a:rPr lang="en-US" b="1" dirty="0">
                <a:latin typeface="Figtree"/>
              </a:rPr>
              <a:t>Save the Date</a:t>
            </a:r>
            <a:r>
              <a:rPr lang="en-US" dirty="0">
                <a:latin typeface="Figtree"/>
              </a:rPr>
              <a:t> for a new chair orientation: </a:t>
            </a:r>
            <a:endParaRPr lang="en-US" dirty="0"/>
          </a:p>
          <a:p>
            <a:pPr marL="1028700" lvl="1" indent="-285750">
              <a:buFont typeface="Arial"/>
              <a:buChar char="•"/>
            </a:pPr>
            <a:r>
              <a:rPr lang="en-US" dirty="0">
                <a:latin typeface="Figtree"/>
              </a:rPr>
              <a:t>Date: Wednesday, 6/24/2026</a:t>
            </a:r>
            <a:endParaRPr lang="en-US" dirty="0"/>
          </a:p>
          <a:p>
            <a:pPr marL="1028700" lvl="1" indent="-285750">
              <a:buFont typeface="Arial"/>
              <a:buChar char="•"/>
            </a:pPr>
            <a:r>
              <a:rPr lang="en-US" dirty="0">
                <a:latin typeface="Figtree"/>
              </a:rPr>
              <a:t>Time: 12:00pm ET/9:00am PT</a:t>
            </a:r>
            <a:endParaRPr lang="en-US" dirty="0"/>
          </a:p>
          <a:p>
            <a:pPr marL="1028700" lvl="1" indent="-285750">
              <a:buFont typeface="Arial"/>
              <a:buChar char="•"/>
            </a:pPr>
            <a:r>
              <a:rPr lang="en-US" dirty="0">
                <a:latin typeface="Figtree"/>
              </a:rPr>
              <a:t>Via Zoom</a:t>
            </a:r>
          </a:p>
          <a:p>
            <a:pPr marL="1028700" lvl="1">
              <a:buFont typeface="Arial"/>
              <a:buChar char="•"/>
            </a:pPr>
            <a:r>
              <a:rPr lang="en-US" dirty="0">
                <a:latin typeface="Figtree"/>
              </a:rPr>
              <a:t>Invitation to be sent to all TC Chairs, new and experienced – come one, come all!</a:t>
            </a:r>
          </a:p>
          <a:p>
            <a:pPr marL="285750" indent="-285750">
              <a:buFont typeface="Arial"/>
              <a:buChar char="•"/>
            </a:pPr>
            <a:r>
              <a:rPr lang="en-US" dirty="0">
                <a:latin typeface="Figtree"/>
              </a:rPr>
              <a:t>Topics we'll discuss -</a:t>
            </a:r>
          </a:p>
          <a:p>
            <a:pPr marL="1028700" lvl="1">
              <a:buFont typeface="Arial"/>
              <a:buChar char="•"/>
            </a:pPr>
            <a:r>
              <a:rPr lang="en-US" dirty="0">
                <a:latin typeface="Figtree"/>
              </a:rPr>
              <a:t>The Rostering process</a:t>
            </a:r>
          </a:p>
          <a:p>
            <a:pPr marL="1028700" lvl="1">
              <a:buFont typeface="Arial"/>
              <a:buChar char="•"/>
            </a:pPr>
            <a:r>
              <a:rPr lang="en-US" dirty="0">
                <a:latin typeface="Figtree"/>
              </a:rPr>
              <a:t>New Member Applications</a:t>
            </a:r>
          </a:p>
          <a:p>
            <a:pPr marL="1028700" lvl="1">
              <a:buFont typeface="Arial"/>
              <a:buChar char="•"/>
            </a:pPr>
            <a:r>
              <a:rPr lang="en-US" dirty="0">
                <a:latin typeface="Figtree"/>
              </a:rPr>
              <a:t>The importance of your charter and business manuals</a:t>
            </a:r>
            <a:endParaRPr lang="en-US" dirty="0"/>
          </a:p>
          <a:p>
            <a:pPr marL="1028700" lvl="1">
              <a:buFont typeface="Arial"/>
              <a:buChar char="•"/>
            </a:pPr>
            <a:r>
              <a:rPr lang="en-US" dirty="0">
                <a:latin typeface="Figtree"/>
              </a:rPr>
              <a:t>Meeting cadence</a:t>
            </a:r>
          </a:p>
          <a:p>
            <a:pPr marL="1028700" lvl="1">
              <a:buFont typeface="Arial"/>
              <a:buChar char="•"/>
            </a:pPr>
            <a:r>
              <a:rPr lang="en-US" dirty="0">
                <a:latin typeface="Figtree"/>
              </a:rPr>
              <a:t>Staff Organization</a:t>
            </a:r>
          </a:p>
          <a:p>
            <a:pPr marL="1028700" lvl="1">
              <a:buFont typeface="Arial"/>
              <a:buChar char="•"/>
            </a:pPr>
            <a:r>
              <a:rPr lang="en-US" dirty="0">
                <a:latin typeface="Figtree"/>
              </a:rPr>
              <a:t>Volunteer leader fiduciary responsibility</a:t>
            </a:r>
          </a:p>
          <a:p>
            <a:pPr lvl="1" indent="0">
              <a:buNone/>
            </a:pPr>
            <a:endParaRPr lang="en-US" dirty="0"/>
          </a:p>
        </p:txBody>
      </p:sp>
      <p:sp>
        <p:nvSpPr>
          <p:cNvPr id="4" name="Slide Number Placeholder 3">
            <a:extLst>
              <a:ext uri="{FF2B5EF4-FFF2-40B4-BE49-F238E27FC236}">
                <a16:creationId xmlns:a16="http://schemas.microsoft.com/office/drawing/2014/main" id="{4838BDDC-94B1-2052-0BDC-DF6E11FB3A1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5" name="Arrow: Right 4">
            <a:extLst>
              <a:ext uri="{FF2B5EF4-FFF2-40B4-BE49-F238E27FC236}">
                <a16:creationId xmlns:a16="http://schemas.microsoft.com/office/drawing/2014/main" id="{4FE8D014-B75C-FD95-6D7B-89071E0975FE}"/>
              </a:ext>
            </a:extLst>
          </p:cNvPr>
          <p:cNvSpPr/>
          <p:nvPr/>
        </p:nvSpPr>
        <p:spPr>
          <a:xfrm flipH="1">
            <a:off x="7041822" y="1524905"/>
            <a:ext cx="772998" cy="869503"/>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682865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22D9D-63EC-82E9-DFB9-08D9D8519F27}"/>
              </a:ext>
            </a:extLst>
          </p:cNvPr>
          <p:cNvSpPr>
            <a:spLocks noGrp="1"/>
          </p:cNvSpPr>
          <p:nvPr>
            <p:ph type="title"/>
          </p:nvPr>
        </p:nvSpPr>
        <p:spPr/>
        <p:txBody>
          <a:bodyPr/>
          <a:lstStyle/>
          <a:p>
            <a:r>
              <a:rPr lang="en-US" dirty="0">
                <a:latin typeface="Figtree SemiBold"/>
              </a:rPr>
              <a:t>AIAA Open Volunteer Positions – We Need You!</a:t>
            </a:r>
            <a:endParaRPr lang="en-US" dirty="0"/>
          </a:p>
        </p:txBody>
      </p:sp>
      <p:sp>
        <p:nvSpPr>
          <p:cNvPr id="3" name="Content Placeholder 2">
            <a:extLst>
              <a:ext uri="{FF2B5EF4-FFF2-40B4-BE49-F238E27FC236}">
                <a16:creationId xmlns:a16="http://schemas.microsoft.com/office/drawing/2014/main" id="{5A543D7B-DFB5-8696-7356-1CCF064DFF0B}"/>
              </a:ext>
            </a:extLst>
          </p:cNvPr>
          <p:cNvSpPr>
            <a:spLocks noGrp="1"/>
          </p:cNvSpPr>
          <p:nvPr>
            <p:ph idx="1"/>
          </p:nvPr>
        </p:nvSpPr>
        <p:spPr>
          <a:xfrm>
            <a:off x="3857445" y="1825625"/>
            <a:ext cx="7496355" cy="4125722"/>
          </a:xfrm>
        </p:spPr>
        <p:txBody>
          <a:bodyPr lIns="0" tIns="0" rIns="0" bIns="0" anchor="t">
            <a:noAutofit/>
          </a:bodyPr>
          <a:lstStyle/>
          <a:p>
            <a:pPr marL="285750" indent="-285750">
              <a:buFont typeface="Arial"/>
              <a:buChar char="•"/>
            </a:pPr>
            <a:r>
              <a:rPr lang="en-US" sz="2800" b="1" dirty="0">
                <a:latin typeface="Figtree"/>
              </a:rPr>
              <a:t>ATIO Deputy Forum Technical Chair – AVIATION 2027</a:t>
            </a:r>
          </a:p>
          <a:p>
            <a:pPr marL="285750" indent="-285750">
              <a:buFont typeface="Arial"/>
              <a:buChar char="•"/>
            </a:pPr>
            <a:r>
              <a:rPr lang="en-US" sz="2800" b="1" dirty="0">
                <a:latin typeface="Figtree"/>
              </a:rPr>
              <a:t>PEG Deputy Forum Technical Chair – AVIATION 2027</a:t>
            </a:r>
          </a:p>
          <a:p>
            <a:pPr algn="ctr"/>
            <a:endParaRPr lang="en-US" sz="2800" b="1" dirty="0">
              <a:solidFill>
                <a:srgbClr val="FF0000"/>
              </a:solidFill>
              <a:latin typeface="Figtree"/>
            </a:endParaRPr>
          </a:p>
          <a:p>
            <a:pPr algn="ctr"/>
            <a:r>
              <a:rPr lang="en-US" sz="2400" b="1" dirty="0">
                <a:solidFill>
                  <a:srgbClr val="FF0000"/>
                </a:solidFill>
                <a:latin typeface="Figtree"/>
              </a:rPr>
              <a:t>Interested? Have questions?</a:t>
            </a:r>
            <a:endParaRPr lang="en-US" sz="2400" dirty="0"/>
          </a:p>
          <a:p>
            <a:pPr algn="ctr"/>
            <a:endParaRPr lang="en-US" sz="2800" b="1" dirty="0">
              <a:solidFill>
                <a:srgbClr val="FF0000"/>
              </a:solidFill>
              <a:latin typeface="Figtree"/>
            </a:endParaRPr>
          </a:p>
          <a:p>
            <a:pPr algn="ctr"/>
            <a:r>
              <a:rPr lang="en-US" sz="2000" b="1" dirty="0">
                <a:solidFill>
                  <a:srgbClr val="FF0000"/>
                </a:solidFill>
                <a:latin typeface="Figtree"/>
              </a:rPr>
              <a:t>Contact Michael Lagana | </a:t>
            </a:r>
            <a:r>
              <a:rPr lang="en-US" sz="2000" b="1" dirty="0">
                <a:solidFill>
                  <a:srgbClr val="FF0000"/>
                </a:solidFill>
                <a:latin typeface="Figtree"/>
                <a:hlinkClick r:id="rId3"/>
              </a:rPr>
              <a:t>michaell@aiaa.org</a:t>
            </a:r>
            <a:r>
              <a:rPr lang="en-US" sz="2000" b="1" dirty="0">
                <a:solidFill>
                  <a:srgbClr val="FF0000"/>
                </a:solidFill>
                <a:latin typeface="Figtree"/>
              </a:rPr>
              <a:t> OR </a:t>
            </a:r>
          </a:p>
          <a:p>
            <a:pPr algn="ctr"/>
            <a:r>
              <a:rPr lang="en-US" sz="2000" b="1" dirty="0">
                <a:solidFill>
                  <a:srgbClr val="FF0000"/>
                </a:solidFill>
                <a:latin typeface="Figtree"/>
              </a:rPr>
              <a:t>Kim Grant | </a:t>
            </a:r>
            <a:r>
              <a:rPr lang="en-US" sz="2000" b="1" dirty="0">
                <a:solidFill>
                  <a:srgbClr val="FF0000"/>
                </a:solidFill>
                <a:latin typeface="Figtree"/>
                <a:hlinkClick r:id="rId4"/>
              </a:rPr>
              <a:t>kimg@aiaa.org</a:t>
            </a:r>
            <a:r>
              <a:rPr lang="en-US" sz="2000" b="1" dirty="0">
                <a:solidFill>
                  <a:srgbClr val="FF0000"/>
                </a:solidFill>
                <a:latin typeface="Figtree"/>
              </a:rPr>
              <a:t> </a:t>
            </a:r>
            <a:endParaRPr lang="en-US" sz="2000" b="1" dirty="0">
              <a:solidFill>
                <a:srgbClr val="FF0000"/>
              </a:solidFill>
            </a:endParaRPr>
          </a:p>
        </p:txBody>
      </p:sp>
      <p:sp>
        <p:nvSpPr>
          <p:cNvPr id="4" name="Slide Number Placeholder 3">
            <a:extLst>
              <a:ext uri="{FF2B5EF4-FFF2-40B4-BE49-F238E27FC236}">
                <a16:creationId xmlns:a16="http://schemas.microsoft.com/office/drawing/2014/main" id="{76F96F88-D4E6-29C1-C931-E2BD682B0DB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pic>
        <p:nvPicPr>
          <p:cNvPr id="5" name="Picture 4" descr="A person wearing a hat pointing at the camera&#10;&#10;AI-generated content may be incorrect.">
            <a:extLst>
              <a:ext uri="{FF2B5EF4-FFF2-40B4-BE49-F238E27FC236}">
                <a16:creationId xmlns:a16="http://schemas.microsoft.com/office/drawing/2014/main" id="{F6FBCECB-FF5C-E01C-4E58-5AA611BD9FDD}"/>
              </a:ext>
            </a:extLst>
          </p:cNvPr>
          <p:cNvPicPr>
            <a:picLocks noChangeAspect="1"/>
          </p:cNvPicPr>
          <p:nvPr/>
        </p:nvPicPr>
        <p:blipFill>
          <a:blip r:embed="rId5"/>
          <a:stretch>
            <a:fillRect/>
          </a:stretch>
        </p:blipFill>
        <p:spPr>
          <a:xfrm>
            <a:off x="827331" y="1349624"/>
            <a:ext cx="4448175" cy="5095875"/>
          </a:xfrm>
          <a:prstGeom prst="rect">
            <a:avLst/>
          </a:prstGeom>
        </p:spPr>
      </p:pic>
      <p:pic>
        <p:nvPicPr>
          <p:cNvPr id="7" name="Graphic 6" descr="Arrow: Straight with solid fill">
            <a:extLst>
              <a:ext uri="{FF2B5EF4-FFF2-40B4-BE49-F238E27FC236}">
                <a16:creationId xmlns:a16="http://schemas.microsoft.com/office/drawing/2014/main" id="{2D642F35-E4AC-AD08-4D46-77F74066D3C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6200000">
            <a:off x="6774611" y="4378781"/>
            <a:ext cx="684363" cy="684363"/>
          </a:xfrm>
          <a:prstGeom prst="rect">
            <a:avLst/>
          </a:prstGeom>
        </p:spPr>
      </p:pic>
    </p:spTree>
    <p:extLst>
      <p:ext uri="{BB962C8B-B14F-4D97-AF65-F5344CB8AC3E}">
        <p14:creationId xmlns:p14="http://schemas.microsoft.com/office/powerpoint/2010/main" val="39433536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91A5F-76D5-5824-01AA-D6C1D5D30482}"/>
              </a:ext>
            </a:extLst>
          </p:cNvPr>
          <p:cNvSpPr>
            <a:spLocks noGrp="1"/>
          </p:cNvSpPr>
          <p:nvPr>
            <p:ph type="title"/>
          </p:nvPr>
        </p:nvSpPr>
        <p:spPr/>
        <p:txBody>
          <a:bodyPr/>
          <a:lstStyle/>
          <a:p>
            <a:r>
              <a:rPr lang="en-US" dirty="0">
                <a:latin typeface="Figtree SemiBold"/>
              </a:rPr>
              <a:t>BONUS: DEFENSE Forum Call for Technical Briefings</a:t>
            </a:r>
            <a:endParaRPr lang="en-US" dirty="0"/>
          </a:p>
        </p:txBody>
      </p:sp>
      <p:sp>
        <p:nvSpPr>
          <p:cNvPr id="3" name="Content Placeholder 2">
            <a:extLst>
              <a:ext uri="{FF2B5EF4-FFF2-40B4-BE49-F238E27FC236}">
                <a16:creationId xmlns:a16="http://schemas.microsoft.com/office/drawing/2014/main" id="{E1441C62-1F19-FDAD-7EFE-7A22684EE0FB}"/>
              </a:ext>
            </a:extLst>
          </p:cNvPr>
          <p:cNvSpPr>
            <a:spLocks noGrp="1"/>
          </p:cNvSpPr>
          <p:nvPr>
            <p:ph idx="1"/>
          </p:nvPr>
        </p:nvSpPr>
        <p:spPr/>
        <p:txBody>
          <a:bodyPr lIns="0" tIns="0" rIns="0" bIns="0" anchor="t">
            <a:noAutofit/>
          </a:bodyPr>
          <a:lstStyle/>
          <a:p>
            <a:pPr marL="342900" indent="-342900">
              <a:buFont typeface="Arial"/>
              <a:buChar char="•"/>
            </a:pPr>
            <a:r>
              <a:rPr lang="en-US" sz="2400" dirty="0">
                <a:solidFill>
                  <a:srgbClr val="1A3C6D"/>
                </a:solidFill>
                <a:latin typeface="Figtree"/>
              </a:rPr>
              <a:t>All technical communities are welcome to submit abstracts or session ideas through the call for briefings.</a:t>
            </a:r>
            <a:endParaRPr lang="en-US" dirty="0">
              <a:solidFill>
                <a:srgbClr val="1A3C6D"/>
              </a:solidFill>
              <a:latin typeface="Figtree"/>
            </a:endParaRPr>
          </a:p>
          <a:p>
            <a:pPr marL="342900" indent="-342900">
              <a:buFont typeface="Arial"/>
              <a:buChar char="•"/>
            </a:pPr>
            <a:endParaRPr lang="en-US" sz="1400" dirty="0">
              <a:latin typeface="Figtree"/>
            </a:endParaRPr>
          </a:p>
          <a:p>
            <a:pPr algn="ctr"/>
            <a:r>
              <a:rPr lang="en-US" sz="3600" dirty="0">
                <a:latin typeface="Figtree"/>
                <a:hlinkClick r:id="rId2"/>
              </a:rPr>
              <a:t>SUBMIT HERE</a:t>
            </a:r>
            <a:endParaRPr lang="en-US" sz="3600" dirty="0"/>
          </a:p>
          <a:p>
            <a:endParaRPr lang="en-US" sz="2400" dirty="0">
              <a:latin typeface="Figtree"/>
            </a:endParaRPr>
          </a:p>
          <a:p>
            <a:pPr marL="342900" indent="-342900">
              <a:buFont typeface="Arial"/>
              <a:buChar char="•"/>
            </a:pPr>
            <a:r>
              <a:rPr lang="en-US" sz="2400" dirty="0">
                <a:latin typeface="Figtree"/>
              </a:rPr>
              <a:t>Questions? Contact </a:t>
            </a:r>
            <a:r>
              <a:rPr lang="en-US" sz="2400" dirty="0">
                <a:latin typeface="Figtree"/>
                <a:hlinkClick r:id="rId3"/>
              </a:rPr>
              <a:t>conferences@aiaa.org</a:t>
            </a:r>
            <a:r>
              <a:rPr lang="en-US" sz="2400" dirty="0">
                <a:latin typeface="Figtree"/>
              </a:rPr>
              <a:t> </a:t>
            </a:r>
          </a:p>
        </p:txBody>
      </p:sp>
      <p:sp>
        <p:nvSpPr>
          <p:cNvPr id="4" name="Slide Number Placeholder 3">
            <a:extLst>
              <a:ext uri="{FF2B5EF4-FFF2-40B4-BE49-F238E27FC236}">
                <a16:creationId xmlns:a16="http://schemas.microsoft.com/office/drawing/2014/main" id="{9F74CAA1-9666-4A8F-BD26-CCE15619344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Tree>
    <p:extLst>
      <p:ext uri="{BB962C8B-B14F-4D97-AF65-F5344CB8AC3E}">
        <p14:creationId xmlns:p14="http://schemas.microsoft.com/office/powerpoint/2010/main" val="10139428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F422A-9A6C-AB8E-3094-BB866459B045}"/>
              </a:ext>
            </a:extLst>
          </p:cNvPr>
          <p:cNvSpPr>
            <a:spLocks noGrp="1"/>
          </p:cNvSpPr>
          <p:nvPr>
            <p:ph type="title"/>
          </p:nvPr>
        </p:nvSpPr>
        <p:spPr/>
        <p:txBody>
          <a:bodyPr/>
          <a:lstStyle/>
          <a:p>
            <a:r>
              <a:rPr lang="en-US" dirty="0">
                <a:latin typeface="Figtree SemiBold"/>
              </a:rPr>
              <a:t>AIAA Brand Center</a:t>
            </a:r>
            <a:endParaRPr lang="en-US" dirty="0"/>
          </a:p>
        </p:txBody>
      </p:sp>
      <p:sp>
        <p:nvSpPr>
          <p:cNvPr id="3" name="Content Placeholder 2">
            <a:extLst>
              <a:ext uri="{FF2B5EF4-FFF2-40B4-BE49-F238E27FC236}">
                <a16:creationId xmlns:a16="http://schemas.microsoft.com/office/drawing/2014/main" id="{E037D5B1-4C6F-6490-4474-362CEC4F547C}"/>
              </a:ext>
            </a:extLst>
          </p:cNvPr>
          <p:cNvSpPr>
            <a:spLocks noGrp="1"/>
          </p:cNvSpPr>
          <p:nvPr>
            <p:ph idx="1"/>
          </p:nvPr>
        </p:nvSpPr>
        <p:spPr>
          <a:xfrm>
            <a:off x="838200" y="1825625"/>
            <a:ext cx="3990975" cy="4173347"/>
          </a:xfrm>
        </p:spPr>
        <p:txBody>
          <a:bodyPr lIns="0" tIns="0" rIns="0" bIns="0" anchor="t">
            <a:noAutofit/>
          </a:bodyPr>
          <a:lstStyle/>
          <a:p>
            <a:r>
              <a:rPr lang="en-US" dirty="0">
                <a:latin typeface="Figtree"/>
              </a:rPr>
              <a:t>Everything you need for branding and communications, in one place.</a:t>
            </a:r>
            <a:endParaRPr lang="en-US" b="1" dirty="0"/>
          </a:p>
          <a:p>
            <a:pPr marL="285750" indent="-285750">
              <a:buFont typeface="Wingdings"/>
              <a:buChar char="ü"/>
            </a:pPr>
            <a:r>
              <a:rPr lang="en-US" dirty="0">
                <a:latin typeface="Figtree"/>
              </a:rPr>
              <a:t>TC Logos</a:t>
            </a:r>
          </a:p>
          <a:p>
            <a:pPr marL="285750" indent="-285750">
              <a:buFont typeface="Wingdings"/>
              <a:buChar char="ü"/>
            </a:pPr>
            <a:r>
              <a:rPr lang="en-US" dirty="0">
                <a:latin typeface="Figtree"/>
              </a:rPr>
              <a:t>PowerPoint Templates</a:t>
            </a:r>
          </a:p>
          <a:p>
            <a:pPr marL="285750" indent="-285750">
              <a:buFont typeface="Wingdings"/>
              <a:buChar char="ü"/>
            </a:pPr>
            <a:r>
              <a:rPr lang="en-US" dirty="0">
                <a:latin typeface="Figtree"/>
              </a:rPr>
              <a:t>Zoom backgrounds</a:t>
            </a:r>
          </a:p>
          <a:p>
            <a:pPr marL="285750" indent="-285750">
              <a:buFont typeface="Wingdings"/>
              <a:buChar char="ü"/>
            </a:pPr>
            <a:r>
              <a:rPr lang="en-US" dirty="0">
                <a:latin typeface="Figtree"/>
              </a:rPr>
              <a:t>A full branding guide</a:t>
            </a:r>
            <a:endParaRPr lang="en-US" dirty="0"/>
          </a:p>
          <a:p>
            <a:pPr marL="285750" indent="-285750">
              <a:buFont typeface="Wingdings"/>
              <a:buChar char="ü"/>
            </a:pPr>
            <a:r>
              <a:rPr lang="en-US" dirty="0">
                <a:latin typeface="Figtree"/>
              </a:rPr>
              <a:t>...and much more</a:t>
            </a:r>
            <a:endParaRPr lang="en-US" dirty="0"/>
          </a:p>
          <a:p>
            <a:endParaRPr lang="en-US" dirty="0">
              <a:latin typeface="Figtree"/>
            </a:endParaRPr>
          </a:p>
          <a:p>
            <a:pPr algn="ctr"/>
            <a:r>
              <a:rPr lang="en-US" sz="2400" b="1" dirty="0">
                <a:latin typeface="Figtree"/>
                <a:hlinkClick r:id="rId2"/>
              </a:rPr>
              <a:t>CLICK HERE</a:t>
            </a:r>
            <a:endParaRPr lang="en-US" sz="2400" b="1" dirty="0">
              <a:latin typeface="Figtree"/>
            </a:endParaRPr>
          </a:p>
          <a:p>
            <a:endParaRPr lang="en-US" dirty="0"/>
          </a:p>
        </p:txBody>
      </p:sp>
      <p:sp>
        <p:nvSpPr>
          <p:cNvPr id="4" name="Slide Number Placeholder 3">
            <a:extLst>
              <a:ext uri="{FF2B5EF4-FFF2-40B4-BE49-F238E27FC236}">
                <a16:creationId xmlns:a16="http://schemas.microsoft.com/office/drawing/2014/main" id="{00454761-7AB7-0955-FBBB-054EEFE7C37B}"/>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pic>
        <p:nvPicPr>
          <p:cNvPr id="5" name="Picture 4">
            <a:extLst>
              <a:ext uri="{FF2B5EF4-FFF2-40B4-BE49-F238E27FC236}">
                <a16:creationId xmlns:a16="http://schemas.microsoft.com/office/drawing/2014/main" id="{D4C01C68-5AC1-7E86-3361-38A2572FF6D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88331" y="1266825"/>
            <a:ext cx="4873089" cy="4333875"/>
          </a:xfrm>
          <a:prstGeom prst="rect">
            <a:avLst/>
          </a:prstGeom>
        </p:spPr>
      </p:pic>
      <p:pic>
        <p:nvPicPr>
          <p:cNvPr id="6" name="Picture 5">
            <a:extLst>
              <a:ext uri="{FF2B5EF4-FFF2-40B4-BE49-F238E27FC236}">
                <a16:creationId xmlns:a16="http://schemas.microsoft.com/office/drawing/2014/main" id="{6EC04214-C510-BF48-F20D-53BBBE15578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451923" y="4701371"/>
            <a:ext cx="294504" cy="294504"/>
          </a:xfrm>
          <a:prstGeom prst="rect">
            <a:avLst/>
          </a:prstGeom>
        </p:spPr>
      </p:pic>
    </p:spTree>
    <p:extLst>
      <p:ext uri="{BB962C8B-B14F-4D97-AF65-F5344CB8AC3E}">
        <p14:creationId xmlns:p14="http://schemas.microsoft.com/office/powerpoint/2010/main" val="8029363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C61E3-F24F-6B3D-1DCC-1B247C8A592C}"/>
              </a:ext>
            </a:extLst>
          </p:cNvPr>
          <p:cNvSpPr>
            <a:spLocks noGrp="1"/>
          </p:cNvSpPr>
          <p:nvPr>
            <p:ph type="title"/>
          </p:nvPr>
        </p:nvSpPr>
        <p:spPr/>
        <p:txBody>
          <a:bodyPr/>
          <a:lstStyle/>
          <a:p>
            <a:r>
              <a:rPr lang="en-US" sz="4800" dirty="0">
                <a:latin typeface="Arial" panose="020B0604020202020204" pitchFamily="34" charset="0"/>
                <a:cs typeface="Arial" panose="020B0604020202020204" pitchFamily="34" charset="0"/>
              </a:rPr>
              <a:t>AIAA Updates</a:t>
            </a:r>
          </a:p>
        </p:txBody>
      </p:sp>
      <p:sp>
        <p:nvSpPr>
          <p:cNvPr id="3" name="Slide Number Placeholder 2">
            <a:extLst>
              <a:ext uri="{FF2B5EF4-FFF2-40B4-BE49-F238E27FC236}">
                <a16:creationId xmlns:a16="http://schemas.microsoft.com/office/drawing/2014/main" id="{92DC51E3-1662-D8D1-0560-D912D60E270B}"/>
              </a:ext>
            </a:extLst>
          </p:cNvPr>
          <p:cNvSpPr>
            <a:spLocks noGrp="1"/>
          </p:cNvSpPr>
          <p:nvPr>
            <p:ph type="sldNum" sz="quarter" idx="12"/>
          </p:nvPr>
        </p:nvSpPr>
        <p:spPr/>
        <p:txBody>
          <a:bodyPr/>
          <a:lstStyle/>
          <a:p>
            <a:fld id="{8FBCB428-D880-FC4A-9B26-64132A65A030}" type="slidenum">
              <a:rPr lang="en-US" smtClean="0"/>
              <a:pPr/>
              <a:t>47</a:t>
            </a:fld>
            <a:endParaRPr lang="en-US" dirty="0"/>
          </a:p>
        </p:txBody>
      </p:sp>
      <p:sp>
        <p:nvSpPr>
          <p:cNvPr id="4" name="Slide Number Placeholder 5">
            <a:extLst>
              <a:ext uri="{FF2B5EF4-FFF2-40B4-BE49-F238E27FC236}">
                <a16:creationId xmlns:a16="http://schemas.microsoft.com/office/drawing/2014/main" id="{817F34E2-2837-1340-B80A-6B44A4A3AFA6}"/>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47</a:t>
            </a:fld>
            <a:endParaRPr lang="en-US" sz="1000" dirty="0">
              <a:solidFill>
                <a:srgbClr val="FFFFFF"/>
              </a:solidFill>
            </a:endParaRPr>
          </a:p>
        </p:txBody>
      </p:sp>
      <p:cxnSp>
        <p:nvCxnSpPr>
          <p:cNvPr id="5" name="Straight Connector 4">
            <a:extLst>
              <a:ext uri="{FF2B5EF4-FFF2-40B4-BE49-F238E27FC236}">
                <a16:creationId xmlns:a16="http://schemas.microsoft.com/office/drawing/2014/main" id="{D5E0C528-7DAE-2869-DF4D-4C2918E7CFAE}"/>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Slide Number Placeholder 1">
            <a:extLst>
              <a:ext uri="{FF2B5EF4-FFF2-40B4-BE49-F238E27FC236}">
                <a16:creationId xmlns:a16="http://schemas.microsoft.com/office/drawing/2014/main" id="{728E15A6-E870-39C9-2C2E-D52A8155CF49}"/>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47</a:t>
            </a:fld>
            <a:endParaRPr lang="en-US" dirty="0">
              <a:solidFill>
                <a:srgbClr val="FFFFFF"/>
              </a:solidFill>
            </a:endParaRPr>
          </a:p>
        </p:txBody>
      </p:sp>
      <p:cxnSp>
        <p:nvCxnSpPr>
          <p:cNvPr id="7" name="Straight Connector 6">
            <a:extLst>
              <a:ext uri="{FF2B5EF4-FFF2-40B4-BE49-F238E27FC236}">
                <a16:creationId xmlns:a16="http://schemas.microsoft.com/office/drawing/2014/main" id="{982C0AE5-3E0D-153F-A433-C76F761B7AF1}"/>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107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0536E-69F2-6757-108A-2D5055CDB795}"/>
              </a:ext>
            </a:extLst>
          </p:cNvPr>
          <p:cNvSpPr>
            <a:spLocks noGrp="1"/>
          </p:cNvSpPr>
          <p:nvPr>
            <p:ph type="title"/>
          </p:nvPr>
        </p:nvSpPr>
        <p:spPr/>
        <p:txBody>
          <a:bodyPr/>
          <a:lstStyle/>
          <a:p>
            <a:r>
              <a:rPr lang="en-US" dirty="0"/>
              <a:t>AIAA President</a:t>
            </a:r>
          </a:p>
        </p:txBody>
      </p:sp>
      <p:sp>
        <p:nvSpPr>
          <p:cNvPr id="15" name="Content Placeholder 14">
            <a:extLst>
              <a:ext uri="{FF2B5EF4-FFF2-40B4-BE49-F238E27FC236}">
                <a16:creationId xmlns:a16="http://schemas.microsoft.com/office/drawing/2014/main" id="{D54FE8A1-0378-D519-3B49-9511011AE392}"/>
              </a:ext>
            </a:extLst>
          </p:cNvPr>
          <p:cNvSpPr>
            <a:spLocks noGrp="1"/>
          </p:cNvSpPr>
          <p:nvPr>
            <p:ph idx="1"/>
          </p:nvPr>
        </p:nvSpPr>
        <p:spPr/>
        <p:txBody>
          <a:bodyPr/>
          <a:lstStyle/>
          <a:p>
            <a:r>
              <a:rPr lang="en-US" sz="2400" dirty="0"/>
              <a:t>Transition to new President occurred earlier this week</a:t>
            </a:r>
          </a:p>
        </p:txBody>
      </p:sp>
      <p:grpSp>
        <p:nvGrpSpPr>
          <p:cNvPr id="17" name="Group 16">
            <a:extLst>
              <a:ext uri="{FF2B5EF4-FFF2-40B4-BE49-F238E27FC236}">
                <a16:creationId xmlns:a16="http://schemas.microsoft.com/office/drawing/2014/main" id="{1460D8D3-8BFD-7849-33DC-5352953BE613}"/>
              </a:ext>
            </a:extLst>
          </p:cNvPr>
          <p:cNvGrpSpPr/>
          <p:nvPr/>
        </p:nvGrpSpPr>
        <p:grpSpPr>
          <a:xfrm>
            <a:off x="7300041" y="2557396"/>
            <a:ext cx="4096512" cy="3315938"/>
            <a:chOff x="7300041" y="2557396"/>
            <a:chExt cx="4096512" cy="3315938"/>
          </a:xfrm>
        </p:grpSpPr>
        <p:pic>
          <p:nvPicPr>
            <p:cNvPr id="5" name="Picture 4" descr="Graphical user interface&#10;&#10;Description automatically generated">
              <a:extLst>
                <a:ext uri="{FF2B5EF4-FFF2-40B4-BE49-F238E27FC236}">
                  <a16:creationId xmlns:a16="http://schemas.microsoft.com/office/drawing/2014/main" id="{AFA2EBF8-5E4C-9FB7-C0E9-C7E08426F9AB}"/>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8435927" y="2557396"/>
              <a:ext cx="1819200" cy="18928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7">
              <a:extLst>
                <a:ext uri="{FF2B5EF4-FFF2-40B4-BE49-F238E27FC236}">
                  <a16:creationId xmlns:a16="http://schemas.microsoft.com/office/drawing/2014/main" id="{37F9E4A8-194B-EAC6-4A9A-2E30E398D30A}"/>
                </a:ext>
              </a:extLst>
            </p:cNvPr>
            <p:cNvSpPr/>
            <p:nvPr/>
          </p:nvSpPr>
          <p:spPr>
            <a:xfrm>
              <a:off x="7300041" y="4520022"/>
              <a:ext cx="4096512" cy="135331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sz="1600" dirty="0">
                  <a:latin typeface="Figtree"/>
                </a:rPr>
                <a:t>Dana “Keoki” Jackson, Sc.D.</a:t>
              </a:r>
            </a:p>
            <a:p>
              <a:r>
                <a:rPr lang="en-US" sz="1600" i="1" dirty="0">
                  <a:latin typeface="Figtree"/>
                </a:rPr>
                <a:t>Senior Vice President, General Manager</a:t>
              </a:r>
              <a:br>
                <a:rPr lang="en-US" sz="1600" i="1" dirty="0">
                  <a:latin typeface="Figtree"/>
                </a:rPr>
              </a:br>
              <a:r>
                <a:rPr lang="en-US" sz="1600" i="1" dirty="0">
                  <a:latin typeface="Figtree"/>
                </a:rPr>
                <a:t>MITRE National Security</a:t>
              </a:r>
            </a:p>
            <a:p>
              <a:r>
                <a:rPr lang="en-US" sz="1600" dirty="0">
                  <a:latin typeface="Figtree"/>
                </a:rPr>
                <a:t>The MITRE Corporation</a:t>
              </a:r>
            </a:p>
          </p:txBody>
        </p:sp>
      </p:grpSp>
      <p:grpSp>
        <p:nvGrpSpPr>
          <p:cNvPr id="13" name="Group 12">
            <a:extLst>
              <a:ext uri="{FF2B5EF4-FFF2-40B4-BE49-F238E27FC236}">
                <a16:creationId xmlns:a16="http://schemas.microsoft.com/office/drawing/2014/main" id="{13F2AAC7-5EA5-B9C7-CEDD-018C0529EA0F}"/>
              </a:ext>
            </a:extLst>
          </p:cNvPr>
          <p:cNvGrpSpPr/>
          <p:nvPr/>
        </p:nvGrpSpPr>
        <p:grpSpPr>
          <a:xfrm>
            <a:off x="793758" y="2557396"/>
            <a:ext cx="4098204" cy="3315939"/>
            <a:chOff x="425197" y="1875434"/>
            <a:chExt cx="3073653" cy="2486954"/>
          </a:xfrm>
        </p:grpSpPr>
        <p:pic>
          <p:nvPicPr>
            <p:cNvPr id="9" name="Picture 8">
              <a:extLst>
                <a:ext uri="{FF2B5EF4-FFF2-40B4-BE49-F238E27FC236}">
                  <a16:creationId xmlns:a16="http://schemas.microsoft.com/office/drawing/2014/main" id="{6A71349E-BE9D-6E68-65CD-77F4C41439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95646" y="1875434"/>
              <a:ext cx="1332753" cy="1416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Rectangle 9">
              <a:extLst>
                <a:ext uri="{FF2B5EF4-FFF2-40B4-BE49-F238E27FC236}">
                  <a16:creationId xmlns:a16="http://schemas.microsoft.com/office/drawing/2014/main" id="{CF7FECF6-858D-301D-1C03-268DE76A5A4B}"/>
                </a:ext>
              </a:extLst>
            </p:cNvPr>
            <p:cNvSpPr/>
            <p:nvPr/>
          </p:nvSpPr>
          <p:spPr>
            <a:xfrm>
              <a:off x="425197" y="3348188"/>
              <a:ext cx="3073653" cy="10142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sz="1600" dirty="0">
                  <a:latin typeface="Figtree"/>
                </a:rPr>
                <a:t>Daniel E. Hastings</a:t>
              </a:r>
            </a:p>
            <a:p>
              <a:r>
                <a:rPr lang="en-US" sz="1600" i="1" dirty="0">
                  <a:latin typeface="Figtree"/>
                </a:rPr>
                <a:t>Cecil and Ida Green Education Professor of Aeronautics and Astronautics</a:t>
              </a:r>
            </a:p>
            <a:p>
              <a:r>
                <a:rPr lang="en-US" sz="1600" dirty="0">
                  <a:latin typeface="Figtree"/>
                </a:rPr>
                <a:t>Massachusetts Institute of Technology</a:t>
              </a:r>
            </a:p>
          </p:txBody>
        </p:sp>
      </p:grpSp>
      <p:sp>
        <p:nvSpPr>
          <p:cNvPr id="16" name="Arrow: Right 15">
            <a:extLst>
              <a:ext uri="{FF2B5EF4-FFF2-40B4-BE49-F238E27FC236}">
                <a16:creationId xmlns:a16="http://schemas.microsoft.com/office/drawing/2014/main" id="{9CDEC138-4DF7-63A2-4A9C-F4EA94E73405}"/>
              </a:ext>
            </a:extLst>
          </p:cNvPr>
          <p:cNvSpPr/>
          <p:nvPr/>
        </p:nvSpPr>
        <p:spPr>
          <a:xfrm>
            <a:off x="4251489" y="2892056"/>
            <a:ext cx="3685880" cy="1077433"/>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4" name="Slide Number Placeholder 5">
            <a:extLst>
              <a:ext uri="{FF2B5EF4-FFF2-40B4-BE49-F238E27FC236}">
                <a16:creationId xmlns:a16="http://schemas.microsoft.com/office/drawing/2014/main" id="{CBE070C1-8BA4-98CE-F491-39D31BAC6C9A}"/>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48</a:t>
            </a:fld>
            <a:endParaRPr lang="en-US" sz="1000" dirty="0">
              <a:solidFill>
                <a:srgbClr val="FFFFFF"/>
              </a:solidFill>
            </a:endParaRPr>
          </a:p>
        </p:txBody>
      </p:sp>
      <p:cxnSp>
        <p:nvCxnSpPr>
          <p:cNvPr id="6" name="Straight Connector 5">
            <a:extLst>
              <a:ext uri="{FF2B5EF4-FFF2-40B4-BE49-F238E27FC236}">
                <a16:creationId xmlns:a16="http://schemas.microsoft.com/office/drawing/2014/main" id="{AECA213D-9CCE-7637-8822-20C1B3E30881}"/>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Slide Number Placeholder 1">
            <a:extLst>
              <a:ext uri="{FF2B5EF4-FFF2-40B4-BE49-F238E27FC236}">
                <a16:creationId xmlns:a16="http://schemas.microsoft.com/office/drawing/2014/main" id="{80D95ACB-B7CC-299C-0966-C10C76E97238}"/>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48</a:t>
            </a:fld>
            <a:endParaRPr lang="en-US" dirty="0">
              <a:solidFill>
                <a:srgbClr val="FFFFFF"/>
              </a:solidFill>
            </a:endParaRPr>
          </a:p>
        </p:txBody>
      </p:sp>
      <p:cxnSp>
        <p:nvCxnSpPr>
          <p:cNvPr id="11" name="Straight Connector 10">
            <a:extLst>
              <a:ext uri="{FF2B5EF4-FFF2-40B4-BE49-F238E27FC236}">
                <a16:creationId xmlns:a16="http://schemas.microsoft.com/office/drawing/2014/main" id="{4A44F72C-489E-A164-0494-E2C590E027BD}"/>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Slide Number Placeholder 11">
            <a:extLst>
              <a:ext uri="{FF2B5EF4-FFF2-40B4-BE49-F238E27FC236}">
                <a16:creationId xmlns:a16="http://schemas.microsoft.com/office/drawing/2014/main" id="{BEEDBC4B-A698-2932-6291-6AC317C786F1}"/>
              </a:ext>
            </a:extLst>
          </p:cNvPr>
          <p:cNvSpPr>
            <a:spLocks noGrp="1"/>
          </p:cNvSpPr>
          <p:nvPr>
            <p:ph type="sldNum" sz="quarter" idx="12"/>
          </p:nvPr>
        </p:nvSpPr>
        <p:spPr/>
        <p:txBody>
          <a:bodyPr/>
          <a:lstStyle/>
          <a:p>
            <a:fld id="{8FBCB428-D880-FC4A-9B26-64132A65A030}" type="slidenum">
              <a:rPr lang="en-US" smtClean="0"/>
              <a:pPr/>
              <a:t>48</a:t>
            </a:fld>
            <a:endParaRPr lang="en-US" dirty="0"/>
          </a:p>
        </p:txBody>
      </p:sp>
      <p:pic>
        <p:nvPicPr>
          <p:cNvPr id="14" name="Picture 13" descr="Gavel resting on block">
            <a:extLst>
              <a:ext uri="{FF2B5EF4-FFF2-40B4-BE49-F238E27FC236}">
                <a16:creationId xmlns:a16="http://schemas.microsoft.com/office/drawing/2014/main" id="{877DB42C-19BC-D645-6DE9-BD20E1B8470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186763" y="2819377"/>
            <a:ext cx="1834186" cy="1222790"/>
          </a:xfrm>
          <a:prstGeom prst="rect">
            <a:avLst/>
          </a:prstGeom>
        </p:spPr>
      </p:pic>
    </p:spTree>
    <p:extLst>
      <p:ext uri="{BB962C8B-B14F-4D97-AF65-F5344CB8AC3E}">
        <p14:creationId xmlns:p14="http://schemas.microsoft.com/office/powerpoint/2010/main" val="4815912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5447A-1857-E3FD-6912-DC5BBF6633C0}"/>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D0F17693-CD0E-4C83-5A5F-FD5F7DAE5968}"/>
              </a:ext>
            </a:extLst>
          </p:cNvPr>
          <p:cNvSpPr txBox="1">
            <a:spLocks/>
          </p:cNvSpPr>
          <p:nvPr/>
        </p:nvSpPr>
        <p:spPr>
          <a:xfrm>
            <a:off x="736657" y="643031"/>
            <a:ext cx="10657484" cy="1169207"/>
          </a:xfrm>
          <a:prstGeom prst="rect">
            <a:avLst/>
          </a:prstGeom>
        </p:spPr>
        <p:txBody>
          <a:bodyPr lIns="0" tIns="0" rIns="0" bIns="0" anchor="t">
            <a:noAutofit/>
          </a:bodyPr>
          <a:lstStyle>
            <a:lvl1pPr algn="l" defTabSz="914400" rtl="0" eaLnBrk="1" latinLnBrk="0" hangingPunct="1">
              <a:lnSpc>
                <a:spcPct val="80000"/>
              </a:lnSpc>
              <a:spcBef>
                <a:spcPct val="0"/>
              </a:spcBef>
              <a:buNone/>
              <a:defRPr sz="4400" b="1" i="0" kern="1200">
                <a:solidFill>
                  <a:schemeClr val="accent2"/>
                </a:solidFill>
                <a:latin typeface="Figtree SemiBold" pitchFamily="2" charset="0"/>
                <a:ea typeface="+mj-ea"/>
                <a:cs typeface="+mj-cs"/>
              </a:defRPr>
            </a:lvl1pPr>
          </a:lstStyle>
          <a:p>
            <a:r>
              <a:rPr lang="en-US" sz="3600" dirty="0">
                <a:solidFill>
                  <a:schemeClr val="bg1"/>
                </a:solidFill>
              </a:rPr>
              <a:t>AIAA Events Staff Updates</a:t>
            </a:r>
          </a:p>
        </p:txBody>
      </p:sp>
      <p:sp>
        <p:nvSpPr>
          <p:cNvPr id="2" name="Slide Number Placeholder 1">
            <a:extLst>
              <a:ext uri="{FF2B5EF4-FFF2-40B4-BE49-F238E27FC236}">
                <a16:creationId xmlns:a16="http://schemas.microsoft.com/office/drawing/2014/main" id="{222C03A1-792D-2DFC-619C-95874C67D75E}"/>
              </a:ext>
            </a:extLst>
          </p:cNvPr>
          <p:cNvSpPr>
            <a:spLocks noGrp="1"/>
          </p:cNvSpPr>
          <p:nvPr>
            <p:ph type="sldNum" sz="quarter" idx="12"/>
          </p:nvPr>
        </p:nvSpPr>
        <p:spPr/>
        <p:txBody>
          <a:bodyPr/>
          <a:lstStyle/>
          <a:p>
            <a:fld id="{8FBCB428-D880-FC4A-9B26-64132A65A030}" type="slidenum">
              <a:rPr lang="en-US" smtClean="0">
                <a:solidFill>
                  <a:schemeClr val="bg1"/>
                </a:solidFill>
              </a:rPr>
              <a:pPr/>
              <a:t>49</a:t>
            </a:fld>
            <a:endParaRPr lang="en-US" dirty="0">
              <a:solidFill>
                <a:schemeClr val="bg1"/>
              </a:solidFill>
            </a:endParaRPr>
          </a:p>
        </p:txBody>
      </p:sp>
      <p:sp>
        <p:nvSpPr>
          <p:cNvPr id="3" name="Content Placeholder 2">
            <a:extLst>
              <a:ext uri="{FF2B5EF4-FFF2-40B4-BE49-F238E27FC236}">
                <a16:creationId xmlns:a16="http://schemas.microsoft.com/office/drawing/2014/main" id="{2D09EDC4-9997-966D-028A-1371791DC0B1}"/>
              </a:ext>
            </a:extLst>
          </p:cNvPr>
          <p:cNvSpPr txBox="1">
            <a:spLocks/>
          </p:cNvSpPr>
          <p:nvPr/>
        </p:nvSpPr>
        <p:spPr>
          <a:xfrm>
            <a:off x="2841813" y="1442330"/>
            <a:ext cx="8346140" cy="4404531"/>
          </a:xfrm>
          <a:prstGeom prst="rect">
            <a:avLst/>
          </a:prstGeom>
        </p:spPr>
        <p:txBody>
          <a:bodyPr lIns="0" tIns="0" rIns="0" bIns="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2400" b="1" dirty="0">
                <a:solidFill>
                  <a:schemeClr val="bg1"/>
                </a:solidFill>
                <a:latin typeface="Figtree" pitchFamily="2" charset="0"/>
              </a:rPr>
              <a:t>Chelsey Wiley</a:t>
            </a:r>
            <a:r>
              <a:rPr lang="en-US" sz="2200" dirty="0">
                <a:solidFill>
                  <a:schemeClr val="bg1"/>
                </a:solidFill>
                <a:latin typeface="Figtree" pitchFamily="2" charset="0"/>
              </a:rPr>
              <a:t>, Content Manager, R&amp;D and National Security </a:t>
            </a:r>
          </a:p>
          <a:p>
            <a:pPr lvl="0"/>
            <a:r>
              <a:rPr lang="en-US" sz="2200" dirty="0">
                <a:solidFill>
                  <a:schemeClr val="bg1"/>
                </a:solidFill>
                <a:latin typeface="Figtree" pitchFamily="2" charset="0"/>
              </a:rPr>
              <a:t>Joined in early April</a:t>
            </a:r>
          </a:p>
          <a:p>
            <a:pPr lvl="0"/>
            <a:r>
              <a:rPr lang="en-US" sz="2200" dirty="0">
                <a:solidFill>
                  <a:schemeClr val="bg1"/>
                </a:solidFill>
                <a:latin typeface="Figtree" pitchFamily="2" charset="0"/>
              </a:rPr>
              <a:t>Will be working with TAD and IOD on SciTech, DEFENSE, the CTO Summit, and the classified day at ASCEND</a:t>
            </a:r>
          </a:p>
          <a:p>
            <a:pPr lvl="0"/>
            <a:r>
              <a:rPr lang="en-US" sz="2200" dirty="0">
                <a:solidFill>
                  <a:schemeClr val="bg1"/>
                </a:solidFill>
                <a:latin typeface="Figtree" pitchFamily="2" charset="0"/>
              </a:rPr>
              <a:t>She replaced Alex Mercer </a:t>
            </a:r>
          </a:p>
          <a:p>
            <a:pPr lvl="0"/>
            <a:r>
              <a:rPr lang="en-US" sz="2200" dirty="0">
                <a:solidFill>
                  <a:schemeClr val="bg1"/>
                </a:solidFill>
                <a:latin typeface="Figtree" pitchFamily="2" charset="0"/>
              </a:rPr>
              <a:t>Contact her at chelseyw@aiaa.org </a:t>
            </a:r>
          </a:p>
          <a:p>
            <a:pPr marL="0" indent="0">
              <a:buNone/>
            </a:pPr>
            <a:endParaRPr lang="en-US" sz="2200" dirty="0">
              <a:solidFill>
                <a:schemeClr val="bg1"/>
              </a:solidFill>
              <a:latin typeface="Figtree" pitchFamily="2" charset="0"/>
            </a:endParaRPr>
          </a:p>
          <a:p>
            <a:pPr marL="0" indent="0">
              <a:lnSpc>
                <a:spcPct val="115000"/>
              </a:lnSpc>
              <a:buNone/>
            </a:pPr>
            <a:endParaRPr lang="en-US" kern="100" dirty="0">
              <a:latin typeface="Figtree"/>
              <a:ea typeface="Aptos" panose="020B0004020202020204" pitchFamily="34" charset="0"/>
              <a:cs typeface="Times New Roman"/>
            </a:endParaRPr>
          </a:p>
          <a:p>
            <a:pPr>
              <a:lnSpc>
                <a:spcPct val="115000"/>
              </a:lnSpc>
            </a:pPr>
            <a:endParaRPr lang="en-US" kern="100" dirty="0">
              <a:solidFill>
                <a:srgbClr val="1B3D6C"/>
              </a:solidFill>
              <a:ea typeface="Aptos" panose="020B0004020202020204" pitchFamily="34" charset="0"/>
              <a:cs typeface="Times New Roman" panose="02020603050405020304" pitchFamily="18" charset="0"/>
            </a:endParaRPr>
          </a:p>
          <a:p>
            <a:endParaRPr lang="en-US" dirty="0"/>
          </a:p>
        </p:txBody>
      </p:sp>
      <p:pic>
        <p:nvPicPr>
          <p:cNvPr id="6" name="Picture 5" descr="Chelsey M. Wiley - Content Manager ...">
            <a:extLst>
              <a:ext uri="{FF2B5EF4-FFF2-40B4-BE49-F238E27FC236}">
                <a16:creationId xmlns:a16="http://schemas.microsoft.com/office/drawing/2014/main" id="{5341BDD1-E5F7-4100-D46C-53ED123ED29C}"/>
              </a:ext>
            </a:extLst>
          </p:cNvPr>
          <p:cNvPicPr>
            <a:picLocks noChangeAspect="1"/>
          </p:cNvPicPr>
          <p:nvPr/>
        </p:nvPicPr>
        <p:blipFill>
          <a:blip r:embed="rId3"/>
          <a:stretch>
            <a:fillRect/>
          </a:stretch>
        </p:blipFill>
        <p:spPr>
          <a:xfrm>
            <a:off x="580465" y="1442330"/>
            <a:ext cx="1905000" cy="1905000"/>
          </a:xfrm>
          <a:prstGeom prst="rect">
            <a:avLst/>
          </a:prstGeom>
        </p:spPr>
      </p:pic>
      <p:sp>
        <p:nvSpPr>
          <p:cNvPr id="7" name="TextBox 6">
            <a:extLst>
              <a:ext uri="{FF2B5EF4-FFF2-40B4-BE49-F238E27FC236}">
                <a16:creationId xmlns:a16="http://schemas.microsoft.com/office/drawing/2014/main" id="{F9485811-F85E-FA6D-FC08-BF37F90F4708}"/>
              </a:ext>
            </a:extLst>
          </p:cNvPr>
          <p:cNvSpPr txBox="1"/>
          <p:nvPr/>
        </p:nvSpPr>
        <p:spPr>
          <a:xfrm>
            <a:off x="736657" y="4554071"/>
            <a:ext cx="10272002" cy="1384995"/>
          </a:xfrm>
          <a:prstGeom prst="rect">
            <a:avLst/>
          </a:prstGeom>
          <a:noFill/>
        </p:spPr>
        <p:txBody>
          <a:bodyPr wrap="square" rtlCol="0">
            <a:spAutoFit/>
          </a:bodyPr>
          <a:lstStyle/>
          <a:p>
            <a:r>
              <a:rPr lang="en-US" sz="2200" b="1" dirty="0">
                <a:solidFill>
                  <a:schemeClr val="bg1"/>
                </a:solidFill>
                <a:latin typeface="Figtree" pitchFamily="2" charset="0"/>
              </a:rPr>
              <a:t>Regan Patrick</a:t>
            </a:r>
            <a:r>
              <a:rPr lang="en-US" sz="2200" dirty="0">
                <a:solidFill>
                  <a:schemeClr val="bg1"/>
                </a:solidFill>
                <a:latin typeface="Figtree" pitchFamily="2" charset="0"/>
              </a:rPr>
              <a:t>, VP of R&amp;D and National Security, left at the end of April</a:t>
            </a:r>
          </a:p>
          <a:p>
            <a:pPr marL="342900" indent="-342900">
              <a:buFont typeface="Arial" panose="020B0604020202020204" pitchFamily="34" charset="0"/>
              <a:buChar char="•"/>
            </a:pPr>
            <a:r>
              <a:rPr lang="en-US" sz="2200" dirty="0">
                <a:solidFill>
                  <a:schemeClr val="bg1"/>
                </a:solidFill>
                <a:latin typeface="Figtree" pitchFamily="2" charset="0"/>
              </a:rPr>
              <a:t>We are actively hiring for a Senior Director, R&amp;D and National Security</a:t>
            </a:r>
          </a:p>
          <a:p>
            <a:pPr marL="342900" indent="-342900">
              <a:buFont typeface="Arial" panose="020B0604020202020204" pitchFamily="34" charset="0"/>
              <a:buChar char="•"/>
            </a:pPr>
            <a:r>
              <a:rPr lang="en-US" sz="2200" dirty="0">
                <a:solidFill>
                  <a:schemeClr val="bg1"/>
                </a:solidFill>
                <a:latin typeface="Figtree" pitchFamily="2" charset="0"/>
              </a:rPr>
              <a:t>Please share! </a:t>
            </a:r>
            <a:r>
              <a:rPr lang="en-US" sz="2200" u="sng" dirty="0">
                <a:solidFill>
                  <a:schemeClr val="bg1"/>
                </a:solidFill>
                <a:latin typeface="Figtree" pitchFamily="2" charset="0"/>
                <a:hlinkClick r:id="rId4">
                  <a:extLst>
                    <a:ext uri="{A12FA001-AC4F-418D-AE19-62706E023703}">
                      <ahyp:hlinkClr xmlns:ahyp="http://schemas.microsoft.com/office/drawing/2018/hyperlinkcolor" val="tx"/>
                    </a:ext>
                  </a:extLst>
                </a:hlinkClick>
              </a:rPr>
              <a:t>https://aiaa.applicantpro.com/jobs/4055309</a:t>
            </a:r>
            <a:endParaRPr lang="en-US" sz="2200" dirty="0">
              <a:solidFill>
                <a:schemeClr val="bg1"/>
              </a:solidFill>
              <a:latin typeface="Figtree" pitchFamily="2" charset="0"/>
            </a:endParaRPr>
          </a:p>
          <a:p>
            <a:endParaRPr lang="en-US" dirty="0"/>
          </a:p>
        </p:txBody>
      </p:sp>
    </p:spTree>
    <p:extLst>
      <p:ext uri="{BB962C8B-B14F-4D97-AF65-F5344CB8AC3E}">
        <p14:creationId xmlns:p14="http://schemas.microsoft.com/office/powerpoint/2010/main" val="41862733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81059-0829-0F4C-7E69-CF709DA85B31}"/>
              </a:ext>
            </a:extLst>
          </p:cNvPr>
          <p:cNvSpPr>
            <a:spLocks noGrp="1"/>
          </p:cNvSpPr>
          <p:nvPr>
            <p:ph type="title"/>
          </p:nvPr>
        </p:nvSpPr>
        <p:spPr/>
        <p:txBody>
          <a:bodyPr/>
          <a:lstStyle/>
          <a:p>
            <a:r>
              <a:rPr lang="en-US" dirty="0"/>
              <a:t>IOD Reorganization Resolution Support Information</a:t>
            </a:r>
          </a:p>
        </p:txBody>
      </p:sp>
      <p:sp>
        <p:nvSpPr>
          <p:cNvPr id="3" name="Text Placeholder 2">
            <a:extLst>
              <a:ext uri="{FF2B5EF4-FFF2-40B4-BE49-F238E27FC236}">
                <a16:creationId xmlns:a16="http://schemas.microsoft.com/office/drawing/2014/main" id="{B5A31016-E249-204B-2746-5B3C7CCCA64E}"/>
              </a:ext>
            </a:extLst>
          </p:cNvPr>
          <p:cNvSpPr>
            <a:spLocks noGrp="1"/>
          </p:cNvSpPr>
          <p:nvPr>
            <p:ph type="body" idx="1"/>
          </p:nvPr>
        </p:nvSpPr>
        <p:spPr/>
        <p:txBody>
          <a:bodyPr>
            <a:normAutofit fontScale="92500" lnSpcReduction="10000"/>
          </a:bodyPr>
          <a:lstStyle/>
          <a:p>
            <a:r>
              <a:rPr lang="en-US" dirty="0"/>
              <a:t>Dr. Jeanette Domber, IOD Chief</a:t>
            </a:r>
            <a:br>
              <a:rPr lang="en-US" dirty="0"/>
            </a:br>
            <a:r>
              <a:rPr lang="en-US" dirty="0"/>
              <a:t>April 20, 2026</a:t>
            </a:r>
          </a:p>
        </p:txBody>
      </p:sp>
    </p:spTree>
    <p:extLst>
      <p:ext uri="{BB962C8B-B14F-4D97-AF65-F5344CB8AC3E}">
        <p14:creationId xmlns:p14="http://schemas.microsoft.com/office/powerpoint/2010/main" val="7032476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86091-4A85-9E33-527E-505885CB2BAC}"/>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4761642-FE5D-9356-8FFD-1D2FCD6434E4}"/>
              </a:ext>
            </a:extLst>
          </p:cNvPr>
          <p:cNvGrpSpPr/>
          <p:nvPr/>
        </p:nvGrpSpPr>
        <p:grpSpPr>
          <a:xfrm>
            <a:off x="3281588" y="1478422"/>
            <a:ext cx="8716710" cy="4606184"/>
            <a:chOff x="3161944" y="1478422"/>
            <a:chExt cx="8716710" cy="4606184"/>
          </a:xfrm>
        </p:grpSpPr>
        <p:sp>
          <p:nvSpPr>
            <p:cNvPr id="13" name="Rectangle 12">
              <a:extLst>
                <a:ext uri="{FF2B5EF4-FFF2-40B4-BE49-F238E27FC236}">
                  <a16:creationId xmlns:a16="http://schemas.microsoft.com/office/drawing/2014/main" id="{8BF461FA-9DAF-6879-E32A-3397E355ED45}"/>
                </a:ext>
              </a:extLst>
            </p:cNvPr>
            <p:cNvSpPr/>
            <p:nvPr/>
          </p:nvSpPr>
          <p:spPr>
            <a:xfrm>
              <a:off x="3161944" y="1478422"/>
              <a:ext cx="8716710" cy="46061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CC31B3B2-F75A-4F3D-BE8E-F7D275FFFF0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98498" y="1811805"/>
              <a:ext cx="8443692" cy="4078577"/>
            </a:xfrm>
            <a:prstGeom prst="rect">
              <a:avLst/>
            </a:prstGeom>
            <a:solidFill>
              <a:schemeClr val="bg1"/>
            </a:solidFill>
            <a:ln w="28575">
              <a:noFill/>
            </a:ln>
          </p:spPr>
        </p:pic>
      </p:grpSp>
      <p:sp>
        <p:nvSpPr>
          <p:cNvPr id="59" name="Title 58">
            <a:extLst>
              <a:ext uri="{FF2B5EF4-FFF2-40B4-BE49-F238E27FC236}">
                <a16:creationId xmlns:a16="http://schemas.microsoft.com/office/drawing/2014/main" id="{52D07EE1-9F66-1E13-0D72-347D1ED6AF75}"/>
              </a:ext>
            </a:extLst>
          </p:cNvPr>
          <p:cNvSpPr>
            <a:spLocks noGrp="1"/>
          </p:cNvSpPr>
          <p:nvPr>
            <p:ph type="title"/>
          </p:nvPr>
        </p:nvSpPr>
        <p:spPr/>
        <p:txBody>
          <a:bodyPr/>
          <a:lstStyle/>
          <a:p>
            <a:r>
              <a:rPr lang="en-US" sz="3733" b="0" dirty="0">
                <a:latin typeface="Arial" panose="020B0604020202020204" pitchFamily="34" charset="0"/>
              </a:rPr>
              <a:t>Governance Model (Stephen’s Bootleg Version)</a:t>
            </a:r>
            <a:endParaRPr lang="en-US" sz="3733" b="0" dirty="0"/>
          </a:p>
        </p:txBody>
      </p:sp>
      <p:sp>
        <p:nvSpPr>
          <p:cNvPr id="12" name="Rectangle 6">
            <a:extLst>
              <a:ext uri="{FF2B5EF4-FFF2-40B4-BE49-F238E27FC236}">
                <a16:creationId xmlns:a16="http://schemas.microsoft.com/office/drawing/2014/main" id="{84F9D465-3F38-E8FC-4EB9-BAEFA2792B53}"/>
              </a:ext>
            </a:extLst>
          </p:cNvPr>
          <p:cNvSpPr>
            <a:spLocks noChangeArrowheads="1"/>
          </p:cNvSpPr>
          <p:nvPr/>
        </p:nvSpPr>
        <p:spPr bwMode="auto">
          <a:xfrm>
            <a:off x="152400" y="1563277"/>
            <a:ext cx="2526917" cy="4327105"/>
          </a:xfrm>
          <a:prstGeom prst="rect">
            <a:avLst/>
          </a:prstGeom>
          <a:solidFill>
            <a:schemeClr val="accent2">
              <a:lumMod val="40000"/>
              <a:lumOff val="60000"/>
            </a:schemeClr>
          </a:solidFill>
          <a:ln w="9525">
            <a:solidFill>
              <a:srgbClr val="CC9900"/>
            </a:solidFill>
            <a:miter lim="800000"/>
            <a:headEnd type="none" w="sm" len="sm"/>
            <a:tailEnd type="none" w="sm" len="sm"/>
          </a:ln>
        </p:spPr>
        <p:txBody>
          <a:bodyPr rot="10800000" vert="vert" wrap="none" anchor="t"/>
          <a:lstStyle/>
          <a:p>
            <a:pPr algn="ctr"/>
            <a:r>
              <a:rPr lang="en-US" sz="2800" b="1" i="1" dirty="0">
                <a:solidFill>
                  <a:schemeClr val="bg1"/>
                </a:solidFill>
              </a:rPr>
              <a:t>Aerospace Community</a:t>
            </a:r>
          </a:p>
        </p:txBody>
      </p:sp>
      <p:sp>
        <p:nvSpPr>
          <p:cNvPr id="14" name="Rectangle 13">
            <a:extLst>
              <a:ext uri="{FF2B5EF4-FFF2-40B4-BE49-F238E27FC236}">
                <a16:creationId xmlns:a16="http://schemas.microsoft.com/office/drawing/2014/main" id="{0247C538-4E8F-56CA-160D-848E922FA2F4}"/>
              </a:ext>
            </a:extLst>
          </p:cNvPr>
          <p:cNvSpPr/>
          <p:nvPr/>
        </p:nvSpPr>
        <p:spPr bwMode="auto">
          <a:xfrm>
            <a:off x="833065" y="2381952"/>
            <a:ext cx="1615496" cy="469389"/>
          </a:xfrm>
          <a:prstGeom prst="rect">
            <a:avLst/>
          </a:prstGeom>
          <a:solidFill>
            <a:schemeClr val="bg1"/>
          </a:solidFill>
          <a:ln w="222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r>
              <a:rPr lang="en-US" sz="1200" b="1" i="1" dirty="0">
                <a:solidFill>
                  <a:srgbClr val="234F7B"/>
                </a:solidFill>
                <a:latin typeface="Arial" charset="0"/>
                <a:ea typeface="ＭＳ Ｐゴシック" pitchFamily="80" charset="-128"/>
              </a:rPr>
              <a:t>Industry (Large &amp; Small Business)</a:t>
            </a:r>
          </a:p>
        </p:txBody>
      </p:sp>
      <p:sp>
        <p:nvSpPr>
          <p:cNvPr id="16" name="Rectangle 15">
            <a:extLst>
              <a:ext uri="{FF2B5EF4-FFF2-40B4-BE49-F238E27FC236}">
                <a16:creationId xmlns:a16="http://schemas.microsoft.com/office/drawing/2014/main" id="{AD719C2D-BF67-D445-3F82-2033319BDF02}"/>
              </a:ext>
            </a:extLst>
          </p:cNvPr>
          <p:cNvSpPr/>
          <p:nvPr/>
        </p:nvSpPr>
        <p:spPr bwMode="auto">
          <a:xfrm>
            <a:off x="833064" y="3108030"/>
            <a:ext cx="1621536" cy="469389"/>
          </a:xfrm>
          <a:prstGeom prst="rect">
            <a:avLst/>
          </a:prstGeom>
          <a:solidFill>
            <a:schemeClr val="bg1"/>
          </a:solidFill>
          <a:ln w="222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r>
              <a:rPr lang="en-US" sz="1200" b="1" i="1" dirty="0">
                <a:solidFill>
                  <a:srgbClr val="234F7B"/>
                </a:solidFill>
                <a:ea typeface="ＭＳ Ｐゴシック" pitchFamily="80" charset="-128"/>
              </a:rPr>
              <a:t>Government</a:t>
            </a:r>
            <a:endParaRPr lang="en-US" sz="1200" b="1" i="1" dirty="0">
              <a:solidFill>
                <a:srgbClr val="234F7B"/>
              </a:solidFill>
              <a:latin typeface="Arial" charset="0"/>
              <a:ea typeface="ＭＳ Ｐゴシック" pitchFamily="80" charset="-128"/>
            </a:endParaRPr>
          </a:p>
        </p:txBody>
      </p:sp>
      <p:sp>
        <p:nvSpPr>
          <p:cNvPr id="24" name="Rectangle 23">
            <a:extLst>
              <a:ext uri="{FF2B5EF4-FFF2-40B4-BE49-F238E27FC236}">
                <a16:creationId xmlns:a16="http://schemas.microsoft.com/office/drawing/2014/main" id="{1CA18F69-6CC9-E11D-3B69-17A884A438F3}"/>
              </a:ext>
            </a:extLst>
          </p:cNvPr>
          <p:cNvSpPr/>
          <p:nvPr/>
        </p:nvSpPr>
        <p:spPr bwMode="auto">
          <a:xfrm>
            <a:off x="833064" y="3834107"/>
            <a:ext cx="1621536" cy="469389"/>
          </a:xfrm>
          <a:prstGeom prst="rect">
            <a:avLst/>
          </a:prstGeom>
          <a:solidFill>
            <a:schemeClr val="bg1"/>
          </a:solidFill>
          <a:ln w="222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r>
              <a:rPr lang="en-US" sz="1200" b="1" i="1" dirty="0">
                <a:solidFill>
                  <a:srgbClr val="234F7B"/>
                </a:solidFill>
                <a:latin typeface="Arial" charset="0"/>
                <a:ea typeface="ＭＳ Ｐゴシック" pitchFamily="80" charset="-128"/>
              </a:rPr>
              <a:t>Academia</a:t>
            </a:r>
          </a:p>
        </p:txBody>
      </p:sp>
      <p:sp>
        <p:nvSpPr>
          <p:cNvPr id="27" name="Rectangle 26">
            <a:extLst>
              <a:ext uri="{FF2B5EF4-FFF2-40B4-BE49-F238E27FC236}">
                <a16:creationId xmlns:a16="http://schemas.microsoft.com/office/drawing/2014/main" id="{18643BBB-1561-EB03-82A9-4588CEF51F7F}"/>
              </a:ext>
            </a:extLst>
          </p:cNvPr>
          <p:cNvSpPr/>
          <p:nvPr/>
        </p:nvSpPr>
        <p:spPr bwMode="auto">
          <a:xfrm>
            <a:off x="833064" y="4560184"/>
            <a:ext cx="1621536" cy="469389"/>
          </a:xfrm>
          <a:prstGeom prst="rect">
            <a:avLst/>
          </a:prstGeom>
          <a:solidFill>
            <a:schemeClr val="bg1"/>
          </a:solidFill>
          <a:ln w="22225" cap="flat" cmpd="sng" algn="ctr">
            <a:solidFill>
              <a:schemeClr val="tx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r>
              <a:rPr lang="en-US" sz="1200" b="1" i="1" dirty="0">
                <a:solidFill>
                  <a:srgbClr val="234F7B"/>
                </a:solidFill>
                <a:latin typeface="Arial" charset="0"/>
                <a:ea typeface="ＭＳ Ｐゴシック" pitchFamily="80" charset="-128"/>
              </a:rPr>
              <a:t>Not-for-Profit R&amp;D</a:t>
            </a:r>
          </a:p>
        </p:txBody>
      </p:sp>
      <p:sp>
        <p:nvSpPr>
          <p:cNvPr id="30" name="Arrow: Up-Down 89">
            <a:extLst>
              <a:ext uri="{FF2B5EF4-FFF2-40B4-BE49-F238E27FC236}">
                <a16:creationId xmlns:a16="http://schemas.microsoft.com/office/drawing/2014/main" id="{A919EFE4-3E71-A20B-7AE4-B743A24601C3}"/>
              </a:ext>
            </a:extLst>
          </p:cNvPr>
          <p:cNvSpPr/>
          <p:nvPr/>
        </p:nvSpPr>
        <p:spPr bwMode="auto">
          <a:xfrm rot="5400000">
            <a:off x="2791457" y="1746700"/>
            <a:ext cx="385767" cy="789277"/>
          </a:xfrm>
          <a:prstGeom prst="upDownArrow">
            <a:avLst>
              <a:gd name="adj1" fmla="val 50000"/>
              <a:gd name="adj2" fmla="val 50000"/>
            </a:avLst>
          </a:prstGeom>
          <a:solidFill>
            <a:schemeClr val="accent5"/>
          </a:solidFill>
          <a:ln w="9525" cap="flat" cmpd="sng" algn="ctr">
            <a:solidFill>
              <a:schemeClr val="bg1"/>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defTabSz="1219170" eaLnBrk="0" fontAlgn="base" hangingPunct="0">
              <a:spcBef>
                <a:spcPct val="0"/>
              </a:spcBef>
              <a:spcAft>
                <a:spcPct val="0"/>
              </a:spcAft>
            </a:pPr>
            <a:endParaRPr lang="en-US" sz="3200" dirty="0">
              <a:latin typeface="Arial" charset="0"/>
              <a:ea typeface="ＭＳ Ｐゴシック" pitchFamily="80" charset="-128"/>
            </a:endParaRPr>
          </a:p>
        </p:txBody>
      </p:sp>
      <p:sp>
        <p:nvSpPr>
          <p:cNvPr id="56" name="Arrow: Up-Down 89">
            <a:extLst>
              <a:ext uri="{FF2B5EF4-FFF2-40B4-BE49-F238E27FC236}">
                <a16:creationId xmlns:a16="http://schemas.microsoft.com/office/drawing/2014/main" id="{BD54DBB4-CF25-78EF-CB2A-8F232177BCD0}"/>
              </a:ext>
            </a:extLst>
          </p:cNvPr>
          <p:cNvSpPr/>
          <p:nvPr/>
        </p:nvSpPr>
        <p:spPr bwMode="auto">
          <a:xfrm rot="5400000">
            <a:off x="2791457" y="2559502"/>
            <a:ext cx="385767" cy="789277"/>
          </a:xfrm>
          <a:prstGeom prst="upDownArrow">
            <a:avLst>
              <a:gd name="adj1" fmla="val 50000"/>
              <a:gd name="adj2" fmla="val 50000"/>
            </a:avLst>
          </a:prstGeom>
          <a:solidFill>
            <a:schemeClr val="accent5"/>
          </a:solidFill>
          <a:ln w="9525" cap="flat" cmpd="sng" algn="ctr">
            <a:solidFill>
              <a:schemeClr val="bg1"/>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defTabSz="1219170" eaLnBrk="0" fontAlgn="base" hangingPunct="0">
              <a:spcBef>
                <a:spcPct val="0"/>
              </a:spcBef>
              <a:spcAft>
                <a:spcPct val="0"/>
              </a:spcAft>
            </a:pPr>
            <a:endParaRPr lang="en-US" sz="3200" dirty="0">
              <a:latin typeface="Arial" charset="0"/>
              <a:ea typeface="ＭＳ Ｐゴシック" pitchFamily="80" charset="-128"/>
            </a:endParaRPr>
          </a:p>
        </p:txBody>
      </p:sp>
      <p:sp>
        <p:nvSpPr>
          <p:cNvPr id="58" name="Arrow: Up-Down 89">
            <a:extLst>
              <a:ext uri="{FF2B5EF4-FFF2-40B4-BE49-F238E27FC236}">
                <a16:creationId xmlns:a16="http://schemas.microsoft.com/office/drawing/2014/main" id="{0644CFB3-4936-35FA-132B-C94F1E504F00}"/>
              </a:ext>
            </a:extLst>
          </p:cNvPr>
          <p:cNvSpPr/>
          <p:nvPr/>
        </p:nvSpPr>
        <p:spPr bwMode="auto">
          <a:xfrm rot="5400000">
            <a:off x="2799685" y="3308034"/>
            <a:ext cx="385767" cy="789277"/>
          </a:xfrm>
          <a:prstGeom prst="upDownArrow">
            <a:avLst>
              <a:gd name="adj1" fmla="val 50000"/>
              <a:gd name="adj2" fmla="val 50000"/>
            </a:avLst>
          </a:prstGeom>
          <a:solidFill>
            <a:schemeClr val="accent5"/>
          </a:solidFill>
          <a:ln w="9525" cap="flat" cmpd="sng" algn="ctr">
            <a:solidFill>
              <a:schemeClr val="bg1"/>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defTabSz="1219170" eaLnBrk="0" fontAlgn="base" hangingPunct="0">
              <a:spcBef>
                <a:spcPct val="0"/>
              </a:spcBef>
              <a:spcAft>
                <a:spcPct val="0"/>
              </a:spcAft>
            </a:pPr>
            <a:endParaRPr lang="en-US" sz="3200" dirty="0">
              <a:latin typeface="Arial" charset="0"/>
              <a:ea typeface="ＭＳ Ｐゴシック" pitchFamily="80" charset="-128"/>
            </a:endParaRPr>
          </a:p>
        </p:txBody>
      </p:sp>
      <p:sp>
        <p:nvSpPr>
          <p:cNvPr id="60" name="Arrow: Up-Down 89">
            <a:extLst>
              <a:ext uri="{FF2B5EF4-FFF2-40B4-BE49-F238E27FC236}">
                <a16:creationId xmlns:a16="http://schemas.microsoft.com/office/drawing/2014/main" id="{E07168EF-CCF8-0059-A781-5C32D7661263}"/>
              </a:ext>
            </a:extLst>
          </p:cNvPr>
          <p:cNvSpPr/>
          <p:nvPr/>
        </p:nvSpPr>
        <p:spPr bwMode="auto">
          <a:xfrm rot="5400000">
            <a:off x="2791457" y="4062408"/>
            <a:ext cx="385767" cy="789277"/>
          </a:xfrm>
          <a:prstGeom prst="upDownArrow">
            <a:avLst>
              <a:gd name="adj1" fmla="val 50000"/>
              <a:gd name="adj2" fmla="val 50000"/>
            </a:avLst>
          </a:prstGeom>
          <a:solidFill>
            <a:schemeClr val="accent5"/>
          </a:solidFill>
          <a:ln w="9525" cap="flat" cmpd="sng" algn="ctr">
            <a:solidFill>
              <a:schemeClr val="bg1"/>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defTabSz="1219170" eaLnBrk="0" fontAlgn="base" hangingPunct="0">
              <a:spcBef>
                <a:spcPct val="0"/>
              </a:spcBef>
              <a:spcAft>
                <a:spcPct val="0"/>
              </a:spcAft>
            </a:pPr>
            <a:endParaRPr lang="en-US" sz="3200" dirty="0">
              <a:latin typeface="Arial" charset="0"/>
              <a:ea typeface="ＭＳ Ｐゴシック" pitchFamily="80" charset="-128"/>
            </a:endParaRPr>
          </a:p>
        </p:txBody>
      </p:sp>
      <p:sp>
        <p:nvSpPr>
          <p:cNvPr id="62" name="Arrow: Up-Down 89">
            <a:extLst>
              <a:ext uri="{FF2B5EF4-FFF2-40B4-BE49-F238E27FC236}">
                <a16:creationId xmlns:a16="http://schemas.microsoft.com/office/drawing/2014/main" id="{3390DB79-7816-86FD-94AF-9128DC79DA81}"/>
              </a:ext>
            </a:extLst>
          </p:cNvPr>
          <p:cNvSpPr/>
          <p:nvPr/>
        </p:nvSpPr>
        <p:spPr bwMode="auto">
          <a:xfrm rot="5400000">
            <a:off x="2791457" y="4863934"/>
            <a:ext cx="385767" cy="789277"/>
          </a:xfrm>
          <a:prstGeom prst="upDownArrow">
            <a:avLst>
              <a:gd name="adj1" fmla="val 50000"/>
              <a:gd name="adj2" fmla="val 50000"/>
            </a:avLst>
          </a:prstGeom>
          <a:solidFill>
            <a:schemeClr val="accent5"/>
          </a:solidFill>
          <a:ln w="9525" cap="flat" cmpd="sng" algn="ctr">
            <a:solidFill>
              <a:schemeClr val="bg1"/>
            </a:solid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defTabSz="1219170" eaLnBrk="0" fontAlgn="base" hangingPunct="0">
              <a:spcBef>
                <a:spcPct val="0"/>
              </a:spcBef>
              <a:spcAft>
                <a:spcPct val="0"/>
              </a:spcAft>
            </a:pPr>
            <a:endParaRPr lang="en-US" sz="3200" dirty="0">
              <a:latin typeface="Arial" charset="0"/>
              <a:ea typeface="ＭＳ Ｐゴシック" pitchFamily="80" charset="-128"/>
            </a:endParaRPr>
          </a:p>
        </p:txBody>
      </p:sp>
      <p:sp>
        <p:nvSpPr>
          <p:cNvPr id="6" name="Speech Bubble: Oval 5">
            <a:extLst>
              <a:ext uri="{FF2B5EF4-FFF2-40B4-BE49-F238E27FC236}">
                <a16:creationId xmlns:a16="http://schemas.microsoft.com/office/drawing/2014/main" id="{AD08991C-5709-4152-7AB7-0017AA978879}"/>
              </a:ext>
            </a:extLst>
          </p:cNvPr>
          <p:cNvSpPr/>
          <p:nvPr/>
        </p:nvSpPr>
        <p:spPr bwMode="auto">
          <a:xfrm>
            <a:off x="193702" y="3542121"/>
            <a:ext cx="2448325" cy="1210865"/>
          </a:xfrm>
          <a:prstGeom prst="wedgeEllipseCallout">
            <a:avLst>
              <a:gd name="adj1" fmla="val 99378"/>
              <a:gd name="adj2" fmla="val -24071"/>
            </a:avLst>
          </a:prstGeom>
          <a:solidFill>
            <a:srgbClr val="002060"/>
          </a:solidFill>
          <a:ln w="19050" cap="flat" cmpd="sng" algn="ctr">
            <a:solidFill>
              <a:srgbClr val="639BD5"/>
            </a:solidFill>
            <a:prstDash val="solid"/>
            <a:round/>
            <a:headEnd type="none" w="med" len="med"/>
            <a:tailEnd type="none" w="med" len="med"/>
          </a:ln>
          <a:effectLst>
            <a:glow rad="101600">
              <a:srgbClr val="7030A0">
                <a:alpha val="60000"/>
              </a:srgbClr>
            </a:glow>
          </a:effectLst>
        </p:spPr>
        <p:txBody>
          <a:bodyPr vert="horz" wrap="square" lIns="121920" tIns="60960" rIns="121920" bIns="60960" numCol="1" rtlCol="0" anchor="ctr" anchorCtr="0" compatLnSpc="1">
            <a:prstTxWarp prst="textNoShape">
              <a:avLst/>
            </a:prstTxWarp>
            <a:normAutofit/>
          </a:bodyPr>
          <a:lstStyle/>
          <a:p>
            <a:pPr algn="ctr" defTabSz="1219170" eaLnBrk="0" fontAlgn="base" hangingPunct="0">
              <a:spcBef>
                <a:spcPct val="0"/>
              </a:spcBef>
              <a:spcAft>
                <a:spcPct val="0"/>
              </a:spcAft>
              <a:defRPr/>
            </a:pPr>
            <a:r>
              <a:rPr lang="en-US" sz="1333" b="1" dirty="0">
                <a:solidFill>
                  <a:srgbClr val="FFFF00"/>
                </a:solidFill>
                <a:latin typeface="Arial" charset="0"/>
                <a:ea typeface="ＭＳ Ｐゴシック" pitchFamily="80" charset="-128"/>
                <a:cs typeface="Arial" charset="0"/>
              </a:rPr>
              <a:t>* IOD *</a:t>
            </a:r>
          </a:p>
        </p:txBody>
      </p:sp>
      <p:sp>
        <p:nvSpPr>
          <p:cNvPr id="2" name="Slide Number Placeholder 5">
            <a:extLst>
              <a:ext uri="{FF2B5EF4-FFF2-40B4-BE49-F238E27FC236}">
                <a16:creationId xmlns:a16="http://schemas.microsoft.com/office/drawing/2014/main" id="{1432C7D1-E510-4DF2-AA9F-EAC2D08EE4A5}"/>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51</a:t>
            </a:fld>
            <a:endParaRPr lang="en-US" sz="1000" dirty="0">
              <a:solidFill>
                <a:srgbClr val="FFFFFF"/>
              </a:solidFill>
            </a:endParaRPr>
          </a:p>
        </p:txBody>
      </p:sp>
      <p:cxnSp>
        <p:nvCxnSpPr>
          <p:cNvPr id="3" name="Straight Connector 2">
            <a:extLst>
              <a:ext uri="{FF2B5EF4-FFF2-40B4-BE49-F238E27FC236}">
                <a16:creationId xmlns:a16="http://schemas.microsoft.com/office/drawing/2014/main" id="{A53B6BA7-9C0E-BEA5-ED41-946A5A7FB172}"/>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 name="Slide Number Placeholder 1">
            <a:extLst>
              <a:ext uri="{FF2B5EF4-FFF2-40B4-BE49-F238E27FC236}">
                <a16:creationId xmlns:a16="http://schemas.microsoft.com/office/drawing/2014/main" id="{A9715908-518B-08A6-9FC9-69639BBC6A63}"/>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51</a:t>
            </a:fld>
            <a:endParaRPr lang="en-US" dirty="0">
              <a:solidFill>
                <a:srgbClr val="FFFFFF"/>
              </a:solidFill>
            </a:endParaRPr>
          </a:p>
        </p:txBody>
      </p:sp>
      <p:cxnSp>
        <p:nvCxnSpPr>
          <p:cNvPr id="5" name="Straight Connector 4">
            <a:extLst>
              <a:ext uri="{FF2B5EF4-FFF2-40B4-BE49-F238E27FC236}">
                <a16:creationId xmlns:a16="http://schemas.microsoft.com/office/drawing/2014/main" id="{690E5DC2-2B6D-769B-E84F-A705B9CA95C9}"/>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Slide Number Placeholder 6">
            <a:extLst>
              <a:ext uri="{FF2B5EF4-FFF2-40B4-BE49-F238E27FC236}">
                <a16:creationId xmlns:a16="http://schemas.microsoft.com/office/drawing/2014/main" id="{485C5BA1-33FC-0771-65B2-7478CB142432}"/>
              </a:ext>
            </a:extLst>
          </p:cNvPr>
          <p:cNvSpPr>
            <a:spLocks noGrp="1"/>
          </p:cNvSpPr>
          <p:nvPr>
            <p:ph type="sldNum" sz="quarter" idx="12"/>
          </p:nvPr>
        </p:nvSpPr>
        <p:spPr/>
        <p:txBody>
          <a:bodyPr/>
          <a:lstStyle/>
          <a:p>
            <a:fld id="{8FBCB428-D880-FC4A-9B26-64132A65A030}" type="slidenum">
              <a:rPr lang="en-US" smtClean="0"/>
              <a:pPr/>
              <a:t>51</a:t>
            </a:fld>
            <a:endParaRPr lang="en-US" dirty="0"/>
          </a:p>
        </p:txBody>
      </p:sp>
    </p:spTree>
    <p:extLst>
      <p:ext uri="{BB962C8B-B14F-4D97-AF65-F5344CB8AC3E}">
        <p14:creationId xmlns:p14="http://schemas.microsoft.com/office/powerpoint/2010/main" val="32764838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24DEC-E205-C748-ABC3-53A3D0706FAB}"/>
              </a:ext>
            </a:extLst>
          </p:cNvPr>
          <p:cNvSpPr>
            <a:spLocks noGrp="1"/>
          </p:cNvSpPr>
          <p:nvPr>
            <p:ph type="title"/>
          </p:nvPr>
        </p:nvSpPr>
        <p:spPr/>
        <p:txBody>
          <a:bodyPr/>
          <a:lstStyle/>
          <a:p>
            <a:r>
              <a:rPr lang="en-US" dirty="0"/>
              <a:t>Reorganization Rationale</a:t>
            </a:r>
          </a:p>
        </p:txBody>
      </p:sp>
      <p:sp>
        <p:nvSpPr>
          <p:cNvPr id="3" name="Content Placeholder 2">
            <a:extLst>
              <a:ext uri="{FF2B5EF4-FFF2-40B4-BE49-F238E27FC236}">
                <a16:creationId xmlns:a16="http://schemas.microsoft.com/office/drawing/2014/main" id="{02CAB7DE-9B6F-3CC7-2B0F-E9B93A6D13A9}"/>
              </a:ext>
            </a:extLst>
          </p:cNvPr>
          <p:cNvSpPr>
            <a:spLocks noGrp="1"/>
          </p:cNvSpPr>
          <p:nvPr>
            <p:ph idx="1"/>
          </p:nvPr>
        </p:nvSpPr>
        <p:spPr/>
        <p:txBody>
          <a:bodyPr/>
          <a:lstStyle/>
          <a:p>
            <a:pPr marL="342900" indent="-342900">
              <a:buFont typeface="Arial" panose="020B0604020202020204" pitchFamily="34" charset="0"/>
              <a:buChar char="•"/>
            </a:pPr>
            <a:r>
              <a:rPr lang="en-US" sz="2000" dirty="0"/>
              <a:t>An IOD reorganization clarifies roles and responsibilities among the volunteers and how they connect to staff so that discipline-based technical depth remains with TAD while cross-cutting integration, mission focused scope, emerging themes, and outward facing engagement are strengthened within the </a:t>
            </a:r>
            <a:r>
              <a:rPr lang="en-US" sz="2000" b="1" dirty="0"/>
              <a:t>Aerospace Integrated Engagement Division (AIED, </a:t>
            </a:r>
            <a:r>
              <a:rPr lang="en-US" sz="2000" b="1" i="1" dirty="0"/>
              <a:t>pronounced AID</a:t>
            </a:r>
            <a:r>
              <a:rPr lang="en-US" sz="2000" b="1"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We focused on alignment, governance clarity, and strategic positioning in considering how to reorganize IOD</a:t>
            </a:r>
          </a:p>
          <a:p>
            <a:pPr marL="1085850" lvl="1" indent="-342900"/>
            <a:r>
              <a:rPr lang="en-US" sz="2000" dirty="0"/>
              <a:t>When someone who is not familiar with AIAA looks for participation opportunities, this reorganization makes it clearer where to start</a:t>
            </a:r>
          </a:p>
          <a:p>
            <a:pPr marL="1085850" lvl="1" indent="-342900"/>
            <a:r>
              <a:rPr lang="en-US" sz="2000" dirty="0"/>
              <a:t>We moved committees or groups closer to their Institute level decision making where they may have greater influence as appropriate</a:t>
            </a:r>
            <a:endParaRPr lang="en-US" sz="2000" strike="sngStrike" dirty="0">
              <a:solidFill>
                <a:srgbClr val="FF0000"/>
              </a:solidFill>
            </a:endParaRPr>
          </a:p>
        </p:txBody>
      </p:sp>
      <p:sp>
        <p:nvSpPr>
          <p:cNvPr id="4" name="Explosion: 8 Points 3">
            <a:extLst>
              <a:ext uri="{FF2B5EF4-FFF2-40B4-BE49-F238E27FC236}">
                <a16:creationId xmlns:a16="http://schemas.microsoft.com/office/drawing/2014/main" id="{7317B037-7BE2-47C1-1282-72FC706FCD10}"/>
              </a:ext>
            </a:extLst>
          </p:cNvPr>
          <p:cNvSpPr/>
          <p:nvPr/>
        </p:nvSpPr>
        <p:spPr>
          <a:xfrm>
            <a:off x="9063569" y="40041"/>
            <a:ext cx="2784834" cy="1819373"/>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t>IOD</a:t>
            </a:r>
            <a:r>
              <a:rPr lang="en-US" dirty="0"/>
              <a:t> transforms to </a:t>
            </a:r>
            <a:r>
              <a:rPr lang="en-US" i="1" dirty="0"/>
              <a:t>AIED</a:t>
            </a:r>
          </a:p>
        </p:txBody>
      </p:sp>
    </p:spTree>
    <p:extLst>
      <p:ext uri="{BB962C8B-B14F-4D97-AF65-F5344CB8AC3E}">
        <p14:creationId xmlns:p14="http://schemas.microsoft.com/office/powerpoint/2010/main" val="26237881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8142C-166E-6715-F18E-331B3D8537B2}"/>
              </a:ext>
            </a:extLst>
          </p:cNvPr>
          <p:cNvSpPr>
            <a:spLocks noGrp="1"/>
          </p:cNvSpPr>
          <p:nvPr>
            <p:ph type="title"/>
          </p:nvPr>
        </p:nvSpPr>
        <p:spPr/>
        <p:txBody>
          <a:bodyPr/>
          <a:lstStyle/>
          <a:p>
            <a:r>
              <a:rPr lang="en-US" dirty="0"/>
              <a:t>Mission Updated to Reflect Intent of the Division and Promote Cohesiveness Amongst its Groups</a:t>
            </a:r>
          </a:p>
        </p:txBody>
      </p:sp>
      <p:sp>
        <p:nvSpPr>
          <p:cNvPr id="3" name="Content Placeholder 2">
            <a:extLst>
              <a:ext uri="{FF2B5EF4-FFF2-40B4-BE49-F238E27FC236}">
                <a16:creationId xmlns:a16="http://schemas.microsoft.com/office/drawing/2014/main" id="{356D830A-60B4-158E-A49A-D791EDFD8191}"/>
              </a:ext>
            </a:extLst>
          </p:cNvPr>
          <p:cNvSpPr>
            <a:spLocks noGrp="1"/>
          </p:cNvSpPr>
          <p:nvPr>
            <p:ph idx="1"/>
          </p:nvPr>
        </p:nvSpPr>
        <p:spPr/>
        <p:txBody>
          <a:bodyPr/>
          <a:lstStyle/>
          <a:p>
            <a:r>
              <a:rPr lang="en-US" sz="2000" dirty="0"/>
              <a:t>Mission Statement: </a:t>
            </a:r>
          </a:p>
          <a:p>
            <a:r>
              <a:rPr lang="en-US" sz="2000" i="1" dirty="0"/>
              <a:t>The Aerospace Integrated Engagement Division connects cross-cutting aerospace initiatives that span technology, operations, and societal impact, fostering collaboration and integrative thinking to address emerging challenges and guide the evolving aerospace ecosystem.</a:t>
            </a:r>
          </a:p>
          <a:p>
            <a:endParaRPr lang="en-US" sz="2000" i="1" dirty="0"/>
          </a:p>
          <a:p>
            <a:r>
              <a:rPr lang="en-US" sz="2000" dirty="0"/>
              <a:t>Tag-Line:</a:t>
            </a:r>
          </a:p>
          <a:p>
            <a:r>
              <a:rPr lang="en-US" sz="2000" i="1" dirty="0"/>
              <a:t>Connecting ideas, disciplines, and communities to shape the future of aerospace.</a:t>
            </a:r>
          </a:p>
        </p:txBody>
      </p:sp>
    </p:spTree>
    <p:extLst>
      <p:ext uri="{BB962C8B-B14F-4D97-AF65-F5344CB8AC3E}">
        <p14:creationId xmlns:p14="http://schemas.microsoft.com/office/powerpoint/2010/main" val="6986430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ED25C-2502-C483-8E91-4B712A0092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4105E4-A62B-2134-C8C7-ED20EBB5DBA2}"/>
              </a:ext>
            </a:extLst>
          </p:cNvPr>
          <p:cNvSpPr>
            <a:spLocks noGrp="1"/>
          </p:cNvSpPr>
          <p:nvPr>
            <p:ph type="title"/>
          </p:nvPr>
        </p:nvSpPr>
        <p:spPr>
          <a:xfrm>
            <a:off x="343597" y="365125"/>
            <a:ext cx="11491993" cy="659003"/>
          </a:xfrm>
        </p:spPr>
        <p:txBody>
          <a:bodyPr/>
          <a:lstStyle/>
          <a:p>
            <a:pPr algn="ctr"/>
            <a:r>
              <a:rPr lang="en-US" sz="3600" dirty="0"/>
              <a:t>Aerospace Integrated Engagement Division Org Chart</a:t>
            </a:r>
          </a:p>
        </p:txBody>
      </p:sp>
      <p:sp>
        <p:nvSpPr>
          <p:cNvPr id="2" name="Slide Number Placeholder 5">
            <a:extLst>
              <a:ext uri="{FF2B5EF4-FFF2-40B4-BE49-F238E27FC236}">
                <a16:creationId xmlns:a16="http://schemas.microsoft.com/office/drawing/2014/main" id="{BB9017AB-2049-462E-70BE-433EA11C18A2}"/>
              </a:ext>
            </a:extLst>
          </p:cNvPr>
          <p:cNvSpPr>
            <a:spLocks noGrp="1"/>
          </p:cNvSpPr>
          <p:nvPr>
            <p:ph type="sldNum" sz="quarter" idx="12"/>
          </p:nvPr>
        </p:nvSpPr>
        <p:spPr>
          <a:xfrm>
            <a:off x="11615980" y="6465705"/>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0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6" name="Slide Number Placeholder 5">
            <a:extLst>
              <a:ext uri="{FF2B5EF4-FFF2-40B4-BE49-F238E27FC236}">
                <a16:creationId xmlns:a16="http://schemas.microsoft.com/office/drawing/2014/main" id="{C75D9D8E-B1B1-D1AC-2A2A-817001F53763}"/>
              </a:ext>
            </a:extLst>
          </p:cNvPr>
          <p:cNvSpPr txBox="1">
            <a:spLocks/>
          </p:cNvSpPr>
          <p:nvPr/>
        </p:nvSpPr>
        <p:spPr>
          <a:xfrm>
            <a:off x="11629484" y="6456058"/>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lumMod val="65000"/>
                  </a:schemeClr>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3" name="Rectangle 2">
            <a:extLst>
              <a:ext uri="{FF2B5EF4-FFF2-40B4-BE49-F238E27FC236}">
                <a16:creationId xmlns:a16="http://schemas.microsoft.com/office/drawing/2014/main" id="{A5730F51-51B2-057F-9CDD-DFFB907783FD}"/>
              </a:ext>
            </a:extLst>
          </p:cNvPr>
          <p:cNvSpPr/>
          <p:nvPr/>
        </p:nvSpPr>
        <p:spPr>
          <a:xfrm>
            <a:off x="3286353" y="1090653"/>
            <a:ext cx="5619293" cy="594877"/>
          </a:xfrm>
          <a:prstGeom prst="rect">
            <a:avLst/>
          </a:prstGeom>
          <a:noFill/>
          <a:ln w="19050">
            <a:solidFill>
              <a:schemeClr val="tx2"/>
            </a:solid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Arial" charset="0"/>
              </a:defRPr>
            </a:lvl1pPr>
            <a:lvl2pPr marL="457189" algn="l" rtl="0" fontAlgn="base">
              <a:spcBef>
                <a:spcPct val="0"/>
              </a:spcBef>
              <a:spcAft>
                <a:spcPct val="0"/>
              </a:spcAft>
              <a:defRPr sz="2400" kern="1200">
                <a:solidFill>
                  <a:schemeClr val="tx1"/>
                </a:solidFill>
                <a:latin typeface="Arial" charset="0"/>
                <a:ea typeface="ＭＳ Ｐゴシック" charset="-128"/>
                <a:cs typeface="Arial" charset="0"/>
              </a:defRPr>
            </a:lvl2pPr>
            <a:lvl3pPr marL="914377" algn="l" rtl="0" fontAlgn="base">
              <a:spcBef>
                <a:spcPct val="0"/>
              </a:spcBef>
              <a:spcAft>
                <a:spcPct val="0"/>
              </a:spcAft>
              <a:defRPr sz="2400" kern="1200">
                <a:solidFill>
                  <a:schemeClr val="tx1"/>
                </a:solidFill>
                <a:latin typeface="Arial" charset="0"/>
                <a:ea typeface="ＭＳ Ｐゴシック" charset="-128"/>
                <a:cs typeface="Arial" charset="0"/>
              </a:defRPr>
            </a:lvl3pPr>
            <a:lvl4pPr marL="1371566" algn="l" rtl="0" fontAlgn="base">
              <a:spcBef>
                <a:spcPct val="0"/>
              </a:spcBef>
              <a:spcAft>
                <a:spcPct val="0"/>
              </a:spcAft>
              <a:defRPr sz="2400" kern="1200">
                <a:solidFill>
                  <a:schemeClr val="tx1"/>
                </a:solidFill>
                <a:latin typeface="Arial" charset="0"/>
                <a:ea typeface="ＭＳ Ｐゴシック" charset="-128"/>
                <a:cs typeface="Arial" charset="0"/>
              </a:defRPr>
            </a:lvl4pPr>
            <a:lvl5pPr marL="1828754" algn="l" rtl="0" fontAlgn="base">
              <a:spcBef>
                <a:spcPct val="0"/>
              </a:spcBef>
              <a:spcAft>
                <a:spcPct val="0"/>
              </a:spcAft>
              <a:defRPr sz="2400" kern="1200">
                <a:solidFill>
                  <a:schemeClr val="tx1"/>
                </a:solidFill>
                <a:latin typeface="Arial" charset="0"/>
                <a:ea typeface="ＭＳ Ｐゴシック" charset="-128"/>
                <a:cs typeface="Arial" charset="0"/>
              </a:defRPr>
            </a:lvl5pPr>
            <a:lvl6pPr marL="2285943" algn="l" defTabSz="914377" rtl="0" eaLnBrk="1" latinLnBrk="0" hangingPunct="1">
              <a:defRPr sz="2400" kern="1200">
                <a:solidFill>
                  <a:schemeClr val="tx1"/>
                </a:solidFill>
                <a:latin typeface="Arial" charset="0"/>
                <a:ea typeface="ＭＳ Ｐゴシック" charset="-128"/>
                <a:cs typeface="Arial" charset="0"/>
              </a:defRPr>
            </a:lvl6pPr>
            <a:lvl7pPr marL="2743131" algn="l" defTabSz="914377" rtl="0" eaLnBrk="1" latinLnBrk="0" hangingPunct="1">
              <a:defRPr sz="2400" kern="1200">
                <a:solidFill>
                  <a:schemeClr val="tx1"/>
                </a:solidFill>
                <a:latin typeface="Arial" charset="0"/>
                <a:ea typeface="ＭＳ Ｐゴシック" charset="-128"/>
                <a:cs typeface="Arial" charset="0"/>
              </a:defRPr>
            </a:lvl7pPr>
            <a:lvl8pPr marL="3200320" algn="l" defTabSz="914377" rtl="0" eaLnBrk="1" latinLnBrk="0" hangingPunct="1">
              <a:defRPr sz="2400" kern="1200">
                <a:solidFill>
                  <a:schemeClr val="tx1"/>
                </a:solidFill>
                <a:latin typeface="Arial" charset="0"/>
                <a:ea typeface="ＭＳ Ｐゴシック" charset="-128"/>
                <a:cs typeface="Arial" charset="0"/>
              </a:defRPr>
            </a:lvl8pPr>
            <a:lvl9pPr marL="3657509" algn="l" defTabSz="914377" rtl="0" eaLnBrk="1" latinLnBrk="0" hangingPunct="1">
              <a:defRPr sz="2400" kern="1200">
                <a:solidFill>
                  <a:schemeClr val="tx1"/>
                </a:solidFill>
                <a:latin typeface="Arial" charset="0"/>
                <a:ea typeface="ＭＳ Ｐゴシック" charset="-128"/>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Figtree" pitchFamily="2" charset="0"/>
                <a:ea typeface="ＭＳ Ｐゴシック" charset="-128"/>
                <a:cs typeface="Helvetica" panose="020B0604020202020204" pitchFamily="34" charset="0"/>
              </a:rPr>
              <a:t>Jeanette Domber – Chief, AIED (2025-2028)</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Figtree"/>
                <a:ea typeface="ＭＳ Ｐゴシック"/>
                <a:cs typeface="Helvetica"/>
              </a:rPr>
              <a:t>Sofia Russi – Deputy Chief, AIED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Figtree"/>
                <a:ea typeface="ＭＳ Ｐゴシック"/>
                <a:cs typeface="Helvetica"/>
              </a:rPr>
              <a:t>Staff Liaison: Michael Lagana</a:t>
            </a:r>
            <a:endParaRPr kumimoji="0" lang="en-US" sz="1400" b="0" i="0" u="none" strike="noStrike" kern="1200" cap="none" spc="0" normalizeH="0" baseline="0" noProof="0" dirty="0">
              <a:ln>
                <a:noFill/>
              </a:ln>
              <a:solidFill>
                <a:srgbClr val="000000"/>
              </a:solidFill>
              <a:effectLst/>
              <a:uLnTx/>
              <a:uFillTx/>
              <a:latin typeface="Figtree" pitchFamily="2" charset="0"/>
              <a:ea typeface="ＭＳ Ｐゴシック" charset="-128"/>
              <a:cs typeface="Helvetica" panose="020B0604020202020204" pitchFamily="34" charset="0"/>
            </a:endParaRPr>
          </a:p>
        </p:txBody>
      </p:sp>
      <p:sp>
        <p:nvSpPr>
          <p:cNvPr id="5" name="Rectangle 4">
            <a:extLst>
              <a:ext uri="{FF2B5EF4-FFF2-40B4-BE49-F238E27FC236}">
                <a16:creationId xmlns:a16="http://schemas.microsoft.com/office/drawing/2014/main" id="{C57BADEB-1068-7038-6664-8CF763AC76F7}"/>
              </a:ext>
            </a:extLst>
          </p:cNvPr>
          <p:cNvSpPr/>
          <p:nvPr/>
        </p:nvSpPr>
        <p:spPr>
          <a:xfrm>
            <a:off x="9555982" y="1759698"/>
            <a:ext cx="2465131" cy="1603003"/>
          </a:xfrm>
          <a:prstGeom prst="rect">
            <a:avLst/>
          </a:prstGeom>
          <a:noFill/>
          <a:ln w="12700">
            <a:solidFill>
              <a:schemeClr val="tx2"/>
            </a:solidFill>
          </a:ln>
        </p:spPr>
        <p:style>
          <a:lnRef idx="2">
            <a:schemeClr val="accent3"/>
          </a:lnRef>
          <a:fillRef idx="1">
            <a:schemeClr val="lt1"/>
          </a:fillRef>
          <a:effectRef idx="0">
            <a:schemeClr val="accent3"/>
          </a:effectRef>
          <a:fontRef idx="minor">
            <a:schemeClr val="dk1"/>
          </a:fontRef>
        </p:style>
        <p:txBody>
          <a:bodyPr wrap="square" rtlCol="0" anchor="t" anchorCtr="0">
            <a:spAutoFit/>
          </a:bodyPr>
          <a:ls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Arial" charset="0"/>
              </a:defRPr>
            </a:lvl1pPr>
            <a:lvl2pPr marL="457189" algn="l" rtl="0" fontAlgn="base">
              <a:spcBef>
                <a:spcPct val="0"/>
              </a:spcBef>
              <a:spcAft>
                <a:spcPct val="0"/>
              </a:spcAft>
              <a:defRPr sz="2400" kern="1200">
                <a:solidFill>
                  <a:schemeClr val="tx1"/>
                </a:solidFill>
                <a:latin typeface="Arial" charset="0"/>
                <a:ea typeface="ＭＳ Ｐゴシック" charset="-128"/>
                <a:cs typeface="Arial" charset="0"/>
              </a:defRPr>
            </a:lvl2pPr>
            <a:lvl3pPr marL="914377" algn="l" rtl="0" fontAlgn="base">
              <a:spcBef>
                <a:spcPct val="0"/>
              </a:spcBef>
              <a:spcAft>
                <a:spcPct val="0"/>
              </a:spcAft>
              <a:defRPr sz="2400" kern="1200">
                <a:solidFill>
                  <a:schemeClr val="tx1"/>
                </a:solidFill>
                <a:latin typeface="Arial" charset="0"/>
                <a:ea typeface="ＭＳ Ｐゴシック" charset="-128"/>
                <a:cs typeface="Arial" charset="0"/>
              </a:defRPr>
            </a:lvl3pPr>
            <a:lvl4pPr marL="1371566" algn="l" rtl="0" fontAlgn="base">
              <a:spcBef>
                <a:spcPct val="0"/>
              </a:spcBef>
              <a:spcAft>
                <a:spcPct val="0"/>
              </a:spcAft>
              <a:defRPr sz="2400" kern="1200">
                <a:solidFill>
                  <a:schemeClr val="tx1"/>
                </a:solidFill>
                <a:latin typeface="Arial" charset="0"/>
                <a:ea typeface="ＭＳ Ｐゴシック" charset="-128"/>
                <a:cs typeface="Arial" charset="0"/>
              </a:defRPr>
            </a:lvl4pPr>
            <a:lvl5pPr marL="1828754" algn="l" rtl="0" fontAlgn="base">
              <a:spcBef>
                <a:spcPct val="0"/>
              </a:spcBef>
              <a:spcAft>
                <a:spcPct val="0"/>
              </a:spcAft>
              <a:defRPr sz="2400" kern="1200">
                <a:solidFill>
                  <a:schemeClr val="tx1"/>
                </a:solidFill>
                <a:latin typeface="Arial" charset="0"/>
                <a:ea typeface="ＭＳ Ｐゴシック" charset="-128"/>
                <a:cs typeface="Arial" charset="0"/>
              </a:defRPr>
            </a:lvl5pPr>
            <a:lvl6pPr marL="2285943" algn="l" defTabSz="914377" rtl="0" eaLnBrk="1" latinLnBrk="0" hangingPunct="1">
              <a:defRPr sz="2400" kern="1200">
                <a:solidFill>
                  <a:schemeClr val="tx1"/>
                </a:solidFill>
                <a:latin typeface="Arial" charset="0"/>
                <a:ea typeface="ＭＳ Ｐゴシック" charset="-128"/>
                <a:cs typeface="Arial" charset="0"/>
              </a:defRPr>
            </a:lvl6pPr>
            <a:lvl7pPr marL="2743131" algn="l" defTabSz="914377" rtl="0" eaLnBrk="1" latinLnBrk="0" hangingPunct="1">
              <a:defRPr sz="2400" kern="1200">
                <a:solidFill>
                  <a:schemeClr val="tx1"/>
                </a:solidFill>
                <a:latin typeface="Arial" charset="0"/>
                <a:ea typeface="ＭＳ Ｐゴシック" charset="-128"/>
                <a:cs typeface="Arial" charset="0"/>
              </a:defRPr>
            </a:lvl7pPr>
            <a:lvl8pPr marL="3200320" algn="l" defTabSz="914377" rtl="0" eaLnBrk="1" latinLnBrk="0" hangingPunct="1">
              <a:defRPr sz="2400" kern="1200">
                <a:solidFill>
                  <a:schemeClr val="tx1"/>
                </a:solidFill>
                <a:latin typeface="Arial" charset="0"/>
                <a:ea typeface="ＭＳ Ｐゴシック" charset="-128"/>
                <a:cs typeface="Arial" charset="0"/>
              </a:defRPr>
            </a:lvl8pPr>
            <a:lvl9pPr marL="3657509" algn="l" defTabSz="914377" rtl="0" eaLnBrk="1" latinLnBrk="0" hangingPunct="1">
              <a:defRPr sz="2400" kern="1200">
                <a:solidFill>
                  <a:schemeClr val="tx1"/>
                </a:solidFill>
                <a:latin typeface="Arial" charset="0"/>
                <a:ea typeface="ＭＳ Ｐゴシック" charset="-128"/>
                <a:cs typeface="Arial" charset="0"/>
              </a:defRPr>
            </a:lvl9pPr>
          </a:lstStyle>
          <a:p>
            <a:pPr marL="0" marR="0" lvl="0" indent="0" algn="ctr" defTabSz="914400" rtl="0" eaLnBrk="1" fontAlgn="base" latinLnBrk="0" hangingPunct="1">
              <a:lnSpc>
                <a:spcPts val="1733"/>
              </a:lnSpc>
              <a:spcBef>
                <a:spcPct val="0"/>
              </a:spcBef>
              <a:spcAft>
                <a:spcPct val="0"/>
              </a:spcAft>
              <a:buClrTx/>
              <a:buSzTx/>
              <a:buFontTx/>
              <a:buNone/>
              <a:tabLst/>
              <a:defRPr/>
            </a:pPr>
            <a:r>
              <a:rPr kumimoji="0" lang="en-US" sz="1300" b="1" i="0" u="sng" strike="noStrike" kern="1200" cap="none" spc="0" normalizeH="0" baseline="0" noProof="0" dirty="0">
                <a:ln>
                  <a:noFill/>
                </a:ln>
                <a:solidFill>
                  <a:srgbClr val="000000"/>
                </a:solidFill>
                <a:effectLst/>
                <a:uLnTx/>
                <a:uFillTx/>
                <a:latin typeface="Figtree" pitchFamily="2" charset="0"/>
                <a:ea typeface="ＭＳ Ｐゴシック" charset="-128"/>
                <a:cs typeface="Helvetica" panose="020B0604020202020204" pitchFamily="34" charset="0"/>
              </a:rPr>
              <a:t>Realign with Other Parts of AIAA </a:t>
            </a: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400" b="1" i="0" u="none" strike="noStrike" kern="1200" cap="none" spc="0" normalizeH="0" baseline="0" noProof="0" dirty="0">
                <a:ln>
                  <a:noFill/>
                </a:ln>
                <a:solidFill>
                  <a:srgbClr val="000000"/>
                </a:solidFill>
                <a:effectLst/>
                <a:uLnTx/>
                <a:uFillTx/>
                <a:latin typeface="Figtree"/>
                <a:ea typeface="ＭＳ Ｐゴシック" charset="-128"/>
                <a:cs typeface="Arial" charset="0"/>
              </a:rPr>
              <a:t>Convert WoAA to Affiliated Society</a:t>
            </a: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400" b="1" i="0" u="none" strike="noStrike" kern="1200" cap="none" spc="0" normalizeH="0" baseline="0" noProof="0" dirty="0">
                <a:ln>
                  <a:noFill/>
                </a:ln>
                <a:solidFill>
                  <a:srgbClr val="000000"/>
                </a:solidFill>
                <a:effectLst/>
                <a:uLnTx/>
                <a:uFillTx/>
                <a:latin typeface="Figtree"/>
                <a:ea typeface="ＭＳ Ｐゴシック" charset="-128"/>
                <a:cs typeface="Arial" charset="0"/>
              </a:rPr>
              <a:t>Convert to Board advisory groups:</a:t>
            </a:r>
          </a:p>
          <a:p>
            <a:pPr marL="320040" marR="0" lvl="1"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400" b="1" i="0" u="none" strike="noStrike" kern="1200" cap="none" spc="0" normalizeH="0" baseline="0" noProof="0" dirty="0">
                <a:ln>
                  <a:noFill/>
                </a:ln>
                <a:solidFill>
                  <a:srgbClr val="000000"/>
                </a:solidFill>
                <a:effectLst/>
                <a:uLnTx/>
                <a:uFillTx/>
                <a:latin typeface="Figtree"/>
                <a:ea typeface="ＭＳ Ｐゴシック" charset="-128"/>
                <a:cs typeface="Arial" charset="0"/>
              </a:rPr>
              <a:t>Young Professionals</a:t>
            </a:r>
          </a:p>
          <a:p>
            <a:pPr marL="320040" marR="0" lvl="1"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400" b="1" i="0" u="none" strike="noStrike" kern="1200" cap="none" spc="0" normalizeH="0" baseline="0" noProof="0" dirty="0">
                <a:ln>
                  <a:noFill/>
                </a:ln>
                <a:solidFill>
                  <a:srgbClr val="000000"/>
                </a:solidFill>
                <a:effectLst/>
                <a:uLnTx/>
                <a:uFillTx/>
                <a:latin typeface="Figtree"/>
                <a:ea typeface="ＭＳ Ｐゴシック" charset="-128"/>
                <a:cs typeface="Arial" charset="0"/>
              </a:rPr>
              <a:t>International Activities</a:t>
            </a:r>
          </a:p>
        </p:txBody>
      </p:sp>
      <p:grpSp>
        <p:nvGrpSpPr>
          <p:cNvPr id="12" name="Group 11">
            <a:extLst>
              <a:ext uri="{FF2B5EF4-FFF2-40B4-BE49-F238E27FC236}">
                <a16:creationId xmlns:a16="http://schemas.microsoft.com/office/drawing/2014/main" id="{1A2F27F6-705E-45F9-A94E-FBCCC9508703}"/>
              </a:ext>
            </a:extLst>
          </p:cNvPr>
          <p:cNvGrpSpPr/>
          <p:nvPr/>
        </p:nvGrpSpPr>
        <p:grpSpPr>
          <a:xfrm>
            <a:off x="119270" y="1763862"/>
            <a:ext cx="4445757" cy="1721690"/>
            <a:chOff x="119270" y="1643284"/>
            <a:chExt cx="4445757" cy="1721690"/>
          </a:xfrm>
        </p:grpSpPr>
        <p:sp>
          <p:nvSpPr>
            <p:cNvPr id="7" name="Rectangle 6">
              <a:extLst>
                <a:ext uri="{FF2B5EF4-FFF2-40B4-BE49-F238E27FC236}">
                  <a16:creationId xmlns:a16="http://schemas.microsoft.com/office/drawing/2014/main" id="{AAD79D61-5737-1819-7E44-3CE610CE4635}"/>
                </a:ext>
              </a:extLst>
            </p:cNvPr>
            <p:cNvSpPr/>
            <p:nvPr/>
          </p:nvSpPr>
          <p:spPr>
            <a:xfrm>
              <a:off x="119270" y="1643284"/>
              <a:ext cx="4445757" cy="1721690"/>
            </a:xfrm>
            <a:prstGeom prst="rect">
              <a:avLst/>
            </a:prstGeom>
            <a:noFill/>
            <a:ln w="12700">
              <a:solidFill>
                <a:schemeClr val="tx2"/>
              </a:solidFill>
            </a:ln>
          </p:spPr>
          <p:style>
            <a:lnRef idx="2">
              <a:schemeClr val="accent3"/>
            </a:lnRef>
            <a:fillRef idx="1">
              <a:schemeClr val="lt1"/>
            </a:fillRef>
            <a:effectRef idx="0">
              <a:schemeClr val="accent3"/>
            </a:effectRef>
            <a:fontRef idx="minor">
              <a:schemeClr val="dk1"/>
            </a:fontRef>
          </p:style>
          <p:txBody>
            <a:bodyPr wrap="square" lIns="91440" tIns="45720" rIns="91440" bIns="45720" rtlCol="0" anchor="ctr">
              <a:spAutoFit/>
            </a:bodyPr>
            <a:ls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Arial" charset="0"/>
                </a:defRPr>
              </a:lvl1pPr>
              <a:lvl2pPr marL="457189" algn="l" rtl="0" fontAlgn="base">
                <a:spcBef>
                  <a:spcPct val="0"/>
                </a:spcBef>
                <a:spcAft>
                  <a:spcPct val="0"/>
                </a:spcAft>
                <a:defRPr sz="2400" kern="1200">
                  <a:solidFill>
                    <a:schemeClr val="tx1"/>
                  </a:solidFill>
                  <a:latin typeface="Arial" charset="0"/>
                  <a:ea typeface="ＭＳ Ｐゴシック" charset="-128"/>
                  <a:cs typeface="Arial" charset="0"/>
                </a:defRPr>
              </a:lvl2pPr>
              <a:lvl3pPr marL="914377" algn="l" rtl="0" fontAlgn="base">
                <a:spcBef>
                  <a:spcPct val="0"/>
                </a:spcBef>
                <a:spcAft>
                  <a:spcPct val="0"/>
                </a:spcAft>
                <a:defRPr sz="2400" kern="1200">
                  <a:solidFill>
                    <a:schemeClr val="tx1"/>
                  </a:solidFill>
                  <a:latin typeface="Arial" charset="0"/>
                  <a:ea typeface="ＭＳ Ｐゴシック" charset="-128"/>
                  <a:cs typeface="Arial" charset="0"/>
                </a:defRPr>
              </a:lvl3pPr>
              <a:lvl4pPr marL="1371566" algn="l" rtl="0" fontAlgn="base">
                <a:spcBef>
                  <a:spcPct val="0"/>
                </a:spcBef>
                <a:spcAft>
                  <a:spcPct val="0"/>
                </a:spcAft>
                <a:defRPr sz="2400" kern="1200">
                  <a:solidFill>
                    <a:schemeClr val="tx1"/>
                  </a:solidFill>
                  <a:latin typeface="Arial" charset="0"/>
                  <a:ea typeface="ＭＳ Ｐゴシック" charset="-128"/>
                  <a:cs typeface="Arial" charset="0"/>
                </a:defRPr>
              </a:lvl4pPr>
              <a:lvl5pPr marL="1828754" algn="l" rtl="0" fontAlgn="base">
                <a:spcBef>
                  <a:spcPct val="0"/>
                </a:spcBef>
                <a:spcAft>
                  <a:spcPct val="0"/>
                </a:spcAft>
                <a:defRPr sz="2400" kern="1200">
                  <a:solidFill>
                    <a:schemeClr val="tx1"/>
                  </a:solidFill>
                  <a:latin typeface="Arial" charset="0"/>
                  <a:ea typeface="ＭＳ Ｐゴシック" charset="-128"/>
                  <a:cs typeface="Arial" charset="0"/>
                </a:defRPr>
              </a:lvl5pPr>
              <a:lvl6pPr marL="2285943" algn="l" defTabSz="914377" rtl="0" eaLnBrk="1" latinLnBrk="0" hangingPunct="1">
                <a:defRPr sz="2400" kern="1200">
                  <a:solidFill>
                    <a:schemeClr val="tx1"/>
                  </a:solidFill>
                  <a:latin typeface="Arial" charset="0"/>
                  <a:ea typeface="ＭＳ Ｐゴシック" charset="-128"/>
                  <a:cs typeface="Arial" charset="0"/>
                </a:defRPr>
              </a:lvl6pPr>
              <a:lvl7pPr marL="2743131" algn="l" defTabSz="914377" rtl="0" eaLnBrk="1" latinLnBrk="0" hangingPunct="1">
                <a:defRPr sz="2400" kern="1200">
                  <a:solidFill>
                    <a:schemeClr val="tx1"/>
                  </a:solidFill>
                  <a:latin typeface="Arial" charset="0"/>
                  <a:ea typeface="ＭＳ Ｐゴシック" charset="-128"/>
                  <a:cs typeface="Arial" charset="0"/>
                </a:defRPr>
              </a:lvl7pPr>
              <a:lvl8pPr marL="3200320" algn="l" defTabSz="914377" rtl="0" eaLnBrk="1" latinLnBrk="0" hangingPunct="1">
                <a:defRPr sz="2400" kern="1200">
                  <a:solidFill>
                    <a:schemeClr val="tx1"/>
                  </a:solidFill>
                  <a:latin typeface="Arial" charset="0"/>
                  <a:ea typeface="ＭＳ Ｐゴシック" charset="-128"/>
                  <a:cs typeface="Arial" charset="0"/>
                </a:defRPr>
              </a:lvl8pPr>
              <a:lvl9pPr marL="3657509" algn="l" defTabSz="914377" rtl="0" eaLnBrk="1" latinLnBrk="0" hangingPunct="1">
                <a:defRPr sz="2400" kern="1200">
                  <a:solidFill>
                    <a:schemeClr val="tx1"/>
                  </a:solidFill>
                  <a:latin typeface="Arial" charset="0"/>
                  <a:ea typeface="ＭＳ Ｐゴシック" charset="-128"/>
                  <a:cs typeface="Arial" charset="0"/>
                </a:defRPr>
              </a:lvl9pPr>
            </a:lstStyle>
            <a:p>
              <a:pPr marL="0" marR="0" lvl="0" indent="0" algn="ctr" defTabSz="914400" rtl="0" eaLnBrk="1" fontAlgn="base" latinLnBrk="0" hangingPunct="1">
                <a:lnSpc>
                  <a:spcPts val="1733"/>
                </a:lnSpc>
                <a:spcBef>
                  <a:spcPct val="0"/>
                </a:spcBef>
                <a:spcAft>
                  <a:spcPct val="0"/>
                </a:spcAft>
                <a:buClrTx/>
                <a:buSzTx/>
                <a:buFontTx/>
                <a:buNone/>
                <a:tabLst/>
                <a:defRPr/>
              </a:pPr>
              <a:r>
                <a:rPr kumimoji="0" lang="en-US" sz="1200" b="1" i="0" u="sng"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AEROSPACE IN SOCIETY GROUP</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Sofia Russi, Director (2025-2028, 1</a:t>
              </a:r>
              <a:r>
                <a:rPr kumimoji="0" lang="en-US" sz="1100" b="1" i="0" u="none" strike="noStrike" kern="1200" cap="none" spc="0" normalizeH="0" baseline="3000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st</a:t>
              </a:r>
              <a:r>
                <a:rPr kumimoji="0" lang="en-US" sz="1100" b="1"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 term)</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Matt Cannella, Deputy Director</a:t>
              </a:r>
            </a:p>
            <a:p>
              <a:pPr marL="0" marR="0" lvl="0" indent="0" algn="l" defTabSz="914400" rtl="0" eaLnBrk="1" fontAlgn="base" latinLnBrk="0" hangingPunct="1">
                <a:lnSpc>
                  <a:spcPts val="1733"/>
                </a:lnSpc>
                <a:spcBef>
                  <a:spcPct val="0"/>
                </a:spcBef>
                <a:spcAft>
                  <a:spcPct val="0"/>
                </a:spcAft>
                <a:buClrTx/>
                <a:buSzTx/>
                <a:buFontTx/>
                <a:buNone/>
                <a:tabLst/>
                <a:defRPr/>
              </a:pPr>
              <a:endParaRPr kumimoji="0" lang="en-US" sz="600" b="0" i="0" u="none" strike="noStrike" kern="1200" cap="none" spc="0" normalizeH="0" baseline="0" noProof="0" dirty="0">
                <a:ln>
                  <a:noFill/>
                </a:ln>
                <a:solidFill>
                  <a:srgbClr val="000000"/>
                </a:solidFill>
                <a:effectLst/>
                <a:uLnTx/>
                <a:uFillTx/>
                <a:latin typeface="Figtree" pitchFamily="2" charset="0"/>
                <a:ea typeface="ＭＳ Ｐゴシック" charset="-128"/>
                <a:cs typeface="Helvetica" panose="020B0604020202020204" pitchFamily="34" charset="0"/>
              </a:endParaRP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ＭＳ Ｐゴシック" charset="-128"/>
                  <a:cs typeface="Helvetica" panose="020B0604020202020204" pitchFamily="34" charset="0"/>
                </a:rPr>
                <a:t>History</a:t>
              </a: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 </a:t>
              </a:r>
              <a:r>
                <a:rPr kumimoji="0" lang="en-US" sz="1100" b="0" i="0" u="none" strike="noStrike" kern="1200" cap="none" spc="0" normalizeH="0" baseline="0" noProof="0" dirty="0">
                  <a:ln>
                    <a:noFill/>
                  </a:ln>
                  <a:solidFill>
                    <a:srgbClr val="000000"/>
                  </a:solidFill>
                  <a:effectLst/>
                  <a:uLnTx/>
                  <a:uFillTx/>
                  <a:latin typeface="Figtree" pitchFamily="2" charset="0"/>
                  <a:ea typeface="ＭＳ Ｐゴシック" charset="-128"/>
                  <a:cs typeface="Helvetica" panose="020B0604020202020204" pitchFamily="34" charset="0"/>
                </a:rPr>
                <a:t>– John Tylko</a:t>
              </a: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a:ea typeface="Calibri"/>
                  <a:cs typeface="Helvetica"/>
                </a:rPr>
                <a:t>Management* – Sivaram Gogineni</a:t>
              </a:r>
              <a:endPar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endParaRP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Society and Aerospace Technology – Chi Mai</a:t>
              </a: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Sustainability – Phillip Ansell</a:t>
              </a:r>
            </a:p>
          </p:txBody>
        </p:sp>
        <p:sp>
          <p:nvSpPr>
            <p:cNvPr id="16" name="Diamond 15">
              <a:extLst>
                <a:ext uri="{FF2B5EF4-FFF2-40B4-BE49-F238E27FC236}">
                  <a16:creationId xmlns:a16="http://schemas.microsoft.com/office/drawing/2014/main" id="{606E81BF-1899-AA5B-B40E-8925B8EB30D6}"/>
                </a:ext>
              </a:extLst>
            </p:cNvPr>
            <p:cNvSpPr/>
            <p:nvPr/>
          </p:nvSpPr>
          <p:spPr>
            <a:xfrm>
              <a:off x="4137040" y="1830368"/>
              <a:ext cx="320040" cy="32004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panose="02110004020202020204"/>
                <a:ea typeface="+mn-ea"/>
                <a:cs typeface="+mn-cs"/>
              </a:endParaRPr>
            </a:p>
          </p:txBody>
        </p:sp>
      </p:grpSp>
      <p:grpSp>
        <p:nvGrpSpPr>
          <p:cNvPr id="14" name="Group 13">
            <a:extLst>
              <a:ext uri="{FF2B5EF4-FFF2-40B4-BE49-F238E27FC236}">
                <a16:creationId xmlns:a16="http://schemas.microsoft.com/office/drawing/2014/main" id="{772FC904-4312-FD9A-88FA-1FA917DEA9BB}"/>
              </a:ext>
            </a:extLst>
          </p:cNvPr>
          <p:cNvGrpSpPr/>
          <p:nvPr/>
        </p:nvGrpSpPr>
        <p:grpSpPr>
          <a:xfrm>
            <a:off x="119269" y="5016178"/>
            <a:ext cx="4445757" cy="1065100"/>
            <a:chOff x="119269" y="5016178"/>
            <a:chExt cx="4445757" cy="1065100"/>
          </a:xfrm>
        </p:grpSpPr>
        <p:sp>
          <p:nvSpPr>
            <p:cNvPr id="10" name="Rectangle 9">
              <a:extLst>
                <a:ext uri="{FF2B5EF4-FFF2-40B4-BE49-F238E27FC236}">
                  <a16:creationId xmlns:a16="http://schemas.microsoft.com/office/drawing/2014/main" id="{0AF34427-FF04-F24A-1D1B-E55B2A905F4D}"/>
                </a:ext>
              </a:extLst>
            </p:cNvPr>
            <p:cNvSpPr/>
            <p:nvPr/>
          </p:nvSpPr>
          <p:spPr>
            <a:xfrm>
              <a:off x="119269" y="5016178"/>
              <a:ext cx="4445757" cy="1065100"/>
            </a:xfrm>
            <a:prstGeom prst="rect">
              <a:avLst/>
            </a:prstGeom>
            <a:noFill/>
            <a:ln w="12700">
              <a:solidFill>
                <a:schemeClr val="tx2"/>
              </a:solidFill>
              <a:prstDash val="solid"/>
            </a:ln>
          </p:spPr>
          <p:style>
            <a:lnRef idx="2">
              <a:schemeClr val="accent3"/>
            </a:lnRef>
            <a:fillRef idx="1">
              <a:schemeClr val="lt1"/>
            </a:fillRef>
            <a:effectRef idx="0">
              <a:schemeClr val="accent3"/>
            </a:effectRef>
            <a:fontRef idx="minor">
              <a:schemeClr val="dk1"/>
            </a:fontRef>
          </p:style>
          <p:txBody>
            <a:bodyPr wrap="square" rtlCol="0" anchor="ctr">
              <a:spAutoFit/>
            </a:bodyPr>
            <a:ls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Arial" charset="0"/>
                </a:defRPr>
              </a:lvl1pPr>
              <a:lvl2pPr marL="457189" algn="l" rtl="0" fontAlgn="base">
                <a:spcBef>
                  <a:spcPct val="0"/>
                </a:spcBef>
                <a:spcAft>
                  <a:spcPct val="0"/>
                </a:spcAft>
                <a:defRPr sz="2400" kern="1200">
                  <a:solidFill>
                    <a:schemeClr val="tx1"/>
                  </a:solidFill>
                  <a:latin typeface="Arial" charset="0"/>
                  <a:ea typeface="ＭＳ Ｐゴシック" charset="-128"/>
                  <a:cs typeface="Arial" charset="0"/>
                </a:defRPr>
              </a:lvl2pPr>
              <a:lvl3pPr marL="914377" algn="l" rtl="0" fontAlgn="base">
                <a:spcBef>
                  <a:spcPct val="0"/>
                </a:spcBef>
                <a:spcAft>
                  <a:spcPct val="0"/>
                </a:spcAft>
                <a:defRPr sz="2400" kern="1200">
                  <a:solidFill>
                    <a:schemeClr val="tx1"/>
                  </a:solidFill>
                  <a:latin typeface="Arial" charset="0"/>
                  <a:ea typeface="ＭＳ Ｐゴシック" charset="-128"/>
                  <a:cs typeface="Arial" charset="0"/>
                </a:defRPr>
              </a:lvl3pPr>
              <a:lvl4pPr marL="1371566" algn="l" rtl="0" fontAlgn="base">
                <a:spcBef>
                  <a:spcPct val="0"/>
                </a:spcBef>
                <a:spcAft>
                  <a:spcPct val="0"/>
                </a:spcAft>
                <a:defRPr sz="2400" kern="1200">
                  <a:solidFill>
                    <a:schemeClr val="tx1"/>
                  </a:solidFill>
                  <a:latin typeface="Arial" charset="0"/>
                  <a:ea typeface="ＭＳ Ｐゴシック" charset="-128"/>
                  <a:cs typeface="Arial" charset="0"/>
                </a:defRPr>
              </a:lvl4pPr>
              <a:lvl5pPr marL="1828754" algn="l" rtl="0" fontAlgn="base">
                <a:spcBef>
                  <a:spcPct val="0"/>
                </a:spcBef>
                <a:spcAft>
                  <a:spcPct val="0"/>
                </a:spcAft>
                <a:defRPr sz="2400" kern="1200">
                  <a:solidFill>
                    <a:schemeClr val="tx1"/>
                  </a:solidFill>
                  <a:latin typeface="Arial" charset="0"/>
                  <a:ea typeface="ＭＳ Ｐゴシック" charset="-128"/>
                  <a:cs typeface="Arial" charset="0"/>
                </a:defRPr>
              </a:lvl5pPr>
              <a:lvl6pPr marL="2285943" algn="l" defTabSz="914377" rtl="0" eaLnBrk="1" latinLnBrk="0" hangingPunct="1">
                <a:defRPr sz="2400" kern="1200">
                  <a:solidFill>
                    <a:schemeClr val="tx1"/>
                  </a:solidFill>
                  <a:latin typeface="Arial" charset="0"/>
                  <a:ea typeface="ＭＳ Ｐゴシック" charset="-128"/>
                  <a:cs typeface="Arial" charset="0"/>
                </a:defRPr>
              </a:lvl6pPr>
              <a:lvl7pPr marL="2743131" algn="l" defTabSz="914377" rtl="0" eaLnBrk="1" latinLnBrk="0" hangingPunct="1">
                <a:defRPr sz="2400" kern="1200">
                  <a:solidFill>
                    <a:schemeClr val="tx1"/>
                  </a:solidFill>
                  <a:latin typeface="Arial" charset="0"/>
                  <a:ea typeface="ＭＳ Ｐゴシック" charset="-128"/>
                  <a:cs typeface="Arial" charset="0"/>
                </a:defRPr>
              </a:lvl7pPr>
              <a:lvl8pPr marL="3200320" algn="l" defTabSz="914377" rtl="0" eaLnBrk="1" latinLnBrk="0" hangingPunct="1">
                <a:defRPr sz="2400" kern="1200">
                  <a:solidFill>
                    <a:schemeClr val="tx1"/>
                  </a:solidFill>
                  <a:latin typeface="Arial" charset="0"/>
                  <a:ea typeface="ＭＳ Ｐゴシック" charset="-128"/>
                  <a:cs typeface="Arial" charset="0"/>
                </a:defRPr>
              </a:lvl8pPr>
              <a:lvl9pPr marL="3657509" algn="l" defTabSz="914377" rtl="0" eaLnBrk="1" latinLnBrk="0" hangingPunct="1">
                <a:defRPr sz="2400" kern="1200">
                  <a:solidFill>
                    <a:schemeClr val="tx1"/>
                  </a:solidFill>
                  <a:latin typeface="Arial" charset="0"/>
                  <a:ea typeface="ＭＳ Ｐゴシック" charset="-128"/>
                  <a:cs typeface="Arial" charset="0"/>
                </a:defRPr>
              </a:lvl9pPr>
            </a:lstStyle>
            <a:p>
              <a:pPr marL="0" marR="0" lvl="0" indent="0" algn="ctr" defTabSz="914400" rtl="0" eaLnBrk="1" fontAlgn="base" latinLnBrk="0" hangingPunct="1">
                <a:lnSpc>
                  <a:spcPts val="1733"/>
                </a:lnSpc>
                <a:spcBef>
                  <a:spcPct val="0"/>
                </a:spcBef>
                <a:spcAft>
                  <a:spcPct val="0"/>
                </a:spcAft>
                <a:buClrTx/>
                <a:buSzTx/>
                <a:buFontTx/>
                <a:buNone/>
                <a:tabLst/>
                <a:defRPr/>
              </a:pPr>
              <a:r>
                <a:rPr kumimoji="0" lang="en-US" sz="1200" b="1" i="0" u="sng"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DIGITAL SYSTEMS &amp; INTEGRATION GROUP</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TBD, Director</a:t>
              </a:r>
            </a:p>
            <a:p>
              <a:pPr marL="0" marR="0" lvl="0" indent="0" algn="ctr" defTabSz="914400" rtl="0" eaLnBrk="1" fontAlgn="base" latinLnBrk="0" hangingPunct="1">
                <a:lnSpc>
                  <a:spcPts val="1300"/>
                </a:lnSpc>
                <a:spcBef>
                  <a:spcPct val="0"/>
                </a:spcBef>
                <a:spcAft>
                  <a:spcPct val="0"/>
                </a:spcAft>
                <a:buClrTx/>
                <a:buSzTx/>
                <a:buFontTx/>
                <a:buNone/>
                <a:tabLst/>
                <a:defRPr/>
              </a:pPr>
              <a:endParaRPr kumimoji="0" lang="en-US" sz="1100" b="1" i="1" u="none" strike="noStrike" kern="1200" cap="none" spc="0" normalizeH="0" baseline="0" noProof="0" dirty="0">
                <a:ln>
                  <a:noFill/>
                </a:ln>
                <a:solidFill>
                  <a:srgbClr val="000000"/>
                </a:solidFill>
                <a:effectLst/>
                <a:uLnTx/>
                <a:uFillTx/>
                <a:latin typeface="Helvetica" panose="020B0604020202020204" pitchFamily="34" charset="0"/>
                <a:ea typeface="Calibri" panose="020F0502020204030204" pitchFamily="34" charset="0"/>
                <a:cs typeface="Helvetica" panose="020B0604020202020204" pitchFamily="34" charset="0"/>
              </a:endParaRP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CFD Vision 2030 – Andrew Cary</a:t>
              </a: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Digital Engineering – Olivia Pinon Fischer</a:t>
              </a:r>
            </a:p>
          </p:txBody>
        </p:sp>
        <p:sp>
          <p:nvSpPr>
            <p:cNvPr id="19" name="Diamond 18">
              <a:extLst>
                <a:ext uri="{FF2B5EF4-FFF2-40B4-BE49-F238E27FC236}">
                  <a16:creationId xmlns:a16="http://schemas.microsoft.com/office/drawing/2014/main" id="{CB2571B9-1BD3-C09F-EBC9-932DB27C4435}"/>
                </a:ext>
              </a:extLst>
            </p:cNvPr>
            <p:cNvSpPr/>
            <p:nvPr/>
          </p:nvSpPr>
          <p:spPr>
            <a:xfrm>
              <a:off x="4113309" y="5083882"/>
              <a:ext cx="320040" cy="32004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panose="02110004020202020204"/>
                <a:ea typeface="+mn-ea"/>
                <a:cs typeface="+mn-cs"/>
              </a:endParaRPr>
            </a:p>
          </p:txBody>
        </p:sp>
      </p:grpSp>
      <p:grpSp>
        <p:nvGrpSpPr>
          <p:cNvPr id="13" name="Group 12">
            <a:extLst>
              <a:ext uri="{FF2B5EF4-FFF2-40B4-BE49-F238E27FC236}">
                <a16:creationId xmlns:a16="http://schemas.microsoft.com/office/drawing/2014/main" id="{848CCAC2-71CD-0138-060C-DA129E3A1C3A}"/>
              </a:ext>
            </a:extLst>
          </p:cNvPr>
          <p:cNvGrpSpPr/>
          <p:nvPr/>
        </p:nvGrpSpPr>
        <p:grpSpPr>
          <a:xfrm>
            <a:off x="119270" y="3668302"/>
            <a:ext cx="4445757" cy="1165127"/>
            <a:chOff x="119270" y="3600072"/>
            <a:chExt cx="4445757" cy="1165127"/>
          </a:xfrm>
        </p:grpSpPr>
        <p:sp>
          <p:nvSpPr>
            <p:cNvPr id="11" name="Rectangle 10">
              <a:extLst>
                <a:ext uri="{FF2B5EF4-FFF2-40B4-BE49-F238E27FC236}">
                  <a16:creationId xmlns:a16="http://schemas.microsoft.com/office/drawing/2014/main" id="{B1163BB1-CDB6-2835-EFBD-DDFBE5F9E01E}"/>
                </a:ext>
              </a:extLst>
            </p:cNvPr>
            <p:cNvSpPr/>
            <p:nvPr/>
          </p:nvSpPr>
          <p:spPr>
            <a:xfrm>
              <a:off x="119270" y="3600072"/>
              <a:ext cx="4445757" cy="1165127"/>
            </a:xfrm>
            <a:prstGeom prst="rect">
              <a:avLst/>
            </a:prstGeom>
            <a:noFill/>
            <a:ln w="12700">
              <a:solidFill>
                <a:schemeClr val="tx2"/>
              </a:solidFill>
              <a:prstDash val="solid"/>
            </a:ln>
          </p:spPr>
          <p:style>
            <a:lnRef idx="2">
              <a:schemeClr val="accent3"/>
            </a:lnRef>
            <a:fillRef idx="1">
              <a:schemeClr val="lt1"/>
            </a:fillRef>
            <a:effectRef idx="0">
              <a:schemeClr val="accent3"/>
            </a:effectRef>
            <a:fontRef idx="minor">
              <a:schemeClr val="dk1"/>
            </a:fontRef>
          </p:style>
          <p:txBody>
            <a:bodyPr wrap="square" rtlCol="0" anchor="ctr">
              <a:spAutoFit/>
            </a:bodyPr>
            <a:ls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Arial" charset="0"/>
                </a:defRPr>
              </a:lvl1pPr>
              <a:lvl2pPr marL="457189" algn="l" rtl="0" fontAlgn="base">
                <a:spcBef>
                  <a:spcPct val="0"/>
                </a:spcBef>
                <a:spcAft>
                  <a:spcPct val="0"/>
                </a:spcAft>
                <a:defRPr sz="2400" kern="1200">
                  <a:solidFill>
                    <a:schemeClr val="tx1"/>
                  </a:solidFill>
                  <a:latin typeface="Arial" charset="0"/>
                  <a:ea typeface="ＭＳ Ｐゴシック" charset="-128"/>
                  <a:cs typeface="Arial" charset="0"/>
                </a:defRPr>
              </a:lvl2pPr>
              <a:lvl3pPr marL="914377" algn="l" rtl="0" fontAlgn="base">
                <a:spcBef>
                  <a:spcPct val="0"/>
                </a:spcBef>
                <a:spcAft>
                  <a:spcPct val="0"/>
                </a:spcAft>
                <a:defRPr sz="2400" kern="1200">
                  <a:solidFill>
                    <a:schemeClr val="tx1"/>
                  </a:solidFill>
                  <a:latin typeface="Arial" charset="0"/>
                  <a:ea typeface="ＭＳ Ｐゴシック" charset="-128"/>
                  <a:cs typeface="Arial" charset="0"/>
                </a:defRPr>
              </a:lvl3pPr>
              <a:lvl4pPr marL="1371566" algn="l" rtl="0" fontAlgn="base">
                <a:spcBef>
                  <a:spcPct val="0"/>
                </a:spcBef>
                <a:spcAft>
                  <a:spcPct val="0"/>
                </a:spcAft>
                <a:defRPr sz="2400" kern="1200">
                  <a:solidFill>
                    <a:schemeClr val="tx1"/>
                  </a:solidFill>
                  <a:latin typeface="Arial" charset="0"/>
                  <a:ea typeface="ＭＳ Ｐゴシック" charset="-128"/>
                  <a:cs typeface="Arial" charset="0"/>
                </a:defRPr>
              </a:lvl4pPr>
              <a:lvl5pPr marL="1828754" algn="l" rtl="0" fontAlgn="base">
                <a:spcBef>
                  <a:spcPct val="0"/>
                </a:spcBef>
                <a:spcAft>
                  <a:spcPct val="0"/>
                </a:spcAft>
                <a:defRPr sz="2400" kern="1200">
                  <a:solidFill>
                    <a:schemeClr val="tx1"/>
                  </a:solidFill>
                  <a:latin typeface="Arial" charset="0"/>
                  <a:ea typeface="ＭＳ Ｐゴシック" charset="-128"/>
                  <a:cs typeface="Arial" charset="0"/>
                </a:defRPr>
              </a:lvl5pPr>
              <a:lvl6pPr marL="2285943" algn="l" defTabSz="914377" rtl="0" eaLnBrk="1" latinLnBrk="0" hangingPunct="1">
                <a:defRPr sz="2400" kern="1200">
                  <a:solidFill>
                    <a:schemeClr val="tx1"/>
                  </a:solidFill>
                  <a:latin typeface="Arial" charset="0"/>
                  <a:ea typeface="ＭＳ Ｐゴシック" charset="-128"/>
                  <a:cs typeface="Arial" charset="0"/>
                </a:defRPr>
              </a:lvl6pPr>
              <a:lvl7pPr marL="2743131" algn="l" defTabSz="914377" rtl="0" eaLnBrk="1" latinLnBrk="0" hangingPunct="1">
                <a:defRPr sz="2400" kern="1200">
                  <a:solidFill>
                    <a:schemeClr val="tx1"/>
                  </a:solidFill>
                  <a:latin typeface="Arial" charset="0"/>
                  <a:ea typeface="ＭＳ Ｐゴシック" charset="-128"/>
                  <a:cs typeface="Arial" charset="0"/>
                </a:defRPr>
              </a:lvl7pPr>
              <a:lvl8pPr marL="3200320" algn="l" defTabSz="914377" rtl="0" eaLnBrk="1" latinLnBrk="0" hangingPunct="1">
                <a:defRPr sz="2400" kern="1200">
                  <a:solidFill>
                    <a:schemeClr val="tx1"/>
                  </a:solidFill>
                  <a:latin typeface="Arial" charset="0"/>
                  <a:ea typeface="ＭＳ Ｐゴシック" charset="-128"/>
                  <a:cs typeface="Arial" charset="0"/>
                </a:defRPr>
              </a:lvl8pPr>
              <a:lvl9pPr marL="3657509" algn="l" defTabSz="914377" rtl="0" eaLnBrk="1" latinLnBrk="0" hangingPunct="1">
                <a:defRPr sz="2400" kern="1200">
                  <a:solidFill>
                    <a:schemeClr val="tx1"/>
                  </a:solidFill>
                  <a:latin typeface="Arial" charset="0"/>
                  <a:ea typeface="ＭＳ Ｐゴシック" charset="-128"/>
                  <a:cs typeface="Arial" charset="0"/>
                </a:defRPr>
              </a:lvl9pPr>
            </a:lstStyle>
            <a:p>
              <a:pPr marL="0" marR="0" lvl="0" indent="0" algn="ctr" defTabSz="914400" rtl="0" eaLnBrk="1" fontAlgn="base" latinLnBrk="0" hangingPunct="1">
                <a:lnSpc>
                  <a:spcPts val="1733"/>
                </a:lnSpc>
                <a:spcBef>
                  <a:spcPct val="0"/>
                </a:spcBef>
                <a:spcAft>
                  <a:spcPct val="0"/>
                </a:spcAft>
                <a:buClrTx/>
                <a:buSzTx/>
                <a:buFontTx/>
                <a:buNone/>
                <a:tabLst/>
                <a:defRPr/>
              </a:pPr>
              <a:r>
                <a:rPr kumimoji="0" lang="en-US" sz="1200" b="1" i="0" u="sng"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DEFENSE, SECURITY, &amp; INTELLIGENCE GROUP</a:t>
              </a:r>
            </a:p>
            <a:p>
              <a:pPr marL="0" marR="0" lvl="0" indent="0" algn="ctr" defTabSz="914400" rtl="0" eaLnBrk="1" fontAlgn="base" latinLnBrk="0" hangingPunct="1">
                <a:lnSpc>
                  <a:spcPts val="1733"/>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TBD, Director</a:t>
              </a:r>
            </a:p>
            <a:p>
              <a:pPr marL="0" marR="0" lvl="0" indent="0" algn="ctr" defTabSz="914400" rtl="0" eaLnBrk="1" fontAlgn="base" latinLnBrk="0" hangingPunct="1">
                <a:lnSpc>
                  <a:spcPts val="1733"/>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endParaRP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Airborne Directed Energy Systems – John Ehrhart</a:t>
              </a: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Unidentified Anomalous Phenomena – Ryan Graves</a:t>
              </a:r>
            </a:p>
          </p:txBody>
        </p:sp>
        <p:sp>
          <p:nvSpPr>
            <p:cNvPr id="20" name="Pentagon 19">
              <a:extLst>
                <a:ext uri="{FF2B5EF4-FFF2-40B4-BE49-F238E27FC236}">
                  <a16:creationId xmlns:a16="http://schemas.microsoft.com/office/drawing/2014/main" id="{76CBE653-EC16-20CC-3267-C44AD9040F23}"/>
                </a:ext>
              </a:extLst>
            </p:cNvPr>
            <p:cNvSpPr/>
            <p:nvPr/>
          </p:nvSpPr>
          <p:spPr>
            <a:xfrm>
              <a:off x="4121628" y="3646851"/>
              <a:ext cx="320040" cy="320040"/>
            </a:xfrm>
            <a:prstGeom prst="pentagon">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panose="02110004020202020204"/>
                <a:ea typeface="+mn-ea"/>
                <a:cs typeface="+mn-cs"/>
              </a:endParaRPr>
            </a:p>
          </p:txBody>
        </p:sp>
      </p:grpSp>
      <p:grpSp>
        <p:nvGrpSpPr>
          <p:cNvPr id="25" name="Group 24">
            <a:extLst>
              <a:ext uri="{FF2B5EF4-FFF2-40B4-BE49-F238E27FC236}">
                <a16:creationId xmlns:a16="http://schemas.microsoft.com/office/drawing/2014/main" id="{ABB18BF3-41FC-AC55-6E20-F278DF2E318A}"/>
              </a:ext>
            </a:extLst>
          </p:cNvPr>
          <p:cNvGrpSpPr/>
          <p:nvPr/>
        </p:nvGrpSpPr>
        <p:grpSpPr>
          <a:xfrm>
            <a:off x="4691225" y="4250865"/>
            <a:ext cx="4738557" cy="865045"/>
            <a:chOff x="4691225" y="4734956"/>
            <a:chExt cx="4738557" cy="865045"/>
          </a:xfrm>
        </p:grpSpPr>
        <p:sp>
          <p:nvSpPr>
            <p:cNvPr id="8" name="Rectangle 7">
              <a:extLst>
                <a:ext uri="{FF2B5EF4-FFF2-40B4-BE49-F238E27FC236}">
                  <a16:creationId xmlns:a16="http://schemas.microsoft.com/office/drawing/2014/main" id="{C251DB7B-1B53-F647-6153-55F677BD70AC}"/>
                </a:ext>
              </a:extLst>
            </p:cNvPr>
            <p:cNvSpPr/>
            <p:nvPr/>
          </p:nvSpPr>
          <p:spPr>
            <a:xfrm>
              <a:off x="4691225" y="4734956"/>
              <a:ext cx="4738557" cy="865045"/>
            </a:xfrm>
            <a:prstGeom prst="rect">
              <a:avLst/>
            </a:prstGeom>
            <a:noFill/>
            <a:ln w="12700">
              <a:solidFill>
                <a:schemeClr val="tx2"/>
              </a:solidFill>
            </a:ln>
          </p:spPr>
          <p:style>
            <a:lnRef idx="2">
              <a:schemeClr val="accent3"/>
            </a:lnRef>
            <a:fillRef idx="1">
              <a:schemeClr val="lt1"/>
            </a:fillRef>
            <a:effectRef idx="0">
              <a:schemeClr val="accent3"/>
            </a:effectRef>
            <a:fontRef idx="minor">
              <a:schemeClr val="dk1"/>
            </a:fontRef>
          </p:style>
          <p:txBody>
            <a:bodyPr wrap="square" lIns="91440" tIns="45720" rIns="91440" bIns="45720" rtlCol="0" anchor="ctr">
              <a:spAutoFit/>
            </a:bodyPr>
            <a:ls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Arial" charset="0"/>
                </a:defRPr>
              </a:lvl1pPr>
              <a:lvl2pPr marL="457189" algn="l" rtl="0" fontAlgn="base">
                <a:spcBef>
                  <a:spcPct val="0"/>
                </a:spcBef>
                <a:spcAft>
                  <a:spcPct val="0"/>
                </a:spcAft>
                <a:defRPr sz="2400" kern="1200">
                  <a:solidFill>
                    <a:schemeClr val="tx1"/>
                  </a:solidFill>
                  <a:latin typeface="Arial" charset="0"/>
                  <a:ea typeface="ＭＳ Ｐゴシック" charset="-128"/>
                  <a:cs typeface="Arial" charset="0"/>
                </a:defRPr>
              </a:lvl2pPr>
              <a:lvl3pPr marL="914377" algn="l" rtl="0" fontAlgn="base">
                <a:spcBef>
                  <a:spcPct val="0"/>
                </a:spcBef>
                <a:spcAft>
                  <a:spcPct val="0"/>
                </a:spcAft>
                <a:defRPr sz="2400" kern="1200">
                  <a:solidFill>
                    <a:schemeClr val="tx1"/>
                  </a:solidFill>
                  <a:latin typeface="Arial" charset="0"/>
                  <a:ea typeface="ＭＳ Ｐゴシック" charset="-128"/>
                  <a:cs typeface="Arial" charset="0"/>
                </a:defRPr>
              </a:lvl3pPr>
              <a:lvl4pPr marL="1371566" algn="l" rtl="0" fontAlgn="base">
                <a:spcBef>
                  <a:spcPct val="0"/>
                </a:spcBef>
                <a:spcAft>
                  <a:spcPct val="0"/>
                </a:spcAft>
                <a:defRPr sz="2400" kern="1200">
                  <a:solidFill>
                    <a:schemeClr val="tx1"/>
                  </a:solidFill>
                  <a:latin typeface="Arial" charset="0"/>
                  <a:ea typeface="ＭＳ Ｐゴシック" charset="-128"/>
                  <a:cs typeface="Arial" charset="0"/>
                </a:defRPr>
              </a:lvl4pPr>
              <a:lvl5pPr marL="1828754" algn="l" rtl="0" fontAlgn="base">
                <a:spcBef>
                  <a:spcPct val="0"/>
                </a:spcBef>
                <a:spcAft>
                  <a:spcPct val="0"/>
                </a:spcAft>
                <a:defRPr sz="2400" kern="1200">
                  <a:solidFill>
                    <a:schemeClr val="tx1"/>
                  </a:solidFill>
                  <a:latin typeface="Arial" charset="0"/>
                  <a:ea typeface="ＭＳ Ｐゴシック" charset="-128"/>
                  <a:cs typeface="Arial" charset="0"/>
                </a:defRPr>
              </a:lvl5pPr>
              <a:lvl6pPr marL="2285943" algn="l" defTabSz="914377" rtl="0" eaLnBrk="1" latinLnBrk="0" hangingPunct="1">
                <a:defRPr sz="2400" kern="1200">
                  <a:solidFill>
                    <a:schemeClr val="tx1"/>
                  </a:solidFill>
                  <a:latin typeface="Arial" charset="0"/>
                  <a:ea typeface="ＭＳ Ｐゴシック" charset="-128"/>
                  <a:cs typeface="Arial" charset="0"/>
                </a:defRPr>
              </a:lvl6pPr>
              <a:lvl7pPr marL="2743131" algn="l" defTabSz="914377" rtl="0" eaLnBrk="1" latinLnBrk="0" hangingPunct="1">
                <a:defRPr sz="2400" kern="1200">
                  <a:solidFill>
                    <a:schemeClr val="tx1"/>
                  </a:solidFill>
                  <a:latin typeface="Arial" charset="0"/>
                  <a:ea typeface="ＭＳ Ｐゴシック" charset="-128"/>
                  <a:cs typeface="Arial" charset="0"/>
                </a:defRPr>
              </a:lvl7pPr>
              <a:lvl8pPr marL="3200320" algn="l" defTabSz="914377" rtl="0" eaLnBrk="1" latinLnBrk="0" hangingPunct="1">
                <a:defRPr sz="2400" kern="1200">
                  <a:solidFill>
                    <a:schemeClr val="tx1"/>
                  </a:solidFill>
                  <a:latin typeface="Arial" charset="0"/>
                  <a:ea typeface="ＭＳ Ｐゴシック" charset="-128"/>
                  <a:cs typeface="Arial" charset="0"/>
                </a:defRPr>
              </a:lvl8pPr>
              <a:lvl9pPr marL="3657509" algn="l" defTabSz="914377" rtl="0" eaLnBrk="1" latinLnBrk="0" hangingPunct="1">
                <a:defRPr sz="2400" kern="1200">
                  <a:solidFill>
                    <a:schemeClr val="tx1"/>
                  </a:solidFill>
                  <a:latin typeface="Arial" charset="0"/>
                  <a:ea typeface="ＭＳ Ｐゴシック" charset="-128"/>
                  <a:cs typeface="Arial" charset="0"/>
                </a:defRPr>
              </a:lvl9pPr>
            </a:lstStyle>
            <a:p>
              <a:pPr marL="0" marR="0" lvl="0" indent="0" algn="ctr" defTabSz="914400" rtl="0" eaLnBrk="1" fontAlgn="base" latinLnBrk="0" hangingPunct="1">
                <a:lnSpc>
                  <a:spcPts val="1733"/>
                </a:lnSpc>
                <a:spcBef>
                  <a:spcPct val="0"/>
                </a:spcBef>
                <a:spcAft>
                  <a:spcPct val="0"/>
                </a:spcAft>
                <a:buClrTx/>
                <a:buSzTx/>
                <a:buFontTx/>
                <a:buNone/>
                <a:tabLst/>
                <a:defRPr/>
              </a:pPr>
              <a:r>
                <a:rPr kumimoji="0" lang="en-US" sz="1200" b="1" i="0" u="sng"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SPACE SYSTEMS &amp; EXPLORATION</a:t>
              </a:r>
              <a:endParaRPr kumimoji="0" lang="en-US" sz="12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TBD, Director</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0" i="1"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endParaRP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Space Exploration – Surendra Sharma</a:t>
              </a:r>
            </a:p>
          </p:txBody>
        </p:sp>
        <p:sp>
          <p:nvSpPr>
            <p:cNvPr id="22" name="Star: 5 Points 21">
              <a:extLst>
                <a:ext uri="{FF2B5EF4-FFF2-40B4-BE49-F238E27FC236}">
                  <a16:creationId xmlns:a16="http://schemas.microsoft.com/office/drawing/2014/main" id="{688CD887-B077-2FE0-4DD3-122B8843F240}"/>
                </a:ext>
              </a:extLst>
            </p:cNvPr>
            <p:cNvSpPr/>
            <p:nvPr/>
          </p:nvSpPr>
          <p:spPr>
            <a:xfrm>
              <a:off x="9040846" y="4865085"/>
              <a:ext cx="320040" cy="320040"/>
            </a:xfrm>
            <a:prstGeom prst="star5">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panose="02110004020202020204"/>
                <a:ea typeface="+mn-ea"/>
                <a:cs typeface="+mn-cs"/>
              </a:endParaRPr>
            </a:p>
          </p:txBody>
        </p:sp>
      </p:grpSp>
      <p:grpSp>
        <p:nvGrpSpPr>
          <p:cNvPr id="27" name="Group 26">
            <a:extLst>
              <a:ext uri="{FF2B5EF4-FFF2-40B4-BE49-F238E27FC236}">
                <a16:creationId xmlns:a16="http://schemas.microsoft.com/office/drawing/2014/main" id="{C1F7F6CB-9176-FFEF-92E1-426CD0C05CB7}"/>
              </a:ext>
            </a:extLst>
          </p:cNvPr>
          <p:cNvGrpSpPr/>
          <p:nvPr/>
        </p:nvGrpSpPr>
        <p:grpSpPr>
          <a:xfrm>
            <a:off x="4673600" y="1933139"/>
            <a:ext cx="4738557" cy="1890967"/>
            <a:chOff x="4673600" y="2039795"/>
            <a:chExt cx="4738557" cy="1890967"/>
          </a:xfrm>
        </p:grpSpPr>
        <p:sp>
          <p:nvSpPr>
            <p:cNvPr id="9" name="Rectangle 8">
              <a:extLst>
                <a:ext uri="{FF2B5EF4-FFF2-40B4-BE49-F238E27FC236}">
                  <a16:creationId xmlns:a16="http://schemas.microsoft.com/office/drawing/2014/main" id="{D6B420AC-87F7-F65A-22D1-75E44FF13CC9}"/>
                </a:ext>
              </a:extLst>
            </p:cNvPr>
            <p:cNvSpPr/>
            <p:nvPr/>
          </p:nvSpPr>
          <p:spPr>
            <a:xfrm>
              <a:off x="4673600" y="2039795"/>
              <a:ext cx="4738557" cy="1890967"/>
            </a:xfrm>
            <a:prstGeom prst="rect">
              <a:avLst/>
            </a:prstGeom>
            <a:noFill/>
            <a:ln w="12700">
              <a:solidFill>
                <a:schemeClr val="tx2"/>
              </a:solidFill>
            </a:ln>
          </p:spPr>
          <p:style>
            <a:lnRef idx="2">
              <a:schemeClr val="accent3"/>
            </a:lnRef>
            <a:fillRef idx="1">
              <a:schemeClr val="lt1"/>
            </a:fillRef>
            <a:effectRef idx="0">
              <a:schemeClr val="accent3"/>
            </a:effectRef>
            <a:fontRef idx="minor">
              <a:schemeClr val="dk1"/>
            </a:fontRef>
          </p:style>
          <p:txBody>
            <a:bodyPr wrap="square" rtlCol="0" anchor="ctr">
              <a:spAutoFit/>
            </a:bodyPr>
            <a:ls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Arial" charset="0"/>
                </a:defRPr>
              </a:lvl1pPr>
              <a:lvl2pPr marL="457189" algn="l" rtl="0" fontAlgn="base">
                <a:spcBef>
                  <a:spcPct val="0"/>
                </a:spcBef>
                <a:spcAft>
                  <a:spcPct val="0"/>
                </a:spcAft>
                <a:defRPr sz="2400" kern="1200">
                  <a:solidFill>
                    <a:schemeClr val="tx1"/>
                  </a:solidFill>
                  <a:latin typeface="Arial" charset="0"/>
                  <a:ea typeface="ＭＳ Ｐゴシック" charset="-128"/>
                  <a:cs typeface="Arial" charset="0"/>
                </a:defRPr>
              </a:lvl2pPr>
              <a:lvl3pPr marL="914377" algn="l" rtl="0" fontAlgn="base">
                <a:spcBef>
                  <a:spcPct val="0"/>
                </a:spcBef>
                <a:spcAft>
                  <a:spcPct val="0"/>
                </a:spcAft>
                <a:defRPr sz="2400" kern="1200">
                  <a:solidFill>
                    <a:schemeClr val="tx1"/>
                  </a:solidFill>
                  <a:latin typeface="Arial" charset="0"/>
                  <a:ea typeface="ＭＳ Ｐゴシック" charset="-128"/>
                  <a:cs typeface="Arial" charset="0"/>
                </a:defRPr>
              </a:lvl3pPr>
              <a:lvl4pPr marL="1371566" algn="l" rtl="0" fontAlgn="base">
                <a:spcBef>
                  <a:spcPct val="0"/>
                </a:spcBef>
                <a:spcAft>
                  <a:spcPct val="0"/>
                </a:spcAft>
                <a:defRPr sz="2400" kern="1200">
                  <a:solidFill>
                    <a:schemeClr val="tx1"/>
                  </a:solidFill>
                  <a:latin typeface="Arial" charset="0"/>
                  <a:ea typeface="ＭＳ Ｐゴシック" charset="-128"/>
                  <a:cs typeface="Arial" charset="0"/>
                </a:defRPr>
              </a:lvl4pPr>
              <a:lvl5pPr marL="1828754" algn="l" rtl="0" fontAlgn="base">
                <a:spcBef>
                  <a:spcPct val="0"/>
                </a:spcBef>
                <a:spcAft>
                  <a:spcPct val="0"/>
                </a:spcAft>
                <a:defRPr sz="2400" kern="1200">
                  <a:solidFill>
                    <a:schemeClr val="tx1"/>
                  </a:solidFill>
                  <a:latin typeface="Arial" charset="0"/>
                  <a:ea typeface="ＭＳ Ｐゴシック" charset="-128"/>
                  <a:cs typeface="Arial" charset="0"/>
                </a:defRPr>
              </a:lvl5pPr>
              <a:lvl6pPr marL="2285943" algn="l" defTabSz="914377" rtl="0" eaLnBrk="1" latinLnBrk="0" hangingPunct="1">
                <a:defRPr sz="2400" kern="1200">
                  <a:solidFill>
                    <a:schemeClr val="tx1"/>
                  </a:solidFill>
                  <a:latin typeface="Arial" charset="0"/>
                  <a:ea typeface="ＭＳ Ｐゴシック" charset="-128"/>
                  <a:cs typeface="Arial" charset="0"/>
                </a:defRPr>
              </a:lvl6pPr>
              <a:lvl7pPr marL="2743131" algn="l" defTabSz="914377" rtl="0" eaLnBrk="1" latinLnBrk="0" hangingPunct="1">
                <a:defRPr sz="2400" kern="1200">
                  <a:solidFill>
                    <a:schemeClr val="tx1"/>
                  </a:solidFill>
                  <a:latin typeface="Arial" charset="0"/>
                  <a:ea typeface="ＭＳ Ｐゴシック" charset="-128"/>
                  <a:cs typeface="Arial" charset="0"/>
                </a:defRPr>
              </a:lvl7pPr>
              <a:lvl8pPr marL="3200320" algn="l" defTabSz="914377" rtl="0" eaLnBrk="1" latinLnBrk="0" hangingPunct="1">
                <a:defRPr sz="2400" kern="1200">
                  <a:solidFill>
                    <a:schemeClr val="tx1"/>
                  </a:solidFill>
                  <a:latin typeface="Arial" charset="0"/>
                  <a:ea typeface="ＭＳ Ｐゴシック" charset="-128"/>
                  <a:cs typeface="Arial" charset="0"/>
                </a:defRPr>
              </a:lvl8pPr>
              <a:lvl9pPr marL="3657509" algn="l" defTabSz="914377" rtl="0" eaLnBrk="1" latinLnBrk="0" hangingPunct="1">
                <a:defRPr sz="2400" kern="1200">
                  <a:solidFill>
                    <a:schemeClr val="tx1"/>
                  </a:solidFill>
                  <a:latin typeface="Arial" charset="0"/>
                  <a:ea typeface="ＭＳ Ｐゴシック" charset="-128"/>
                  <a:cs typeface="Arial" charset="0"/>
                </a:defRPr>
              </a:lvl9pPr>
            </a:lstStyle>
            <a:p>
              <a:pPr marL="0" marR="0" lvl="0" indent="0" algn="ctr" defTabSz="914400" rtl="0" eaLnBrk="1" fontAlgn="base" latinLnBrk="0" hangingPunct="1">
                <a:lnSpc>
                  <a:spcPts val="1733"/>
                </a:lnSpc>
                <a:spcBef>
                  <a:spcPct val="0"/>
                </a:spcBef>
                <a:spcAft>
                  <a:spcPct val="0"/>
                </a:spcAft>
                <a:buClrTx/>
                <a:buSzTx/>
                <a:buFontTx/>
                <a:buNone/>
                <a:tabLst/>
                <a:defRPr/>
              </a:pPr>
              <a:r>
                <a:rPr kumimoji="0" lang="en-US" sz="1200" b="1" i="0" u="sng"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ADVANCED FLIGHT &amp; INTEGRATED OPERATIONS</a:t>
              </a:r>
              <a:endParaRPr kumimoji="0" lang="en-US" sz="12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Abdollah Khodadoust, Director (2025-2028, 1</a:t>
              </a:r>
              <a:r>
                <a:rPr kumimoji="0" lang="en-US" sz="1100" b="1" i="0" u="none" strike="noStrike" kern="1200" cap="none" spc="0" normalizeH="0" baseline="3000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st</a:t>
              </a:r>
              <a:r>
                <a:rPr kumimoji="0" lang="en-US" sz="1100" b="1"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 term)</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Gaudy Bezos-O'Connor, Deputy Director</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endParaRP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Aerospace Traffic Management – Karl Garman</a:t>
              </a: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Aviation in Multimodal Transportation – Husni Idris (2026-2028)</a:t>
              </a: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Supersonics – Darcy Allison</a:t>
              </a: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Transformational Flight – Cedric Justin</a:t>
              </a: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Figtree" pitchFamily="2" charset="0"/>
                  <a:ea typeface="Calibri" panose="020F0502020204030204" pitchFamily="34" charset="0"/>
                  <a:cs typeface="Helvetica" panose="020B0604020202020204" pitchFamily="34" charset="0"/>
                </a:rPr>
                <a:t>Uncrewed and Autonomous Systems – Devin Jack</a:t>
              </a:r>
            </a:p>
          </p:txBody>
        </p:sp>
        <p:sp>
          <p:nvSpPr>
            <p:cNvPr id="24" name="Plaque 23">
              <a:extLst>
                <a:ext uri="{FF2B5EF4-FFF2-40B4-BE49-F238E27FC236}">
                  <a16:creationId xmlns:a16="http://schemas.microsoft.com/office/drawing/2014/main" id="{2218F706-11EF-0407-887F-9361C912AA23}"/>
                </a:ext>
              </a:extLst>
            </p:cNvPr>
            <p:cNvSpPr/>
            <p:nvPr/>
          </p:nvSpPr>
          <p:spPr>
            <a:xfrm>
              <a:off x="9040846" y="2208386"/>
              <a:ext cx="320040" cy="320040"/>
            </a:xfrm>
            <a:prstGeom prst="plaqu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panose="02110004020202020204"/>
                <a:ea typeface="+mn-ea"/>
                <a:cs typeface="+mn-cs"/>
              </a:endParaRPr>
            </a:p>
          </p:txBody>
        </p:sp>
      </p:grpSp>
      <p:grpSp>
        <p:nvGrpSpPr>
          <p:cNvPr id="28" name="Group 27">
            <a:extLst>
              <a:ext uri="{FF2B5EF4-FFF2-40B4-BE49-F238E27FC236}">
                <a16:creationId xmlns:a16="http://schemas.microsoft.com/office/drawing/2014/main" id="{187E3177-54A1-1B33-F151-51271EECD6BA}"/>
              </a:ext>
            </a:extLst>
          </p:cNvPr>
          <p:cNvGrpSpPr/>
          <p:nvPr/>
        </p:nvGrpSpPr>
        <p:grpSpPr>
          <a:xfrm>
            <a:off x="9555982" y="4022156"/>
            <a:ext cx="2465131" cy="2002231"/>
            <a:chOff x="9555982" y="4444181"/>
            <a:chExt cx="2465131" cy="2002231"/>
          </a:xfrm>
        </p:grpSpPr>
        <p:sp>
          <p:nvSpPr>
            <p:cNvPr id="17" name="Rectangle 16">
              <a:extLst>
                <a:ext uri="{FF2B5EF4-FFF2-40B4-BE49-F238E27FC236}">
                  <a16:creationId xmlns:a16="http://schemas.microsoft.com/office/drawing/2014/main" id="{2E592163-7D7A-DD8A-A9EF-4CC1B13CF1D1}"/>
                </a:ext>
              </a:extLst>
            </p:cNvPr>
            <p:cNvSpPr/>
            <p:nvPr/>
          </p:nvSpPr>
          <p:spPr>
            <a:xfrm>
              <a:off x="9555982" y="4444181"/>
              <a:ext cx="2465131" cy="2002231"/>
            </a:xfrm>
            <a:prstGeom prst="rect">
              <a:avLst/>
            </a:prstGeom>
            <a:noFill/>
            <a:ln w="12700">
              <a:solidFill>
                <a:schemeClr val="tx2"/>
              </a:solidFill>
            </a:ln>
          </p:spPr>
          <p:style>
            <a:lnRef idx="2">
              <a:schemeClr val="accent3"/>
            </a:lnRef>
            <a:fillRef idx="1">
              <a:schemeClr val="lt1"/>
            </a:fillRef>
            <a:effectRef idx="0">
              <a:schemeClr val="accent3"/>
            </a:effectRef>
            <a:fontRef idx="minor">
              <a:schemeClr val="dk1"/>
            </a:fontRef>
          </p:style>
          <p:txBody>
            <a:bodyPr wrap="square" rtlCol="0" anchor="t" anchorCtr="0">
              <a:noAutofit/>
            </a:bodyPr>
            <a:ls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Arial" charset="0"/>
                </a:defRPr>
              </a:lvl1pPr>
              <a:lvl2pPr marL="457189" algn="l" rtl="0" fontAlgn="base">
                <a:spcBef>
                  <a:spcPct val="0"/>
                </a:spcBef>
                <a:spcAft>
                  <a:spcPct val="0"/>
                </a:spcAft>
                <a:defRPr sz="2400" kern="1200">
                  <a:solidFill>
                    <a:schemeClr val="tx1"/>
                  </a:solidFill>
                  <a:latin typeface="Arial" charset="0"/>
                  <a:ea typeface="ＭＳ Ｐゴシック" charset="-128"/>
                  <a:cs typeface="Arial" charset="0"/>
                </a:defRPr>
              </a:lvl2pPr>
              <a:lvl3pPr marL="914377" algn="l" rtl="0" fontAlgn="base">
                <a:spcBef>
                  <a:spcPct val="0"/>
                </a:spcBef>
                <a:spcAft>
                  <a:spcPct val="0"/>
                </a:spcAft>
                <a:defRPr sz="2400" kern="1200">
                  <a:solidFill>
                    <a:schemeClr val="tx1"/>
                  </a:solidFill>
                  <a:latin typeface="Arial" charset="0"/>
                  <a:ea typeface="ＭＳ Ｐゴシック" charset="-128"/>
                  <a:cs typeface="Arial" charset="0"/>
                </a:defRPr>
              </a:lvl3pPr>
              <a:lvl4pPr marL="1371566" algn="l" rtl="0" fontAlgn="base">
                <a:spcBef>
                  <a:spcPct val="0"/>
                </a:spcBef>
                <a:spcAft>
                  <a:spcPct val="0"/>
                </a:spcAft>
                <a:defRPr sz="2400" kern="1200">
                  <a:solidFill>
                    <a:schemeClr val="tx1"/>
                  </a:solidFill>
                  <a:latin typeface="Arial" charset="0"/>
                  <a:ea typeface="ＭＳ Ｐゴシック" charset="-128"/>
                  <a:cs typeface="Arial" charset="0"/>
                </a:defRPr>
              </a:lvl4pPr>
              <a:lvl5pPr marL="1828754" algn="l" rtl="0" fontAlgn="base">
                <a:spcBef>
                  <a:spcPct val="0"/>
                </a:spcBef>
                <a:spcAft>
                  <a:spcPct val="0"/>
                </a:spcAft>
                <a:defRPr sz="2400" kern="1200">
                  <a:solidFill>
                    <a:schemeClr val="tx1"/>
                  </a:solidFill>
                  <a:latin typeface="Arial" charset="0"/>
                  <a:ea typeface="ＭＳ Ｐゴシック" charset="-128"/>
                  <a:cs typeface="Arial" charset="0"/>
                </a:defRPr>
              </a:lvl5pPr>
              <a:lvl6pPr marL="2285943" algn="l" defTabSz="914377" rtl="0" eaLnBrk="1" latinLnBrk="0" hangingPunct="1">
                <a:defRPr sz="2400" kern="1200">
                  <a:solidFill>
                    <a:schemeClr val="tx1"/>
                  </a:solidFill>
                  <a:latin typeface="Arial" charset="0"/>
                  <a:ea typeface="ＭＳ Ｐゴシック" charset="-128"/>
                  <a:cs typeface="Arial" charset="0"/>
                </a:defRPr>
              </a:lvl6pPr>
              <a:lvl7pPr marL="2743131" algn="l" defTabSz="914377" rtl="0" eaLnBrk="1" latinLnBrk="0" hangingPunct="1">
                <a:defRPr sz="2400" kern="1200">
                  <a:solidFill>
                    <a:schemeClr val="tx1"/>
                  </a:solidFill>
                  <a:latin typeface="Arial" charset="0"/>
                  <a:ea typeface="ＭＳ Ｐゴシック" charset="-128"/>
                  <a:cs typeface="Arial" charset="0"/>
                </a:defRPr>
              </a:lvl7pPr>
              <a:lvl8pPr marL="3200320" algn="l" defTabSz="914377" rtl="0" eaLnBrk="1" latinLnBrk="0" hangingPunct="1">
                <a:defRPr sz="2400" kern="1200">
                  <a:solidFill>
                    <a:schemeClr val="tx1"/>
                  </a:solidFill>
                  <a:latin typeface="Arial" charset="0"/>
                  <a:ea typeface="ＭＳ Ｐゴシック" charset="-128"/>
                  <a:cs typeface="Arial" charset="0"/>
                </a:defRPr>
              </a:lvl8pPr>
              <a:lvl9pPr marL="3657509" algn="l" defTabSz="914377" rtl="0" eaLnBrk="1" latinLnBrk="0" hangingPunct="1">
                <a:defRPr sz="2400" kern="1200">
                  <a:solidFill>
                    <a:schemeClr val="tx1"/>
                  </a:solidFill>
                  <a:latin typeface="Arial" charset="0"/>
                  <a:ea typeface="ＭＳ Ｐゴシック" charset="-128"/>
                  <a:cs typeface="Arial" charset="0"/>
                </a:defRPr>
              </a:lvl9pPr>
            </a:lstStyle>
            <a:p>
              <a:pPr marL="0" marR="0" lvl="0" indent="0" algn="ctr" defTabSz="914400" rtl="0" eaLnBrk="1" fontAlgn="base" latinLnBrk="0" hangingPunct="1">
                <a:lnSpc>
                  <a:spcPts val="1733"/>
                </a:lnSpc>
                <a:spcBef>
                  <a:spcPct val="0"/>
                </a:spcBef>
                <a:spcAft>
                  <a:spcPct val="0"/>
                </a:spcAft>
                <a:buClrTx/>
                <a:buSzTx/>
                <a:buFontTx/>
                <a:buNone/>
                <a:tabLst/>
                <a:defRPr/>
              </a:pPr>
              <a:r>
                <a:rPr kumimoji="0" lang="en-US" sz="1300" b="1" i="0" u="sng" strike="noStrike" kern="1200" cap="none" spc="0" normalizeH="0" baseline="0" noProof="0" dirty="0">
                  <a:ln>
                    <a:noFill/>
                  </a:ln>
                  <a:solidFill>
                    <a:srgbClr val="000000"/>
                  </a:solidFill>
                  <a:effectLst/>
                  <a:uLnTx/>
                  <a:uFillTx/>
                  <a:latin typeface="Figtree" pitchFamily="2" charset="0"/>
                  <a:ea typeface="ＭＳ Ｐゴシック" charset="-128"/>
                  <a:cs typeface="Helvetica" panose="020B0604020202020204" pitchFamily="34" charset="0"/>
                </a:rPr>
                <a:t>Domain Mapping Legend</a:t>
              </a:r>
            </a:p>
            <a:p>
              <a:pPr marL="0" marR="0" lvl="0" indent="0" algn="ctr" defTabSz="914400" rtl="0" eaLnBrk="1" fontAlgn="base" latinLnBrk="0" hangingPunct="1">
                <a:lnSpc>
                  <a:spcPts val="1733"/>
                </a:lnSpc>
                <a:spcBef>
                  <a:spcPct val="0"/>
                </a:spcBef>
                <a:spcAft>
                  <a:spcPct val="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Helvetica" panose="020B0604020202020204" pitchFamily="34" charset="0"/>
                <a:ea typeface="ＭＳ Ｐゴシック" charset="-128"/>
                <a:cs typeface="Helvetica" panose="020B0604020202020204" pitchFamily="34" charset="0"/>
              </a:endParaRP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Helvetica" panose="020B0604020202020204" pitchFamily="34" charset="0"/>
                  <a:ea typeface="ＭＳ Ｐゴシック" charset="-128"/>
                  <a:cs typeface="Helvetica" panose="020B0604020202020204" pitchFamily="34" charset="0"/>
                </a:rPr>
                <a:t>        Aeronautics</a:t>
              </a:r>
            </a:p>
            <a:p>
              <a:pPr marL="0" marR="0" lvl="0" indent="0" algn="l" defTabSz="914400" rtl="0" eaLnBrk="1" fontAlgn="base" latinLnBrk="0" hangingPunct="1">
                <a:lnSpc>
                  <a:spcPts val="1733"/>
                </a:lnSpc>
                <a:spcBef>
                  <a:spcPct val="0"/>
                </a:spcBef>
                <a:spcAft>
                  <a:spcPct val="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Helvetica" panose="020B0604020202020204" pitchFamily="34" charset="0"/>
                <a:ea typeface="ＭＳ Ｐゴシック" charset="-128"/>
                <a:cs typeface="Helvetica" panose="020B0604020202020204" pitchFamily="34" charset="0"/>
              </a:endParaRP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Helvetica" panose="020B0604020202020204" pitchFamily="34" charset="0"/>
                  <a:ea typeface="ＭＳ Ｐゴシック" charset="-128"/>
                  <a:cs typeface="Helvetica" panose="020B0604020202020204" pitchFamily="34" charset="0"/>
                </a:rPr>
                <a:t>        Defense/National Security</a:t>
              </a:r>
            </a:p>
            <a:p>
              <a:pPr marL="0" marR="0" lvl="0" indent="0" algn="l" defTabSz="914400" rtl="0" eaLnBrk="1" fontAlgn="base" latinLnBrk="0" hangingPunct="1">
                <a:lnSpc>
                  <a:spcPts val="1733"/>
                </a:lnSpc>
                <a:spcBef>
                  <a:spcPct val="0"/>
                </a:spcBef>
                <a:spcAft>
                  <a:spcPct val="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Helvetica" panose="020B0604020202020204" pitchFamily="34" charset="0"/>
                <a:ea typeface="ＭＳ Ｐゴシック" charset="-128"/>
                <a:cs typeface="Helvetica" panose="020B0604020202020204" pitchFamily="34" charset="0"/>
              </a:endParaRP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Helvetica" panose="020B0604020202020204" pitchFamily="34" charset="0"/>
                  <a:ea typeface="ＭＳ Ｐゴシック" charset="-128"/>
                  <a:cs typeface="Helvetica" panose="020B0604020202020204" pitchFamily="34" charset="0"/>
                </a:rPr>
                <a:t>        Research &amp; Development</a:t>
              </a:r>
            </a:p>
            <a:p>
              <a:pPr marL="0" marR="0" lvl="0" indent="0" algn="l" defTabSz="914400" rtl="0" eaLnBrk="1" fontAlgn="base" latinLnBrk="0" hangingPunct="1">
                <a:lnSpc>
                  <a:spcPts val="1733"/>
                </a:lnSpc>
                <a:spcBef>
                  <a:spcPct val="0"/>
                </a:spcBef>
                <a:spcAft>
                  <a:spcPct val="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Helvetica" panose="020B0604020202020204" pitchFamily="34" charset="0"/>
                <a:ea typeface="ＭＳ Ｐゴシック" charset="-128"/>
                <a:cs typeface="Helvetica" panose="020B0604020202020204" pitchFamily="34" charset="0"/>
              </a:endParaRP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Helvetica" panose="020B0604020202020204" pitchFamily="34" charset="0"/>
                  <a:ea typeface="ＭＳ Ｐゴシック" charset="-128"/>
                  <a:cs typeface="Helvetica" panose="020B0604020202020204" pitchFamily="34" charset="0"/>
                </a:rPr>
                <a:t>        Space</a:t>
              </a:r>
            </a:p>
            <a:p>
              <a:pPr marL="0" marR="0" lvl="0" indent="0" algn="l" defTabSz="914400" rtl="0" eaLnBrk="1" fontAlgn="base" latinLnBrk="0" hangingPunct="1">
                <a:lnSpc>
                  <a:spcPts val="1733"/>
                </a:lnSpc>
                <a:spcBef>
                  <a:spcPct val="0"/>
                </a:spcBef>
                <a:spcAft>
                  <a:spcPct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Helvetica" panose="020B0604020202020204" pitchFamily="34" charset="0"/>
                  <a:ea typeface="ＭＳ Ｐゴシック" charset="-128"/>
                  <a:cs typeface="Helvetica" panose="020B0604020202020204" pitchFamily="34" charset="0"/>
                </a:rPr>
                <a:t>      </a:t>
              </a:r>
            </a:p>
          </p:txBody>
        </p:sp>
        <p:sp>
          <p:nvSpPr>
            <p:cNvPr id="18" name="Diamond 17">
              <a:extLst>
                <a:ext uri="{FF2B5EF4-FFF2-40B4-BE49-F238E27FC236}">
                  <a16:creationId xmlns:a16="http://schemas.microsoft.com/office/drawing/2014/main" id="{3C6A1C41-2E86-6872-696A-705C04C3681A}"/>
                </a:ext>
              </a:extLst>
            </p:cNvPr>
            <p:cNvSpPr/>
            <p:nvPr/>
          </p:nvSpPr>
          <p:spPr>
            <a:xfrm>
              <a:off x="9594612" y="5730504"/>
              <a:ext cx="320040" cy="32004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panose="02110004020202020204"/>
                <a:ea typeface="+mn-ea"/>
                <a:cs typeface="+mn-cs"/>
              </a:endParaRPr>
            </a:p>
          </p:txBody>
        </p:sp>
        <p:sp>
          <p:nvSpPr>
            <p:cNvPr id="21" name="Pentagon 20">
              <a:extLst>
                <a:ext uri="{FF2B5EF4-FFF2-40B4-BE49-F238E27FC236}">
                  <a16:creationId xmlns:a16="http://schemas.microsoft.com/office/drawing/2014/main" id="{1F6ED1AA-34C7-1D3C-F654-C8C9FA5FCAAB}"/>
                </a:ext>
              </a:extLst>
            </p:cNvPr>
            <p:cNvSpPr/>
            <p:nvPr/>
          </p:nvSpPr>
          <p:spPr>
            <a:xfrm>
              <a:off x="9594612" y="5274800"/>
              <a:ext cx="320040" cy="320040"/>
            </a:xfrm>
            <a:prstGeom prst="pentagon">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panose="02110004020202020204"/>
                <a:ea typeface="+mn-ea"/>
                <a:cs typeface="+mn-cs"/>
              </a:endParaRPr>
            </a:p>
          </p:txBody>
        </p:sp>
        <p:sp>
          <p:nvSpPr>
            <p:cNvPr id="23" name="Star: 5 Points 22">
              <a:extLst>
                <a:ext uri="{FF2B5EF4-FFF2-40B4-BE49-F238E27FC236}">
                  <a16:creationId xmlns:a16="http://schemas.microsoft.com/office/drawing/2014/main" id="{417B2227-44FE-E795-6C1F-A78FB1B42D68}"/>
                </a:ext>
              </a:extLst>
            </p:cNvPr>
            <p:cNvSpPr/>
            <p:nvPr/>
          </p:nvSpPr>
          <p:spPr>
            <a:xfrm>
              <a:off x="9594612" y="6105419"/>
              <a:ext cx="320040" cy="320040"/>
            </a:xfrm>
            <a:prstGeom prst="star5">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panose="02110004020202020204"/>
                <a:ea typeface="+mn-ea"/>
                <a:cs typeface="+mn-cs"/>
              </a:endParaRPr>
            </a:p>
          </p:txBody>
        </p:sp>
        <p:sp>
          <p:nvSpPr>
            <p:cNvPr id="26" name="Plaque 25">
              <a:extLst>
                <a:ext uri="{FF2B5EF4-FFF2-40B4-BE49-F238E27FC236}">
                  <a16:creationId xmlns:a16="http://schemas.microsoft.com/office/drawing/2014/main" id="{437ED225-1BAC-5489-CF17-348928F2742E}"/>
                </a:ext>
              </a:extLst>
            </p:cNvPr>
            <p:cNvSpPr/>
            <p:nvPr/>
          </p:nvSpPr>
          <p:spPr>
            <a:xfrm>
              <a:off x="9594612" y="4855034"/>
              <a:ext cx="320040" cy="320040"/>
            </a:xfrm>
            <a:prstGeom prst="plaqu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panose="02110004020202020204"/>
                <a:ea typeface="+mn-ea"/>
                <a:cs typeface="+mn-cs"/>
              </a:endParaRPr>
            </a:p>
          </p:txBody>
        </p:sp>
      </p:grpSp>
      <p:sp>
        <p:nvSpPr>
          <p:cNvPr id="29" name="TextBox 28">
            <a:extLst>
              <a:ext uri="{FF2B5EF4-FFF2-40B4-BE49-F238E27FC236}">
                <a16:creationId xmlns:a16="http://schemas.microsoft.com/office/drawing/2014/main" id="{F0BAA9D3-00B9-7638-48E0-E8208BD7FE85}"/>
              </a:ext>
            </a:extLst>
          </p:cNvPr>
          <p:cNvSpPr txBox="1"/>
          <p:nvPr/>
        </p:nvSpPr>
        <p:spPr>
          <a:xfrm>
            <a:off x="1333366" y="6339525"/>
            <a:ext cx="54593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Figtree"/>
                <a:ea typeface="+mn-ea"/>
                <a:cs typeface="+mn-cs"/>
              </a:rPr>
              <a:t>*Sunset Economics and Legal Aspects of Aeronautics &amp; Astronautics based on committee health assessments; these committees can always reapply to form anew.</a:t>
            </a:r>
          </a:p>
        </p:txBody>
      </p:sp>
      <p:sp>
        <p:nvSpPr>
          <p:cNvPr id="15" name="TextBox 14">
            <a:extLst>
              <a:ext uri="{FF2B5EF4-FFF2-40B4-BE49-F238E27FC236}">
                <a16:creationId xmlns:a16="http://schemas.microsoft.com/office/drawing/2014/main" id="{85FC6581-457C-484F-6501-9E152DF564E8}"/>
              </a:ext>
            </a:extLst>
          </p:cNvPr>
          <p:cNvSpPr txBox="1"/>
          <p:nvPr/>
        </p:nvSpPr>
        <p:spPr>
          <a:xfrm>
            <a:off x="8479637" y="842196"/>
            <a:ext cx="3712363"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ptos" panose="02110004020202020204"/>
                <a:ea typeface="+mn-ea"/>
                <a:cs typeface="+mn-cs"/>
              </a:rPr>
              <a:t>Does not </a:t>
            </a:r>
            <a:r>
              <a:rPr kumimoji="0" lang="en-US" sz="1200" b="0" i="0" u="none" strike="noStrike" kern="1200" cap="none" spc="0" normalizeH="0" baseline="0" noProof="0" dirty="0">
                <a:ln>
                  <a:noFill/>
                </a:ln>
                <a:solidFill>
                  <a:srgbClr val="000000"/>
                </a:solidFill>
                <a:effectLst/>
                <a:uLnTx/>
                <a:uFillTx/>
                <a:latin typeface="Aptos" panose="02110004020202020204"/>
                <a:ea typeface="+mn-ea"/>
                <a:cs typeface="+mn-cs"/>
              </a:rPr>
              <a:t>reflect</a:t>
            </a:r>
            <a:r>
              <a:rPr kumimoji="0" lang="en-US" sz="1100" b="0" i="0" u="none" strike="noStrike" kern="1200" cap="none" spc="0" normalizeH="0" baseline="0" noProof="0" dirty="0">
                <a:ln>
                  <a:noFill/>
                </a:ln>
                <a:solidFill>
                  <a:srgbClr val="000000"/>
                </a:solidFill>
                <a:effectLst/>
                <a:uLnTx/>
                <a:uFillTx/>
                <a:latin typeface="Aptos" panose="02110004020202020204"/>
                <a:ea typeface="+mn-ea"/>
                <a:cs typeface="+mn-cs"/>
              </a:rPr>
              <a:t> roster updates that will take affect in May</a:t>
            </a:r>
          </a:p>
        </p:txBody>
      </p:sp>
    </p:spTree>
    <p:extLst>
      <p:ext uri="{BB962C8B-B14F-4D97-AF65-F5344CB8AC3E}">
        <p14:creationId xmlns:p14="http://schemas.microsoft.com/office/powerpoint/2010/main" val="682497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5D59-AF23-31AD-DF0F-8172F6A88877}"/>
              </a:ext>
            </a:extLst>
          </p:cNvPr>
          <p:cNvSpPr>
            <a:spLocks noGrp="1"/>
          </p:cNvSpPr>
          <p:nvPr>
            <p:ph type="title"/>
          </p:nvPr>
        </p:nvSpPr>
        <p:spPr/>
        <p:txBody>
          <a:bodyPr/>
          <a:lstStyle/>
          <a:p>
            <a:r>
              <a:rPr lang="en-US" dirty="0"/>
              <a:t>AIED Short Group Descriptions</a:t>
            </a:r>
          </a:p>
        </p:txBody>
      </p:sp>
      <p:sp>
        <p:nvSpPr>
          <p:cNvPr id="3" name="Content Placeholder 2">
            <a:extLst>
              <a:ext uri="{FF2B5EF4-FFF2-40B4-BE49-F238E27FC236}">
                <a16:creationId xmlns:a16="http://schemas.microsoft.com/office/drawing/2014/main" id="{F93FEF57-9838-6E30-0A05-6D37AEE6B19E}"/>
              </a:ext>
            </a:extLst>
          </p:cNvPr>
          <p:cNvSpPr>
            <a:spLocks noGrp="1"/>
          </p:cNvSpPr>
          <p:nvPr>
            <p:ph idx="1"/>
          </p:nvPr>
        </p:nvSpPr>
        <p:spPr/>
        <p:txBody>
          <a:bodyPr/>
          <a:lstStyle/>
          <a:p>
            <a:r>
              <a:rPr lang="en-US" i="1" dirty="0"/>
              <a:t>Aerospace in Society: </a:t>
            </a:r>
            <a:r>
              <a:rPr lang="en-US" dirty="0"/>
              <a:t>Explores aerospace through societal impact and historical perspectives, integrating technical insight with policy and public engagement to help guide responsible and forward-looking directions for the aerospace enterprise.</a:t>
            </a:r>
          </a:p>
          <a:p>
            <a:r>
              <a:rPr lang="en-US" i="1" dirty="0"/>
              <a:t>Defense, Security, &amp; Intelligence: </a:t>
            </a:r>
            <a:r>
              <a:rPr lang="en-US" dirty="0"/>
              <a:t>Integrates cross-domain aerospace perspectives related to security, safety, and emerging capabilities, fostering collaboration among experts and external stakeholders to address evolving strategic and mission challenges unique to the Defense and Intelligence communities.</a:t>
            </a:r>
          </a:p>
          <a:p>
            <a:r>
              <a:rPr lang="en-US" i="1" dirty="0"/>
              <a:t>Digital Systems &amp; Integration: </a:t>
            </a:r>
            <a:r>
              <a:rPr lang="en-US" dirty="0"/>
              <a:t>Advances the integration of digital engineering, computational methods, and data-driven practices to enable more connected, collaborative, and efficient development and operation of aerospace systems.</a:t>
            </a:r>
          </a:p>
          <a:p>
            <a:r>
              <a:rPr lang="en-US" i="1" dirty="0"/>
              <a:t>Advanced Flight &amp; Integrated Operations: </a:t>
            </a:r>
            <a:r>
              <a:rPr lang="en-US" dirty="0"/>
              <a:t>Examines emerging flight concepts and evolving operational frameworks, integrating technology, autonomy, and transportation systems to shape the future of aeronautical operations.</a:t>
            </a:r>
          </a:p>
          <a:p>
            <a:r>
              <a:rPr lang="en-US" i="1" dirty="0"/>
              <a:t>Space Systems &amp; Exploration:</a:t>
            </a:r>
            <a:r>
              <a:rPr lang="en-US" dirty="0"/>
              <a:t> Promotes integrative approaches to the system of systems for science and exploration, connecting mission innovation, technical collaboration, and expanding partnerships across the space ecosystem.</a:t>
            </a:r>
          </a:p>
          <a:p>
            <a:endParaRPr lang="en-US" dirty="0"/>
          </a:p>
        </p:txBody>
      </p:sp>
    </p:spTree>
    <p:extLst>
      <p:ext uri="{BB962C8B-B14F-4D97-AF65-F5344CB8AC3E}">
        <p14:creationId xmlns:p14="http://schemas.microsoft.com/office/powerpoint/2010/main" val="8982129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15349" y="0"/>
            <a:ext cx="12192000" cy="5715000"/>
          </a:xfrm>
          <a:prstGeom prst="rect">
            <a:avLst/>
          </a:prstGeom>
          <a:solidFill>
            <a:srgbClr val="1B3D6C"/>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39" rtl="0" eaLnBrk="0" fontAlgn="auto" latinLnBrk="0" hangingPunct="0">
              <a:lnSpc>
                <a:spcPct val="100000"/>
              </a:lnSpc>
              <a:spcBef>
                <a:spcPts val="0"/>
              </a:spcBef>
              <a:spcAft>
                <a:spcPts val="0"/>
              </a:spcAft>
              <a:buClrTx/>
              <a:buSzTx/>
              <a:buFontTx/>
              <a:buNone/>
              <a:tabLst/>
              <a:defRPr/>
            </a:pPr>
            <a:endParaRPr kumimoji="0" lang="en-US" sz="2667"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endParaRPr>
          </a:p>
        </p:txBody>
      </p:sp>
      <p:sp>
        <p:nvSpPr>
          <p:cNvPr id="4" name="Subtitle 2"/>
          <p:cNvSpPr txBox="1">
            <a:spLocks/>
          </p:cNvSpPr>
          <p:nvPr/>
        </p:nvSpPr>
        <p:spPr bwMode="auto">
          <a:xfrm>
            <a:off x="-15349" y="4241800"/>
            <a:ext cx="12192000" cy="1473200"/>
          </a:xfrm>
          <a:prstGeom prst="rect">
            <a:avLst/>
          </a:prstGeom>
          <a:noFill/>
          <a:ln w="9525">
            <a:noFill/>
            <a:miter lim="800000"/>
            <a:headEnd/>
            <a:tailEnd/>
          </a:ln>
        </p:spPr>
        <p:txBody>
          <a:bodyPr vert="horz" wrap="square" lIns="91440" tIns="45721" rIns="91440" bIns="45721" numCol="1" anchor="t" anchorCtr="0" compatLnSpc="1">
            <a:prstTxWarp prst="textNoShape">
              <a:avLst/>
            </a:prstTxWarp>
          </a:bodyPr>
          <a:lstStyle>
            <a:lvl1pPr marL="342900" indent="-342900" algn="l" rtl="0" eaLnBrk="0" fontAlgn="base" hangingPunct="0">
              <a:spcBef>
                <a:spcPct val="20000"/>
              </a:spcBef>
              <a:spcAft>
                <a:spcPct val="0"/>
              </a:spcAft>
              <a:buClr>
                <a:srgbClr val="E98B01"/>
              </a:buClr>
              <a:buFont typeface="Times" pitchFamily="18"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1380DC"/>
              </a:buClr>
              <a:buFont typeface="Wingdings" pitchFamily="2" charset="2"/>
              <a:buChar char="§"/>
              <a:defRPr sz="2800">
                <a:solidFill>
                  <a:srgbClr val="4F4F4F"/>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rgbClr val="4F4F4F"/>
                </a:solidFill>
                <a:latin typeface="+mn-lt"/>
                <a:ea typeface="+mn-ea"/>
              </a:defRPr>
            </a:lvl4pPr>
            <a:lvl5pPr marL="2057400" indent="-228600" algn="l" rtl="0" eaLnBrk="0" fontAlgn="base" hangingPunct="0">
              <a:spcBef>
                <a:spcPct val="20000"/>
              </a:spcBef>
              <a:spcAft>
                <a:spcPct val="0"/>
              </a:spcAft>
              <a:buFont typeface="Times" pitchFamily="18" charset="0"/>
              <a:buChar char="•"/>
              <a:defRPr sz="2000">
                <a:solidFill>
                  <a:schemeClr val="tx1"/>
                </a:solidFill>
                <a:latin typeface="+mn-lt"/>
                <a:ea typeface="+mn-ea"/>
              </a:defRPr>
            </a:lvl5pPr>
            <a:lvl6pPr marL="2514600" indent="-228600" algn="l" rtl="0" fontAlgn="base">
              <a:spcBef>
                <a:spcPct val="20000"/>
              </a:spcBef>
              <a:spcAft>
                <a:spcPct val="0"/>
              </a:spcAft>
              <a:buFont typeface="Times" pitchFamily="80" charset="0"/>
              <a:buChar char="•"/>
              <a:defRPr sz="2000">
                <a:solidFill>
                  <a:schemeClr val="tx1"/>
                </a:solidFill>
                <a:latin typeface="+mn-lt"/>
                <a:ea typeface="+mn-ea"/>
              </a:defRPr>
            </a:lvl6pPr>
            <a:lvl7pPr marL="2971800" indent="-228600" algn="l" rtl="0" fontAlgn="base">
              <a:spcBef>
                <a:spcPct val="20000"/>
              </a:spcBef>
              <a:spcAft>
                <a:spcPct val="0"/>
              </a:spcAft>
              <a:buFont typeface="Times" pitchFamily="80" charset="0"/>
              <a:buChar char="•"/>
              <a:defRPr sz="2000">
                <a:solidFill>
                  <a:schemeClr val="tx1"/>
                </a:solidFill>
                <a:latin typeface="+mn-lt"/>
                <a:ea typeface="+mn-ea"/>
              </a:defRPr>
            </a:lvl7pPr>
            <a:lvl8pPr marL="3429000" indent="-228600" algn="l" rtl="0" fontAlgn="base">
              <a:spcBef>
                <a:spcPct val="20000"/>
              </a:spcBef>
              <a:spcAft>
                <a:spcPct val="0"/>
              </a:spcAft>
              <a:buFont typeface="Times" pitchFamily="80" charset="0"/>
              <a:buChar char="•"/>
              <a:defRPr sz="2000">
                <a:solidFill>
                  <a:schemeClr val="tx1"/>
                </a:solidFill>
                <a:latin typeface="+mn-lt"/>
                <a:ea typeface="+mn-ea"/>
              </a:defRPr>
            </a:lvl8pPr>
            <a:lvl9pPr marL="3886200" indent="-228600" algn="l" rtl="0" fontAlgn="base">
              <a:spcBef>
                <a:spcPct val="20000"/>
              </a:spcBef>
              <a:spcAft>
                <a:spcPct val="0"/>
              </a:spcAft>
              <a:buFont typeface="Times" pitchFamily="80" charset="0"/>
              <a:buChar char="•"/>
              <a:defRPr sz="2000">
                <a:solidFill>
                  <a:schemeClr val="tx1"/>
                </a:solidFill>
                <a:latin typeface="+mn-lt"/>
                <a:ea typeface="+mn-ea"/>
              </a:defRPr>
            </a:lvl9pPr>
          </a:lstStyle>
          <a:p>
            <a:pPr marL="0" marR="0" lvl="0" indent="0" algn="ctr" defTabSz="914400" rtl="0" eaLnBrk="1" fontAlgn="base" latinLnBrk="0" hangingPunct="1">
              <a:lnSpc>
                <a:spcPct val="100000"/>
              </a:lnSpc>
              <a:spcBef>
                <a:spcPct val="20000"/>
              </a:spcBef>
              <a:spcAft>
                <a:spcPct val="0"/>
              </a:spcAft>
              <a:buClr>
                <a:srgbClr val="00529B"/>
              </a:buClr>
              <a:buSzTx/>
              <a:buFont typeface="Times" pitchFamily="18" charset="0"/>
              <a:buNone/>
              <a:tabLst/>
              <a:defRPr/>
            </a:pPr>
            <a:r>
              <a:rPr kumimoji="0" lang="en-US" altLang="en-US" sz="2133" b="1" i="0" u="none" strike="noStrike" kern="0" cap="none" spc="0" normalizeH="0" baseline="0" noProof="0" dirty="0">
                <a:ln>
                  <a:noFill/>
                </a:ln>
                <a:solidFill>
                  <a:srgbClr val="FFFFFF"/>
                </a:solidFill>
                <a:effectLst/>
                <a:uLnTx/>
                <a:uFillTx/>
                <a:latin typeface="Aptos Display" panose="02110004020202020204"/>
                <a:ea typeface="+mn-ea"/>
                <a:cs typeface="+mn-cs"/>
              </a:rPr>
              <a:t>Jimmie McEver, Dustin Otten, Allison Cash</a:t>
            </a:r>
          </a:p>
          <a:p>
            <a:pPr marL="0" marR="0" lvl="0" indent="0" algn="ctr" defTabSz="914400" rtl="0" eaLnBrk="1" fontAlgn="base" latinLnBrk="0" hangingPunct="1">
              <a:lnSpc>
                <a:spcPct val="100000"/>
              </a:lnSpc>
              <a:spcBef>
                <a:spcPct val="20000"/>
              </a:spcBef>
              <a:spcAft>
                <a:spcPct val="0"/>
              </a:spcAft>
              <a:buClr>
                <a:srgbClr val="00529B"/>
              </a:buClr>
              <a:buSzTx/>
              <a:buFont typeface="Times" pitchFamily="18" charset="0"/>
              <a:buNone/>
              <a:tabLst/>
              <a:defRPr/>
            </a:pPr>
            <a:r>
              <a:rPr kumimoji="0" lang="en-US" altLang="en-US" sz="2133" b="0" i="0" u="none" strike="noStrike" kern="0" cap="none" spc="0" normalizeH="0" baseline="0" noProof="0" dirty="0">
                <a:ln>
                  <a:noFill/>
                </a:ln>
                <a:solidFill>
                  <a:srgbClr val="FFFFFF"/>
                </a:solidFill>
                <a:effectLst/>
                <a:uLnTx/>
                <a:uFillTx/>
                <a:latin typeface="Aptos Display" panose="02110004020202020204"/>
                <a:ea typeface="+mn-ea"/>
                <a:cs typeface="+mn-cs"/>
              </a:rPr>
              <a:t>May 18, 2026</a:t>
            </a:r>
          </a:p>
        </p:txBody>
      </p:sp>
      <p:sp>
        <p:nvSpPr>
          <p:cNvPr id="6" name="Title 1"/>
          <p:cNvSpPr txBox="1">
            <a:spLocks/>
          </p:cNvSpPr>
          <p:nvPr/>
        </p:nvSpPr>
        <p:spPr bwMode="auto">
          <a:xfrm>
            <a:off x="0" y="1600200"/>
            <a:ext cx="12192000" cy="1320800"/>
          </a:xfrm>
          <a:prstGeom prst="rect">
            <a:avLst/>
          </a:prstGeom>
          <a:noFill/>
          <a:ln w="9525">
            <a:noFill/>
            <a:miter lim="800000"/>
            <a:headEnd/>
            <a:tailEnd/>
          </a:ln>
        </p:spPr>
        <p:txBody>
          <a:bodyPr vert="horz" wrap="square" lIns="91440" tIns="45721" rIns="91440" bIns="45721" numCol="1" anchor="ctr" anchorCtr="0" compatLnSpc="1">
            <a:prstTxWarp prst="textNoShape">
              <a:avLst/>
            </a:prstTxWarp>
          </a:bodyPr>
          <a:lst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Arial" charset="0"/>
                <a:ea typeface="ＭＳ Ｐゴシック" pitchFamily="80" charset="-128"/>
              </a:defRPr>
            </a:lvl2pPr>
            <a:lvl3pPr algn="l" rtl="0" eaLnBrk="0" fontAlgn="base" hangingPunct="0">
              <a:spcBef>
                <a:spcPct val="0"/>
              </a:spcBef>
              <a:spcAft>
                <a:spcPct val="0"/>
              </a:spcAft>
              <a:defRPr sz="2400">
                <a:solidFill>
                  <a:schemeClr val="tx2"/>
                </a:solidFill>
                <a:latin typeface="Arial" charset="0"/>
                <a:ea typeface="ＭＳ Ｐゴシック" pitchFamily="80" charset="-128"/>
              </a:defRPr>
            </a:lvl3pPr>
            <a:lvl4pPr algn="l" rtl="0" eaLnBrk="0" fontAlgn="base" hangingPunct="0">
              <a:spcBef>
                <a:spcPct val="0"/>
              </a:spcBef>
              <a:spcAft>
                <a:spcPct val="0"/>
              </a:spcAft>
              <a:defRPr sz="2400">
                <a:solidFill>
                  <a:schemeClr val="tx2"/>
                </a:solidFill>
                <a:latin typeface="Arial" charset="0"/>
                <a:ea typeface="ＭＳ Ｐゴシック" pitchFamily="80" charset="-128"/>
              </a:defRPr>
            </a:lvl4pPr>
            <a:lvl5pPr algn="l" rtl="0" eaLnBrk="0" fontAlgn="base" hangingPunct="0">
              <a:spcBef>
                <a:spcPct val="0"/>
              </a:spcBef>
              <a:spcAft>
                <a:spcPct val="0"/>
              </a:spcAft>
              <a:defRPr sz="2400">
                <a:solidFill>
                  <a:schemeClr val="tx2"/>
                </a:solidFill>
                <a:latin typeface="Arial" charset="0"/>
                <a:ea typeface="ＭＳ Ｐゴシック" pitchFamily="80" charset="-128"/>
              </a:defRPr>
            </a:lvl5pPr>
            <a:lvl6pPr marL="457200" algn="l" rtl="0" fontAlgn="base">
              <a:spcBef>
                <a:spcPct val="0"/>
              </a:spcBef>
              <a:spcAft>
                <a:spcPct val="0"/>
              </a:spcAft>
              <a:defRPr sz="2400">
                <a:solidFill>
                  <a:schemeClr val="tx2"/>
                </a:solidFill>
                <a:latin typeface="Arial" charset="0"/>
                <a:ea typeface="ＭＳ Ｐゴシック" pitchFamily="80" charset="-128"/>
              </a:defRPr>
            </a:lvl6pPr>
            <a:lvl7pPr marL="914400" algn="l" rtl="0" fontAlgn="base">
              <a:spcBef>
                <a:spcPct val="0"/>
              </a:spcBef>
              <a:spcAft>
                <a:spcPct val="0"/>
              </a:spcAft>
              <a:defRPr sz="2400">
                <a:solidFill>
                  <a:schemeClr val="tx2"/>
                </a:solidFill>
                <a:latin typeface="Arial" charset="0"/>
                <a:ea typeface="ＭＳ Ｐゴシック" pitchFamily="80" charset="-128"/>
              </a:defRPr>
            </a:lvl7pPr>
            <a:lvl8pPr marL="1371600" algn="l" rtl="0" fontAlgn="base">
              <a:spcBef>
                <a:spcPct val="0"/>
              </a:spcBef>
              <a:spcAft>
                <a:spcPct val="0"/>
              </a:spcAft>
              <a:defRPr sz="2400">
                <a:solidFill>
                  <a:schemeClr val="tx2"/>
                </a:solidFill>
                <a:latin typeface="Arial" charset="0"/>
                <a:ea typeface="ＭＳ Ｐゴシック" pitchFamily="80" charset="-128"/>
              </a:defRPr>
            </a:lvl8pPr>
            <a:lvl9pPr marL="1828800" algn="l" rtl="0" fontAlgn="base">
              <a:spcBef>
                <a:spcPct val="0"/>
              </a:spcBef>
              <a:spcAft>
                <a:spcPct val="0"/>
              </a:spcAft>
              <a:defRPr sz="2400">
                <a:solidFill>
                  <a:schemeClr val="tx2"/>
                </a:solidFill>
                <a:latin typeface="Arial" charset="0"/>
                <a:ea typeface="ＭＳ Ｐゴシック" pitchFamily="80"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267" b="1" i="0" u="none" strike="noStrike" kern="0" cap="none" spc="0" normalizeH="0" baseline="0" noProof="0" dirty="0">
                <a:ln>
                  <a:noFill/>
                </a:ln>
                <a:solidFill>
                  <a:srgbClr val="FFFFFF"/>
                </a:solidFill>
                <a:effectLst/>
                <a:uLnTx/>
                <a:uFillTx/>
                <a:latin typeface="Aptos Display" panose="02110004020202020204"/>
                <a:ea typeface="+mj-ea"/>
                <a:cs typeface="+mj-cs"/>
              </a:rPr>
              <a:t>Defense Working Group</a:t>
            </a:r>
          </a:p>
        </p:txBody>
      </p:sp>
    </p:spTree>
    <p:extLst>
      <p:ext uri="{BB962C8B-B14F-4D97-AF65-F5344CB8AC3E}">
        <p14:creationId xmlns:p14="http://schemas.microsoft.com/office/powerpoint/2010/main" val="40383919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C528B-B8C8-A8B0-3D6A-6E89C24F9C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233B63-EC08-2360-DF7F-40DF17FDA917}"/>
              </a:ext>
            </a:extLst>
          </p:cNvPr>
          <p:cNvSpPr>
            <a:spLocks noGrp="1"/>
          </p:cNvSpPr>
          <p:nvPr>
            <p:ph idx="1"/>
          </p:nvPr>
        </p:nvSpPr>
        <p:spPr>
          <a:xfrm>
            <a:off x="304800" y="1143001"/>
            <a:ext cx="11379200" cy="4876799"/>
          </a:xfrm>
        </p:spPr>
        <p:txBody>
          <a:bodyPr>
            <a:noAutofit/>
          </a:bodyPr>
          <a:lstStyle/>
          <a:p>
            <a:pPr>
              <a:spcBef>
                <a:spcPts val="1600"/>
              </a:spcBef>
            </a:pPr>
            <a:r>
              <a:rPr lang="en-US" sz="2400" dirty="0">
                <a:latin typeface="+mj-lt"/>
              </a:rPr>
              <a:t>Emerging activity – in formative/stand-up phase</a:t>
            </a:r>
          </a:p>
          <a:p>
            <a:pPr>
              <a:spcBef>
                <a:spcPts val="1600"/>
              </a:spcBef>
            </a:pPr>
            <a:r>
              <a:rPr lang="en-US" sz="2400" dirty="0">
                <a:latin typeface="+mj-lt"/>
              </a:rPr>
              <a:t>The AIAA Defense Working Group advocates for and facilitates collaboration across all AIAA Technical Committees (TCs) and between TCs and key DoD organizations on US national security topics and in particular on US DoD-related interests</a:t>
            </a:r>
          </a:p>
          <a:p>
            <a:pPr>
              <a:spcBef>
                <a:spcPts val="1600"/>
              </a:spcBef>
            </a:pPr>
            <a:r>
              <a:rPr lang="en-US" sz="2400" dirty="0">
                <a:latin typeface="+mj-lt"/>
              </a:rPr>
              <a:t>Action-level engagement between TCs and DoD organizations to enhance contributions of AIAA technical communities to national security needs</a:t>
            </a:r>
          </a:p>
          <a:p>
            <a:pPr lvl="1">
              <a:spcBef>
                <a:spcPts val="533"/>
              </a:spcBef>
            </a:pPr>
            <a:r>
              <a:rPr lang="en-US" sz="2000" dirty="0">
                <a:latin typeface="+mj-lt"/>
              </a:rPr>
              <a:t>Grow TCs awareness of DoD leaders and challenges</a:t>
            </a:r>
          </a:p>
          <a:p>
            <a:pPr lvl="1">
              <a:spcBef>
                <a:spcPts val="533"/>
              </a:spcBef>
            </a:pPr>
            <a:r>
              <a:rPr lang="en-US" sz="2000" dirty="0">
                <a:latin typeface="+mj-lt"/>
              </a:rPr>
              <a:t>Grow DoD awareness of AIAA technical competence</a:t>
            </a:r>
          </a:p>
          <a:p>
            <a:pPr>
              <a:spcBef>
                <a:spcPts val="1600"/>
              </a:spcBef>
            </a:pPr>
            <a:r>
              <a:rPr lang="en-US" sz="2400" dirty="0">
                <a:latin typeface="+mj-lt"/>
              </a:rPr>
              <a:t>Comprised of representatives across interested AIAA technical committees </a:t>
            </a:r>
          </a:p>
          <a:p>
            <a:pPr>
              <a:spcBef>
                <a:spcPts val="1600"/>
              </a:spcBef>
            </a:pPr>
            <a:r>
              <a:rPr lang="en-US" sz="2400" dirty="0">
                <a:latin typeface="+mj-lt"/>
              </a:rPr>
              <a:t>Build battle rhythm of conversations with DoD technical leaders</a:t>
            </a:r>
          </a:p>
          <a:p>
            <a:endParaRPr lang="en-US" sz="2400" dirty="0">
              <a:latin typeface="+mj-lt"/>
            </a:endParaRPr>
          </a:p>
        </p:txBody>
      </p:sp>
      <p:sp>
        <p:nvSpPr>
          <p:cNvPr id="2" name="Rectangle 1">
            <a:extLst>
              <a:ext uri="{FF2B5EF4-FFF2-40B4-BE49-F238E27FC236}">
                <a16:creationId xmlns:a16="http://schemas.microsoft.com/office/drawing/2014/main" id="{DC6040A1-1F02-6A1E-9D04-823542181115}"/>
              </a:ext>
            </a:extLst>
          </p:cNvPr>
          <p:cNvSpPr/>
          <p:nvPr/>
        </p:nvSpPr>
        <p:spPr bwMode="auto">
          <a:xfrm>
            <a:off x="0" y="1"/>
            <a:ext cx="12192000" cy="990601"/>
          </a:xfrm>
          <a:prstGeom prst="rect">
            <a:avLst/>
          </a:prstGeom>
          <a:solidFill>
            <a:srgbClr val="1B3D6C"/>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39" rtl="0" eaLnBrk="0"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endParaRPr>
          </a:p>
        </p:txBody>
      </p:sp>
      <p:sp>
        <p:nvSpPr>
          <p:cNvPr id="6" name="Title 1">
            <a:extLst>
              <a:ext uri="{FF2B5EF4-FFF2-40B4-BE49-F238E27FC236}">
                <a16:creationId xmlns:a16="http://schemas.microsoft.com/office/drawing/2014/main" id="{199DDFBC-B8E2-6D2F-20C3-933C71C4A34F}"/>
              </a:ext>
            </a:extLst>
          </p:cNvPr>
          <p:cNvSpPr txBox="1">
            <a:spLocks/>
          </p:cNvSpPr>
          <p:nvPr/>
        </p:nvSpPr>
        <p:spPr bwMode="auto">
          <a:xfrm>
            <a:off x="0" y="152401"/>
            <a:ext cx="12192000" cy="685801"/>
          </a:xfrm>
          <a:prstGeom prst="rect">
            <a:avLst/>
          </a:prstGeom>
          <a:noFill/>
          <a:ln w="9525">
            <a:noFill/>
            <a:miter lim="800000"/>
            <a:headEnd/>
            <a:tailEnd/>
          </a:ln>
        </p:spPr>
        <p:txBody>
          <a:bodyPr vert="horz" wrap="square" lIns="91440" tIns="45721" rIns="91440" bIns="45721" numCol="1" anchor="ctr" anchorCtr="0" compatLnSpc="1">
            <a:prstTxWarp prst="textNoShape">
              <a:avLst/>
            </a:prstTxWarp>
          </a:bodyPr>
          <a:lst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Arial" charset="0"/>
                <a:ea typeface="ＭＳ Ｐゴシック" pitchFamily="80" charset="-128"/>
              </a:defRPr>
            </a:lvl2pPr>
            <a:lvl3pPr algn="l" rtl="0" eaLnBrk="0" fontAlgn="base" hangingPunct="0">
              <a:spcBef>
                <a:spcPct val="0"/>
              </a:spcBef>
              <a:spcAft>
                <a:spcPct val="0"/>
              </a:spcAft>
              <a:defRPr sz="2400">
                <a:solidFill>
                  <a:schemeClr val="tx2"/>
                </a:solidFill>
                <a:latin typeface="Arial" charset="0"/>
                <a:ea typeface="ＭＳ Ｐゴシック" pitchFamily="80" charset="-128"/>
              </a:defRPr>
            </a:lvl3pPr>
            <a:lvl4pPr algn="l" rtl="0" eaLnBrk="0" fontAlgn="base" hangingPunct="0">
              <a:spcBef>
                <a:spcPct val="0"/>
              </a:spcBef>
              <a:spcAft>
                <a:spcPct val="0"/>
              </a:spcAft>
              <a:defRPr sz="2400">
                <a:solidFill>
                  <a:schemeClr val="tx2"/>
                </a:solidFill>
                <a:latin typeface="Arial" charset="0"/>
                <a:ea typeface="ＭＳ Ｐゴシック" pitchFamily="80" charset="-128"/>
              </a:defRPr>
            </a:lvl4pPr>
            <a:lvl5pPr algn="l" rtl="0" eaLnBrk="0" fontAlgn="base" hangingPunct="0">
              <a:spcBef>
                <a:spcPct val="0"/>
              </a:spcBef>
              <a:spcAft>
                <a:spcPct val="0"/>
              </a:spcAft>
              <a:defRPr sz="2400">
                <a:solidFill>
                  <a:schemeClr val="tx2"/>
                </a:solidFill>
                <a:latin typeface="Arial" charset="0"/>
                <a:ea typeface="ＭＳ Ｐゴシック" pitchFamily="80" charset="-128"/>
              </a:defRPr>
            </a:lvl5pPr>
            <a:lvl6pPr marL="457200" algn="l" rtl="0" fontAlgn="base">
              <a:spcBef>
                <a:spcPct val="0"/>
              </a:spcBef>
              <a:spcAft>
                <a:spcPct val="0"/>
              </a:spcAft>
              <a:defRPr sz="2400">
                <a:solidFill>
                  <a:schemeClr val="tx2"/>
                </a:solidFill>
                <a:latin typeface="Arial" charset="0"/>
                <a:ea typeface="ＭＳ Ｐゴシック" pitchFamily="80" charset="-128"/>
              </a:defRPr>
            </a:lvl6pPr>
            <a:lvl7pPr marL="914400" algn="l" rtl="0" fontAlgn="base">
              <a:spcBef>
                <a:spcPct val="0"/>
              </a:spcBef>
              <a:spcAft>
                <a:spcPct val="0"/>
              </a:spcAft>
              <a:defRPr sz="2400">
                <a:solidFill>
                  <a:schemeClr val="tx2"/>
                </a:solidFill>
                <a:latin typeface="Arial" charset="0"/>
                <a:ea typeface="ＭＳ Ｐゴシック" pitchFamily="80" charset="-128"/>
              </a:defRPr>
            </a:lvl7pPr>
            <a:lvl8pPr marL="1371600" algn="l" rtl="0" fontAlgn="base">
              <a:spcBef>
                <a:spcPct val="0"/>
              </a:spcBef>
              <a:spcAft>
                <a:spcPct val="0"/>
              </a:spcAft>
              <a:defRPr sz="2400">
                <a:solidFill>
                  <a:schemeClr val="tx2"/>
                </a:solidFill>
                <a:latin typeface="Arial" charset="0"/>
                <a:ea typeface="ＭＳ Ｐゴシック" pitchFamily="80" charset="-128"/>
              </a:defRPr>
            </a:lvl8pPr>
            <a:lvl9pPr marL="1828800" algn="l" rtl="0" fontAlgn="base">
              <a:spcBef>
                <a:spcPct val="0"/>
              </a:spcBef>
              <a:spcAft>
                <a:spcPct val="0"/>
              </a:spcAft>
              <a:defRPr sz="2400">
                <a:solidFill>
                  <a:schemeClr val="tx2"/>
                </a:solidFill>
                <a:latin typeface="Arial" charset="0"/>
                <a:ea typeface="ＭＳ Ｐゴシック" pitchFamily="80"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Aptos Display" panose="02110004020202020204"/>
                <a:ea typeface="+mj-ea"/>
                <a:cs typeface="+mj-cs"/>
              </a:rPr>
              <a:t>AIAA Defense Working Group</a:t>
            </a:r>
          </a:p>
        </p:txBody>
      </p:sp>
      <p:sp>
        <p:nvSpPr>
          <p:cNvPr id="5" name="Slide Number Placeholder 4">
            <a:extLst>
              <a:ext uri="{FF2B5EF4-FFF2-40B4-BE49-F238E27FC236}">
                <a16:creationId xmlns:a16="http://schemas.microsoft.com/office/drawing/2014/main" id="{A4558DF9-6695-613E-229C-569CAD7B9A1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86D440-F702-449A-AAC2-9ACFF17038B8}" type="slidenum">
              <a:rPr kumimoji="0" lang="en-US" sz="1401"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US" sz="1401"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Tree>
    <p:extLst>
      <p:ext uri="{BB962C8B-B14F-4D97-AF65-F5344CB8AC3E}">
        <p14:creationId xmlns:p14="http://schemas.microsoft.com/office/powerpoint/2010/main" val="39813276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4340"/>
            <a:ext cx="11582400" cy="5105401"/>
          </a:xfrm>
        </p:spPr>
        <p:txBody>
          <a:bodyPr>
            <a:noAutofit/>
          </a:bodyPr>
          <a:lstStyle/>
          <a:p>
            <a:pPr>
              <a:spcBef>
                <a:spcPts val="1200"/>
              </a:spcBef>
              <a:buClr>
                <a:srgbClr val="00529B"/>
              </a:buClr>
            </a:pPr>
            <a:r>
              <a:rPr lang="en-US" sz="1600" b="1" dirty="0">
                <a:solidFill>
                  <a:srgbClr val="4F4F4F"/>
                </a:solidFill>
                <a:latin typeface="+mj-lt"/>
                <a:cs typeface="Times New Roman" panose="02020603050405020304" pitchFamily="18" charset="0"/>
              </a:rPr>
              <a:t>Establish</a:t>
            </a:r>
            <a:r>
              <a:rPr lang="en-US" sz="1600" dirty="0">
                <a:solidFill>
                  <a:srgbClr val="4F4F4F"/>
                </a:solidFill>
                <a:latin typeface="+mj-lt"/>
                <a:cs typeface="Times New Roman" panose="02020603050405020304" pitchFamily="18" charset="0"/>
              </a:rPr>
              <a:t> and maintain </a:t>
            </a:r>
            <a:r>
              <a:rPr lang="en-US" sz="1600" b="1" dirty="0">
                <a:solidFill>
                  <a:srgbClr val="4F4F4F"/>
                </a:solidFill>
                <a:latin typeface="+mj-lt"/>
                <a:cs typeface="Times New Roman" panose="02020603050405020304" pitchFamily="18" charset="0"/>
              </a:rPr>
              <a:t>relationships</a:t>
            </a:r>
            <a:r>
              <a:rPr lang="en-US" sz="1600" dirty="0">
                <a:solidFill>
                  <a:srgbClr val="4F4F4F"/>
                </a:solidFill>
                <a:latin typeface="+mj-lt"/>
                <a:cs typeface="Times New Roman" panose="02020603050405020304" pitchFamily="18" charset="0"/>
              </a:rPr>
              <a:t> between </a:t>
            </a:r>
            <a:r>
              <a:rPr lang="en-US" sz="1600" b="1" dirty="0">
                <a:solidFill>
                  <a:srgbClr val="4F4F4F"/>
                </a:solidFill>
                <a:latin typeface="+mj-lt"/>
                <a:cs typeface="Times New Roman" panose="02020603050405020304" pitchFamily="18" charset="0"/>
              </a:rPr>
              <a:t>AIAA TCs </a:t>
            </a:r>
            <a:r>
              <a:rPr lang="en-US" sz="1600" dirty="0">
                <a:solidFill>
                  <a:srgbClr val="4F4F4F"/>
                </a:solidFill>
                <a:latin typeface="+mj-lt"/>
                <a:cs typeface="Times New Roman" panose="02020603050405020304" pitchFamily="18" charset="0"/>
              </a:rPr>
              <a:t>working on defense related topics and the associated </a:t>
            </a:r>
            <a:r>
              <a:rPr lang="en-US" sz="1600" b="1" dirty="0">
                <a:solidFill>
                  <a:srgbClr val="4F4F4F"/>
                </a:solidFill>
                <a:latin typeface="+mj-lt"/>
                <a:cs typeface="Times New Roman" panose="02020603050405020304" pitchFamily="18" charset="0"/>
              </a:rPr>
              <a:t>DoD organizations </a:t>
            </a:r>
            <a:r>
              <a:rPr lang="en-US" sz="1600" dirty="0">
                <a:solidFill>
                  <a:srgbClr val="4F4F4F"/>
                </a:solidFill>
                <a:latin typeface="+mj-lt"/>
                <a:cs typeface="Times New Roman" panose="02020603050405020304" pitchFamily="18" charset="0"/>
              </a:rPr>
              <a:t>to ensure and enhance understanding of technology roadmaps and emerging requirements.</a:t>
            </a:r>
          </a:p>
          <a:p>
            <a:pPr>
              <a:spcBef>
                <a:spcPts val="1200"/>
              </a:spcBef>
              <a:buClr>
                <a:srgbClr val="00529B"/>
              </a:buClr>
            </a:pPr>
            <a:r>
              <a:rPr lang="en-US" sz="1600" b="1" dirty="0">
                <a:solidFill>
                  <a:srgbClr val="4F4F4F"/>
                </a:solidFill>
                <a:latin typeface="+mj-lt"/>
                <a:cs typeface="Times New Roman" panose="02020603050405020304" pitchFamily="18" charset="0"/>
              </a:rPr>
              <a:t>Position AIAA </a:t>
            </a:r>
            <a:r>
              <a:rPr lang="en-US" sz="1600" dirty="0">
                <a:solidFill>
                  <a:srgbClr val="4F4F4F"/>
                </a:solidFill>
                <a:latin typeface="+mj-lt"/>
                <a:cs typeface="Times New Roman" panose="02020603050405020304" pitchFamily="18" charset="0"/>
              </a:rPr>
              <a:t>to help </a:t>
            </a:r>
            <a:r>
              <a:rPr lang="en-US" sz="1600" b="1" dirty="0">
                <a:solidFill>
                  <a:srgbClr val="4F4F4F"/>
                </a:solidFill>
                <a:latin typeface="+mj-lt"/>
                <a:cs typeface="Times New Roman" panose="02020603050405020304" pitchFamily="18" charset="0"/>
              </a:rPr>
              <a:t>address</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emerging</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requirements</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inform</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industry</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of</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DoD</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priorities</a:t>
            </a:r>
            <a:r>
              <a:rPr lang="en-US" sz="1600" dirty="0">
                <a:solidFill>
                  <a:srgbClr val="4F4F4F"/>
                </a:solidFill>
                <a:latin typeface="+mj-lt"/>
                <a:cs typeface="Times New Roman" panose="02020603050405020304" pitchFamily="18" charset="0"/>
              </a:rPr>
              <a:t> and need for investment. </a:t>
            </a:r>
          </a:p>
          <a:p>
            <a:pPr>
              <a:spcBef>
                <a:spcPts val="1200"/>
              </a:spcBef>
              <a:buClr>
                <a:srgbClr val="00529B"/>
              </a:buClr>
            </a:pPr>
            <a:r>
              <a:rPr lang="en-US" sz="1600" b="1" dirty="0">
                <a:solidFill>
                  <a:srgbClr val="4F4F4F"/>
                </a:solidFill>
                <a:latin typeface="+mj-lt"/>
                <a:cs typeface="Times New Roman" panose="02020603050405020304" pitchFamily="18" charset="0"/>
              </a:rPr>
              <a:t>Enhance</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DoD</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awareness of and access to subject</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matter</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experts</a:t>
            </a:r>
            <a:r>
              <a:rPr lang="en-US" sz="1600" dirty="0">
                <a:solidFill>
                  <a:srgbClr val="4F4F4F"/>
                </a:solidFill>
                <a:latin typeface="+mj-lt"/>
                <a:cs typeface="Times New Roman" panose="02020603050405020304" pitchFamily="18" charset="0"/>
              </a:rPr>
              <a:t> and leading edge technical research through AIAA technical committees.</a:t>
            </a:r>
          </a:p>
          <a:p>
            <a:pPr>
              <a:spcBef>
                <a:spcPts val="1200"/>
              </a:spcBef>
              <a:buClr>
                <a:srgbClr val="00529B"/>
              </a:buClr>
            </a:pPr>
            <a:r>
              <a:rPr lang="en-US" sz="1600" b="1" dirty="0">
                <a:solidFill>
                  <a:srgbClr val="4F4F4F"/>
                </a:solidFill>
                <a:latin typeface="+mj-lt"/>
                <a:cs typeface="Times New Roman" panose="02020603050405020304" pitchFamily="18" charset="0"/>
              </a:rPr>
              <a:t>Create and execute </a:t>
            </a:r>
            <a:r>
              <a:rPr lang="en-US" sz="1600" dirty="0">
                <a:solidFill>
                  <a:srgbClr val="4F4F4F"/>
                </a:solidFill>
                <a:latin typeface="+mj-lt"/>
                <a:cs typeface="Times New Roman" panose="02020603050405020304" pitchFamily="18" charset="0"/>
              </a:rPr>
              <a:t>an </a:t>
            </a:r>
            <a:r>
              <a:rPr lang="en-US" sz="1600" b="1" dirty="0">
                <a:solidFill>
                  <a:srgbClr val="4F4F4F"/>
                </a:solidFill>
                <a:latin typeface="+mj-lt"/>
                <a:cs typeface="Times New Roman" panose="02020603050405020304" pitchFamily="18" charset="0"/>
              </a:rPr>
              <a:t>Excellence</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in</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Defense</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Award</a:t>
            </a:r>
            <a:r>
              <a:rPr lang="en-US" sz="1600" dirty="0">
                <a:solidFill>
                  <a:srgbClr val="4F4F4F"/>
                </a:solidFill>
                <a:latin typeface="+mj-lt"/>
                <a:cs typeface="Times New Roman" panose="02020603050405020304" pitchFamily="18" charset="0"/>
              </a:rPr>
              <a:t> to be presented annually at the AIAA Defense Forum. </a:t>
            </a:r>
          </a:p>
          <a:p>
            <a:pPr>
              <a:spcBef>
                <a:spcPts val="1200"/>
              </a:spcBef>
              <a:buClr>
                <a:srgbClr val="00529B"/>
              </a:buClr>
            </a:pPr>
            <a:r>
              <a:rPr lang="en-US" sz="1600" b="1" dirty="0">
                <a:solidFill>
                  <a:srgbClr val="4F4F4F"/>
                </a:solidFill>
                <a:latin typeface="+mj-lt"/>
                <a:cs typeface="Times New Roman" panose="02020603050405020304" pitchFamily="18" charset="0"/>
              </a:rPr>
              <a:t>Identify</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AIAA</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conferences</a:t>
            </a:r>
            <a:r>
              <a:rPr lang="en-US" sz="1600" dirty="0">
                <a:solidFill>
                  <a:srgbClr val="4F4F4F"/>
                </a:solidFill>
                <a:latin typeface="+mj-lt"/>
                <a:cs typeface="Times New Roman" panose="02020603050405020304" pitchFamily="18" charset="0"/>
              </a:rPr>
              <a:t>/forums that can </a:t>
            </a:r>
            <a:r>
              <a:rPr lang="en-US" sz="1600" b="1" dirty="0">
                <a:solidFill>
                  <a:srgbClr val="4F4F4F"/>
                </a:solidFill>
                <a:latin typeface="+mj-lt"/>
                <a:cs typeface="Times New Roman" panose="02020603050405020304" pitchFamily="18" charset="0"/>
              </a:rPr>
              <a:t>support</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ITAR</a:t>
            </a:r>
            <a:r>
              <a:rPr lang="en-US" sz="1600" dirty="0">
                <a:solidFill>
                  <a:srgbClr val="4F4F4F"/>
                </a:solidFill>
                <a:latin typeface="+mj-lt"/>
                <a:cs typeface="Times New Roman" panose="02020603050405020304" pitchFamily="18" charset="0"/>
              </a:rPr>
              <a:t> and classified content (DEFENSE, …) and </a:t>
            </a:r>
            <a:r>
              <a:rPr lang="en-US" sz="1600" b="1" dirty="0">
                <a:solidFill>
                  <a:srgbClr val="4F4F4F"/>
                </a:solidFill>
                <a:latin typeface="+mj-lt"/>
                <a:cs typeface="Times New Roman" panose="02020603050405020304" pitchFamily="18" charset="0"/>
              </a:rPr>
              <a:t>provide</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technical</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planning</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support</a:t>
            </a:r>
            <a:r>
              <a:rPr lang="en-US" sz="1600" dirty="0">
                <a:solidFill>
                  <a:srgbClr val="4F4F4F"/>
                </a:solidFill>
                <a:latin typeface="+mj-lt"/>
                <a:cs typeface="Times New Roman" panose="02020603050405020304" pitchFamily="18" charset="0"/>
              </a:rPr>
              <a:t> to </a:t>
            </a:r>
            <a:r>
              <a:rPr lang="en-US" sz="1600" b="1" dirty="0">
                <a:solidFill>
                  <a:srgbClr val="4F4F4F"/>
                </a:solidFill>
                <a:latin typeface="+mj-lt"/>
                <a:cs typeface="Times New Roman" panose="02020603050405020304" pitchFamily="18" charset="0"/>
              </a:rPr>
              <a:t>connect</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authors</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speakers</a:t>
            </a:r>
            <a:r>
              <a:rPr lang="en-US" sz="1600" dirty="0">
                <a:solidFill>
                  <a:srgbClr val="4F4F4F"/>
                </a:solidFill>
                <a:latin typeface="+mj-lt"/>
                <a:cs typeface="Times New Roman" panose="02020603050405020304" pitchFamily="18" charset="0"/>
              </a:rPr>
              <a:t> and </a:t>
            </a:r>
            <a:r>
              <a:rPr lang="en-US" sz="1600" b="1" dirty="0">
                <a:solidFill>
                  <a:srgbClr val="4F4F4F"/>
                </a:solidFill>
                <a:latin typeface="+mj-lt"/>
                <a:cs typeface="Times New Roman" panose="02020603050405020304" pitchFamily="18" charset="0"/>
              </a:rPr>
              <a:t>content</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providers</a:t>
            </a:r>
            <a:r>
              <a:rPr lang="en-US" sz="1600" dirty="0">
                <a:solidFill>
                  <a:srgbClr val="4F4F4F"/>
                </a:solidFill>
                <a:latin typeface="+mj-lt"/>
                <a:cs typeface="Times New Roman" panose="02020603050405020304" pitchFamily="18" charset="0"/>
              </a:rPr>
              <a:t> with the appropriate </a:t>
            </a:r>
            <a:r>
              <a:rPr lang="en-US" sz="1600" b="1" dirty="0">
                <a:solidFill>
                  <a:srgbClr val="4F4F4F"/>
                </a:solidFill>
                <a:latin typeface="+mj-lt"/>
                <a:cs typeface="Times New Roman" panose="02020603050405020304" pitchFamily="18" charset="0"/>
              </a:rPr>
              <a:t>conference</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venue</a:t>
            </a:r>
            <a:endParaRPr lang="en-US" sz="1600" dirty="0">
              <a:solidFill>
                <a:srgbClr val="4F4F4F"/>
              </a:solidFill>
              <a:latin typeface="+mj-lt"/>
              <a:cs typeface="Times New Roman" panose="02020603050405020304" pitchFamily="18" charset="0"/>
            </a:endParaRPr>
          </a:p>
          <a:p>
            <a:pPr>
              <a:spcBef>
                <a:spcPts val="1200"/>
              </a:spcBef>
              <a:buClr>
                <a:srgbClr val="00529B"/>
              </a:buClr>
            </a:pPr>
            <a:r>
              <a:rPr lang="en-US" sz="1600" dirty="0">
                <a:solidFill>
                  <a:srgbClr val="4F4F4F"/>
                </a:solidFill>
                <a:latin typeface="+mj-lt"/>
                <a:cs typeface="Times New Roman" panose="02020603050405020304" pitchFamily="18" charset="0"/>
              </a:rPr>
              <a:t>Meet and </a:t>
            </a:r>
            <a:r>
              <a:rPr lang="en-US" sz="1600" b="1" dirty="0">
                <a:solidFill>
                  <a:srgbClr val="4F4F4F"/>
                </a:solidFill>
                <a:latin typeface="+mj-lt"/>
                <a:cs typeface="Times New Roman" panose="02020603050405020304" pitchFamily="18" charset="0"/>
              </a:rPr>
              <a:t>discuss</a:t>
            </a:r>
            <a:r>
              <a:rPr lang="en-US" sz="1600" dirty="0">
                <a:solidFill>
                  <a:srgbClr val="4F4F4F"/>
                </a:solidFill>
                <a:latin typeface="+mj-lt"/>
                <a:cs typeface="Times New Roman" panose="02020603050405020304" pitchFamily="18" charset="0"/>
              </a:rPr>
              <a:t> US </a:t>
            </a:r>
            <a:r>
              <a:rPr lang="en-US" sz="1600" b="1" dirty="0">
                <a:solidFill>
                  <a:srgbClr val="4F4F4F"/>
                </a:solidFill>
                <a:latin typeface="+mj-lt"/>
                <a:cs typeface="Times New Roman" panose="02020603050405020304" pitchFamily="18" charset="0"/>
              </a:rPr>
              <a:t>DoD</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priorities</a:t>
            </a:r>
            <a:r>
              <a:rPr lang="en-US" sz="1600" dirty="0">
                <a:solidFill>
                  <a:srgbClr val="4F4F4F"/>
                </a:solidFill>
                <a:latin typeface="+mj-lt"/>
                <a:cs typeface="Times New Roman" panose="02020603050405020304" pitchFamily="18" charset="0"/>
              </a:rPr>
              <a:t> and </a:t>
            </a:r>
            <a:r>
              <a:rPr lang="en-US" sz="1600" b="1" dirty="0">
                <a:solidFill>
                  <a:srgbClr val="4F4F4F"/>
                </a:solidFill>
                <a:latin typeface="+mj-lt"/>
                <a:cs typeface="Times New Roman" panose="02020603050405020304" pitchFamily="18" charset="0"/>
              </a:rPr>
              <a:t>interests</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with</a:t>
            </a:r>
            <a:r>
              <a:rPr lang="en-US" sz="1600" dirty="0">
                <a:solidFill>
                  <a:srgbClr val="4F4F4F"/>
                </a:solidFill>
                <a:latin typeface="+mj-lt"/>
                <a:cs typeface="Times New Roman" panose="02020603050405020304" pitchFamily="18" charset="0"/>
              </a:rPr>
              <a:t> OSD </a:t>
            </a:r>
            <a:r>
              <a:rPr lang="en-US" sz="1600" b="1" dirty="0">
                <a:solidFill>
                  <a:srgbClr val="4F4F4F"/>
                </a:solidFill>
                <a:latin typeface="+mj-lt"/>
                <a:cs typeface="Times New Roman" panose="02020603050405020304" pitchFamily="18" charset="0"/>
              </a:rPr>
              <a:t>leadership</a:t>
            </a:r>
            <a:r>
              <a:rPr lang="en-US" sz="1600" dirty="0">
                <a:solidFill>
                  <a:srgbClr val="4F4F4F"/>
                </a:solidFill>
                <a:latin typeface="+mj-lt"/>
                <a:cs typeface="Times New Roman" panose="02020603050405020304" pitchFamily="18" charset="0"/>
              </a:rPr>
              <a:t> and other </a:t>
            </a:r>
            <a:r>
              <a:rPr lang="en-US" sz="1600" b="1" dirty="0">
                <a:solidFill>
                  <a:srgbClr val="4F4F4F"/>
                </a:solidFill>
                <a:latin typeface="+mj-lt"/>
                <a:cs typeface="Times New Roman" panose="02020603050405020304" pitchFamily="18" charset="0"/>
              </a:rPr>
              <a:t>government</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stakeholders</a:t>
            </a:r>
            <a:r>
              <a:rPr lang="en-US" sz="1600" dirty="0">
                <a:solidFill>
                  <a:srgbClr val="4F4F4F"/>
                </a:solidFill>
                <a:latin typeface="+mj-lt"/>
                <a:cs typeface="Times New Roman" panose="02020603050405020304" pitchFamily="18" charset="0"/>
              </a:rPr>
              <a:t>.</a:t>
            </a:r>
          </a:p>
          <a:p>
            <a:pPr>
              <a:spcBef>
                <a:spcPts val="1200"/>
              </a:spcBef>
              <a:buClr>
                <a:srgbClr val="00529B"/>
              </a:buClr>
            </a:pPr>
            <a:r>
              <a:rPr lang="en-US" sz="1600" b="1" dirty="0">
                <a:solidFill>
                  <a:srgbClr val="4F4F4F"/>
                </a:solidFill>
                <a:latin typeface="+mj-lt"/>
                <a:cs typeface="Times New Roman" panose="02020603050405020304" pitchFamily="18" charset="0"/>
              </a:rPr>
              <a:t>Support development of</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AIAA</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position</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papers</a:t>
            </a:r>
            <a:r>
              <a:rPr lang="en-US" sz="1600" dirty="0">
                <a:solidFill>
                  <a:srgbClr val="4F4F4F"/>
                </a:solidFill>
                <a:latin typeface="+mj-lt"/>
                <a:cs typeface="Times New Roman" panose="02020603050405020304" pitchFamily="18" charset="0"/>
              </a:rPr>
              <a:t> on defense related topics for </a:t>
            </a:r>
            <a:r>
              <a:rPr lang="en-US" sz="1600" b="1" dirty="0">
                <a:solidFill>
                  <a:srgbClr val="4F4F4F"/>
                </a:solidFill>
                <a:latin typeface="+mj-lt"/>
                <a:cs typeface="Times New Roman" panose="02020603050405020304" pitchFamily="18" charset="0"/>
              </a:rPr>
              <a:t>Congressional</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Visits</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Day</a:t>
            </a:r>
            <a:r>
              <a:rPr lang="en-US" sz="1600" dirty="0">
                <a:solidFill>
                  <a:srgbClr val="4F4F4F"/>
                </a:solidFill>
                <a:latin typeface="+mj-lt"/>
                <a:cs typeface="Times New Roman" panose="02020603050405020304" pitchFamily="18" charset="0"/>
              </a:rPr>
              <a:t> (CVD).  </a:t>
            </a:r>
            <a:r>
              <a:rPr lang="en-US" sz="1600" b="1" dirty="0">
                <a:solidFill>
                  <a:srgbClr val="4F4F4F"/>
                </a:solidFill>
                <a:latin typeface="+mj-lt"/>
                <a:cs typeface="Times New Roman" panose="02020603050405020304" pitchFamily="18" charset="0"/>
              </a:rPr>
              <a:t>Coordinate</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position</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papers</a:t>
            </a:r>
            <a:r>
              <a:rPr lang="en-US" sz="1600" dirty="0">
                <a:solidFill>
                  <a:srgbClr val="4F4F4F"/>
                </a:solidFill>
                <a:latin typeface="+mj-lt"/>
                <a:cs typeface="Times New Roman" panose="02020603050405020304" pitchFamily="18" charset="0"/>
              </a:rPr>
              <a:t> and </a:t>
            </a:r>
            <a:r>
              <a:rPr lang="en-US" sz="1600" b="1" dirty="0">
                <a:solidFill>
                  <a:srgbClr val="4F4F4F"/>
                </a:solidFill>
                <a:latin typeface="+mj-lt"/>
                <a:cs typeface="Times New Roman" panose="02020603050405020304" pitchFamily="18" charset="0"/>
              </a:rPr>
              <a:t>congressional</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interaction</a:t>
            </a:r>
            <a:r>
              <a:rPr lang="en-US" sz="1600" dirty="0">
                <a:solidFill>
                  <a:srgbClr val="4F4F4F"/>
                </a:solidFill>
                <a:latin typeface="+mj-lt"/>
                <a:cs typeface="Times New Roman" panose="02020603050405020304" pitchFamily="18" charset="0"/>
              </a:rPr>
              <a:t> with the </a:t>
            </a:r>
            <a:r>
              <a:rPr lang="en-US" sz="1600" b="1" dirty="0">
                <a:solidFill>
                  <a:srgbClr val="4F4F4F"/>
                </a:solidFill>
                <a:latin typeface="+mj-lt"/>
                <a:cs typeface="Times New Roman" panose="02020603050405020304" pitchFamily="18" charset="0"/>
              </a:rPr>
              <a:t>AIAA Public Policy Committee</a:t>
            </a:r>
            <a:r>
              <a:rPr lang="en-US" sz="1600" dirty="0">
                <a:solidFill>
                  <a:srgbClr val="4F4F4F"/>
                </a:solidFill>
                <a:latin typeface="+mj-lt"/>
                <a:cs typeface="Times New Roman" panose="02020603050405020304" pitchFamily="18" charset="0"/>
              </a:rPr>
              <a:t>, and </a:t>
            </a:r>
            <a:r>
              <a:rPr lang="en-US" sz="1600" b="1" dirty="0">
                <a:solidFill>
                  <a:srgbClr val="4F4F4F"/>
                </a:solidFill>
                <a:latin typeface="+mj-lt"/>
                <a:cs typeface="Times New Roman" panose="02020603050405020304" pitchFamily="18" charset="0"/>
              </a:rPr>
              <a:t>inform</a:t>
            </a:r>
            <a:r>
              <a:rPr lang="en-US" sz="1600" dirty="0">
                <a:solidFill>
                  <a:srgbClr val="4F4F4F"/>
                </a:solidFill>
                <a:latin typeface="+mj-lt"/>
                <a:cs typeface="Times New Roman" panose="02020603050405020304" pitchFamily="18" charset="0"/>
              </a:rPr>
              <a:t> the </a:t>
            </a:r>
            <a:r>
              <a:rPr lang="en-US" sz="1600" b="1" dirty="0">
                <a:solidFill>
                  <a:srgbClr val="4F4F4F"/>
                </a:solidFill>
                <a:latin typeface="+mj-lt"/>
                <a:cs typeface="Times New Roman" panose="02020603050405020304" pitchFamily="18" charset="0"/>
              </a:rPr>
              <a:t>Committee</a:t>
            </a:r>
            <a:r>
              <a:rPr lang="en-US" sz="1600" dirty="0">
                <a:solidFill>
                  <a:srgbClr val="4F4F4F"/>
                </a:solidFill>
                <a:latin typeface="+mj-lt"/>
                <a:cs typeface="Times New Roman" panose="02020603050405020304" pitchFamily="18" charset="0"/>
              </a:rPr>
              <a:t> on </a:t>
            </a:r>
            <a:r>
              <a:rPr lang="en-US" sz="1600" b="1" dirty="0">
                <a:solidFill>
                  <a:srgbClr val="4F4F4F"/>
                </a:solidFill>
                <a:latin typeface="+mj-lt"/>
                <a:cs typeface="Times New Roman" panose="02020603050405020304" pitchFamily="18" charset="0"/>
              </a:rPr>
              <a:t>technical</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topics</a:t>
            </a:r>
            <a:r>
              <a:rPr lang="en-US" sz="1600" dirty="0">
                <a:solidFill>
                  <a:srgbClr val="4F4F4F"/>
                </a:solidFill>
                <a:latin typeface="+mj-lt"/>
                <a:cs typeface="Times New Roman" panose="02020603050405020304" pitchFamily="18" charset="0"/>
              </a:rPr>
              <a:t> and </a:t>
            </a:r>
            <a:r>
              <a:rPr lang="en-US" sz="1600" b="1" dirty="0">
                <a:solidFill>
                  <a:srgbClr val="4F4F4F"/>
                </a:solidFill>
                <a:latin typeface="+mj-lt"/>
                <a:cs typeface="Times New Roman" panose="02020603050405020304" pitchFamily="18" charset="0"/>
              </a:rPr>
              <a:t>challenges</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emerging</a:t>
            </a:r>
            <a:r>
              <a:rPr lang="en-US" sz="1600" dirty="0">
                <a:solidFill>
                  <a:srgbClr val="4F4F4F"/>
                </a:solidFill>
                <a:latin typeface="+mj-lt"/>
                <a:cs typeface="Times New Roman" panose="02020603050405020304" pitchFamily="18" charset="0"/>
              </a:rPr>
              <a:t> from TC/DoD engagement.</a:t>
            </a:r>
          </a:p>
          <a:p>
            <a:pPr>
              <a:spcBef>
                <a:spcPts val="1200"/>
              </a:spcBef>
              <a:buClr>
                <a:srgbClr val="00529B"/>
              </a:buClr>
            </a:pPr>
            <a:r>
              <a:rPr lang="en-US" sz="1600" b="1" dirty="0">
                <a:solidFill>
                  <a:srgbClr val="4F4F4F"/>
                </a:solidFill>
                <a:latin typeface="+mj-lt"/>
                <a:cs typeface="Times New Roman" panose="02020603050405020304" pitchFamily="18" charset="0"/>
              </a:rPr>
              <a:t>Organize</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workshops/town halls/roundtables </a:t>
            </a:r>
            <a:r>
              <a:rPr lang="en-US" sz="1600" dirty="0">
                <a:solidFill>
                  <a:srgbClr val="4F4F4F"/>
                </a:solidFill>
                <a:latin typeface="+mj-lt"/>
                <a:cs typeface="Times New Roman" panose="02020603050405020304" pitchFamily="18" charset="0"/>
              </a:rPr>
              <a:t>for industry and DoD organizations to </a:t>
            </a:r>
            <a:r>
              <a:rPr lang="en-US" sz="1600" b="1" dirty="0">
                <a:solidFill>
                  <a:srgbClr val="4F4F4F"/>
                </a:solidFill>
                <a:latin typeface="+mj-lt"/>
                <a:cs typeface="Times New Roman" panose="02020603050405020304" pitchFamily="18" charset="0"/>
              </a:rPr>
              <a:t>collaborate</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outside</a:t>
            </a:r>
            <a:r>
              <a:rPr lang="en-US" sz="1600" dirty="0">
                <a:solidFill>
                  <a:srgbClr val="4F4F4F"/>
                </a:solidFill>
                <a:latin typeface="+mj-lt"/>
                <a:cs typeface="Times New Roman" panose="02020603050405020304" pitchFamily="18" charset="0"/>
              </a:rPr>
              <a:t> of the </a:t>
            </a:r>
            <a:r>
              <a:rPr lang="en-US" sz="1600" b="1" dirty="0">
                <a:solidFill>
                  <a:srgbClr val="4F4F4F"/>
                </a:solidFill>
                <a:latin typeface="+mj-lt"/>
                <a:cs typeface="Times New Roman" panose="02020603050405020304" pitchFamily="18" charset="0"/>
              </a:rPr>
              <a:t>acquisition</a:t>
            </a:r>
            <a:r>
              <a:rPr lang="en-US" sz="1600" dirty="0">
                <a:solidFill>
                  <a:srgbClr val="4F4F4F"/>
                </a:solidFill>
                <a:latin typeface="+mj-lt"/>
                <a:cs typeface="Times New Roman" panose="02020603050405020304" pitchFamily="18" charset="0"/>
              </a:rPr>
              <a:t> </a:t>
            </a:r>
            <a:r>
              <a:rPr lang="en-US" sz="1600" b="1" dirty="0">
                <a:solidFill>
                  <a:srgbClr val="4F4F4F"/>
                </a:solidFill>
                <a:latin typeface="+mj-lt"/>
                <a:cs typeface="Times New Roman" panose="02020603050405020304" pitchFamily="18" charset="0"/>
              </a:rPr>
              <a:t>process</a:t>
            </a:r>
            <a:r>
              <a:rPr lang="en-US" sz="1600" dirty="0">
                <a:solidFill>
                  <a:srgbClr val="4F4F4F"/>
                </a:solidFill>
                <a:latin typeface="+mj-lt"/>
                <a:cs typeface="Times New Roman" panose="02020603050405020304" pitchFamily="18" charset="0"/>
              </a:rPr>
              <a:t>.</a:t>
            </a:r>
          </a:p>
        </p:txBody>
      </p:sp>
      <p:sp>
        <p:nvSpPr>
          <p:cNvPr id="2" name="Rectangle 1"/>
          <p:cNvSpPr/>
          <p:nvPr/>
        </p:nvSpPr>
        <p:spPr bwMode="auto">
          <a:xfrm>
            <a:off x="0" y="1"/>
            <a:ext cx="12192000" cy="990601"/>
          </a:xfrm>
          <a:prstGeom prst="rect">
            <a:avLst/>
          </a:prstGeom>
          <a:solidFill>
            <a:srgbClr val="1B3D6C"/>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39" rtl="0" eaLnBrk="0"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endParaRPr>
          </a:p>
        </p:txBody>
      </p:sp>
      <p:sp>
        <p:nvSpPr>
          <p:cNvPr id="6" name="Title 1"/>
          <p:cNvSpPr txBox="1">
            <a:spLocks/>
          </p:cNvSpPr>
          <p:nvPr/>
        </p:nvSpPr>
        <p:spPr bwMode="auto">
          <a:xfrm>
            <a:off x="0" y="152401"/>
            <a:ext cx="12192000" cy="685801"/>
          </a:xfrm>
          <a:prstGeom prst="rect">
            <a:avLst/>
          </a:prstGeom>
          <a:noFill/>
          <a:ln w="9525">
            <a:noFill/>
            <a:miter lim="800000"/>
            <a:headEnd/>
            <a:tailEnd/>
          </a:ln>
        </p:spPr>
        <p:txBody>
          <a:bodyPr vert="horz" wrap="square" lIns="91440" tIns="45721" rIns="91440" bIns="45721" numCol="1" anchor="ctr" anchorCtr="0" compatLnSpc="1">
            <a:prstTxWarp prst="textNoShape">
              <a:avLst/>
            </a:prstTxWarp>
          </a:bodyPr>
          <a:lst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Arial" charset="0"/>
                <a:ea typeface="ＭＳ Ｐゴシック" pitchFamily="80" charset="-128"/>
              </a:defRPr>
            </a:lvl2pPr>
            <a:lvl3pPr algn="l" rtl="0" eaLnBrk="0" fontAlgn="base" hangingPunct="0">
              <a:spcBef>
                <a:spcPct val="0"/>
              </a:spcBef>
              <a:spcAft>
                <a:spcPct val="0"/>
              </a:spcAft>
              <a:defRPr sz="2400">
                <a:solidFill>
                  <a:schemeClr val="tx2"/>
                </a:solidFill>
                <a:latin typeface="Arial" charset="0"/>
                <a:ea typeface="ＭＳ Ｐゴシック" pitchFamily="80" charset="-128"/>
              </a:defRPr>
            </a:lvl3pPr>
            <a:lvl4pPr algn="l" rtl="0" eaLnBrk="0" fontAlgn="base" hangingPunct="0">
              <a:spcBef>
                <a:spcPct val="0"/>
              </a:spcBef>
              <a:spcAft>
                <a:spcPct val="0"/>
              </a:spcAft>
              <a:defRPr sz="2400">
                <a:solidFill>
                  <a:schemeClr val="tx2"/>
                </a:solidFill>
                <a:latin typeface="Arial" charset="0"/>
                <a:ea typeface="ＭＳ Ｐゴシック" pitchFamily="80" charset="-128"/>
              </a:defRPr>
            </a:lvl4pPr>
            <a:lvl5pPr algn="l" rtl="0" eaLnBrk="0" fontAlgn="base" hangingPunct="0">
              <a:spcBef>
                <a:spcPct val="0"/>
              </a:spcBef>
              <a:spcAft>
                <a:spcPct val="0"/>
              </a:spcAft>
              <a:defRPr sz="2400">
                <a:solidFill>
                  <a:schemeClr val="tx2"/>
                </a:solidFill>
                <a:latin typeface="Arial" charset="0"/>
                <a:ea typeface="ＭＳ Ｐゴシック" pitchFamily="80" charset="-128"/>
              </a:defRPr>
            </a:lvl5pPr>
            <a:lvl6pPr marL="457200" algn="l" rtl="0" fontAlgn="base">
              <a:spcBef>
                <a:spcPct val="0"/>
              </a:spcBef>
              <a:spcAft>
                <a:spcPct val="0"/>
              </a:spcAft>
              <a:defRPr sz="2400">
                <a:solidFill>
                  <a:schemeClr val="tx2"/>
                </a:solidFill>
                <a:latin typeface="Arial" charset="0"/>
                <a:ea typeface="ＭＳ Ｐゴシック" pitchFamily="80" charset="-128"/>
              </a:defRPr>
            </a:lvl6pPr>
            <a:lvl7pPr marL="914400" algn="l" rtl="0" fontAlgn="base">
              <a:spcBef>
                <a:spcPct val="0"/>
              </a:spcBef>
              <a:spcAft>
                <a:spcPct val="0"/>
              </a:spcAft>
              <a:defRPr sz="2400">
                <a:solidFill>
                  <a:schemeClr val="tx2"/>
                </a:solidFill>
                <a:latin typeface="Arial" charset="0"/>
                <a:ea typeface="ＭＳ Ｐゴシック" pitchFamily="80" charset="-128"/>
              </a:defRPr>
            </a:lvl7pPr>
            <a:lvl8pPr marL="1371600" algn="l" rtl="0" fontAlgn="base">
              <a:spcBef>
                <a:spcPct val="0"/>
              </a:spcBef>
              <a:spcAft>
                <a:spcPct val="0"/>
              </a:spcAft>
              <a:defRPr sz="2400">
                <a:solidFill>
                  <a:schemeClr val="tx2"/>
                </a:solidFill>
                <a:latin typeface="Arial" charset="0"/>
                <a:ea typeface="ＭＳ Ｐゴシック" pitchFamily="80" charset="-128"/>
              </a:defRPr>
            </a:lvl8pPr>
            <a:lvl9pPr marL="1828800" algn="l" rtl="0" fontAlgn="base">
              <a:spcBef>
                <a:spcPct val="0"/>
              </a:spcBef>
              <a:spcAft>
                <a:spcPct val="0"/>
              </a:spcAft>
              <a:defRPr sz="2400">
                <a:solidFill>
                  <a:schemeClr val="tx2"/>
                </a:solidFill>
                <a:latin typeface="Arial" charset="0"/>
                <a:ea typeface="ＭＳ Ｐゴシック" pitchFamily="80"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Aptos Display" panose="02110004020202020204"/>
                <a:ea typeface="+mj-ea"/>
                <a:cs typeface="+mj-cs"/>
              </a:rPr>
              <a:t>Defense WG Objectives</a:t>
            </a:r>
          </a:p>
        </p:txBody>
      </p:sp>
      <p:sp>
        <p:nvSpPr>
          <p:cNvPr id="5" name="Slide Number Placeholder 4">
            <a:extLst>
              <a:ext uri="{FF2B5EF4-FFF2-40B4-BE49-F238E27FC236}">
                <a16:creationId xmlns:a16="http://schemas.microsoft.com/office/drawing/2014/main" id="{C77F511D-8B31-8D58-E3BB-6A87398D204B}"/>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86D440-F702-449A-AAC2-9ACFF17038B8}" type="slidenum">
              <a:rPr kumimoji="0" lang="en-US" sz="1401"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US" sz="1401"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Tree>
    <p:extLst>
      <p:ext uri="{BB962C8B-B14F-4D97-AF65-F5344CB8AC3E}">
        <p14:creationId xmlns:p14="http://schemas.microsoft.com/office/powerpoint/2010/main" val="18708098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4B44A-B0F4-4B79-8840-58D0697EF9D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16D67B-6EF0-CC16-DC77-45FB3B076D01}"/>
              </a:ext>
            </a:extLst>
          </p:cNvPr>
          <p:cNvSpPr>
            <a:spLocks noGrp="1"/>
          </p:cNvSpPr>
          <p:nvPr>
            <p:ph idx="1"/>
          </p:nvPr>
        </p:nvSpPr>
        <p:spPr>
          <a:xfrm>
            <a:off x="304800" y="1143001"/>
            <a:ext cx="10566400" cy="4876799"/>
          </a:xfrm>
        </p:spPr>
        <p:txBody>
          <a:bodyPr>
            <a:noAutofit/>
          </a:bodyPr>
          <a:lstStyle/>
          <a:p>
            <a:pPr>
              <a:spcBef>
                <a:spcPts val="800"/>
              </a:spcBef>
            </a:pPr>
            <a:r>
              <a:rPr lang="en-US" sz="2400" dirty="0">
                <a:latin typeface="+mj-lt"/>
              </a:rPr>
              <a:t>Hold ”agenda-setting” virtual meeting to identify high-priority defense topics for AIAA technical community</a:t>
            </a:r>
          </a:p>
          <a:p>
            <a:pPr lvl="1">
              <a:spcBef>
                <a:spcPts val="800"/>
              </a:spcBef>
            </a:pPr>
            <a:r>
              <a:rPr lang="en-US" sz="2000" dirty="0">
                <a:latin typeface="+mj-lt"/>
              </a:rPr>
              <a:t>Projected June-July 2026, after AVIATION</a:t>
            </a:r>
          </a:p>
          <a:p>
            <a:pPr>
              <a:spcBef>
                <a:spcPts val="800"/>
              </a:spcBef>
            </a:pPr>
            <a:r>
              <a:rPr lang="en-US" sz="2400" dirty="0">
                <a:latin typeface="+mj-lt"/>
              </a:rPr>
              <a:t>Conduct survey of TC defense-related work, products, and interest</a:t>
            </a:r>
          </a:p>
          <a:p>
            <a:pPr lvl="1">
              <a:spcBef>
                <a:spcPts val="800"/>
              </a:spcBef>
            </a:pPr>
            <a:r>
              <a:rPr lang="en-US" sz="2000" dirty="0">
                <a:latin typeface="+mj-lt"/>
              </a:rPr>
              <a:t>Construct AIAA “yellow pages” for national security related expertise and products</a:t>
            </a:r>
          </a:p>
          <a:p>
            <a:endParaRPr lang="en-US" sz="2400" dirty="0">
              <a:latin typeface="+mj-lt"/>
            </a:endParaRPr>
          </a:p>
        </p:txBody>
      </p:sp>
      <p:sp>
        <p:nvSpPr>
          <p:cNvPr id="2" name="Rectangle 1">
            <a:extLst>
              <a:ext uri="{FF2B5EF4-FFF2-40B4-BE49-F238E27FC236}">
                <a16:creationId xmlns:a16="http://schemas.microsoft.com/office/drawing/2014/main" id="{7439EEAD-FFDF-9771-6CE0-2363EBBDE2C9}"/>
              </a:ext>
            </a:extLst>
          </p:cNvPr>
          <p:cNvSpPr/>
          <p:nvPr/>
        </p:nvSpPr>
        <p:spPr bwMode="auto">
          <a:xfrm>
            <a:off x="0" y="1"/>
            <a:ext cx="12192000" cy="990601"/>
          </a:xfrm>
          <a:prstGeom prst="rect">
            <a:avLst/>
          </a:prstGeom>
          <a:solidFill>
            <a:srgbClr val="1B3D6C"/>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algn="l" defTabSz="1219139" rtl="0" eaLnBrk="0"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ptos" panose="02110004020202020204"/>
              <a:ea typeface="ＭＳ Ｐゴシック" pitchFamily="80" charset="-128"/>
              <a:cs typeface="+mn-cs"/>
            </a:endParaRPr>
          </a:p>
        </p:txBody>
      </p:sp>
      <p:sp>
        <p:nvSpPr>
          <p:cNvPr id="6" name="Title 1">
            <a:extLst>
              <a:ext uri="{FF2B5EF4-FFF2-40B4-BE49-F238E27FC236}">
                <a16:creationId xmlns:a16="http://schemas.microsoft.com/office/drawing/2014/main" id="{50A07A4B-5608-C363-0436-DD5904A5128E}"/>
              </a:ext>
            </a:extLst>
          </p:cNvPr>
          <p:cNvSpPr txBox="1">
            <a:spLocks/>
          </p:cNvSpPr>
          <p:nvPr/>
        </p:nvSpPr>
        <p:spPr bwMode="auto">
          <a:xfrm>
            <a:off x="0" y="152401"/>
            <a:ext cx="12192000" cy="685801"/>
          </a:xfrm>
          <a:prstGeom prst="rect">
            <a:avLst/>
          </a:prstGeom>
          <a:noFill/>
          <a:ln w="9525">
            <a:noFill/>
            <a:miter lim="800000"/>
            <a:headEnd/>
            <a:tailEnd/>
          </a:ln>
        </p:spPr>
        <p:txBody>
          <a:bodyPr vert="horz" wrap="square" lIns="91440" tIns="45721" rIns="91440" bIns="45721" numCol="1" anchor="ctr" anchorCtr="0" compatLnSpc="1">
            <a:prstTxWarp prst="textNoShape">
              <a:avLst/>
            </a:prstTxWarp>
          </a:bodyPr>
          <a:lst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Arial" charset="0"/>
                <a:ea typeface="ＭＳ Ｐゴシック" pitchFamily="80" charset="-128"/>
              </a:defRPr>
            </a:lvl2pPr>
            <a:lvl3pPr algn="l" rtl="0" eaLnBrk="0" fontAlgn="base" hangingPunct="0">
              <a:spcBef>
                <a:spcPct val="0"/>
              </a:spcBef>
              <a:spcAft>
                <a:spcPct val="0"/>
              </a:spcAft>
              <a:defRPr sz="2400">
                <a:solidFill>
                  <a:schemeClr val="tx2"/>
                </a:solidFill>
                <a:latin typeface="Arial" charset="0"/>
                <a:ea typeface="ＭＳ Ｐゴシック" pitchFamily="80" charset="-128"/>
              </a:defRPr>
            </a:lvl3pPr>
            <a:lvl4pPr algn="l" rtl="0" eaLnBrk="0" fontAlgn="base" hangingPunct="0">
              <a:spcBef>
                <a:spcPct val="0"/>
              </a:spcBef>
              <a:spcAft>
                <a:spcPct val="0"/>
              </a:spcAft>
              <a:defRPr sz="2400">
                <a:solidFill>
                  <a:schemeClr val="tx2"/>
                </a:solidFill>
                <a:latin typeface="Arial" charset="0"/>
                <a:ea typeface="ＭＳ Ｐゴシック" pitchFamily="80" charset="-128"/>
              </a:defRPr>
            </a:lvl4pPr>
            <a:lvl5pPr algn="l" rtl="0" eaLnBrk="0" fontAlgn="base" hangingPunct="0">
              <a:spcBef>
                <a:spcPct val="0"/>
              </a:spcBef>
              <a:spcAft>
                <a:spcPct val="0"/>
              </a:spcAft>
              <a:defRPr sz="2400">
                <a:solidFill>
                  <a:schemeClr val="tx2"/>
                </a:solidFill>
                <a:latin typeface="Arial" charset="0"/>
                <a:ea typeface="ＭＳ Ｐゴシック" pitchFamily="80" charset="-128"/>
              </a:defRPr>
            </a:lvl5pPr>
            <a:lvl6pPr marL="457200" algn="l" rtl="0" fontAlgn="base">
              <a:spcBef>
                <a:spcPct val="0"/>
              </a:spcBef>
              <a:spcAft>
                <a:spcPct val="0"/>
              </a:spcAft>
              <a:defRPr sz="2400">
                <a:solidFill>
                  <a:schemeClr val="tx2"/>
                </a:solidFill>
                <a:latin typeface="Arial" charset="0"/>
                <a:ea typeface="ＭＳ Ｐゴシック" pitchFamily="80" charset="-128"/>
              </a:defRPr>
            </a:lvl6pPr>
            <a:lvl7pPr marL="914400" algn="l" rtl="0" fontAlgn="base">
              <a:spcBef>
                <a:spcPct val="0"/>
              </a:spcBef>
              <a:spcAft>
                <a:spcPct val="0"/>
              </a:spcAft>
              <a:defRPr sz="2400">
                <a:solidFill>
                  <a:schemeClr val="tx2"/>
                </a:solidFill>
                <a:latin typeface="Arial" charset="0"/>
                <a:ea typeface="ＭＳ Ｐゴシック" pitchFamily="80" charset="-128"/>
              </a:defRPr>
            </a:lvl7pPr>
            <a:lvl8pPr marL="1371600" algn="l" rtl="0" fontAlgn="base">
              <a:spcBef>
                <a:spcPct val="0"/>
              </a:spcBef>
              <a:spcAft>
                <a:spcPct val="0"/>
              </a:spcAft>
              <a:defRPr sz="2400">
                <a:solidFill>
                  <a:schemeClr val="tx2"/>
                </a:solidFill>
                <a:latin typeface="Arial" charset="0"/>
                <a:ea typeface="ＭＳ Ｐゴシック" pitchFamily="80" charset="-128"/>
              </a:defRPr>
            </a:lvl8pPr>
            <a:lvl9pPr marL="1828800" algn="l" rtl="0" fontAlgn="base">
              <a:spcBef>
                <a:spcPct val="0"/>
              </a:spcBef>
              <a:spcAft>
                <a:spcPct val="0"/>
              </a:spcAft>
              <a:defRPr sz="2400">
                <a:solidFill>
                  <a:schemeClr val="tx2"/>
                </a:solidFill>
                <a:latin typeface="Arial" charset="0"/>
                <a:ea typeface="ＭＳ Ｐゴシック" pitchFamily="80"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Aptos Display" panose="02110004020202020204"/>
                <a:ea typeface="+mj-ea"/>
                <a:cs typeface="+mj-cs"/>
              </a:rPr>
              <a:t>WG Requests</a:t>
            </a:r>
          </a:p>
        </p:txBody>
      </p:sp>
      <p:sp>
        <p:nvSpPr>
          <p:cNvPr id="5" name="Slide Number Placeholder 4">
            <a:extLst>
              <a:ext uri="{FF2B5EF4-FFF2-40B4-BE49-F238E27FC236}">
                <a16:creationId xmlns:a16="http://schemas.microsoft.com/office/drawing/2014/main" id="{F3D43A7F-C5E5-DE20-165B-A2AABF78A84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86D440-F702-449A-AAC2-9ACFF17038B8}" type="slidenum">
              <a:rPr kumimoji="0" lang="en-US" sz="1401"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401"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8" name="TextBox 7">
            <a:extLst>
              <a:ext uri="{FF2B5EF4-FFF2-40B4-BE49-F238E27FC236}">
                <a16:creationId xmlns:a16="http://schemas.microsoft.com/office/drawing/2014/main" id="{12B470BC-879A-6A63-0C01-1E6DBDDA6221}"/>
              </a:ext>
            </a:extLst>
          </p:cNvPr>
          <p:cNvSpPr txBox="1"/>
          <p:nvPr/>
        </p:nvSpPr>
        <p:spPr>
          <a:xfrm>
            <a:off x="1117600" y="3937000"/>
            <a:ext cx="9245600" cy="954300"/>
          </a:xfrm>
          <a:prstGeom prst="rect">
            <a:avLst/>
          </a:prstGeom>
          <a:solidFill>
            <a:srgbClr val="FFFF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67" b="1" i="1" u="none" strike="noStrike" kern="1200" cap="none" spc="0" normalizeH="0" baseline="0" noProof="0" dirty="0">
                <a:ln>
                  <a:noFill/>
                </a:ln>
                <a:solidFill>
                  <a:srgbClr val="000000"/>
                </a:solidFill>
                <a:effectLst/>
                <a:uLnTx/>
                <a:uFillTx/>
                <a:latin typeface="Aptos" panose="02110004020202020204"/>
                <a:ea typeface="+mn-ea"/>
                <a:cs typeface="+mn-cs"/>
              </a:rPr>
              <a:t>If you would like to take on an active role in the Defense WG, or would like to nominate TC members to connect, please contact me at </a:t>
            </a:r>
            <a:r>
              <a:rPr kumimoji="0" lang="en-US" sz="1867" b="1" i="1" u="none" strike="noStrike" kern="1200" cap="none" spc="0" normalizeH="0" baseline="0" noProof="0" dirty="0">
                <a:ln>
                  <a:noFill/>
                </a:ln>
                <a:solidFill>
                  <a:srgbClr val="000000"/>
                </a:solidFill>
                <a:effectLst/>
                <a:uLnTx/>
                <a:uFillTx/>
                <a:latin typeface="Aptos" panose="02110004020202020204"/>
                <a:ea typeface="+mn-ea"/>
                <a:cs typeface="+mn-cs"/>
                <a:hlinkClick r:id="rId2"/>
              </a:rPr>
              <a:t>jimmie.mcever@jhuapl.edu</a:t>
            </a:r>
            <a:endParaRPr kumimoji="0" lang="en-US" sz="1867" b="1" i="1" u="none" strike="noStrike" kern="1200" cap="none" spc="0" normalizeH="0" baseline="0" noProof="0" dirty="0">
              <a:ln>
                <a:noFill/>
              </a:ln>
              <a:solidFill>
                <a:srgbClr val="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73167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00A7A-DE6D-0C5B-A835-892DCEF0F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BAA1C0-0023-26E6-9DCC-0ED1D06AFA5E}"/>
              </a:ext>
            </a:extLst>
          </p:cNvPr>
          <p:cNvSpPr>
            <a:spLocks noGrp="1"/>
          </p:cNvSpPr>
          <p:nvPr>
            <p:ph type="title"/>
          </p:nvPr>
        </p:nvSpPr>
        <p:spPr/>
        <p:txBody>
          <a:bodyPr/>
          <a:lstStyle/>
          <a:p>
            <a:r>
              <a:rPr lang="en-US" sz="4800" dirty="0">
                <a:latin typeface="Arial" panose="020B0604020202020204" pitchFamily="34" charset="0"/>
                <a:cs typeface="Arial" panose="020B0604020202020204" pitchFamily="34" charset="0"/>
              </a:rPr>
              <a:t>2026 Forums Update</a:t>
            </a:r>
          </a:p>
        </p:txBody>
      </p:sp>
      <p:sp>
        <p:nvSpPr>
          <p:cNvPr id="8" name="Slide Number Placeholder 7">
            <a:extLst>
              <a:ext uri="{FF2B5EF4-FFF2-40B4-BE49-F238E27FC236}">
                <a16:creationId xmlns:a16="http://schemas.microsoft.com/office/drawing/2014/main" id="{8BEEB529-0B84-51C7-46D7-A1116652D587}"/>
              </a:ext>
            </a:extLst>
          </p:cNvPr>
          <p:cNvSpPr>
            <a:spLocks noGrp="1"/>
          </p:cNvSpPr>
          <p:nvPr>
            <p:ph type="sldNum" sz="quarter" idx="12"/>
          </p:nvPr>
        </p:nvSpPr>
        <p:spPr/>
        <p:txBody>
          <a:bodyPr/>
          <a:lstStyle/>
          <a:p>
            <a:fld id="{8FBCB428-D880-FC4A-9B26-64132A65A030}" type="slidenum">
              <a:rPr lang="en-US" smtClean="0"/>
              <a:pPr/>
              <a:t>60</a:t>
            </a:fld>
            <a:endParaRPr lang="en-US" dirty="0"/>
          </a:p>
        </p:txBody>
      </p:sp>
      <p:sp>
        <p:nvSpPr>
          <p:cNvPr id="4" name="Slide Number Placeholder 5">
            <a:extLst>
              <a:ext uri="{FF2B5EF4-FFF2-40B4-BE49-F238E27FC236}">
                <a16:creationId xmlns:a16="http://schemas.microsoft.com/office/drawing/2014/main" id="{DD332E94-DA8F-54C0-B532-CB309743A567}"/>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60</a:t>
            </a:fld>
            <a:endParaRPr lang="en-US" sz="1000" dirty="0">
              <a:solidFill>
                <a:srgbClr val="FFFFFF"/>
              </a:solidFill>
            </a:endParaRPr>
          </a:p>
        </p:txBody>
      </p:sp>
      <p:cxnSp>
        <p:nvCxnSpPr>
          <p:cNvPr id="5" name="Straight Connector 4">
            <a:extLst>
              <a:ext uri="{FF2B5EF4-FFF2-40B4-BE49-F238E27FC236}">
                <a16:creationId xmlns:a16="http://schemas.microsoft.com/office/drawing/2014/main" id="{307B2252-1D81-9877-2548-0E7A949ACF91}"/>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Slide Number Placeholder 1">
            <a:extLst>
              <a:ext uri="{FF2B5EF4-FFF2-40B4-BE49-F238E27FC236}">
                <a16:creationId xmlns:a16="http://schemas.microsoft.com/office/drawing/2014/main" id="{C75655FB-FAA9-EE99-236B-9706E6C7713F}"/>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60</a:t>
            </a:fld>
            <a:endParaRPr lang="en-US" dirty="0">
              <a:solidFill>
                <a:srgbClr val="FFFFFF"/>
              </a:solidFill>
            </a:endParaRPr>
          </a:p>
        </p:txBody>
      </p:sp>
      <p:cxnSp>
        <p:nvCxnSpPr>
          <p:cNvPr id="7" name="Straight Connector 6">
            <a:extLst>
              <a:ext uri="{FF2B5EF4-FFF2-40B4-BE49-F238E27FC236}">
                <a16:creationId xmlns:a16="http://schemas.microsoft.com/office/drawing/2014/main" id="{150BC5FE-D3E5-0B0F-A976-33C96668D344}"/>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85523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8C0BF-95C2-3F4E-8139-9582DA97BBF2}"/>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838ED613-778E-D1EB-80A1-AF9D1F17927C}"/>
              </a:ext>
            </a:extLst>
          </p:cNvPr>
          <p:cNvPicPr>
            <a:picLocks noGrp="1" noChangeAspect="1"/>
          </p:cNvPicPr>
          <p:nvPr>
            <p:ph type="pic" idx="1"/>
          </p:nvPr>
        </p:nvPicPr>
        <p:blipFill>
          <a:blip r:embed="rId3" cstate="email">
            <a:extLst>
              <a:ext uri="{28A0092B-C50C-407E-A947-70E740481C1C}">
                <a14:useLocalDpi xmlns:a14="http://schemas.microsoft.com/office/drawing/2010/main"/>
              </a:ext>
            </a:extLst>
          </a:blip>
          <a:srcRect/>
          <a:stretch/>
        </p:blipFill>
        <p:spPr/>
      </p:pic>
      <p:sp>
        <p:nvSpPr>
          <p:cNvPr id="2" name="Title 1">
            <a:extLst>
              <a:ext uri="{FF2B5EF4-FFF2-40B4-BE49-F238E27FC236}">
                <a16:creationId xmlns:a16="http://schemas.microsoft.com/office/drawing/2014/main" id="{8FDB2697-646B-CEA3-5531-6F1B6C7946EE}"/>
              </a:ext>
            </a:extLst>
          </p:cNvPr>
          <p:cNvSpPr>
            <a:spLocks noGrp="1"/>
          </p:cNvSpPr>
          <p:nvPr>
            <p:ph type="title"/>
          </p:nvPr>
        </p:nvSpPr>
        <p:spPr>
          <a:xfrm>
            <a:off x="347472" y="365760"/>
            <a:ext cx="7550837" cy="859291"/>
          </a:xfrm>
        </p:spPr>
        <p:txBody>
          <a:bodyPr anchor="t">
            <a:normAutofit/>
          </a:bodyPr>
          <a:lstStyle/>
          <a:p>
            <a:r>
              <a:rPr lang="en-US" sz="3600" dirty="0">
                <a:latin typeface="Figtree SemiBold"/>
              </a:rPr>
              <a:t>SciTech Forum </a:t>
            </a:r>
            <a:r>
              <a:rPr lang="en-US" sz="1800" dirty="0">
                <a:latin typeface="Figtree SemiBold"/>
              </a:rPr>
              <a:t>12–16 January, Orlando, Florida</a:t>
            </a:r>
          </a:p>
        </p:txBody>
      </p:sp>
      <p:sp>
        <p:nvSpPr>
          <p:cNvPr id="3" name="Content Placeholder 2">
            <a:extLst>
              <a:ext uri="{FF2B5EF4-FFF2-40B4-BE49-F238E27FC236}">
                <a16:creationId xmlns:a16="http://schemas.microsoft.com/office/drawing/2014/main" id="{97DA6B05-C8BA-4ED4-6232-E0A78738E19A}"/>
              </a:ext>
            </a:extLst>
          </p:cNvPr>
          <p:cNvSpPr>
            <a:spLocks noGrp="1"/>
          </p:cNvSpPr>
          <p:nvPr>
            <p:ph type="body" sz="half" idx="2"/>
          </p:nvPr>
        </p:nvSpPr>
        <p:spPr>
          <a:xfrm>
            <a:off x="461772" y="1057211"/>
            <a:ext cx="6297449" cy="4743578"/>
          </a:xfrm>
        </p:spPr>
        <p:txBody>
          <a:bodyPr lIns="0" tIns="0" rIns="0" bIns="0" anchor="t">
            <a:noAutofit/>
          </a:bodyPr>
          <a:lstStyle/>
          <a:p>
            <a:pPr marL="342900" indent="-342900">
              <a:lnSpc>
                <a:spcPct val="115000"/>
              </a:lnSpc>
              <a:buFont typeface="Arial" panose="05050102010706020507" pitchFamily="18" charset="2"/>
              <a:buChar char="•"/>
            </a:pPr>
            <a:r>
              <a:rPr lang="en-US" sz="2200" kern="100" dirty="0">
                <a:latin typeface="Figtree"/>
                <a:ea typeface="Aptos" panose="020B0004020202020204" pitchFamily="34" charset="0"/>
                <a:cs typeface="Times New Roman"/>
              </a:rPr>
              <a:t>Call for content: Abstracts +6%, </a:t>
            </a:r>
            <a:br>
              <a:rPr lang="en-US" sz="2200" kern="100" dirty="0">
                <a:latin typeface="Figtree"/>
                <a:ea typeface="Aptos" panose="020B0004020202020204" pitchFamily="34" charset="0"/>
                <a:cs typeface="Times New Roman"/>
              </a:rPr>
            </a:br>
            <a:r>
              <a:rPr lang="en-US" sz="2200" kern="100" dirty="0">
                <a:latin typeface="Figtree"/>
                <a:ea typeface="Aptos" panose="020B0004020202020204" pitchFamily="34" charset="0"/>
                <a:cs typeface="Times New Roman"/>
              </a:rPr>
              <a:t>Sessions +10% over 2025</a:t>
            </a:r>
          </a:p>
          <a:p>
            <a:pPr marL="342900" indent="-342900">
              <a:lnSpc>
                <a:spcPct val="115000"/>
              </a:lnSpc>
              <a:buFont typeface="Arial" panose="05050102010706020507" pitchFamily="18" charset="2"/>
              <a:buChar char="•"/>
            </a:pPr>
            <a:r>
              <a:rPr lang="en-US" sz="2200" kern="100" dirty="0">
                <a:latin typeface="Figtree"/>
                <a:ea typeface="Aptos" panose="020B0004020202020204" pitchFamily="34" charset="0"/>
                <a:cs typeface="Times New Roman"/>
              </a:rPr>
              <a:t>2914 technical presentations +1.8% over 2025</a:t>
            </a:r>
          </a:p>
          <a:p>
            <a:pPr marL="342900" indent="-342900">
              <a:lnSpc>
                <a:spcPct val="115000"/>
              </a:lnSpc>
              <a:buFont typeface="Arial" panose="05050102010706020507" pitchFamily="18" charset="2"/>
              <a:buChar char="•"/>
            </a:pPr>
            <a:r>
              <a:rPr lang="en-US" sz="2200" kern="100" dirty="0">
                <a:solidFill>
                  <a:schemeClr val="bg1"/>
                </a:solidFill>
                <a:latin typeface="Figtree"/>
                <a:ea typeface="Aptos" panose="020B0004020202020204" pitchFamily="34" charset="0"/>
                <a:cs typeface="Times New Roman"/>
              </a:rPr>
              <a:t>731 technical sessions: </a:t>
            </a:r>
          </a:p>
          <a:p>
            <a:pPr marL="800100" lvl="1" indent="-342900">
              <a:lnSpc>
                <a:spcPct val="115000"/>
              </a:lnSpc>
              <a:spcBef>
                <a:spcPts val="0"/>
              </a:spcBef>
              <a:buFont typeface="Courier New" panose="02070309020205020404" pitchFamily="49" charset="0"/>
              <a:buChar char="o"/>
            </a:pPr>
            <a:r>
              <a:rPr lang="en-US" sz="1800" kern="100" dirty="0">
                <a:solidFill>
                  <a:schemeClr val="bg1"/>
                </a:solidFill>
                <a:latin typeface="Figtree"/>
                <a:ea typeface="Aptos" panose="020B0004020202020204" pitchFamily="34" charset="0"/>
                <a:cs typeface="Times New Roman"/>
              </a:rPr>
              <a:t>25 lectures</a:t>
            </a:r>
          </a:p>
          <a:p>
            <a:pPr marL="800100" lvl="1" indent="-342900">
              <a:lnSpc>
                <a:spcPct val="115000"/>
              </a:lnSpc>
              <a:spcBef>
                <a:spcPts val="0"/>
              </a:spcBef>
              <a:buFont typeface="Courier New" panose="02070309020205020404" pitchFamily="49" charset="0"/>
              <a:buChar char="o"/>
            </a:pPr>
            <a:r>
              <a:rPr lang="en-US" sz="1800" kern="100" dirty="0">
                <a:solidFill>
                  <a:schemeClr val="bg1"/>
                </a:solidFill>
                <a:latin typeface="Figtree"/>
                <a:ea typeface="Aptos" panose="020B0004020202020204" pitchFamily="34" charset="0"/>
                <a:cs typeface="Times New Roman"/>
              </a:rPr>
              <a:t>61 panels</a:t>
            </a:r>
          </a:p>
          <a:p>
            <a:pPr marL="800100" lvl="1" indent="-342900">
              <a:lnSpc>
                <a:spcPct val="115000"/>
              </a:lnSpc>
              <a:spcBef>
                <a:spcPts val="0"/>
              </a:spcBef>
              <a:buFont typeface="Courier New" panose="02070309020205020404" pitchFamily="49" charset="0"/>
              <a:buChar char="o"/>
            </a:pPr>
            <a:r>
              <a:rPr lang="en-US" sz="1800" kern="100" dirty="0">
                <a:solidFill>
                  <a:schemeClr val="bg1"/>
                </a:solidFill>
                <a:latin typeface="Figtree"/>
                <a:ea typeface="Aptos" panose="020B0004020202020204" pitchFamily="34" charset="0"/>
                <a:cs typeface="Times New Roman"/>
              </a:rPr>
              <a:t>635 paper sessions</a:t>
            </a:r>
          </a:p>
          <a:p>
            <a:pPr marL="800100" lvl="1" indent="-342900">
              <a:lnSpc>
                <a:spcPct val="115000"/>
              </a:lnSpc>
              <a:spcBef>
                <a:spcPts val="0"/>
              </a:spcBef>
              <a:buFont typeface="Courier New" panose="02070309020205020404" pitchFamily="49" charset="0"/>
              <a:buChar char="o"/>
            </a:pPr>
            <a:r>
              <a:rPr lang="en-US" sz="1800" kern="100" dirty="0">
                <a:solidFill>
                  <a:schemeClr val="bg1"/>
                </a:solidFill>
                <a:latin typeface="Figtree"/>
                <a:ea typeface="Aptos" panose="020B0004020202020204" pitchFamily="34" charset="0"/>
                <a:cs typeface="Times New Roman"/>
              </a:rPr>
              <a:t>10 workshops</a:t>
            </a:r>
          </a:p>
          <a:p>
            <a:pPr marL="342900" indent="-342900">
              <a:lnSpc>
                <a:spcPct val="115000"/>
              </a:lnSpc>
              <a:buFont typeface="Arial" panose="05050102010706020507" pitchFamily="18" charset="2"/>
              <a:buChar char="•"/>
            </a:pPr>
            <a:r>
              <a:rPr lang="en-US" sz="2200" kern="100" dirty="0">
                <a:latin typeface="Figtree"/>
                <a:ea typeface="Aptos" panose="020B0004020202020204" pitchFamily="34" charset="0"/>
                <a:cs typeface="Times New Roman"/>
              </a:rPr>
              <a:t>5950 attendees -3% over 2025</a:t>
            </a:r>
          </a:p>
          <a:p>
            <a:pPr marL="800100" lvl="1" indent="-342900">
              <a:lnSpc>
                <a:spcPct val="115000"/>
              </a:lnSpc>
              <a:buFont typeface="Courier New" panose="02070309020205020404" pitchFamily="49" charset="0"/>
              <a:buChar char="o"/>
            </a:pPr>
            <a:r>
              <a:rPr lang="en-US" sz="1800" kern="100" dirty="0">
                <a:solidFill>
                  <a:schemeClr val="bg1"/>
                </a:solidFill>
                <a:latin typeface="Figtree"/>
                <a:ea typeface="Aptos" panose="020B0004020202020204" pitchFamily="34" charset="0"/>
                <a:cs typeface="Times New Roman"/>
              </a:rPr>
              <a:t>2146 students (most ever!)</a:t>
            </a:r>
          </a:p>
          <a:p>
            <a:pPr marL="342900" indent="-342900">
              <a:lnSpc>
                <a:spcPct val="115000"/>
              </a:lnSpc>
              <a:buFont typeface="Arial" panose="05050102010706020507" pitchFamily="18" charset="2"/>
              <a:buChar char="•"/>
            </a:pPr>
            <a:r>
              <a:rPr lang="en-US" sz="2200" kern="100" dirty="0">
                <a:latin typeface="Figtree"/>
                <a:ea typeface="Aptos" panose="020B0004020202020204" pitchFamily="34" charset="0"/>
                <a:cs typeface="Times New Roman"/>
              </a:rPr>
              <a:t>Exhibits and Sponsorships: </a:t>
            </a:r>
            <a:br>
              <a:rPr lang="en-US" sz="2200" kern="100" dirty="0">
                <a:latin typeface="Figtree"/>
                <a:ea typeface="Aptos" panose="020B0004020202020204" pitchFamily="34" charset="0"/>
                <a:cs typeface="Times New Roman"/>
              </a:rPr>
            </a:br>
            <a:r>
              <a:rPr lang="en-US" sz="2200" kern="100" dirty="0">
                <a:latin typeface="Figtree"/>
                <a:ea typeface="Aptos" panose="020B0004020202020204" pitchFamily="34" charset="0"/>
                <a:cs typeface="Times New Roman"/>
              </a:rPr>
              <a:t>+30% over 2025</a:t>
            </a:r>
          </a:p>
          <a:p>
            <a:pPr>
              <a:lnSpc>
                <a:spcPct val="115000"/>
              </a:lnSpc>
            </a:pPr>
            <a:endParaRPr lang="en-US" sz="2200" kern="100" dirty="0">
              <a:latin typeface="Figtree"/>
              <a:ea typeface="Aptos" panose="020B0004020202020204" pitchFamily="34" charset="0"/>
              <a:cs typeface="Times New Roman"/>
            </a:endParaRPr>
          </a:p>
          <a:p>
            <a:pPr marL="342900" indent="-342900">
              <a:lnSpc>
                <a:spcPct val="115000"/>
              </a:lnSpc>
              <a:buFont typeface="Arial" panose="05050102010706020507" pitchFamily="18" charset="2"/>
              <a:buChar char="•"/>
            </a:pPr>
            <a:endParaRPr lang="en-US" kern="100" dirty="0">
              <a:latin typeface="Figtree"/>
              <a:ea typeface="Aptos" panose="020B0004020202020204" pitchFamily="34" charset="0"/>
              <a:cs typeface="Times New Roman"/>
            </a:endParaRPr>
          </a:p>
          <a:p>
            <a:pPr marL="285750" indent="-285750">
              <a:buFont typeface="Arial"/>
              <a:buChar char="•"/>
            </a:pPr>
            <a:endParaRPr lang="en-US" dirty="0"/>
          </a:p>
        </p:txBody>
      </p:sp>
      <p:sp>
        <p:nvSpPr>
          <p:cNvPr id="4" name="Slide Number Placeholder 3">
            <a:extLst>
              <a:ext uri="{FF2B5EF4-FFF2-40B4-BE49-F238E27FC236}">
                <a16:creationId xmlns:a16="http://schemas.microsoft.com/office/drawing/2014/main" id="{4D711FB0-FE9D-4C74-62F8-60A712AD7D86}"/>
              </a:ext>
            </a:extLst>
          </p:cNvPr>
          <p:cNvSpPr>
            <a:spLocks noGrp="1"/>
          </p:cNvSpPr>
          <p:nvPr>
            <p:ph type="sldNum" sz="quarter" idx="12"/>
          </p:nvPr>
        </p:nvSpPr>
        <p:spPr/>
        <p:txBody>
          <a:bodyPr/>
          <a:lstStyle/>
          <a:p>
            <a:fld id="{8FBCB428-D880-FC4A-9B26-64132A65A030}" type="slidenum">
              <a:rPr lang="en-US" smtClean="0">
                <a:solidFill>
                  <a:schemeClr val="bg1"/>
                </a:solidFill>
              </a:rPr>
              <a:pPr/>
              <a:t>61</a:t>
            </a:fld>
            <a:endParaRPr lang="en-US" dirty="0">
              <a:solidFill>
                <a:schemeClr val="bg1"/>
              </a:solidFill>
            </a:endParaRPr>
          </a:p>
        </p:txBody>
      </p:sp>
      <p:cxnSp>
        <p:nvCxnSpPr>
          <p:cNvPr id="5" name="Straight Connector 4">
            <a:extLst>
              <a:ext uri="{FF2B5EF4-FFF2-40B4-BE49-F238E27FC236}">
                <a16:creationId xmlns:a16="http://schemas.microsoft.com/office/drawing/2014/main" id="{DEF226AD-ABEF-7738-32FD-B21CB67D3AA2}"/>
              </a:ext>
            </a:extLst>
          </p:cNvPr>
          <p:cNvCxnSpPr>
            <a:cxnSpLocks/>
          </p:cNvCxnSpPr>
          <p:nvPr/>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61878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AF091-2367-9477-DC14-917B0CFA65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4CC75-7236-2FC5-5DFE-7C8E9298FB3F}"/>
              </a:ext>
            </a:extLst>
          </p:cNvPr>
          <p:cNvSpPr>
            <a:spLocks noGrp="1"/>
          </p:cNvSpPr>
          <p:nvPr>
            <p:ph type="title"/>
          </p:nvPr>
        </p:nvSpPr>
        <p:spPr>
          <a:xfrm>
            <a:off x="347472" y="365760"/>
            <a:ext cx="8489410" cy="775699"/>
          </a:xfrm>
        </p:spPr>
        <p:txBody>
          <a:bodyPr anchor="t">
            <a:normAutofit/>
          </a:bodyPr>
          <a:lstStyle/>
          <a:p>
            <a:r>
              <a:rPr lang="en-US" sz="3600" dirty="0">
                <a:latin typeface="Figtree SemiBold"/>
              </a:rPr>
              <a:t>DEFENSE Forum </a:t>
            </a:r>
            <a:r>
              <a:rPr lang="en-US" sz="1800" dirty="0">
                <a:latin typeface="Figtree SemiBold"/>
              </a:rPr>
              <a:t>17–19 March, Laurel, Maryland</a:t>
            </a:r>
          </a:p>
        </p:txBody>
      </p:sp>
      <p:sp>
        <p:nvSpPr>
          <p:cNvPr id="3" name="Content Placeholder 2">
            <a:extLst>
              <a:ext uri="{FF2B5EF4-FFF2-40B4-BE49-F238E27FC236}">
                <a16:creationId xmlns:a16="http://schemas.microsoft.com/office/drawing/2014/main" id="{6F8E7575-A806-8DEE-2785-532F4A4F056E}"/>
              </a:ext>
            </a:extLst>
          </p:cNvPr>
          <p:cNvSpPr>
            <a:spLocks noGrp="1"/>
          </p:cNvSpPr>
          <p:nvPr>
            <p:ph type="body" sz="half" idx="2"/>
          </p:nvPr>
        </p:nvSpPr>
        <p:spPr>
          <a:xfrm>
            <a:off x="347472" y="1308295"/>
            <a:ext cx="6276901" cy="3332131"/>
          </a:xfrm>
        </p:spPr>
        <p:txBody>
          <a:bodyPr lIns="0" tIns="0" rIns="0" bIns="0" anchor="t"/>
          <a:lstStyle/>
          <a:p>
            <a:pPr marL="285750" indent="-285750">
              <a:lnSpc>
                <a:spcPct val="115000"/>
              </a:lnSpc>
              <a:buFont typeface="Arial" panose="020B0604020202020204" pitchFamily="34" charset="0"/>
              <a:buChar char="•"/>
            </a:pPr>
            <a:r>
              <a:rPr lang="en-US" sz="2200" kern="100" dirty="0">
                <a:latin typeface="Figtree"/>
                <a:ea typeface="Aptos" panose="020B0004020202020204" pitchFamily="34" charset="0"/>
                <a:cs typeface="Times New Roman"/>
              </a:rPr>
              <a:t>Theme: “Driving Accelerated Innovation to the Warfighter”</a:t>
            </a:r>
            <a:endParaRPr lang="en-US" sz="2200" dirty="0">
              <a:latin typeface="Figtree"/>
              <a:cs typeface="Times New Roman"/>
            </a:endParaRPr>
          </a:p>
          <a:p>
            <a:pPr marL="285750" marR="0" lvl="0" indent="-285750">
              <a:lnSpc>
                <a:spcPct val="115000"/>
              </a:lnSpc>
              <a:buChar char="•"/>
            </a:pPr>
            <a:r>
              <a:rPr lang="en-US" sz="2200" kern="100" dirty="0">
                <a:latin typeface="Figtree"/>
                <a:ea typeface="Aptos" panose="020B0004020202020204" pitchFamily="34" charset="0"/>
                <a:cs typeface="Times New Roman"/>
              </a:rPr>
              <a:t>97 technical presentation (-40% from 2025)</a:t>
            </a:r>
          </a:p>
          <a:p>
            <a:pPr marL="285750" marR="0" lvl="0" indent="-285750">
              <a:lnSpc>
                <a:spcPct val="115000"/>
              </a:lnSpc>
              <a:buChar char="•"/>
            </a:pPr>
            <a:r>
              <a:rPr lang="en-US" sz="2200" kern="100" dirty="0">
                <a:latin typeface="Figtree"/>
                <a:ea typeface="Aptos" panose="020B0004020202020204" pitchFamily="34" charset="0"/>
                <a:cs typeface="Times New Roman"/>
              </a:rPr>
              <a:t>449 attendees (-5% from 2025)</a:t>
            </a:r>
          </a:p>
          <a:p>
            <a:pPr marL="285750" marR="0" lvl="0" indent="-285750">
              <a:lnSpc>
                <a:spcPct val="115000"/>
              </a:lnSpc>
              <a:buChar char="•"/>
            </a:pPr>
            <a:r>
              <a:rPr lang="en-US" sz="2200" kern="100" dirty="0">
                <a:latin typeface="Figtree"/>
                <a:ea typeface="Aptos" panose="020B0004020202020204" pitchFamily="34" charset="0"/>
                <a:cs typeface="Times New Roman"/>
              </a:rPr>
              <a:t>Sponsorships +11% over 2025</a:t>
            </a:r>
            <a:endParaRPr lang="en-US" sz="2200" kern="100" dirty="0">
              <a:solidFill>
                <a:schemeClr val="tx1"/>
              </a:solidFill>
              <a:latin typeface="Figtree"/>
              <a:ea typeface="Aptos" panose="020B0004020202020204" pitchFamily="34" charset="0"/>
              <a:cs typeface="Times New Roman"/>
            </a:endParaRPr>
          </a:p>
          <a:p>
            <a:pPr marL="285750" marR="0" lvl="0" indent="-285750">
              <a:lnSpc>
                <a:spcPct val="115000"/>
              </a:lnSpc>
              <a:buChar char="•"/>
            </a:pPr>
            <a:r>
              <a:rPr lang="en-US" sz="2200" kern="100" dirty="0">
                <a:latin typeface="Figtree"/>
                <a:ea typeface="Aptos" panose="020B0004020202020204" pitchFamily="34" charset="0"/>
                <a:cs typeface="Times New Roman"/>
              </a:rPr>
              <a:t>Notable speakers:</a:t>
            </a:r>
          </a:p>
          <a:p>
            <a:pPr marL="511175" lvl="0" indent="-285750">
              <a:buFont typeface="Courier New" panose="02070309020205020404" pitchFamily="49" charset="0"/>
              <a:buChar char="o"/>
            </a:pPr>
            <a:r>
              <a:rPr lang="en-US" dirty="0"/>
              <a:t>The Hon. Joseph Jewell, Assistant Secretary of </a:t>
            </a:r>
            <a:br>
              <a:rPr lang="en-US" dirty="0"/>
            </a:br>
            <a:r>
              <a:rPr lang="en-US" dirty="0"/>
              <a:t>War for Science and Technology</a:t>
            </a:r>
          </a:p>
          <a:p>
            <a:pPr marL="511175" lvl="0" indent="-285750">
              <a:buFont typeface="Courier New" panose="02070309020205020404" pitchFamily="49" charset="0"/>
              <a:buChar char="o"/>
            </a:pPr>
            <a:r>
              <a:rPr lang="en-US" dirty="0"/>
              <a:t>Eliahu Niewood, Director, Air Force Integrated </a:t>
            </a:r>
            <a:br>
              <a:rPr lang="en-US" dirty="0"/>
            </a:br>
            <a:r>
              <a:rPr lang="en-US" dirty="0"/>
              <a:t>Capabilities Office</a:t>
            </a:r>
          </a:p>
          <a:p>
            <a:pPr marL="511175" indent="-285750">
              <a:buFont typeface="Courier New" panose="02070309020205020404" pitchFamily="49" charset="0"/>
              <a:buChar char="o"/>
            </a:pPr>
            <a:r>
              <a:rPr lang="en-US" dirty="0"/>
              <a:t>Gupartap “GP” Sandhoo, Acting Director, </a:t>
            </a:r>
            <a:br>
              <a:rPr lang="en-US" dirty="0"/>
            </a:br>
            <a:r>
              <a:rPr lang="en-US" dirty="0"/>
              <a:t>Space Development Agency </a:t>
            </a:r>
            <a:br>
              <a:rPr lang="en-US" dirty="0"/>
            </a:br>
            <a:endParaRPr lang="en-US" kern="100" dirty="0">
              <a:solidFill>
                <a:schemeClr val="bg1"/>
              </a:solidFill>
              <a:latin typeface="Figtree" pitchFamily="2" charset="0"/>
              <a:ea typeface="Aptos" panose="020B0004020202020204" pitchFamily="34" charset="0"/>
              <a:cs typeface="Times New Roman"/>
            </a:endParaRPr>
          </a:p>
          <a:p>
            <a:pPr marL="285750" indent="-285750">
              <a:buChar char="•"/>
            </a:pPr>
            <a:endParaRPr lang="en-US" dirty="0"/>
          </a:p>
        </p:txBody>
      </p:sp>
      <p:sp>
        <p:nvSpPr>
          <p:cNvPr id="4" name="Slide Number Placeholder 3">
            <a:extLst>
              <a:ext uri="{FF2B5EF4-FFF2-40B4-BE49-F238E27FC236}">
                <a16:creationId xmlns:a16="http://schemas.microsoft.com/office/drawing/2014/main" id="{1D6F4347-5293-176B-128D-2A2C052FEB6F}"/>
              </a:ext>
            </a:extLst>
          </p:cNvPr>
          <p:cNvSpPr>
            <a:spLocks noGrp="1"/>
          </p:cNvSpPr>
          <p:nvPr>
            <p:ph type="sldNum" sz="quarter" idx="12"/>
          </p:nvPr>
        </p:nvSpPr>
        <p:spPr/>
        <p:txBody>
          <a:bodyPr/>
          <a:lstStyle/>
          <a:p>
            <a:fld id="{8FBCB428-D880-FC4A-9B26-64132A65A030}" type="slidenum">
              <a:rPr lang="en-US" smtClean="0">
                <a:solidFill>
                  <a:schemeClr val="bg1"/>
                </a:solidFill>
              </a:rPr>
              <a:pPr/>
              <a:t>62</a:t>
            </a:fld>
            <a:endParaRPr lang="en-US" dirty="0">
              <a:solidFill>
                <a:schemeClr val="bg1"/>
              </a:solidFill>
            </a:endParaRPr>
          </a:p>
        </p:txBody>
      </p:sp>
      <p:cxnSp>
        <p:nvCxnSpPr>
          <p:cNvPr id="5" name="Straight Connector 4">
            <a:extLst>
              <a:ext uri="{FF2B5EF4-FFF2-40B4-BE49-F238E27FC236}">
                <a16:creationId xmlns:a16="http://schemas.microsoft.com/office/drawing/2014/main" id="{682E8FAD-F510-BF14-C238-16728ACC3BD0}"/>
              </a:ext>
            </a:extLst>
          </p:cNvPr>
          <p:cNvCxnSpPr>
            <a:cxnSpLocks/>
          </p:cNvCxnSpPr>
          <p:nvPr/>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4" name="Picture Placeholder 13">
            <a:extLst>
              <a:ext uri="{FF2B5EF4-FFF2-40B4-BE49-F238E27FC236}">
                <a16:creationId xmlns:a16="http://schemas.microsoft.com/office/drawing/2014/main" id="{031C10E4-D712-6E6D-AAE6-1577723BAA9C}"/>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16662603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6F5E7-102D-5299-8F2D-91AB703DDCAD}"/>
            </a:ext>
          </a:extLst>
        </p:cNvPr>
        <p:cNvGrpSpPr/>
        <p:nvPr/>
      </p:nvGrpSpPr>
      <p:grpSpPr>
        <a:xfrm>
          <a:off x="0" y="0"/>
          <a:ext cx="0" cy="0"/>
          <a:chOff x="0" y="0"/>
          <a:chExt cx="0" cy="0"/>
        </a:xfrm>
      </p:grpSpPr>
      <p:pic>
        <p:nvPicPr>
          <p:cNvPr id="11" name="Picture Placeholder 10" descr="A person taking a picture of a concert&#10;&#10;AI-generated content may be incorrect.">
            <a:extLst>
              <a:ext uri="{FF2B5EF4-FFF2-40B4-BE49-F238E27FC236}">
                <a16:creationId xmlns:a16="http://schemas.microsoft.com/office/drawing/2014/main" id="{DEC96BF0-8BC2-FE55-A785-18ADF6BC6D7E}"/>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a:stretch>
            <a:fillRect/>
          </a:stretch>
        </p:blipFill>
        <p:spPr/>
      </p:pic>
      <p:sp>
        <p:nvSpPr>
          <p:cNvPr id="2" name="Title 1">
            <a:extLst>
              <a:ext uri="{FF2B5EF4-FFF2-40B4-BE49-F238E27FC236}">
                <a16:creationId xmlns:a16="http://schemas.microsoft.com/office/drawing/2014/main" id="{270E1E5E-F36E-11F7-83E1-9FB3ADB1C309}"/>
              </a:ext>
            </a:extLst>
          </p:cNvPr>
          <p:cNvSpPr>
            <a:spLocks noGrp="1"/>
          </p:cNvSpPr>
          <p:nvPr>
            <p:ph type="title"/>
          </p:nvPr>
        </p:nvSpPr>
        <p:spPr>
          <a:xfrm>
            <a:off x="347472" y="365760"/>
            <a:ext cx="6533755" cy="643179"/>
          </a:xfrm>
        </p:spPr>
        <p:txBody>
          <a:bodyPr anchor="t">
            <a:normAutofit/>
          </a:bodyPr>
          <a:lstStyle/>
          <a:p>
            <a:r>
              <a:rPr lang="en-US" sz="3600" dirty="0">
                <a:latin typeface="Figtree SemiBold"/>
              </a:rPr>
              <a:t>ASCEND</a:t>
            </a:r>
            <a:r>
              <a:rPr lang="en-US" dirty="0">
                <a:latin typeface="Figtree SemiBold"/>
              </a:rPr>
              <a:t> </a:t>
            </a:r>
            <a:r>
              <a:rPr lang="en-US" sz="2000" dirty="0">
                <a:latin typeface="Figtree SemiBold"/>
              </a:rPr>
              <a:t>19–21 May, Washington, D.C.</a:t>
            </a:r>
          </a:p>
        </p:txBody>
      </p:sp>
      <p:sp>
        <p:nvSpPr>
          <p:cNvPr id="3" name="Content Placeholder 2">
            <a:extLst>
              <a:ext uri="{FF2B5EF4-FFF2-40B4-BE49-F238E27FC236}">
                <a16:creationId xmlns:a16="http://schemas.microsoft.com/office/drawing/2014/main" id="{074E64A0-F235-A340-7900-EC6A99A7054B}"/>
              </a:ext>
            </a:extLst>
          </p:cNvPr>
          <p:cNvSpPr>
            <a:spLocks noGrp="1"/>
          </p:cNvSpPr>
          <p:nvPr>
            <p:ph type="body" sz="half" idx="2"/>
          </p:nvPr>
        </p:nvSpPr>
        <p:spPr>
          <a:xfrm>
            <a:off x="347472" y="1008939"/>
            <a:ext cx="6636034" cy="4843221"/>
          </a:xfrm>
        </p:spPr>
        <p:txBody>
          <a:bodyPr lIns="0" tIns="0" rIns="0" bIns="0" anchor="t"/>
          <a:lstStyle/>
          <a:p>
            <a:pPr marL="285750" marR="0" lvl="0" indent="-285750">
              <a:lnSpc>
                <a:spcPct val="115000"/>
              </a:lnSpc>
              <a:buChar char="•"/>
            </a:pPr>
            <a:r>
              <a:rPr lang="en-US" sz="2100" kern="100" dirty="0">
                <a:ea typeface="Aptos" panose="020B0004020202020204" pitchFamily="34" charset="0"/>
                <a:cs typeface="Times New Roman" panose="02020603050405020304" pitchFamily="18" charset="0"/>
              </a:rPr>
              <a:t>Theme: “Building Our Sustainable Off World Future”</a:t>
            </a:r>
          </a:p>
          <a:p>
            <a:pPr marL="285750" marR="0" lvl="0" indent="-285750">
              <a:lnSpc>
                <a:spcPct val="115000"/>
              </a:lnSpc>
              <a:buChar char="•"/>
            </a:pPr>
            <a:r>
              <a:rPr lang="en-US" sz="2100" kern="100" dirty="0">
                <a:ea typeface="Aptos" panose="020B0004020202020204" pitchFamily="34" charset="0"/>
                <a:cs typeface="Times New Roman" panose="02020603050405020304" pitchFamily="18" charset="0"/>
              </a:rPr>
              <a:t>Call for Content:</a:t>
            </a:r>
          </a:p>
          <a:p>
            <a:pPr marL="742950" lvl="1" indent="-285750">
              <a:lnSpc>
                <a:spcPct val="115000"/>
              </a:lnSpc>
              <a:buFont typeface="Courier New" panose="02070309020205020404" pitchFamily="49" charset="0"/>
              <a:buChar char="o"/>
            </a:pPr>
            <a:r>
              <a:rPr lang="en-US" sz="1800" kern="100" dirty="0">
                <a:solidFill>
                  <a:schemeClr val="bg1"/>
                </a:solidFill>
                <a:latin typeface="Figtree" pitchFamily="2" charset="0"/>
                <a:ea typeface="Aptos" panose="020B0004020202020204" pitchFamily="34" charset="0"/>
                <a:cs typeface="Times New Roman" panose="02020603050405020304" pitchFamily="18" charset="0"/>
              </a:rPr>
              <a:t>234 abstracts, -10% from 2025</a:t>
            </a:r>
          </a:p>
          <a:p>
            <a:pPr marL="742950" lvl="1" indent="-285750">
              <a:lnSpc>
                <a:spcPct val="115000"/>
              </a:lnSpc>
              <a:buFont typeface="Courier New" panose="02070309020205020404" pitchFamily="49" charset="0"/>
              <a:buChar char="o"/>
            </a:pPr>
            <a:r>
              <a:rPr lang="en-US" sz="1800" kern="100" dirty="0">
                <a:solidFill>
                  <a:schemeClr val="bg1"/>
                </a:solidFill>
                <a:latin typeface="Figtree" pitchFamily="2" charset="0"/>
                <a:ea typeface="Aptos" panose="020B0004020202020204" pitchFamily="34" charset="0"/>
                <a:cs typeface="Times New Roman" panose="02020603050405020304" pitchFamily="18" charset="0"/>
              </a:rPr>
              <a:t>128 sessions, +11% from 2025</a:t>
            </a:r>
          </a:p>
          <a:p>
            <a:pPr marL="742950" lvl="1" indent="-285750">
              <a:lnSpc>
                <a:spcPct val="115000"/>
              </a:lnSpc>
              <a:buFont typeface="Courier New" panose="02070309020205020404" pitchFamily="49" charset="0"/>
              <a:buChar char="o"/>
            </a:pPr>
            <a:r>
              <a:rPr lang="en-US" sz="1800" kern="100" dirty="0">
                <a:solidFill>
                  <a:schemeClr val="bg1"/>
                </a:solidFill>
                <a:latin typeface="Figtree" pitchFamily="2" charset="0"/>
                <a:ea typeface="Aptos" panose="020B0004020202020204" pitchFamily="34" charset="0"/>
                <a:cs typeface="Times New Roman" panose="02020603050405020304" pitchFamily="18" charset="0"/>
              </a:rPr>
              <a:t>136 technical presentations planned +3.6% from 2025</a:t>
            </a:r>
          </a:p>
          <a:p>
            <a:pPr marL="285750" indent="-285750">
              <a:lnSpc>
                <a:spcPct val="115000"/>
              </a:lnSpc>
              <a:buFont typeface="Arial" panose="020B0604020202020204" pitchFamily="34" charset="0"/>
              <a:buChar char="•"/>
            </a:pPr>
            <a:r>
              <a:rPr lang="en-US" sz="2100" dirty="0"/>
              <a:t>144 sessions with approx. 200 speakers</a:t>
            </a:r>
          </a:p>
          <a:p>
            <a:pPr marL="285750" indent="-285750">
              <a:lnSpc>
                <a:spcPct val="115000"/>
              </a:lnSpc>
              <a:buFont typeface="Arial" panose="020B0604020202020204" pitchFamily="34" charset="0"/>
              <a:buChar char="•"/>
            </a:pPr>
            <a:r>
              <a:rPr lang="en-US" sz="2100" dirty="0"/>
              <a:t>8 event partners: CSF, Aerospace Corp., </a:t>
            </a:r>
            <a:br>
              <a:rPr lang="en-US" sz="2100" dirty="0"/>
            </a:br>
            <a:r>
              <a:rPr lang="en-US" sz="2100" dirty="0"/>
              <a:t>BryceTech, ISS National Lab, NASM, </a:t>
            </a:r>
            <a:br>
              <a:rPr lang="en-US" sz="2100" dirty="0"/>
            </a:br>
            <a:r>
              <a:rPr lang="en-US" sz="2100" dirty="0"/>
              <a:t>Novaspace, SFA, SGAC</a:t>
            </a:r>
          </a:p>
          <a:p>
            <a:pPr marL="285750" indent="-285750">
              <a:lnSpc>
                <a:spcPct val="115000"/>
              </a:lnSpc>
              <a:buChar char="•"/>
            </a:pPr>
            <a:r>
              <a:rPr lang="en-US" sz="2100" kern="100" dirty="0">
                <a:ea typeface="Aptos" panose="020B0004020202020204" pitchFamily="34" charset="0"/>
                <a:cs typeface="Times New Roman"/>
              </a:rPr>
              <a:t>Special features: Classified Day, Global</a:t>
            </a:r>
            <a:br>
              <a:rPr lang="en-US" sz="2100" kern="100" dirty="0">
                <a:ea typeface="Aptos" panose="020B0004020202020204" pitchFamily="34" charset="0"/>
                <a:cs typeface="Times New Roman"/>
              </a:rPr>
            </a:br>
            <a:r>
              <a:rPr lang="en-US" sz="2100" kern="100" dirty="0">
                <a:ea typeface="Aptos" panose="020B0004020202020204" pitchFamily="34" charset="0"/>
                <a:cs typeface="Times New Roman"/>
              </a:rPr>
              <a:t>Leaders Space Exploration Forum</a:t>
            </a:r>
            <a:endParaRPr lang="en-US" sz="2100" kern="100" dirty="0">
              <a:ea typeface="Aptos" panose="020B0004020202020204" pitchFamily="34" charset="0"/>
              <a:cs typeface="Times New Roman" panose="02020603050405020304" pitchFamily="18" charset="0"/>
            </a:endParaRPr>
          </a:p>
          <a:p>
            <a:pPr marL="457200" indent="-342900">
              <a:lnSpc>
                <a:spcPct val="115000"/>
              </a:lnSpc>
              <a:buFont typeface="Arial" panose="020B0604020202020204" pitchFamily="34" charset="0"/>
              <a:buChar char="•"/>
            </a:pPr>
            <a:endParaRPr lang="en-US" sz="2200" kern="100" dirty="0">
              <a:solidFill>
                <a:schemeClr val="bg1"/>
              </a:solidFill>
              <a:latin typeface="Figtree"/>
              <a:ea typeface="Aptos" panose="020B0004020202020204" pitchFamily="34" charset="0"/>
              <a:cs typeface="Times New Roman"/>
            </a:endParaRPr>
          </a:p>
          <a:p>
            <a:pPr marR="0" lvl="0">
              <a:lnSpc>
                <a:spcPct val="115000"/>
              </a:lnSpc>
            </a:pPr>
            <a:endParaRPr lang="en-US" kern="100" dirty="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D296D83D-8830-8BCB-08C2-0F94AD2AA255}"/>
              </a:ext>
            </a:extLst>
          </p:cNvPr>
          <p:cNvSpPr>
            <a:spLocks noGrp="1"/>
          </p:cNvSpPr>
          <p:nvPr>
            <p:ph type="sldNum" sz="quarter" idx="12"/>
          </p:nvPr>
        </p:nvSpPr>
        <p:spPr/>
        <p:txBody>
          <a:bodyPr/>
          <a:lstStyle/>
          <a:p>
            <a:fld id="{8FBCB428-D880-FC4A-9B26-64132A65A030}" type="slidenum">
              <a:rPr lang="en-US" smtClean="0">
                <a:solidFill>
                  <a:schemeClr val="bg1"/>
                </a:solidFill>
              </a:rPr>
              <a:pPr/>
              <a:t>63</a:t>
            </a:fld>
            <a:endParaRPr lang="en-US" dirty="0">
              <a:solidFill>
                <a:schemeClr val="bg1"/>
              </a:solidFill>
            </a:endParaRPr>
          </a:p>
        </p:txBody>
      </p:sp>
      <p:cxnSp>
        <p:nvCxnSpPr>
          <p:cNvPr id="5" name="Straight Connector 4">
            <a:extLst>
              <a:ext uri="{FF2B5EF4-FFF2-40B4-BE49-F238E27FC236}">
                <a16:creationId xmlns:a16="http://schemas.microsoft.com/office/drawing/2014/main" id="{6D508F69-1877-15CB-675C-935D34B1C77E}"/>
              </a:ext>
            </a:extLst>
          </p:cNvPr>
          <p:cNvCxnSpPr>
            <a:cxnSpLocks/>
          </p:cNvCxnSpPr>
          <p:nvPr/>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Explosion: 8 Points 5">
            <a:extLst>
              <a:ext uri="{FF2B5EF4-FFF2-40B4-BE49-F238E27FC236}">
                <a16:creationId xmlns:a16="http://schemas.microsoft.com/office/drawing/2014/main" id="{DD34E76C-21CD-CB8B-A661-6CB5CB26C202}"/>
              </a:ext>
            </a:extLst>
          </p:cNvPr>
          <p:cNvSpPr/>
          <p:nvPr/>
        </p:nvSpPr>
        <p:spPr>
          <a:xfrm rot="932465">
            <a:off x="6350620" y="1394541"/>
            <a:ext cx="5178113" cy="4237077"/>
          </a:xfrm>
          <a:prstGeom prst="irregularSeal1">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RECORD ATTENDANCE!</a:t>
            </a:r>
          </a:p>
          <a:p>
            <a:pPr algn="ctr"/>
            <a:r>
              <a:rPr lang="en-US" dirty="0"/>
              <a:t>&gt;1700</a:t>
            </a:r>
          </a:p>
        </p:txBody>
      </p:sp>
    </p:spTree>
    <p:extLst>
      <p:ext uri="{BB962C8B-B14F-4D97-AF65-F5344CB8AC3E}">
        <p14:creationId xmlns:p14="http://schemas.microsoft.com/office/powerpoint/2010/main" val="12611636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5A609-A094-08E1-78CE-6C67E36C6088}"/>
            </a:ext>
          </a:extLst>
        </p:cNvPr>
        <p:cNvGrpSpPr/>
        <p:nvPr/>
      </p:nvGrpSpPr>
      <p:grpSpPr>
        <a:xfrm>
          <a:off x="0" y="0"/>
          <a:ext cx="0" cy="0"/>
          <a:chOff x="0" y="0"/>
          <a:chExt cx="0" cy="0"/>
        </a:xfrm>
      </p:grpSpPr>
      <p:pic>
        <p:nvPicPr>
          <p:cNvPr id="8" name="Picture Placeholder 7" descr="A room with large screens and a group of people&#10;&#10;AI-generated content may be incorrect.">
            <a:extLst>
              <a:ext uri="{FF2B5EF4-FFF2-40B4-BE49-F238E27FC236}">
                <a16:creationId xmlns:a16="http://schemas.microsoft.com/office/drawing/2014/main" id="{DAE0B254-99B9-46DB-E9EC-80FD40B53833}"/>
              </a:ext>
            </a:extLst>
          </p:cNvPr>
          <p:cNvPicPr>
            <a:picLocks noGrp="1" noChangeAspect="1"/>
          </p:cNvPicPr>
          <p:nvPr>
            <p:ph type="pic" idx="1"/>
          </p:nvPr>
        </p:nvPicPr>
        <p:blipFill>
          <a:blip r:embed="rId2" cstate="email">
            <a:extLst>
              <a:ext uri="{28A0092B-C50C-407E-A947-70E740481C1C}">
                <a14:useLocalDpi xmlns:a14="http://schemas.microsoft.com/office/drawing/2010/main"/>
              </a:ext>
            </a:extLst>
          </a:blip>
          <a:srcRect/>
          <a:stretch>
            <a:fillRect/>
          </a:stretch>
        </p:blipFill>
        <p:spPr/>
      </p:pic>
      <p:sp>
        <p:nvSpPr>
          <p:cNvPr id="2" name="Title 1">
            <a:extLst>
              <a:ext uri="{FF2B5EF4-FFF2-40B4-BE49-F238E27FC236}">
                <a16:creationId xmlns:a16="http://schemas.microsoft.com/office/drawing/2014/main" id="{B181CCA2-6423-020E-960E-930EFB9C5E43}"/>
              </a:ext>
            </a:extLst>
          </p:cNvPr>
          <p:cNvSpPr>
            <a:spLocks noGrp="1"/>
          </p:cNvSpPr>
          <p:nvPr>
            <p:ph type="title"/>
          </p:nvPr>
        </p:nvSpPr>
        <p:spPr>
          <a:xfrm>
            <a:off x="347472" y="365760"/>
            <a:ext cx="7951589" cy="744876"/>
          </a:xfrm>
        </p:spPr>
        <p:txBody>
          <a:bodyPr anchor="t">
            <a:noAutofit/>
          </a:bodyPr>
          <a:lstStyle/>
          <a:p>
            <a:r>
              <a:rPr lang="en-US" sz="3600" dirty="0">
                <a:latin typeface="Figtree SemiBold"/>
              </a:rPr>
              <a:t>AVIATION Forum</a:t>
            </a:r>
            <a:r>
              <a:rPr lang="en-US" dirty="0">
                <a:latin typeface="Figtree SemiBold"/>
              </a:rPr>
              <a:t> </a:t>
            </a:r>
            <a:r>
              <a:rPr lang="en-US" sz="1800" dirty="0">
                <a:latin typeface="Figtree SemiBold"/>
              </a:rPr>
              <a:t>8–12 June, San Diego, California</a:t>
            </a:r>
          </a:p>
        </p:txBody>
      </p:sp>
      <p:sp>
        <p:nvSpPr>
          <p:cNvPr id="3" name="Content Placeholder 2">
            <a:extLst>
              <a:ext uri="{FF2B5EF4-FFF2-40B4-BE49-F238E27FC236}">
                <a16:creationId xmlns:a16="http://schemas.microsoft.com/office/drawing/2014/main" id="{6E43E362-1C7C-64BD-263D-EA4495C69E5C}"/>
              </a:ext>
            </a:extLst>
          </p:cNvPr>
          <p:cNvSpPr>
            <a:spLocks noGrp="1"/>
          </p:cNvSpPr>
          <p:nvPr>
            <p:ph type="body" sz="half" idx="2"/>
          </p:nvPr>
        </p:nvSpPr>
        <p:spPr>
          <a:xfrm>
            <a:off x="412376" y="1110636"/>
            <a:ext cx="6770939" cy="4404531"/>
          </a:xfrm>
        </p:spPr>
        <p:txBody>
          <a:bodyPr lIns="0" tIns="0" rIns="0" bIns="0" anchor="t"/>
          <a:lstStyle/>
          <a:p>
            <a:pPr marL="285750" marR="0" lvl="0" indent="-285750">
              <a:lnSpc>
                <a:spcPct val="115000"/>
              </a:lnSpc>
              <a:buChar char="•"/>
            </a:pPr>
            <a:r>
              <a:rPr lang="en-US" sz="2200" kern="100" dirty="0">
                <a:ea typeface="Aptos" panose="020B0004020202020204" pitchFamily="34" charset="0"/>
                <a:cs typeface="Times New Roman" panose="02020603050405020304" pitchFamily="18" charset="0"/>
              </a:rPr>
              <a:t>Theme: “From Velocity to Altitude…Accelerating Towards Tomorrow”</a:t>
            </a:r>
          </a:p>
          <a:p>
            <a:pPr marL="285750" marR="0" lvl="0" indent="-285750">
              <a:lnSpc>
                <a:spcPct val="115000"/>
              </a:lnSpc>
              <a:buChar char="•"/>
            </a:pPr>
            <a:r>
              <a:rPr lang="en-US" sz="2200" kern="100" dirty="0">
                <a:ea typeface="Aptos" panose="020B0004020202020204" pitchFamily="34" charset="0"/>
                <a:cs typeface="Times New Roman" panose="02020603050405020304" pitchFamily="18" charset="0"/>
              </a:rPr>
              <a:t>Call for Content: </a:t>
            </a:r>
          </a:p>
          <a:p>
            <a:pPr marL="742950" lvl="1" indent="-285750">
              <a:lnSpc>
                <a:spcPct val="115000"/>
              </a:lnSpc>
              <a:buFont typeface="Courier New" panose="02070309020205020404" pitchFamily="49" charset="0"/>
              <a:buChar char="o"/>
            </a:pPr>
            <a:r>
              <a:rPr lang="en-US" sz="1800" kern="100" dirty="0">
                <a:solidFill>
                  <a:schemeClr val="bg1"/>
                </a:solidFill>
                <a:latin typeface="Figtree" pitchFamily="2" charset="0"/>
                <a:ea typeface="Aptos" panose="020B0004020202020204" pitchFamily="34" charset="0"/>
                <a:cs typeface="Times New Roman" panose="02020603050405020304" pitchFamily="18" charset="0"/>
              </a:rPr>
              <a:t>1,219 abstracts, - 10.6% from 2025</a:t>
            </a:r>
          </a:p>
          <a:p>
            <a:pPr marL="742950" lvl="1" indent="-285750">
              <a:lnSpc>
                <a:spcPct val="115000"/>
              </a:lnSpc>
              <a:buFont typeface="Courier New" panose="02070309020205020404" pitchFamily="49" charset="0"/>
              <a:buChar char="o"/>
            </a:pPr>
            <a:r>
              <a:rPr lang="en-US" sz="1800" kern="100" dirty="0">
                <a:solidFill>
                  <a:schemeClr val="bg1"/>
                </a:solidFill>
                <a:latin typeface="Figtree" pitchFamily="2" charset="0"/>
                <a:ea typeface="Aptos" panose="020B0004020202020204" pitchFamily="34" charset="0"/>
                <a:cs typeface="Times New Roman" panose="02020603050405020304" pitchFamily="18" charset="0"/>
              </a:rPr>
              <a:t>85 sessions, consistent with 2025</a:t>
            </a:r>
          </a:p>
          <a:p>
            <a:pPr marL="742950" lvl="1" indent="-285750">
              <a:lnSpc>
                <a:spcPct val="115000"/>
              </a:lnSpc>
              <a:buFont typeface="Courier New" panose="02070309020205020404" pitchFamily="49" charset="0"/>
              <a:buChar char="o"/>
            </a:pPr>
            <a:r>
              <a:rPr lang="en-US" sz="1800" kern="100" dirty="0">
                <a:solidFill>
                  <a:schemeClr val="bg1"/>
                </a:solidFill>
                <a:latin typeface="Figtree" pitchFamily="2" charset="0"/>
                <a:ea typeface="Aptos" panose="020B0004020202020204" pitchFamily="34" charset="0"/>
                <a:cs typeface="Times New Roman" panose="02020603050405020304" pitchFamily="18" charset="0"/>
              </a:rPr>
              <a:t>906 technical presentations planned </a:t>
            </a:r>
          </a:p>
          <a:p>
            <a:pPr marL="285750" indent="-285750">
              <a:lnSpc>
                <a:spcPct val="115000"/>
              </a:lnSpc>
              <a:buFont typeface="Arial" panose="020B0604020202020204" pitchFamily="34" charset="0"/>
              <a:buChar char="•"/>
            </a:pPr>
            <a:r>
              <a:rPr lang="en-US" sz="2200" kern="100" dirty="0">
                <a:latin typeface="Figtree"/>
                <a:ea typeface="Aptos" panose="020B0004020202020204" pitchFamily="34" charset="0"/>
                <a:cs typeface="Times New Roman"/>
              </a:rPr>
              <a:t>Features Electric Propulsion and Advanced </a:t>
            </a:r>
            <a:br>
              <a:rPr lang="en-US" sz="2200" kern="100" dirty="0">
                <a:latin typeface="Figtree"/>
                <a:ea typeface="Aptos" panose="020B0004020202020204" pitchFamily="34" charset="0"/>
                <a:cs typeface="Times New Roman"/>
              </a:rPr>
            </a:br>
            <a:r>
              <a:rPr lang="en-US" sz="2200" kern="100" dirty="0">
                <a:latin typeface="Figtree"/>
                <a:ea typeface="Aptos" panose="020B0004020202020204" pitchFamily="34" charset="0"/>
                <a:cs typeface="Times New Roman"/>
              </a:rPr>
              <a:t>Technologies Symposium (formerly EATS)</a:t>
            </a:r>
          </a:p>
          <a:p>
            <a:pPr marL="285750" indent="-285750">
              <a:lnSpc>
                <a:spcPct val="115000"/>
              </a:lnSpc>
              <a:buChar char="•"/>
            </a:pPr>
            <a:r>
              <a:rPr lang="en-US" sz="2200" kern="100" dirty="0">
                <a:latin typeface="Figtree"/>
                <a:ea typeface="Aptos" panose="020B0004020202020204" pitchFamily="34" charset="0"/>
                <a:cs typeface="Times New Roman"/>
              </a:rPr>
              <a:t>Will include recognition of Premier </a:t>
            </a:r>
            <a:br>
              <a:rPr lang="en-US" sz="2200" kern="100" dirty="0">
                <a:latin typeface="Figtree"/>
                <a:ea typeface="Aptos" panose="020B0004020202020204" pitchFamily="34" charset="0"/>
                <a:cs typeface="Times New Roman"/>
              </a:rPr>
            </a:br>
            <a:r>
              <a:rPr lang="en-US" sz="2200" kern="100" dirty="0">
                <a:latin typeface="Figtree"/>
                <a:ea typeface="Aptos" panose="020B0004020202020204" pitchFamily="34" charset="0"/>
                <a:cs typeface="Times New Roman"/>
              </a:rPr>
              <a:t>Awards &amp; Awards Ceremony</a:t>
            </a:r>
          </a:p>
          <a:p>
            <a:pPr marL="285750" marR="0" lvl="0" indent="-285750">
              <a:lnSpc>
                <a:spcPct val="115000"/>
              </a:lnSpc>
              <a:buChar char="•"/>
            </a:pPr>
            <a:r>
              <a:rPr lang="en-US" sz="2200" kern="100" dirty="0">
                <a:latin typeface="Figtree"/>
                <a:ea typeface="Aptos" panose="020B0004020202020204" pitchFamily="34" charset="0"/>
                <a:cs typeface="Times New Roman"/>
              </a:rPr>
              <a:t>Partners: SFTE</a:t>
            </a:r>
            <a:r>
              <a:rPr lang="en-US" sz="2200" dirty="0"/>
              <a:t>, H2Aero, SAE AE-5H </a:t>
            </a:r>
            <a:br>
              <a:rPr lang="en-US" sz="2200" dirty="0"/>
            </a:br>
            <a:r>
              <a:rPr lang="en-US" sz="2200" dirty="0"/>
              <a:t>Standards Committee </a:t>
            </a:r>
          </a:p>
          <a:p>
            <a:pPr marL="285750" marR="0" lvl="0" indent="-285750">
              <a:lnSpc>
                <a:spcPct val="115000"/>
              </a:lnSpc>
              <a:buChar char="•"/>
            </a:pPr>
            <a:endParaRPr lang="en-US" kern="100" dirty="0">
              <a:latin typeface="Figtree"/>
              <a:ea typeface="Aptos" panose="020B0004020202020204" pitchFamily="34" charset="0"/>
              <a:cs typeface="Times New Roman"/>
            </a:endParaRPr>
          </a:p>
          <a:p>
            <a:pPr marR="0" lvl="0">
              <a:lnSpc>
                <a:spcPct val="115000"/>
              </a:lnSpc>
            </a:pPr>
            <a:endParaRPr lang="en-US" kern="100" dirty="0">
              <a:solidFill>
                <a:srgbClr val="1B3D6C"/>
              </a:solidFill>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113D8D58-3EFB-220C-E76F-8296CEA1972C}"/>
              </a:ext>
            </a:extLst>
          </p:cNvPr>
          <p:cNvSpPr>
            <a:spLocks noGrp="1"/>
          </p:cNvSpPr>
          <p:nvPr>
            <p:ph type="sldNum" sz="quarter" idx="12"/>
          </p:nvPr>
        </p:nvSpPr>
        <p:spPr/>
        <p:txBody>
          <a:bodyPr/>
          <a:lstStyle/>
          <a:p>
            <a:fld id="{8FBCB428-D880-FC4A-9B26-64132A65A030}" type="slidenum">
              <a:rPr lang="en-US" smtClean="0">
                <a:solidFill>
                  <a:schemeClr val="bg1"/>
                </a:solidFill>
              </a:rPr>
              <a:pPr/>
              <a:t>64</a:t>
            </a:fld>
            <a:endParaRPr lang="en-US" dirty="0">
              <a:solidFill>
                <a:schemeClr val="bg1"/>
              </a:solidFill>
            </a:endParaRPr>
          </a:p>
        </p:txBody>
      </p:sp>
      <p:cxnSp>
        <p:nvCxnSpPr>
          <p:cNvPr id="5" name="Straight Connector 4">
            <a:extLst>
              <a:ext uri="{FF2B5EF4-FFF2-40B4-BE49-F238E27FC236}">
                <a16:creationId xmlns:a16="http://schemas.microsoft.com/office/drawing/2014/main" id="{251481BB-34C3-3ADD-FEA6-B980E7EDE1F9}"/>
              </a:ext>
            </a:extLst>
          </p:cNvPr>
          <p:cNvCxnSpPr>
            <a:cxnSpLocks/>
          </p:cNvCxnSpPr>
          <p:nvPr/>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83456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61"/>
            <a:ext cx="12189460" cy="6859905"/>
          </a:xfrm>
          <a:custGeom>
            <a:avLst/>
            <a:gdLst/>
            <a:ahLst/>
            <a:cxnLst/>
            <a:rect l="l" t="t" r="r" b="b"/>
            <a:pathLst>
              <a:path w="12189460" h="6859905">
                <a:moveTo>
                  <a:pt x="12188952" y="0"/>
                </a:moveTo>
                <a:lnTo>
                  <a:pt x="0" y="0"/>
                </a:lnTo>
                <a:lnTo>
                  <a:pt x="0" y="6859778"/>
                </a:lnTo>
                <a:lnTo>
                  <a:pt x="12188952" y="6859778"/>
                </a:lnTo>
                <a:lnTo>
                  <a:pt x="12188952" y="0"/>
                </a:lnTo>
                <a:close/>
              </a:path>
            </a:pathLst>
          </a:custGeom>
          <a:solidFill>
            <a:srgbClr val="1A3B6C"/>
          </a:solidFill>
        </p:spPr>
        <p:txBody>
          <a:bodyPr wrap="square" lIns="0" tIns="0" rIns="0" bIns="0" rtlCol="0"/>
          <a:lstStyle/>
          <a:p>
            <a:endParaRPr dirty="0"/>
          </a:p>
        </p:txBody>
      </p:sp>
      <p:grpSp>
        <p:nvGrpSpPr>
          <p:cNvPr id="3" name="object 3"/>
          <p:cNvGrpSpPr/>
          <p:nvPr/>
        </p:nvGrpSpPr>
        <p:grpSpPr>
          <a:xfrm>
            <a:off x="5897879" y="1509139"/>
            <a:ext cx="6291580" cy="5349240"/>
            <a:chOff x="5897879" y="1509138"/>
            <a:chExt cx="6291580" cy="5349240"/>
          </a:xfrm>
        </p:grpSpPr>
        <p:pic>
          <p:nvPicPr>
            <p:cNvPr id="4" name="object 4"/>
            <p:cNvPicPr/>
            <p:nvPr/>
          </p:nvPicPr>
          <p:blipFill>
            <a:blip r:embed="rId2" cstate="email">
              <a:extLst>
                <a:ext uri="{28A0092B-C50C-407E-A947-70E740481C1C}">
                  <a14:useLocalDpi xmlns:a14="http://schemas.microsoft.com/office/drawing/2010/main"/>
                </a:ext>
              </a:extLst>
            </a:blip>
            <a:stretch>
              <a:fillRect/>
            </a:stretch>
          </p:blipFill>
          <p:spPr>
            <a:xfrm>
              <a:off x="5897879" y="1509138"/>
              <a:ext cx="6291072" cy="5348859"/>
            </a:xfrm>
            <a:prstGeom prst="rect">
              <a:avLst/>
            </a:prstGeom>
          </p:spPr>
        </p:pic>
        <p:sp>
          <p:nvSpPr>
            <p:cNvPr id="5" name="object 5"/>
            <p:cNvSpPr/>
            <p:nvPr/>
          </p:nvSpPr>
          <p:spPr>
            <a:xfrm>
              <a:off x="11489435" y="6461848"/>
              <a:ext cx="0" cy="228600"/>
            </a:xfrm>
            <a:custGeom>
              <a:avLst/>
              <a:gdLst/>
              <a:ahLst/>
              <a:cxnLst/>
              <a:rect l="l" t="t" r="r" b="b"/>
              <a:pathLst>
                <a:path h="228600">
                  <a:moveTo>
                    <a:pt x="0" y="0"/>
                  </a:moveTo>
                  <a:lnTo>
                    <a:pt x="0" y="228599"/>
                  </a:lnTo>
                </a:path>
              </a:pathLst>
            </a:custGeom>
            <a:ln w="12700">
              <a:solidFill>
                <a:srgbClr val="D9D9D9"/>
              </a:solidFill>
            </a:ln>
          </p:spPr>
          <p:txBody>
            <a:bodyPr wrap="square" lIns="0" tIns="0" rIns="0" bIns="0" rtlCol="0"/>
            <a:lstStyle/>
            <a:p>
              <a:endParaRPr dirty="0"/>
            </a:p>
          </p:txBody>
        </p:sp>
      </p:grpSp>
      <p:pic>
        <p:nvPicPr>
          <p:cNvPr id="6" name="object 6"/>
          <p:cNvPicPr/>
          <p:nvPr/>
        </p:nvPicPr>
        <p:blipFill>
          <a:blip r:embed="rId3" cstate="email">
            <a:extLst>
              <a:ext uri="{28A0092B-C50C-407E-A947-70E740481C1C}">
                <a14:useLocalDpi xmlns:a14="http://schemas.microsoft.com/office/drawing/2010/main"/>
              </a:ext>
            </a:extLst>
          </a:blip>
          <a:stretch>
            <a:fillRect/>
          </a:stretch>
        </p:blipFill>
        <p:spPr>
          <a:xfrm>
            <a:off x="347474" y="6438978"/>
            <a:ext cx="850391" cy="237807"/>
          </a:xfrm>
          <a:prstGeom prst="rect">
            <a:avLst/>
          </a:prstGeom>
        </p:spPr>
      </p:pic>
      <p:sp>
        <p:nvSpPr>
          <p:cNvPr id="7" name="object 7"/>
          <p:cNvSpPr txBox="1">
            <a:spLocks noGrp="1"/>
          </p:cNvSpPr>
          <p:nvPr>
            <p:ph type="title"/>
          </p:nvPr>
        </p:nvSpPr>
        <p:spPr>
          <a:xfrm>
            <a:off x="330987" y="197309"/>
            <a:ext cx="7035800" cy="689932"/>
          </a:xfrm>
          <a:prstGeom prst="rect">
            <a:avLst/>
          </a:prstGeom>
        </p:spPr>
        <p:txBody>
          <a:bodyPr vert="horz" wrap="square" lIns="0" tIns="12700" rIns="0" bIns="0" rtlCol="0">
            <a:spAutoFit/>
          </a:bodyPr>
          <a:lstStyle/>
          <a:p>
            <a:pPr marL="12700">
              <a:lnSpc>
                <a:spcPct val="100000"/>
              </a:lnSpc>
              <a:spcBef>
                <a:spcPts val="100"/>
              </a:spcBef>
            </a:pPr>
            <a:r>
              <a:rPr sz="4400" dirty="0"/>
              <a:t>Future</a:t>
            </a:r>
            <a:r>
              <a:rPr sz="4400" spc="-120" dirty="0"/>
              <a:t> </a:t>
            </a:r>
            <a:r>
              <a:rPr sz="4400" dirty="0"/>
              <a:t>Forum</a:t>
            </a:r>
            <a:r>
              <a:rPr sz="4400" spc="-111" dirty="0"/>
              <a:t> </a:t>
            </a:r>
            <a:r>
              <a:rPr sz="4400" dirty="0"/>
              <a:t>and</a:t>
            </a:r>
            <a:r>
              <a:rPr sz="4400" spc="-175" dirty="0"/>
              <a:t> </a:t>
            </a:r>
            <a:r>
              <a:rPr sz="4400" dirty="0"/>
              <a:t>Event</a:t>
            </a:r>
            <a:r>
              <a:rPr sz="4400" spc="-135" dirty="0"/>
              <a:t> </a:t>
            </a:r>
            <a:r>
              <a:rPr sz="4400" spc="-11" dirty="0"/>
              <a:t>Dates</a:t>
            </a:r>
            <a:endParaRPr sz="4400" dirty="0"/>
          </a:p>
        </p:txBody>
      </p:sp>
      <p:sp>
        <p:nvSpPr>
          <p:cNvPr id="8" name="object 8"/>
          <p:cNvSpPr txBox="1"/>
          <p:nvPr/>
        </p:nvSpPr>
        <p:spPr>
          <a:xfrm>
            <a:off x="685711" y="2096209"/>
            <a:ext cx="3274060" cy="2017220"/>
          </a:xfrm>
          <a:prstGeom prst="rect">
            <a:avLst/>
          </a:prstGeom>
        </p:spPr>
        <p:txBody>
          <a:bodyPr vert="horz" wrap="square" lIns="0" tIns="54611" rIns="0" bIns="0" rtlCol="0">
            <a:spAutoFit/>
          </a:bodyPr>
          <a:lstStyle/>
          <a:p>
            <a:pPr marL="355591" indent="-342891">
              <a:spcBef>
                <a:spcPts val="431"/>
              </a:spcBef>
              <a:buFont typeface="Arial"/>
              <a:buChar char="•"/>
              <a:tabLst>
                <a:tab pos="355591" algn="l"/>
              </a:tabLst>
            </a:pPr>
            <a:r>
              <a:rPr sz="2000" spc="-11" dirty="0">
                <a:solidFill>
                  <a:srgbClr val="FFFFFF"/>
                </a:solidFill>
                <a:latin typeface="Calibri"/>
                <a:cs typeface="Calibri"/>
              </a:rPr>
              <a:t>Hyatt</a:t>
            </a:r>
            <a:r>
              <a:rPr sz="2000" spc="-60" dirty="0">
                <a:solidFill>
                  <a:srgbClr val="FFFFFF"/>
                </a:solidFill>
                <a:latin typeface="Calibri"/>
                <a:cs typeface="Calibri"/>
              </a:rPr>
              <a:t> </a:t>
            </a:r>
            <a:r>
              <a:rPr sz="2000" spc="-11" dirty="0">
                <a:solidFill>
                  <a:srgbClr val="FFFFFF"/>
                </a:solidFill>
                <a:latin typeface="Calibri"/>
                <a:cs typeface="Calibri"/>
              </a:rPr>
              <a:t>Regency</a:t>
            </a:r>
            <a:r>
              <a:rPr sz="2000" spc="-75" dirty="0">
                <a:solidFill>
                  <a:srgbClr val="FFFFFF"/>
                </a:solidFill>
                <a:latin typeface="Calibri"/>
                <a:cs typeface="Calibri"/>
              </a:rPr>
              <a:t> </a:t>
            </a:r>
            <a:r>
              <a:rPr sz="2000" spc="-11" dirty="0">
                <a:solidFill>
                  <a:srgbClr val="FFFFFF"/>
                </a:solidFill>
                <a:latin typeface="Calibri"/>
                <a:cs typeface="Calibri"/>
              </a:rPr>
              <a:t>Orlando</a:t>
            </a:r>
            <a:endParaRPr sz="2000" dirty="0">
              <a:latin typeface="Calibri"/>
              <a:cs typeface="Calibri"/>
            </a:endParaRPr>
          </a:p>
          <a:p>
            <a:pPr marL="355591">
              <a:spcBef>
                <a:spcPts val="340"/>
              </a:spcBef>
            </a:pPr>
            <a:r>
              <a:rPr sz="2000" dirty="0">
                <a:solidFill>
                  <a:srgbClr val="FFFFFF"/>
                </a:solidFill>
                <a:latin typeface="Calibri"/>
                <a:cs typeface="Calibri"/>
              </a:rPr>
              <a:t>through</a:t>
            </a:r>
            <a:r>
              <a:rPr sz="2000" spc="-85" dirty="0">
                <a:solidFill>
                  <a:srgbClr val="FFFFFF"/>
                </a:solidFill>
                <a:latin typeface="Calibri"/>
                <a:cs typeface="Calibri"/>
              </a:rPr>
              <a:t> </a:t>
            </a:r>
            <a:r>
              <a:rPr sz="2000" spc="-20" dirty="0">
                <a:solidFill>
                  <a:srgbClr val="FFFFFF"/>
                </a:solidFill>
                <a:latin typeface="Calibri"/>
                <a:cs typeface="Calibri"/>
              </a:rPr>
              <a:t>2028</a:t>
            </a:r>
            <a:endParaRPr sz="2000" dirty="0">
              <a:latin typeface="Calibri"/>
              <a:cs typeface="Calibri"/>
            </a:endParaRPr>
          </a:p>
          <a:p>
            <a:pPr marL="355591" indent="-342891">
              <a:spcBef>
                <a:spcPts val="340"/>
              </a:spcBef>
              <a:buFont typeface="Arial"/>
              <a:buChar char="•"/>
              <a:tabLst>
                <a:tab pos="355591" algn="l"/>
              </a:tabLst>
            </a:pPr>
            <a:r>
              <a:rPr sz="2000" dirty="0">
                <a:solidFill>
                  <a:srgbClr val="FFFFFF"/>
                </a:solidFill>
                <a:latin typeface="Calibri"/>
                <a:cs typeface="Calibri"/>
              </a:rPr>
              <a:t>Phoenix:</a:t>
            </a:r>
            <a:r>
              <a:rPr sz="2000" spc="-5" dirty="0">
                <a:solidFill>
                  <a:srgbClr val="FFFFFF"/>
                </a:solidFill>
                <a:latin typeface="Calibri"/>
                <a:cs typeface="Calibri"/>
              </a:rPr>
              <a:t> </a:t>
            </a:r>
            <a:r>
              <a:rPr sz="2000" dirty="0">
                <a:solidFill>
                  <a:srgbClr val="FFFFFF"/>
                </a:solidFill>
                <a:latin typeface="Calibri"/>
                <a:cs typeface="Calibri"/>
              </a:rPr>
              <a:t>January</a:t>
            </a:r>
            <a:r>
              <a:rPr sz="2000" spc="-80" dirty="0">
                <a:solidFill>
                  <a:srgbClr val="FFFFFF"/>
                </a:solidFill>
                <a:latin typeface="Calibri"/>
                <a:cs typeface="Calibri"/>
              </a:rPr>
              <a:t> </a:t>
            </a:r>
            <a:r>
              <a:rPr sz="2000" dirty="0">
                <a:solidFill>
                  <a:srgbClr val="FFFFFF"/>
                </a:solidFill>
                <a:latin typeface="Calibri"/>
                <a:cs typeface="Calibri"/>
              </a:rPr>
              <a:t>8-12,</a:t>
            </a:r>
            <a:r>
              <a:rPr sz="2000" spc="-31" dirty="0">
                <a:solidFill>
                  <a:srgbClr val="FFFFFF"/>
                </a:solidFill>
                <a:latin typeface="Calibri"/>
                <a:cs typeface="Calibri"/>
              </a:rPr>
              <a:t> </a:t>
            </a:r>
            <a:r>
              <a:rPr sz="2000" spc="-20" dirty="0">
                <a:solidFill>
                  <a:srgbClr val="FFFFFF"/>
                </a:solidFill>
                <a:latin typeface="Calibri"/>
                <a:cs typeface="Calibri"/>
              </a:rPr>
              <a:t>2029</a:t>
            </a:r>
            <a:endParaRPr sz="2000" dirty="0">
              <a:latin typeface="Calibri"/>
              <a:cs typeface="Calibri"/>
            </a:endParaRPr>
          </a:p>
          <a:p>
            <a:pPr marL="355591" indent="-342891">
              <a:lnSpc>
                <a:spcPts val="2391"/>
              </a:lnSpc>
              <a:spcBef>
                <a:spcPts val="200"/>
              </a:spcBef>
              <a:buFont typeface="Arial"/>
              <a:buChar char="•"/>
              <a:tabLst>
                <a:tab pos="355591" algn="l"/>
              </a:tabLst>
            </a:pPr>
            <a:r>
              <a:rPr sz="2000" dirty="0">
                <a:solidFill>
                  <a:srgbClr val="FFFFFF"/>
                </a:solidFill>
                <a:latin typeface="Calibri"/>
                <a:cs typeface="Calibri"/>
              </a:rPr>
              <a:t>Seattle:</a:t>
            </a:r>
            <a:r>
              <a:rPr sz="2000" spc="-31" dirty="0">
                <a:solidFill>
                  <a:srgbClr val="FFFFFF"/>
                </a:solidFill>
                <a:latin typeface="Calibri"/>
                <a:cs typeface="Calibri"/>
              </a:rPr>
              <a:t> </a:t>
            </a:r>
            <a:r>
              <a:rPr sz="2000" dirty="0">
                <a:solidFill>
                  <a:srgbClr val="FFFFFF"/>
                </a:solidFill>
                <a:latin typeface="Calibri"/>
                <a:cs typeface="Calibri"/>
              </a:rPr>
              <a:t>January</a:t>
            </a:r>
            <a:r>
              <a:rPr sz="2000" spc="-35" dirty="0">
                <a:solidFill>
                  <a:srgbClr val="FFFFFF"/>
                </a:solidFill>
                <a:latin typeface="Calibri"/>
                <a:cs typeface="Calibri"/>
              </a:rPr>
              <a:t> </a:t>
            </a:r>
            <a:r>
              <a:rPr sz="2000" spc="-25" dirty="0">
                <a:solidFill>
                  <a:srgbClr val="FFFFFF"/>
                </a:solidFill>
                <a:latin typeface="Calibri"/>
                <a:cs typeface="Calibri"/>
              </a:rPr>
              <a:t>7-</a:t>
            </a:r>
            <a:r>
              <a:rPr sz="2000" dirty="0">
                <a:solidFill>
                  <a:srgbClr val="FFFFFF"/>
                </a:solidFill>
                <a:latin typeface="Calibri"/>
                <a:cs typeface="Calibri"/>
              </a:rPr>
              <a:t>11,</a:t>
            </a:r>
            <a:r>
              <a:rPr sz="2000" spc="-51" dirty="0">
                <a:solidFill>
                  <a:srgbClr val="FFFFFF"/>
                </a:solidFill>
                <a:latin typeface="Calibri"/>
                <a:cs typeface="Calibri"/>
              </a:rPr>
              <a:t> </a:t>
            </a:r>
            <a:r>
              <a:rPr sz="2000" spc="-20" dirty="0">
                <a:solidFill>
                  <a:srgbClr val="FFFFFF"/>
                </a:solidFill>
                <a:latin typeface="Calibri"/>
                <a:cs typeface="Calibri"/>
              </a:rPr>
              <a:t>2030</a:t>
            </a:r>
            <a:endParaRPr sz="2000" dirty="0">
              <a:latin typeface="Calibri"/>
              <a:cs typeface="Calibri"/>
            </a:endParaRPr>
          </a:p>
          <a:p>
            <a:pPr marL="355591" indent="-342891">
              <a:lnSpc>
                <a:spcPts val="2391"/>
              </a:lnSpc>
              <a:buFont typeface="Arial"/>
              <a:buChar char="•"/>
              <a:tabLst>
                <a:tab pos="355591" algn="l"/>
              </a:tabLst>
            </a:pPr>
            <a:r>
              <a:rPr sz="2000" dirty="0">
                <a:solidFill>
                  <a:srgbClr val="FFFFFF"/>
                </a:solidFill>
                <a:latin typeface="Calibri"/>
                <a:cs typeface="Calibri"/>
              </a:rPr>
              <a:t>Phoenix:</a:t>
            </a:r>
            <a:r>
              <a:rPr sz="2000" spc="-5" dirty="0">
                <a:solidFill>
                  <a:srgbClr val="FFFFFF"/>
                </a:solidFill>
                <a:latin typeface="Calibri"/>
                <a:cs typeface="Calibri"/>
              </a:rPr>
              <a:t> </a:t>
            </a:r>
            <a:r>
              <a:rPr sz="2000" dirty="0">
                <a:solidFill>
                  <a:srgbClr val="FFFFFF"/>
                </a:solidFill>
                <a:latin typeface="Calibri"/>
                <a:cs typeface="Calibri"/>
              </a:rPr>
              <a:t>January</a:t>
            </a:r>
            <a:r>
              <a:rPr sz="2000" spc="-80" dirty="0">
                <a:solidFill>
                  <a:srgbClr val="FFFFFF"/>
                </a:solidFill>
                <a:latin typeface="Calibri"/>
                <a:cs typeface="Calibri"/>
              </a:rPr>
              <a:t> </a:t>
            </a:r>
            <a:r>
              <a:rPr sz="2000" dirty="0">
                <a:solidFill>
                  <a:srgbClr val="FFFFFF"/>
                </a:solidFill>
                <a:latin typeface="Calibri"/>
                <a:cs typeface="Calibri"/>
              </a:rPr>
              <a:t>6-10,</a:t>
            </a:r>
            <a:r>
              <a:rPr sz="2000" spc="-31" dirty="0">
                <a:solidFill>
                  <a:srgbClr val="FFFFFF"/>
                </a:solidFill>
                <a:latin typeface="Calibri"/>
                <a:cs typeface="Calibri"/>
              </a:rPr>
              <a:t> </a:t>
            </a:r>
            <a:r>
              <a:rPr sz="2000" spc="-20" dirty="0">
                <a:solidFill>
                  <a:srgbClr val="FFFFFF"/>
                </a:solidFill>
                <a:latin typeface="Calibri"/>
                <a:cs typeface="Calibri"/>
              </a:rPr>
              <a:t>2031</a:t>
            </a:r>
            <a:endParaRPr sz="2000" dirty="0">
              <a:latin typeface="Calibri"/>
              <a:cs typeface="Calibri"/>
            </a:endParaRPr>
          </a:p>
          <a:p>
            <a:pPr marL="355591" indent="-342891">
              <a:spcBef>
                <a:spcPts val="51"/>
              </a:spcBef>
              <a:buFont typeface="Arial"/>
              <a:buChar char="•"/>
              <a:tabLst>
                <a:tab pos="355591" algn="l"/>
              </a:tabLst>
            </a:pPr>
            <a:r>
              <a:rPr sz="2000" dirty="0">
                <a:solidFill>
                  <a:srgbClr val="FFFFFF"/>
                </a:solidFill>
                <a:latin typeface="Calibri"/>
                <a:cs typeface="Calibri"/>
              </a:rPr>
              <a:t>Seattle:</a:t>
            </a:r>
            <a:r>
              <a:rPr sz="2000" spc="-25" dirty="0">
                <a:solidFill>
                  <a:srgbClr val="FFFFFF"/>
                </a:solidFill>
                <a:latin typeface="Calibri"/>
                <a:cs typeface="Calibri"/>
              </a:rPr>
              <a:t> </a:t>
            </a:r>
            <a:r>
              <a:rPr sz="2000" dirty="0">
                <a:solidFill>
                  <a:srgbClr val="FFFFFF"/>
                </a:solidFill>
                <a:latin typeface="Calibri"/>
                <a:cs typeface="Calibri"/>
              </a:rPr>
              <a:t>January</a:t>
            </a:r>
            <a:r>
              <a:rPr sz="2000" spc="-31" dirty="0">
                <a:solidFill>
                  <a:srgbClr val="FFFFFF"/>
                </a:solidFill>
                <a:latin typeface="Calibri"/>
                <a:cs typeface="Calibri"/>
              </a:rPr>
              <a:t> </a:t>
            </a:r>
            <a:r>
              <a:rPr sz="2000" spc="-25" dirty="0">
                <a:solidFill>
                  <a:srgbClr val="FFFFFF"/>
                </a:solidFill>
                <a:latin typeface="Calibri"/>
                <a:cs typeface="Calibri"/>
              </a:rPr>
              <a:t>5-</a:t>
            </a:r>
            <a:r>
              <a:rPr sz="2000" dirty="0">
                <a:solidFill>
                  <a:srgbClr val="FFFFFF"/>
                </a:solidFill>
                <a:latin typeface="Calibri"/>
                <a:cs typeface="Calibri"/>
              </a:rPr>
              <a:t>9,</a:t>
            </a:r>
            <a:r>
              <a:rPr sz="2000" spc="-51" dirty="0">
                <a:solidFill>
                  <a:srgbClr val="FFFFFF"/>
                </a:solidFill>
                <a:latin typeface="Calibri"/>
                <a:cs typeface="Calibri"/>
              </a:rPr>
              <a:t> </a:t>
            </a:r>
            <a:r>
              <a:rPr sz="2000" spc="-20" dirty="0">
                <a:solidFill>
                  <a:srgbClr val="FFFFFF"/>
                </a:solidFill>
                <a:latin typeface="Calibri"/>
                <a:cs typeface="Calibri"/>
              </a:rPr>
              <a:t>2032</a:t>
            </a:r>
            <a:endParaRPr sz="2000" dirty="0">
              <a:latin typeface="Calibri"/>
              <a:cs typeface="Calibri"/>
            </a:endParaRPr>
          </a:p>
        </p:txBody>
      </p:sp>
      <p:pic>
        <p:nvPicPr>
          <p:cNvPr id="9" name="object 9"/>
          <p:cNvPicPr/>
          <p:nvPr/>
        </p:nvPicPr>
        <p:blipFill>
          <a:blip r:embed="rId4" cstate="email">
            <a:extLst>
              <a:ext uri="{28A0092B-C50C-407E-A947-70E740481C1C}">
                <a14:useLocalDpi xmlns:a14="http://schemas.microsoft.com/office/drawing/2010/main"/>
              </a:ext>
            </a:extLst>
          </a:blip>
          <a:stretch>
            <a:fillRect/>
          </a:stretch>
        </p:blipFill>
        <p:spPr>
          <a:xfrm>
            <a:off x="5175505" y="1298817"/>
            <a:ext cx="3557015" cy="548779"/>
          </a:xfrm>
          <a:prstGeom prst="rect">
            <a:avLst/>
          </a:prstGeom>
        </p:spPr>
      </p:pic>
      <p:pic>
        <p:nvPicPr>
          <p:cNvPr id="10" name="object 10"/>
          <p:cNvPicPr/>
          <p:nvPr/>
        </p:nvPicPr>
        <p:blipFill>
          <a:blip r:embed="rId5" cstate="email">
            <a:extLst>
              <a:ext uri="{28A0092B-C50C-407E-A947-70E740481C1C}">
                <a14:useLocalDpi xmlns:a14="http://schemas.microsoft.com/office/drawing/2010/main"/>
              </a:ext>
            </a:extLst>
          </a:blip>
          <a:stretch>
            <a:fillRect/>
          </a:stretch>
        </p:blipFill>
        <p:spPr>
          <a:xfrm>
            <a:off x="603506" y="1298817"/>
            <a:ext cx="3127247" cy="539635"/>
          </a:xfrm>
          <a:prstGeom prst="rect">
            <a:avLst/>
          </a:prstGeom>
        </p:spPr>
      </p:pic>
      <p:pic>
        <p:nvPicPr>
          <p:cNvPr id="11" name="object 11"/>
          <p:cNvPicPr/>
          <p:nvPr/>
        </p:nvPicPr>
        <p:blipFill>
          <a:blip r:embed="rId6" cstate="email">
            <a:extLst>
              <a:ext uri="{28A0092B-C50C-407E-A947-70E740481C1C}">
                <a14:useLocalDpi xmlns:a14="http://schemas.microsoft.com/office/drawing/2010/main"/>
              </a:ext>
            </a:extLst>
          </a:blip>
          <a:stretch>
            <a:fillRect/>
          </a:stretch>
        </p:blipFill>
        <p:spPr>
          <a:xfrm>
            <a:off x="5111496" y="3283459"/>
            <a:ext cx="3621024" cy="1307972"/>
          </a:xfrm>
          <a:prstGeom prst="rect">
            <a:avLst/>
          </a:prstGeom>
        </p:spPr>
      </p:pic>
      <p:sp>
        <p:nvSpPr>
          <p:cNvPr id="12" name="object 12"/>
          <p:cNvSpPr txBox="1"/>
          <p:nvPr/>
        </p:nvSpPr>
        <p:spPr>
          <a:xfrm>
            <a:off x="5321680" y="4469346"/>
            <a:ext cx="5591811" cy="1750606"/>
          </a:xfrm>
          <a:prstGeom prst="rect">
            <a:avLst/>
          </a:prstGeom>
        </p:spPr>
        <p:txBody>
          <a:bodyPr vert="horz" wrap="square" lIns="0" tIns="55244" rIns="0" bIns="0" rtlCol="0">
            <a:spAutoFit/>
          </a:bodyPr>
          <a:lstStyle/>
          <a:p>
            <a:pPr marL="355591" indent="-342891">
              <a:spcBef>
                <a:spcPts val="435"/>
              </a:spcBef>
              <a:buFont typeface="Arial"/>
              <a:buChar char="•"/>
              <a:tabLst>
                <a:tab pos="355591" algn="l"/>
              </a:tabLst>
            </a:pPr>
            <a:r>
              <a:rPr sz="2000" dirty="0">
                <a:solidFill>
                  <a:srgbClr val="FFFFFF"/>
                </a:solidFill>
                <a:latin typeface="Calibri"/>
                <a:cs typeface="Calibri"/>
              </a:rPr>
              <a:t>Manchester</a:t>
            </a:r>
            <a:r>
              <a:rPr sz="2000" spc="-60" dirty="0">
                <a:solidFill>
                  <a:srgbClr val="FFFFFF"/>
                </a:solidFill>
                <a:latin typeface="Calibri"/>
                <a:cs typeface="Calibri"/>
              </a:rPr>
              <a:t> </a:t>
            </a:r>
            <a:r>
              <a:rPr sz="2000" spc="-11" dirty="0">
                <a:solidFill>
                  <a:srgbClr val="FFFFFF"/>
                </a:solidFill>
                <a:latin typeface="Calibri"/>
                <a:cs typeface="Calibri"/>
              </a:rPr>
              <a:t>Grand</a:t>
            </a:r>
            <a:r>
              <a:rPr sz="2000" spc="-60" dirty="0">
                <a:solidFill>
                  <a:srgbClr val="FFFFFF"/>
                </a:solidFill>
                <a:latin typeface="Calibri"/>
                <a:cs typeface="Calibri"/>
              </a:rPr>
              <a:t> </a:t>
            </a:r>
            <a:r>
              <a:rPr sz="2000" spc="-11" dirty="0">
                <a:solidFill>
                  <a:srgbClr val="FFFFFF"/>
                </a:solidFill>
                <a:latin typeface="Calibri"/>
                <a:cs typeface="Calibri"/>
              </a:rPr>
              <a:t>Hyatt,</a:t>
            </a:r>
            <a:r>
              <a:rPr sz="2000" spc="-71" dirty="0">
                <a:solidFill>
                  <a:srgbClr val="FFFFFF"/>
                </a:solidFill>
                <a:latin typeface="Calibri"/>
                <a:cs typeface="Calibri"/>
              </a:rPr>
              <a:t> </a:t>
            </a:r>
            <a:r>
              <a:rPr sz="2000" dirty="0">
                <a:solidFill>
                  <a:srgbClr val="FFFFFF"/>
                </a:solidFill>
                <a:latin typeface="Calibri"/>
                <a:cs typeface="Calibri"/>
              </a:rPr>
              <a:t>San</a:t>
            </a:r>
            <a:r>
              <a:rPr sz="2000" spc="-55" dirty="0">
                <a:solidFill>
                  <a:srgbClr val="FFFFFF"/>
                </a:solidFill>
                <a:latin typeface="Calibri"/>
                <a:cs typeface="Calibri"/>
              </a:rPr>
              <a:t> </a:t>
            </a:r>
            <a:r>
              <a:rPr sz="2000" dirty="0">
                <a:solidFill>
                  <a:srgbClr val="FFFFFF"/>
                </a:solidFill>
                <a:latin typeface="Calibri"/>
                <a:cs typeface="Calibri"/>
              </a:rPr>
              <a:t>Diego</a:t>
            </a:r>
            <a:r>
              <a:rPr sz="2000" spc="-65" dirty="0">
                <a:solidFill>
                  <a:srgbClr val="FFFFFF"/>
                </a:solidFill>
                <a:latin typeface="Calibri"/>
                <a:cs typeface="Calibri"/>
              </a:rPr>
              <a:t> </a:t>
            </a:r>
            <a:r>
              <a:rPr sz="2000" dirty="0">
                <a:solidFill>
                  <a:srgbClr val="FFFFFF"/>
                </a:solidFill>
                <a:latin typeface="Calibri"/>
                <a:cs typeface="Calibri"/>
              </a:rPr>
              <a:t>through</a:t>
            </a:r>
            <a:r>
              <a:rPr sz="2000" spc="-55" dirty="0">
                <a:solidFill>
                  <a:srgbClr val="FFFFFF"/>
                </a:solidFill>
                <a:latin typeface="Calibri"/>
                <a:cs typeface="Calibri"/>
              </a:rPr>
              <a:t> </a:t>
            </a:r>
            <a:r>
              <a:rPr sz="2000" spc="-20" dirty="0">
                <a:solidFill>
                  <a:srgbClr val="FFFFFF"/>
                </a:solidFill>
                <a:latin typeface="Calibri"/>
                <a:cs typeface="Calibri"/>
              </a:rPr>
              <a:t>2028</a:t>
            </a:r>
            <a:endParaRPr sz="2000" dirty="0">
              <a:latin typeface="Calibri"/>
              <a:cs typeface="Calibri"/>
            </a:endParaRPr>
          </a:p>
          <a:p>
            <a:pPr marL="355591" indent="-342891">
              <a:spcBef>
                <a:spcPts val="340"/>
              </a:spcBef>
              <a:buFont typeface="Arial"/>
              <a:buChar char="•"/>
              <a:tabLst>
                <a:tab pos="355591" algn="l"/>
              </a:tabLst>
            </a:pPr>
            <a:r>
              <a:rPr sz="2000" dirty="0">
                <a:solidFill>
                  <a:srgbClr val="FFFFFF"/>
                </a:solidFill>
                <a:latin typeface="Calibri"/>
                <a:cs typeface="Calibri"/>
              </a:rPr>
              <a:t>Looking</a:t>
            </a:r>
            <a:r>
              <a:rPr sz="2000" spc="-15" dirty="0">
                <a:solidFill>
                  <a:srgbClr val="FFFFFF"/>
                </a:solidFill>
                <a:latin typeface="Calibri"/>
                <a:cs typeface="Calibri"/>
              </a:rPr>
              <a:t> </a:t>
            </a:r>
            <a:r>
              <a:rPr sz="2000" dirty="0">
                <a:solidFill>
                  <a:srgbClr val="FFFFFF"/>
                </a:solidFill>
                <a:latin typeface="Calibri"/>
                <a:cs typeface="Calibri"/>
              </a:rPr>
              <a:t>at</a:t>
            </a:r>
            <a:r>
              <a:rPr sz="2000" spc="-95" dirty="0">
                <a:solidFill>
                  <a:srgbClr val="FFFFFF"/>
                </a:solidFill>
                <a:latin typeface="Calibri"/>
                <a:cs typeface="Calibri"/>
              </a:rPr>
              <a:t> </a:t>
            </a:r>
            <a:r>
              <a:rPr sz="2000" dirty="0">
                <a:solidFill>
                  <a:srgbClr val="FFFFFF"/>
                </a:solidFill>
                <a:latin typeface="Calibri"/>
                <a:cs typeface="Calibri"/>
              </a:rPr>
              <a:t>locations</a:t>
            </a:r>
            <a:r>
              <a:rPr sz="2000" spc="-60" dirty="0">
                <a:solidFill>
                  <a:srgbClr val="FFFFFF"/>
                </a:solidFill>
                <a:latin typeface="Calibri"/>
                <a:cs typeface="Calibri"/>
              </a:rPr>
              <a:t> </a:t>
            </a:r>
            <a:r>
              <a:rPr sz="2000" dirty="0">
                <a:solidFill>
                  <a:srgbClr val="FFFFFF"/>
                </a:solidFill>
                <a:latin typeface="Calibri"/>
                <a:cs typeface="Calibri"/>
              </a:rPr>
              <a:t>and</a:t>
            </a:r>
            <a:r>
              <a:rPr sz="2000" spc="-51" dirty="0">
                <a:solidFill>
                  <a:srgbClr val="FFFFFF"/>
                </a:solidFill>
                <a:latin typeface="Calibri"/>
                <a:cs typeface="Calibri"/>
              </a:rPr>
              <a:t> </a:t>
            </a:r>
            <a:r>
              <a:rPr sz="2000" dirty="0">
                <a:solidFill>
                  <a:srgbClr val="FFFFFF"/>
                </a:solidFill>
                <a:latin typeface="Calibri"/>
                <a:cs typeface="Calibri"/>
              </a:rPr>
              <a:t>venues</a:t>
            </a:r>
            <a:r>
              <a:rPr sz="2000" spc="-60" dirty="0">
                <a:solidFill>
                  <a:srgbClr val="FFFFFF"/>
                </a:solidFill>
                <a:latin typeface="Calibri"/>
                <a:cs typeface="Calibri"/>
              </a:rPr>
              <a:t> </a:t>
            </a:r>
            <a:r>
              <a:rPr sz="2000" dirty="0">
                <a:solidFill>
                  <a:srgbClr val="FFFFFF"/>
                </a:solidFill>
                <a:latin typeface="Calibri"/>
                <a:cs typeface="Calibri"/>
              </a:rPr>
              <a:t>for</a:t>
            </a:r>
            <a:r>
              <a:rPr sz="2000" spc="-55" dirty="0">
                <a:solidFill>
                  <a:srgbClr val="FFFFFF"/>
                </a:solidFill>
                <a:latin typeface="Calibri"/>
                <a:cs typeface="Calibri"/>
              </a:rPr>
              <a:t> </a:t>
            </a:r>
            <a:r>
              <a:rPr sz="2000" spc="-20" dirty="0">
                <a:solidFill>
                  <a:srgbClr val="FFFFFF"/>
                </a:solidFill>
                <a:latin typeface="Calibri"/>
                <a:cs typeface="Calibri"/>
              </a:rPr>
              <a:t>2029</a:t>
            </a:r>
            <a:endParaRPr sz="2000" dirty="0">
              <a:latin typeface="Calibri"/>
              <a:cs typeface="Calibri"/>
            </a:endParaRPr>
          </a:p>
          <a:p>
            <a:pPr marL="355591">
              <a:spcBef>
                <a:spcPts val="340"/>
              </a:spcBef>
            </a:pPr>
            <a:r>
              <a:rPr sz="2000" dirty="0">
                <a:solidFill>
                  <a:srgbClr val="FFFFFF"/>
                </a:solidFill>
                <a:latin typeface="Calibri"/>
                <a:cs typeface="Calibri"/>
              </a:rPr>
              <a:t>and</a:t>
            </a:r>
            <a:r>
              <a:rPr sz="2000" spc="-5" dirty="0">
                <a:solidFill>
                  <a:srgbClr val="FFFFFF"/>
                </a:solidFill>
                <a:latin typeface="Calibri"/>
                <a:cs typeface="Calibri"/>
              </a:rPr>
              <a:t> </a:t>
            </a:r>
            <a:r>
              <a:rPr sz="2000" spc="-11" dirty="0">
                <a:solidFill>
                  <a:srgbClr val="FFFFFF"/>
                </a:solidFill>
                <a:latin typeface="Calibri"/>
                <a:cs typeface="Calibri"/>
              </a:rPr>
              <a:t>beyond</a:t>
            </a:r>
            <a:endParaRPr sz="2000" dirty="0">
              <a:latin typeface="Calibri"/>
              <a:cs typeface="Calibri"/>
            </a:endParaRPr>
          </a:p>
          <a:p>
            <a:pPr marL="355591" marR="5080" indent="-343526">
              <a:lnSpc>
                <a:spcPct val="114199"/>
              </a:lnSpc>
              <a:spcBef>
                <a:spcPts val="71"/>
              </a:spcBef>
              <a:buFont typeface="Arial"/>
              <a:buChar char="•"/>
              <a:tabLst>
                <a:tab pos="355591" algn="l"/>
              </a:tabLst>
            </a:pPr>
            <a:r>
              <a:rPr sz="2000" dirty="0">
                <a:solidFill>
                  <a:srgbClr val="FFFFFF"/>
                </a:solidFill>
                <a:latin typeface="Calibri"/>
                <a:cs typeface="Calibri"/>
              </a:rPr>
              <a:t>Priority</a:t>
            </a:r>
            <a:r>
              <a:rPr sz="2000" spc="-100" dirty="0">
                <a:solidFill>
                  <a:srgbClr val="FFFFFF"/>
                </a:solidFill>
                <a:latin typeface="Calibri"/>
                <a:cs typeface="Calibri"/>
              </a:rPr>
              <a:t> </a:t>
            </a:r>
            <a:r>
              <a:rPr sz="2000" dirty="0">
                <a:solidFill>
                  <a:srgbClr val="FFFFFF"/>
                </a:solidFill>
                <a:latin typeface="Calibri"/>
                <a:cs typeface="Calibri"/>
              </a:rPr>
              <a:t>on</a:t>
            </a:r>
            <a:r>
              <a:rPr sz="2000" spc="-35" dirty="0">
                <a:solidFill>
                  <a:srgbClr val="FFFFFF"/>
                </a:solidFill>
                <a:latin typeface="Calibri"/>
                <a:cs typeface="Calibri"/>
              </a:rPr>
              <a:t> </a:t>
            </a:r>
            <a:r>
              <a:rPr sz="2000" dirty="0">
                <a:solidFill>
                  <a:srgbClr val="FFFFFF"/>
                </a:solidFill>
                <a:latin typeface="Calibri"/>
                <a:cs typeface="Calibri"/>
              </a:rPr>
              <a:t>cities</a:t>
            </a:r>
            <a:r>
              <a:rPr sz="2000" spc="-45" dirty="0">
                <a:solidFill>
                  <a:srgbClr val="FFFFFF"/>
                </a:solidFill>
                <a:latin typeface="Calibri"/>
                <a:cs typeface="Calibri"/>
              </a:rPr>
              <a:t> </a:t>
            </a:r>
            <a:r>
              <a:rPr sz="2000" dirty="0">
                <a:solidFill>
                  <a:srgbClr val="FFFFFF"/>
                </a:solidFill>
                <a:latin typeface="Calibri"/>
                <a:cs typeface="Calibri"/>
              </a:rPr>
              <a:t>with</a:t>
            </a:r>
            <a:r>
              <a:rPr sz="2000" spc="-40" dirty="0">
                <a:solidFill>
                  <a:srgbClr val="FFFFFF"/>
                </a:solidFill>
                <a:latin typeface="Calibri"/>
                <a:cs typeface="Calibri"/>
              </a:rPr>
              <a:t> </a:t>
            </a:r>
            <a:r>
              <a:rPr sz="2000" dirty="0">
                <a:solidFill>
                  <a:srgbClr val="FFFFFF"/>
                </a:solidFill>
                <a:latin typeface="Calibri"/>
                <a:cs typeface="Calibri"/>
              </a:rPr>
              <a:t>strong</a:t>
            </a:r>
            <a:r>
              <a:rPr sz="2000" spc="-65" dirty="0">
                <a:solidFill>
                  <a:srgbClr val="FFFFFF"/>
                </a:solidFill>
                <a:latin typeface="Calibri"/>
                <a:cs typeface="Calibri"/>
              </a:rPr>
              <a:t> </a:t>
            </a:r>
            <a:r>
              <a:rPr sz="2000" spc="-11" dirty="0">
                <a:solidFill>
                  <a:srgbClr val="FFFFFF"/>
                </a:solidFill>
                <a:latin typeface="Calibri"/>
                <a:cs typeface="Calibri"/>
              </a:rPr>
              <a:t>aviation</a:t>
            </a:r>
            <a:r>
              <a:rPr sz="2000" spc="-35" dirty="0">
                <a:solidFill>
                  <a:srgbClr val="FFFFFF"/>
                </a:solidFill>
                <a:latin typeface="Calibri"/>
                <a:cs typeface="Calibri"/>
              </a:rPr>
              <a:t> </a:t>
            </a:r>
            <a:r>
              <a:rPr sz="2000" dirty="0">
                <a:solidFill>
                  <a:srgbClr val="FFFFFF"/>
                </a:solidFill>
                <a:latin typeface="Calibri"/>
                <a:cs typeface="Calibri"/>
              </a:rPr>
              <a:t>presence</a:t>
            </a:r>
            <a:r>
              <a:rPr sz="2000" spc="-51" dirty="0">
                <a:solidFill>
                  <a:srgbClr val="FFFFFF"/>
                </a:solidFill>
                <a:latin typeface="Calibri"/>
                <a:cs typeface="Calibri"/>
              </a:rPr>
              <a:t> </a:t>
            </a:r>
            <a:r>
              <a:rPr sz="2000" spc="-25" dirty="0">
                <a:solidFill>
                  <a:srgbClr val="FFFFFF"/>
                </a:solidFill>
                <a:latin typeface="Calibri"/>
                <a:cs typeface="Calibri"/>
              </a:rPr>
              <a:t>and </a:t>
            </a:r>
            <a:r>
              <a:rPr sz="2000" dirty="0">
                <a:solidFill>
                  <a:srgbClr val="FFFFFF"/>
                </a:solidFill>
                <a:latin typeface="Calibri"/>
                <a:cs typeface="Calibri"/>
              </a:rPr>
              <a:t>deconflicting</a:t>
            </a:r>
            <a:r>
              <a:rPr sz="2000" spc="-91" dirty="0">
                <a:solidFill>
                  <a:srgbClr val="FFFFFF"/>
                </a:solidFill>
                <a:latin typeface="Calibri"/>
                <a:cs typeface="Calibri"/>
              </a:rPr>
              <a:t> </a:t>
            </a:r>
            <a:r>
              <a:rPr sz="2000" dirty="0">
                <a:solidFill>
                  <a:srgbClr val="FFFFFF"/>
                </a:solidFill>
                <a:latin typeface="Calibri"/>
                <a:cs typeface="Calibri"/>
              </a:rPr>
              <a:t>dates</a:t>
            </a:r>
            <a:r>
              <a:rPr sz="2000" spc="-11" dirty="0">
                <a:solidFill>
                  <a:srgbClr val="FFFFFF"/>
                </a:solidFill>
                <a:latin typeface="Calibri"/>
                <a:cs typeface="Calibri"/>
              </a:rPr>
              <a:t> </a:t>
            </a:r>
            <a:r>
              <a:rPr sz="2000" dirty="0">
                <a:solidFill>
                  <a:srgbClr val="FFFFFF"/>
                </a:solidFill>
                <a:latin typeface="Calibri"/>
                <a:cs typeface="Calibri"/>
              </a:rPr>
              <a:t>with</a:t>
            </a:r>
            <a:r>
              <a:rPr sz="2000" spc="-65" dirty="0">
                <a:solidFill>
                  <a:srgbClr val="FFFFFF"/>
                </a:solidFill>
                <a:latin typeface="Calibri"/>
                <a:cs typeface="Calibri"/>
              </a:rPr>
              <a:t> </a:t>
            </a:r>
            <a:r>
              <a:rPr sz="2000" dirty="0">
                <a:solidFill>
                  <a:srgbClr val="FFFFFF"/>
                </a:solidFill>
                <a:latin typeface="Calibri"/>
                <a:cs typeface="Calibri"/>
              </a:rPr>
              <a:t>major</a:t>
            </a:r>
            <a:r>
              <a:rPr sz="2000" spc="-65" dirty="0">
                <a:solidFill>
                  <a:srgbClr val="FFFFFF"/>
                </a:solidFill>
                <a:latin typeface="Calibri"/>
                <a:cs typeface="Calibri"/>
              </a:rPr>
              <a:t> </a:t>
            </a:r>
            <a:r>
              <a:rPr sz="2000" dirty="0">
                <a:solidFill>
                  <a:srgbClr val="FFFFFF"/>
                </a:solidFill>
                <a:latin typeface="Calibri"/>
                <a:cs typeface="Calibri"/>
              </a:rPr>
              <a:t>industry</a:t>
            </a:r>
            <a:r>
              <a:rPr sz="2000" spc="-55" dirty="0">
                <a:solidFill>
                  <a:srgbClr val="FFFFFF"/>
                </a:solidFill>
                <a:latin typeface="Calibri"/>
                <a:cs typeface="Calibri"/>
              </a:rPr>
              <a:t> </a:t>
            </a:r>
            <a:r>
              <a:rPr sz="2000" spc="-11" dirty="0">
                <a:solidFill>
                  <a:srgbClr val="FFFFFF"/>
                </a:solidFill>
                <a:latin typeface="Calibri"/>
                <a:cs typeface="Calibri"/>
              </a:rPr>
              <a:t>events</a:t>
            </a:r>
            <a:endParaRPr sz="2000" dirty="0">
              <a:latin typeface="Calibri"/>
              <a:cs typeface="Calibri"/>
            </a:endParaRPr>
          </a:p>
        </p:txBody>
      </p:sp>
      <p:sp>
        <p:nvSpPr>
          <p:cNvPr id="15" name="object 15"/>
          <p:cNvSpPr txBox="1">
            <a:spLocks noGrp="1"/>
          </p:cNvSpPr>
          <p:nvPr>
            <p:ph type="sldNum" sz="quarter" idx="7"/>
          </p:nvPr>
        </p:nvSpPr>
        <p:spPr>
          <a:xfrm>
            <a:off x="8711987" y="4855790"/>
            <a:ext cx="432015" cy="141064"/>
          </a:xfrm>
          <a:prstGeom prst="rect">
            <a:avLst/>
          </a:prstGeom>
        </p:spPr>
        <p:txBody>
          <a:bodyPr vert="horz" wrap="square" lIns="0" tIns="0" rIns="0" bIns="0" rtlCol="0" anchor="ctr">
            <a:spAutoFit/>
          </a:bodyPr>
          <a:lstStyle/>
          <a:p>
            <a:pPr marL="38099">
              <a:lnSpc>
                <a:spcPts val="1060"/>
              </a:lnSpc>
            </a:pPr>
            <a:fld id="{81D60167-4931-47E6-BA6A-407CBD079E47}" type="slidenum">
              <a:rPr spc="-25" dirty="0"/>
              <a:pPr marL="38099">
                <a:lnSpc>
                  <a:spcPts val="1060"/>
                </a:lnSpc>
              </a:pPr>
              <a:t>65</a:t>
            </a:fld>
            <a:endParaRPr spc="-25" dirty="0"/>
          </a:p>
        </p:txBody>
      </p:sp>
      <p:sp>
        <p:nvSpPr>
          <p:cNvPr id="13" name="object 13"/>
          <p:cNvSpPr txBox="1"/>
          <p:nvPr/>
        </p:nvSpPr>
        <p:spPr>
          <a:xfrm>
            <a:off x="5261866" y="2059559"/>
            <a:ext cx="2350135" cy="323165"/>
          </a:xfrm>
          <a:prstGeom prst="rect">
            <a:avLst/>
          </a:prstGeom>
        </p:spPr>
        <p:txBody>
          <a:bodyPr vert="horz" wrap="square" lIns="0" tIns="15240" rIns="0" bIns="0" rtlCol="0">
            <a:spAutoFit/>
          </a:bodyPr>
          <a:lstStyle/>
          <a:p>
            <a:pPr marL="355591" indent="-342891">
              <a:spcBef>
                <a:spcPts val="120"/>
              </a:spcBef>
              <a:buFont typeface="Arial"/>
              <a:buChar char="•"/>
              <a:tabLst>
                <a:tab pos="355591" algn="l"/>
              </a:tabLst>
            </a:pPr>
            <a:r>
              <a:rPr sz="2000" spc="-11" dirty="0">
                <a:solidFill>
                  <a:srgbClr val="FFFFFF"/>
                </a:solidFill>
                <a:latin typeface="Calibri"/>
                <a:cs typeface="Calibri"/>
              </a:rPr>
              <a:t>Washington</a:t>
            </a:r>
            <a:r>
              <a:rPr lang="en-US" sz="2000" dirty="0">
                <a:solidFill>
                  <a:srgbClr val="FFFFFF"/>
                </a:solidFill>
                <a:latin typeface="Calibri"/>
                <a:cs typeface="Calibri"/>
              </a:rPr>
              <a:t> Hilton</a:t>
            </a:r>
            <a:r>
              <a:rPr sz="2000" spc="-11" dirty="0">
                <a:solidFill>
                  <a:srgbClr val="FFFFFF"/>
                </a:solidFill>
                <a:latin typeface="Calibri"/>
                <a:cs typeface="Calibri"/>
              </a:rPr>
              <a:t>:</a:t>
            </a:r>
            <a:endParaRPr sz="2000" dirty="0">
              <a:latin typeface="Calibri"/>
              <a:cs typeface="Calibri"/>
            </a:endParaRPr>
          </a:p>
        </p:txBody>
      </p:sp>
      <p:sp>
        <p:nvSpPr>
          <p:cNvPr id="14" name="object 14"/>
          <p:cNvSpPr txBox="1"/>
          <p:nvPr/>
        </p:nvSpPr>
        <p:spPr>
          <a:xfrm>
            <a:off x="5719318" y="2362264"/>
            <a:ext cx="2126615" cy="643124"/>
          </a:xfrm>
          <a:prstGeom prst="rect">
            <a:avLst/>
          </a:prstGeom>
        </p:spPr>
        <p:txBody>
          <a:bodyPr vert="horz" wrap="square" lIns="0" tIns="14604" rIns="0" bIns="0" rtlCol="0">
            <a:spAutoFit/>
          </a:bodyPr>
          <a:lstStyle/>
          <a:p>
            <a:pPr marL="12700">
              <a:spcBef>
                <a:spcPts val="115"/>
              </a:spcBef>
            </a:pPr>
            <a:r>
              <a:rPr sz="2000" dirty="0">
                <a:solidFill>
                  <a:srgbClr val="FFFFFF"/>
                </a:solidFill>
                <a:latin typeface="Courier New"/>
                <a:cs typeface="Courier New"/>
              </a:rPr>
              <a:t>o</a:t>
            </a:r>
            <a:r>
              <a:rPr sz="2000" spc="271" dirty="0">
                <a:solidFill>
                  <a:srgbClr val="FFFFFF"/>
                </a:solidFill>
                <a:latin typeface="Courier New"/>
                <a:cs typeface="Courier New"/>
              </a:rPr>
              <a:t> </a:t>
            </a:r>
            <a:r>
              <a:rPr sz="2000" dirty="0">
                <a:solidFill>
                  <a:srgbClr val="FFFFFF"/>
                </a:solidFill>
                <a:latin typeface="Calibri"/>
                <a:cs typeface="Calibri"/>
              </a:rPr>
              <a:t>May</a:t>
            </a:r>
            <a:r>
              <a:rPr sz="2000" spc="-75" dirty="0">
                <a:solidFill>
                  <a:srgbClr val="FFFFFF"/>
                </a:solidFill>
                <a:latin typeface="Calibri"/>
                <a:cs typeface="Calibri"/>
              </a:rPr>
              <a:t> </a:t>
            </a:r>
            <a:r>
              <a:rPr sz="2000" dirty="0">
                <a:solidFill>
                  <a:srgbClr val="FFFFFF"/>
                </a:solidFill>
                <a:latin typeface="Calibri"/>
                <a:cs typeface="Calibri"/>
              </a:rPr>
              <a:t>18-20,</a:t>
            </a:r>
            <a:r>
              <a:rPr sz="2000" spc="-25" dirty="0">
                <a:solidFill>
                  <a:srgbClr val="FFFFFF"/>
                </a:solidFill>
                <a:latin typeface="Calibri"/>
                <a:cs typeface="Calibri"/>
              </a:rPr>
              <a:t> </a:t>
            </a:r>
            <a:r>
              <a:rPr sz="2000" spc="-20" dirty="0">
                <a:solidFill>
                  <a:srgbClr val="FFFFFF"/>
                </a:solidFill>
                <a:latin typeface="Calibri"/>
                <a:cs typeface="Calibri"/>
              </a:rPr>
              <a:t>2027</a:t>
            </a:r>
            <a:endParaRPr sz="2000" dirty="0">
              <a:latin typeface="Calibri"/>
              <a:cs typeface="Calibri"/>
            </a:endParaRPr>
          </a:p>
          <a:p>
            <a:pPr marL="12700">
              <a:spcBef>
                <a:spcPts val="55"/>
              </a:spcBef>
            </a:pPr>
            <a:r>
              <a:rPr sz="2000" dirty="0">
                <a:solidFill>
                  <a:srgbClr val="FFFFFF"/>
                </a:solidFill>
                <a:latin typeface="Courier New"/>
                <a:cs typeface="Courier New"/>
              </a:rPr>
              <a:t>o</a:t>
            </a:r>
            <a:r>
              <a:rPr sz="2000" spc="260" dirty="0">
                <a:solidFill>
                  <a:srgbClr val="FFFFFF"/>
                </a:solidFill>
                <a:latin typeface="Courier New"/>
                <a:cs typeface="Courier New"/>
              </a:rPr>
              <a:t> </a:t>
            </a:r>
            <a:r>
              <a:rPr sz="2000" dirty="0">
                <a:solidFill>
                  <a:srgbClr val="FFFFFF"/>
                </a:solidFill>
                <a:latin typeface="Calibri"/>
                <a:cs typeface="Calibri"/>
              </a:rPr>
              <a:t>June</a:t>
            </a:r>
            <a:r>
              <a:rPr sz="2000" spc="-25" dirty="0">
                <a:solidFill>
                  <a:srgbClr val="FFFFFF"/>
                </a:solidFill>
                <a:latin typeface="Calibri"/>
                <a:cs typeface="Calibri"/>
              </a:rPr>
              <a:t> </a:t>
            </a:r>
            <a:r>
              <a:rPr sz="2000" dirty="0">
                <a:solidFill>
                  <a:srgbClr val="FFFFFF"/>
                </a:solidFill>
                <a:latin typeface="Calibri"/>
                <a:cs typeface="Calibri"/>
              </a:rPr>
              <a:t>19-21,</a:t>
            </a:r>
            <a:r>
              <a:rPr sz="2000" spc="-25" dirty="0">
                <a:solidFill>
                  <a:srgbClr val="FFFFFF"/>
                </a:solidFill>
                <a:latin typeface="Calibri"/>
                <a:cs typeface="Calibri"/>
              </a:rPr>
              <a:t> </a:t>
            </a:r>
            <a:r>
              <a:rPr sz="2000" spc="-20" dirty="0">
                <a:solidFill>
                  <a:srgbClr val="FFFFFF"/>
                </a:solidFill>
                <a:latin typeface="Calibri"/>
                <a:cs typeface="Calibri"/>
              </a:rPr>
              <a:t>2028</a:t>
            </a:r>
            <a:endParaRPr sz="2000" dirty="0">
              <a:latin typeface="Calibri"/>
              <a:cs typeface="Calibri"/>
            </a:endParaRPr>
          </a:p>
        </p:txBody>
      </p:sp>
      <p:sp>
        <p:nvSpPr>
          <p:cNvPr id="20" name="Slide Number Placeholder 5">
            <a:extLst>
              <a:ext uri="{FF2B5EF4-FFF2-40B4-BE49-F238E27FC236}">
                <a16:creationId xmlns:a16="http://schemas.microsoft.com/office/drawing/2014/main" id="{5AE8F36F-2060-843C-12F1-DA829776E266}"/>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65</a:t>
            </a:fld>
            <a:endParaRPr lang="en-US" sz="1000" dirty="0">
              <a:solidFill>
                <a:srgbClr val="FFFFFF"/>
              </a:solidFill>
            </a:endParaRPr>
          </a:p>
        </p:txBody>
      </p:sp>
      <p:sp>
        <p:nvSpPr>
          <p:cNvPr id="21" name="Slide Number Placeholder 1">
            <a:extLst>
              <a:ext uri="{FF2B5EF4-FFF2-40B4-BE49-F238E27FC236}">
                <a16:creationId xmlns:a16="http://schemas.microsoft.com/office/drawing/2014/main" id="{A69D3C0F-803C-83E6-204D-CB490C1CB585}"/>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65</a:t>
            </a:fld>
            <a:endParaRPr lang="en-US" dirty="0">
              <a:solidFill>
                <a:srgbClr val="FFFFFF"/>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61"/>
            <a:ext cx="12189460" cy="6859905"/>
          </a:xfrm>
          <a:custGeom>
            <a:avLst/>
            <a:gdLst/>
            <a:ahLst/>
            <a:cxnLst/>
            <a:rect l="l" t="t" r="r" b="b"/>
            <a:pathLst>
              <a:path w="12189460" h="6859905">
                <a:moveTo>
                  <a:pt x="12188952" y="0"/>
                </a:moveTo>
                <a:lnTo>
                  <a:pt x="0" y="0"/>
                </a:lnTo>
                <a:lnTo>
                  <a:pt x="0" y="6859778"/>
                </a:lnTo>
                <a:lnTo>
                  <a:pt x="12188952" y="6859778"/>
                </a:lnTo>
                <a:lnTo>
                  <a:pt x="12188952" y="0"/>
                </a:lnTo>
                <a:close/>
              </a:path>
            </a:pathLst>
          </a:custGeom>
          <a:solidFill>
            <a:srgbClr val="1A3B6C"/>
          </a:solidFill>
        </p:spPr>
        <p:txBody>
          <a:bodyPr wrap="square" lIns="0" tIns="0" rIns="0" bIns="0" rtlCol="0"/>
          <a:lstStyle/>
          <a:p>
            <a:endParaRPr dirty="0"/>
          </a:p>
        </p:txBody>
      </p:sp>
      <p:pic>
        <p:nvPicPr>
          <p:cNvPr id="3" name="object 3"/>
          <p:cNvPicPr/>
          <p:nvPr/>
        </p:nvPicPr>
        <p:blipFill>
          <a:blip r:embed="rId2" cstate="email">
            <a:extLst>
              <a:ext uri="{28A0092B-C50C-407E-A947-70E740481C1C}">
                <a14:useLocalDpi xmlns:a14="http://schemas.microsoft.com/office/drawing/2010/main"/>
              </a:ext>
            </a:extLst>
          </a:blip>
          <a:stretch>
            <a:fillRect/>
          </a:stretch>
        </p:blipFill>
        <p:spPr>
          <a:xfrm>
            <a:off x="347474" y="6438978"/>
            <a:ext cx="850391" cy="237807"/>
          </a:xfrm>
          <a:prstGeom prst="rect">
            <a:avLst/>
          </a:prstGeom>
        </p:spPr>
      </p:pic>
      <p:pic>
        <p:nvPicPr>
          <p:cNvPr id="5" name="object 5"/>
          <p:cNvPicPr/>
          <p:nvPr/>
        </p:nvPicPr>
        <p:blipFill>
          <a:blip r:embed="rId3" cstate="email">
            <a:extLst>
              <a:ext uri="{28A0092B-C50C-407E-A947-70E740481C1C}">
                <a14:useLocalDpi xmlns:a14="http://schemas.microsoft.com/office/drawing/2010/main"/>
              </a:ext>
            </a:extLst>
          </a:blip>
          <a:stretch>
            <a:fillRect/>
          </a:stretch>
        </p:blipFill>
        <p:spPr>
          <a:xfrm>
            <a:off x="4828032" y="1"/>
            <a:ext cx="3566160" cy="6859715"/>
          </a:xfrm>
          <a:prstGeom prst="rect">
            <a:avLst/>
          </a:prstGeom>
        </p:spPr>
      </p:pic>
      <p:sp>
        <p:nvSpPr>
          <p:cNvPr id="13" name="Picture Placeholder 12">
            <a:extLst>
              <a:ext uri="{FF2B5EF4-FFF2-40B4-BE49-F238E27FC236}">
                <a16:creationId xmlns:a16="http://schemas.microsoft.com/office/drawing/2014/main" id="{268830B3-69A7-BCDC-0509-16B5FFCB19D6}"/>
              </a:ext>
            </a:extLst>
          </p:cNvPr>
          <p:cNvSpPr>
            <a:spLocks noGrp="1"/>
          </p:cNvSpPr>
          <p:nvPr>
            <p:ph type="pic" idx="1"/>
          </p:nvPr>
        </p:nvSpPr>
        <p:spPr/>
        <p:txBody>
          <a:bodyPr/>
          <a:lstStyle/>
          <a:p>
            <a:endParaRPr lang="en-US" dirty="0"/>
          </a:p>
        </p:txBody>
      </p:sp>
      <p:pic>
        <p:nvPicPr>
          <p:cNvPr id="9" name="object 9"/>
          <p:cNvPicPr/>
          <p:nvPr/>
        </p:nvPicPr>
        <p:blipFill>
          <a:blip r:embed="rId4" cstate="email">
            <a:extLst>
              <a:ext uri="{28A0092B-C50C-407E-A947-70E740481C1C}">
                <a14:useLocalDpi xmlns:a14="http://schemas.microsoft.com/office/drawing/2010/main"/>
              </a:ext>
            </a:extLst>
          </a:blip>
          <a:stretch>
            <a:fillRect/>
          </a:stretch>
        </p:blipFill>
        <p:spPr>
          <a:xfrm>
            <a:off x="5335410" y="0"/>
            <a:ext cx="6853543" cy="6858000"/>
          </a:xfrm>
          <a:prstGeom prst="rect">
            <a:avLst/>
          </a:prstGeom>
        </p:spPr>
      </p:pic>
      <p:sp>
        <p:nvSpPr>
          <p:cNvPr id="6" name="object 6"/>
          <p:cNvSpPr txBox="1">
            <a:spLocks noGrp="1"/>
          </p:cNvSpPr>
          <p:nvPr>
            <p:ph type="title"/>
          </p:nvPr>
        </p:nvSpPr>
        <p:spPr>
          <a:xfrm>
            <a:off x="565690" y="719333"/>
            <a:ext cx="7562311" cy="1075937"/>
          </a:xfrm>
          <a:prstGeom prst="rect">
            <a:avLst/>
          </a:prstGeom>
        </p:spPr>
        <p:txBody>
          <a:bodyPr vert="horz" wrap="square" lIns="0" tIns="74931" rIns="0" bIns="0" rtlCol="0" anchor="ctr">
            <a:spAutoFit/>
          </a:bodyPr>
          <a:lstStyle/>
          <a:p>
            <a:pPr marL="12700" marR="5080">
              <a:lnSpc>
                <a:spcPts val="3891"/>
              </a:lnSpc>
              <a:spcBef>
                <a:spcPts val="591"/>
              </a:spcBef>
            </a:pPr>
            <a:r>
              <a:rPr sz="3600" spc="-11" dirty="0"/>
              <a:t>International</a:t>
            </a:r>
            <a:r>
              <a:rPr sz="3600" spc="-155" dirty="0"/>
              <a:t> </a:t>
            </a:r>
            <a:r>
              <a:rPr sz="3600" spc="-11" dirty="0"/>
              <a:t>Astronautical </a:t>
            </a:r>
            <a:r>
              <a:rPr sz="3600" dirty="0"/>
              <a:t>Congress</a:t>
            </a:r>
            <a:r>
              <a:rPr sz="3600" spc="-135" dirty="0"/>
              <a:t> </a:t>
            </a:r>
            <a:r>
              <a:rPr sz="3600" dirty="0"/>
              <a:t>(IAC)</a:t>
            </a:r>
            <a:r>
              <a:rPr sz="3600" spc="-115" dirty="0"/>
              <a:t> </a:t>
            </a:r>
            <a:r>
              <a:rPr sz="3600" spc="-20" dirty="0"/>
              <a:t>2029</a:t>
            </a:r>
            <a:endParaRPr sz="3600" dirty="0"/>
          </a:p>
        </p:txBody>
      </p:sp>
      <p:sp>
        <p:nvSpPr>
          <p:cNvPr id="14" name="Text Placeholder 13">
            <a:extLst>
              <a:ext uri="{FF2B5EF4-FFF2-40B4-BE49-F238E27FC236}">
                <a16:creationId xmlns:a16="http://schemas.microsoft.com/office/drawing/2014/main" id="{D18346DF-99FA-3917-FF52-7BD0EEACEB01}"/>
              </a:ext>
            </a:extLst>
          </p:cNvPr>
          <p:cNvSpPr>
            <a:spLocks noGrp="1"/>
          </p:cNvSpPr>
          <p:nvPr>
            <p:ph type="body" sz="half" idx="2"/>
          </p:nvPr>
        </p:nvSpPr>
        <p:spPr/>
        <p:txBody>
          <a:bodyPr/>
          <a:lstStyle/>
          <a:p>
            <a:pPr marL="298443" indent="-285744">
              <a:spcBef>
                <a:spcPts val="840"/>
              </a:spcBef>
              <a:buFont typeface="Arial"/>
              <a:buChar char="•"/>
              <a:tabLst>
                <a:tab pos="298443" algn="l"/>
              </a:tabLst>
            </a:pPr>
            <a:r>
              <a:rPr lang="en-US" sz="1867" dirty="0">
                <a:solidFill>
                  <a:srgbClr val="FFFFFF"/>
                </a:solidFill>
                <a:latin typeface="Calibri"/>
                <a:cs typeface="Calibri"/>
              </a:rPr>
              <a:t>AIAA</a:t>
            </a:r>
            <a:r>
              <a:rPr lang="en-US" sz="1867" spc="-15" dirty="0">
                <a:solidFill>
                  <a:srgbClr val="FFFFFF"/>
                </a:solidFill>
                <a:latin typeface="Calibri"/>
                <a:cs typeface="Calibri"/>
              </a:rPr>
              <a:t> hopes</a:t>
            </a:r>
            <a:r>
              <a:rPr lang="en-US" sz="1867" spc="-31" dirty="0">
                <a:solidFill>
                  <a:srgbClr val="FFFFFF"/>
                </a:solidFill>
                <a:latin typeface="Calibri"/>
                <a:cs typeface="Calibri"/>
              </a:rPr>
              <a:t> </a:t>
            </a:r>
            <a:r>
              <a:rPr lang="en-US" sz="1867" dirty="0">
                <a:solidFill>
                  <a:srgbClr val="FFFFFF"/>
                </a:solidFill>
                <a:latin typeface="Calibri"/>
                <a:cs typeface="Calibri"/>
              </a:rPr>
              <a:t>to</a:t>
            </a:r>
            <a:r>
              <a:rPr lang="en-US" sz="1867" spc="-40" dirty="0">
                <a:solidFill>
                  <a:srgbClr val="FFFFFF"/>
                </a:solidFill>
                <a:latin typeface="Calibri"/>
                <a:cs typeface="Calibri"/>
              </a:rPr>
              <a:t> </a:t>
            </a:r>
            <a:r>
              <a:rPr lang="en-US" sz="1867" dirty="0">
                <a:solidFill>
                  <a:srgbClr val="FFFFFF"/>
                </a:solidFill>
                <a:latin typeface="Calibri"/>
                <a:cs typeface="Calibri"/>
              </a:rPr>
              <a:t>host</a:t>
            </a:r>
            <a:r>
              <a:rPr lang="en-US" sz="1867" spc="-40" dirty="0">
                <a:solidFill>
                  <a:srgbClr val="FFFFFF"/>
                </a:solidFill>
                <a:latin typeface="Calibri"/>
                <a:cs typeface="Calibri"/>
              </a:rPr>
              <a:t> </a:t>
            </a:r>
            <a:r>
              <a:rPr lang="en-US" sz="1867" dirty="0">
                <a:solidFill>
                  <a:srgbClr val="FFFFFF"/>
                </a:solidFill>
                <a:latin typeface="Calibri"/>
                <a:cs typeface="Calibri"/>
              </a:rPr>
              <a:t>IAC</a:t>
            </a:r>
            <a:r>
              <a:rPr lang="en-US" sz="1867" spc="-55" dirty="0">
                <a:solidFill>
                  <a:srgbClr val="FFFFFF"/>
                </a:solidFill>
                <a:latin typeface="Calibri"/>
                <a:cs typeface="Calibri"/>
              </a:rPr>
              <a:t> </a:t>
            </a:r>
            <a:r>
              <a:rPr lang="en-US" sz="1867" dirty="0">
                <a:solidFill>
                  <a:srgbClr val="FFFFFF"/>
                </a:solidFill>
                <a:latin typeface="Calibri"/>
                <a:cs typeface="Calibri"/>
              </a:rPr>
              <a:t>in</a:t>
            </a:r>
            <a:r>
              <a:rPr lang="en-US" sz="1867" spc="-35" dirty="0">
                <a:solidFill>
                  <a:srgbClr val="FFFFFF"/>
                </a:solidFill>
                <a:latin typeface="Calibri"/>
                <a:cs typeface="Calibri"/>
              </a:rPr>
              <a:t> </a:t>
            </a:r>
            <a:r>
              <a:rPr lang="en-US" sz="1867" spc="-20" dirty="0">
                <a:solidFill>
                  <a:srgbClr val="FFFFFF"/>
                </a:solidFill>
                <a:latin typeface="Calibri"/>
                <a:cs typeface="Calibri"/>
              </a:rPr>
              <a:t>2029</a:t>
            </a:r>
            <a:endParaRPr lang="en-US" sz="1867" dirty="0">
              <a:latin typeface="Calibri"/>
              <a:cs typeface="Calibri"/>
            </a:endParaRPr>
          </a:p>
          <a:p>
            <a:pPr marL="298443" indent="-285744">
              <a:spcBef>
                <a:spcPts val="751"/>
              </a:spcBef>
              <a:buFont typeface="Arial"/>
              <a:buChar char="•"/>
              <a:tabLst>
                <a:tab pos="298443" algn="l"/>
              </a:tabLst>
            </a:pPr>
            <a:r>
              <a:rPr lang="en-US" sz="1867" dirty="0">
                <a:solidFill>
                  <a:srgbClr val="FFFFFF"/>
                </a:solidFill>
                <a:latin typeface="Calibri"/>
                <a:cs typeface="Calibri"/>
              </a:rPr>
              <a:t>Host</a:t>
            </a:r>
            <a:r>
              <a:rPr lang="en-US" sz="1867" spc="-65" dirty="0">
                <a:solidFill>
                  <a:srgbClr val="FFFFFF"/>
                </a:solidFill>
                <a:latin typeface="Calibri"/>
                <a:cs typeface="Calibri"/>
              </a:rPr>
              <a:t> </a:t>
            </a:r>
            <a:r>
              <a:rPr lang="en-US" sz="1867" dirty="0">
                <a:solidFill>
                  <a:srgbClr val="FFFFFF"/>
                </a:solidFill>
                <a:latin typeface="Calibri"/>
                <a:cs typeface="Calibri"/>
              </a:rPr>
              <a:t>city:</a:t>
            </a:r>
            <a:r>
              <a:rPr lang="en-US" sz="1867" spc="-55" dirty="0">
                <a:solidFill>
                  <a:srgbClr val="FFFFFF"/>
                </a:solidFill>
                <a:latin typeface="Calibri"/>
                <a:cs typeface="Calibri"/>
              </a:rPr>
              <a:t> </a:t>
            </a:r>
            <a:r>
              <a:rPr lang="en-US" sz="1867" dirty="0">
                <a:solidFill>
                  <a:srgbClr val="FFFFFF"/>
                </a:solidFill>
                <a:latin typeface="Calibri"/>
                <a:cs typeface="Calibri"/>
              </a:rPr>
              <a:t>Houston,</a:t>
            </a:r>
            <a:r>
              <a:rPr lang="en-US" sz="1867" spc="-20" dirty="0">
                <a:solidFill>
                  <a:srgbClr val="FFFFFF"/>
                </a:solidFill>
                <a:latin typeface="Calibri"/>
                <a:cs typeface="Calibri"/>
              </a:rPr>
              <a:t> Texas</a:t>
            </a:r>
            <a:endParaRPr lang="en-US" sz="1867" dirty="0">
              <a:latin typeface="Calibri"/>
              <a:cs typeface="Calibri"/>
            </a:endParaRPr>
          </a:p>
          <a:p>
            <a:pPr marL="298443" indent="-285744">
              <a:spcBef>
                <a:spcPts val="751"/>
              </a:spcBef>
              <a:buFont typeface="Arial"/>
              <a:buChar char="•"/>
              <a:tabLst>
                <a:tab pos="298443" algn="l"/>
              </a:tabLst>
            </a:pPr>
            <a:r>
              <a:rPr lang="en-US" sz="1867" dirty="0">
                <a:solidFill>
                  <a:srgbClr val="FFFFFF"/>
                </a:solidFill>
                <a:latin typeface="Calibri"/>
                <a:cs typeface="Calibri"/>
              </a:rPr>
              <a:t>Bid</a:t>
            </a:r>
            <a:r>
              <a:rPr lang="en-US" sz="1867" spc="-15" dirty="0">
                <a:solidFill>
                  <a:srgbClr val="FFFFFF"/>
                </a:solidFill>
                <a:latin typeface="Calibri"/>
                <a:cs typeface="Calibri"/>
              </a:rPr>
              <a:t> </a:t>
            </a:r>
            <a:r>
              <a:rPr lang="en-US" sz="1867" spc="-11" dirty="0">
                <a:solidFill>
                  <a:srgbClr val="FFFFFF"/>
                </a:solidFill>
                <a:latin typeface="Calibri"/>
                <a:cs typeface="Calibri"/>
              </a:rPr>
              <a:t>package</a:t>
            </a:r>
            <a:r>
              <a:rPr lang="en-US" sz="1867" spc="-20" dirty="0">
                <a:solidFill>
                  <a:srgbClr val="FFFFFF"/>
                </a:solidFill>
                <a:latin typeface="Calibri"/>
                <a:cs typeface="Calibri"/>
              </a:rPr>
              <a:t> submitted in </a:t>
            </a:r>
            <a:r>
              <a:rPr lang="en-US" sz="1867" dirty="0">
                <a:solidFill>
                  <a:srgbClr val="FFFFFF"/>
                </a:solidFill>
                <a:latin typeface="Calibri"/>
                <a:cs typeface="Calibri"/>
              </a:rPr>
              <a:t>April</a:t>
            </a:r>
            <a:r>
              <a:rPr lang="en-US" sz="1867" spc="-71" dirty="0">
                <a:solidFill>
                  <a:srgbClr val="FFFFFF"/>
                </a:solidFill>
                <a:latin typeface="Calibri"/>
                <a:cs typeface="Calibri"/>
              </a:rPr>
              <a:t> </a:t>
            </a:r>
            <a:r>
              <a:rPr lang="en-US" sz="1867" spc="-20" dirty="0">
                <a:solidFill>
                  <a:srgbClr val="FFFFFF"/>
                </a:solidFill>
                <a:latin typeface="Calibri"/>
                <a:cs typeface="Calibri"/>
              </a:rPr>
              <a:t>2026</a:t>
            </a:r>
            <a:endParaRPr lang="en-US" sz="1867" dirty="0">
              <a:latin typeface="Calibri"/>
              <a:cs typeface="Calibri"/>
            </a:endParaRPr>
          </a:p>
        </p:txBody>
      </p:sp>
      <p:sp>
        <p:nvSpPr>
          <p:cNvPr id="11" name="object 11"/>
          <p:cNvSpPr txBox="1">
            <a:spLocks noGrp="1"/>
          </p:cNvSpPr>
          <p:nvPr>
            <p:ph type="sldNum" sz="quarter" idx="12"/>
          </p:nvPr>
        </p:nvSpPr>
        <p:spPr>
          <a:xfrm>
            <a:off x="15487975" y="8687375"/>
            <a:ext cx="768027" cy="141064"/>
          </a:xfrm>
          <a:prstGeom prst="rect">
            <a:avLst/>
          </a:prstGeom>
        </p:spPr>
        <p:txBody>
          <a:bodyPr vert="horz" wrap="square" lIns="0" tIns="0" rIns="0" bIns="0" rtlCol="0" anchor="ctr">
            <a:spAutoFit/>
          </a:bodyPr>
          <a:lstStyle/>
          <a:p>
            <a:pPr marL="38099">
              <a:lnSpc>
                <a:spcPts val="1060"/>
              </a:lnSpc>
            </a:pPr>
            <a:fld id="{81D60167-4931-47E6-BA6A-407CBD079E47}" type="slidenum">
              <a:rPr spc="-25" dirty="0"/>
              <a:pPr marL="38099">
                <a:lnSpc>
                  <a:spcPts val="1060"/>
                </a:lnSpc>
              </a:pPr>
              <a:t>66</a:t>
            </a:fld>
            <a:endParaRPr spc="-25" dirty="0"/>
          </a:p>
        </p:txBody>
      </p:sp>
      <p:sp>
        <p:nvSpPr>
          <p:cNvPr id="12" name="Explosion: 8 Points 11">
            <a:extLst>
              <a:ext uri="{FF2B5EF4-FFF2-40B4-BE49-F238E27FC236}">
                <a16:creationId xmlns:a16="http://schemas.microsoft.com/office/drawing/2014/main" id="{819D155C-7FF5-E165-8CA9-6F80E6EC7583}"/>
              </a:ext>
            </a:extLst>
          </p:cNvPr>
          <p:cNvSpPr/>
          <p:nvPr/>
        </p:nvSpPr>
        <p:spPr>
          <a:xfrm rot="20550607">
            <a:off x="1605518" y="3882668"/>
            <a:ext cx="3705980" cy="2385441"/>
          </a:xfrm>
          <a:prstGeom prst="irregularSeal1">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normAutofit fontScale="70000" lnSpcReduction="20000"/>
          </a:bodyPr>
          <a:lstStyle/>
          <a:p>
            <a:pPr algn="ctr"/>
            <a:r>
              <a:rPr lang="en-US" sz="2400" dirty="0"/>
              <a:t>A successful bid will affect ASCEND 2029 plans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0521C-109E-EFC6-8EF5-17D8B0947F99}"/>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14DE205B-F621-58C5-6813-CC606C3ED4C1}"/>
              </a:ext>
            </a:extLst>
          </p:cNvPr>
          <p:cNvSpPr txBox="1">
            <a:spLocks/>
          </p:cNvSpPr>
          <p:nvPr/>
        </p:nvSpPr>
        <p:spPr>
          <a:xfrm>
            <a:off x="343597" y="365125"/>
            <a:ext cx="10657484" cy="1169207"/>
          </a:xfrm>
          <a:prstGeom prst="rect">
            <a:avLst/>
          </a:prstGeom>
        </p:spPr>
        <p:txBody>
          <a:bodyPr lIns="0" tIns="0" rIns="0" bIns="0" anchor="t">
            <a:noAutofit/>
          </a:bodyPr>
          <a:lstStyle>
            <a:lvl1pPr algn="l" defTabSz="914400" rtl="0" eaLnBrk="1" latinLnBrk="0" hangingPunct="1">
              <a:lnSpc>
                <a:spcPct val="80000"/>
              </a:lnSpc>
              <a:spcBef>
                <a:spcPct val="0"/>
              </a:spcBef>
              <a:buNone/>
              <a:defRPr sz="4400" b="1" i="0" kern="1200">
                <a:solidFill>
                  <a:schemeClr val="accent2"/>
                </a:solidFill>
                <a:latin typeface="Figtree SemiBold" pitchFamily="2"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Figtree SemiBold" pitchFamily="2" charset="0"/>
                <a:ea typeface="+mj-ea"/>
                <a:cs typeface="+mj-cs"/>
              </a:rPr>
              <a:t>Important Notes</a:t>
            </a:r>
          </a:p>
        </p:txBody>
      </p:sp>
      <p:sp>
        <p:nvSpPr>
          <p:cNvPr id="2" name="Slide Number Placeholder 1">
            <a:extLst>
              <a:ext uri="{FF2B5EF4-FFF2-40B4-BE49-F238E27FC236}">
                <a16:creationId xmlns:a16="http://schemas.microsoft.com/office/drawing/2014/main" id="{3642A9D8-7884-EE18-40A9-5945D37AA53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0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3" name="Content Placeholder 2">
            <a:extLst>
              <a:ext uri="{FF2B5EF4-FFF2-40B4-BE49-F238E27FC236}">
                <a16:creationId xmlns:a16="http://schemas.microsoft.com/office/drawing/2014/main" id="{BCDA74FE-205D-5105-6539-AB2E213D9872}"/>
              </a:ext>
            </a:extLst>
          </p:cNvPr>
          <p:cNvSpPr txBox="1">
            <a:spLocks/>
          </p:cNvSpPr>
          <p:nvPr/>
        </p:nvSpPr>
        <p:spPr>
          <a:xfrm>
            <a:off x="412376" y="1110636"/>
            <a:ext cx="10981765" cy="4404531"/>
          </a:xfrm>
          <a:prstGeom prst="rect">
            <a:avLst/>
          </a:prstGeom>
        </p:spPr>
        <p:txBody>
          <a:bodyPr lIns="0" tIns="0" rIns="0" bIns="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200" b="0" i="0" u="none" strike="noStrike" kern="100" cap="none" spc="0" normalizeH="0" baseline="0" noProof="0" dirty="0">
                <a:ln>
                  <a:noFill/>
                </a:ln>
                <a:solidFill>
                  <a:srgbClr val="FFFFFF"/>
                </a:solidFill>
                <a:effectLst/>
                <a:uLnTx/>
                <a:uFillTx/>
                <a:latin typeface="Figtree" pitchFamily="2" charset="0"/>
                <a:ea typeface="Aptos" panose="020B0004020202020204" pitchFamily="34" charset="0"/>
                <a:cs typeface="Times New Roman" panose="02020603050405020304" pitchFamily="18" charset="0"/>
              </a:rPr>
              <a:t>SciTech Call for Content Closes 21 May</a:t>
            </a:r>
          </a:p>
          <a:p>
            <a:pPr marL="685800" marR="0" lvl="1" indent="-2286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1800" b="0" i="0" u="none" strike="noStrike" kern="100" cap="none" spc="0" normalizeH="0" baseline="0" noProof="0" dirty="0">
                <a:ln>
                  <a:noFill/>
                </a:ln>
                <a:solidFill>
                  <a:srgbClr val="FFFFFF"/>
                </a:solidFill>
                <a:effectLst/>
                <a:uLnTx/>
                <a:uFillTx/>
                <a:latin typeface="Figtree" pitchFamily="2" charset="0"/>
                <a:ea typeface="Aptos" panose="020B0004020202020204" pitchFamily="34" charset="0"/>
                <a:cs typeface="Times New Roman" panose="02020603050405020304" pitchFamily="18" charset="0"/>
              </a:rPr>
              <a:t>All non-paper technical sessions submitted through Call for Sessions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200" b="0" i="0" u="none" strike="noStrike" kern="100" cap="none" spc="0" normalizeH="0" baseline="0" noProof="0" dirty="0">
                <a:ln>
                  <a:noFill/>
                </a:ln>
                <a:solidFill>
                  <a:srgbClr val="FFFFFF"/>
                </a:solidFill>
                <a:effectLst/>
                <a:uLnTx/>
                <a:uFillTx/>
                <a:latin typeface="Figtree" pitchFamily="2" charset="0"/>
                <a:ea typeface="Aptos" panose="020B0004020202020204" pitchFamily="34" charset="0"/>
                <a:cs typeface="Times New Roman" panose="02020603050405020304" pitchFamily="18" charset="0"/>
              </a:rPr>
              <a:t>DEFENSE Call for Briefings Opened 12 May, Closes 13 August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200" b="0" i="0" u="none" strike="noStrike" kern="100" cap="none" spc="0" normalizeH="0" baseline="0" noProof="0" dirty="0">
                <a:ln>
                  <a:noFill/>
                </a:ln>
                <a:solidFill>
                  <a:srgbClr val="FFFFFF"/>
                </a:solidFill>
                <a:effectLst/>
                <a:uLnTx/>
                <a:uFillTx/>
                <a:latin typeface="Figtree" pitchFamily="2" charset="0"/>
                <a:ea typeface="Aptos" panose="020B0004020202020204" pitchFamily="34" charset="0"/>
                <a:cs typeface="Times New Roman" panose="02020603050405020304" pitchFamily="18" charset="0"/>
              </a:rPr>
              <a:t>ASCEND Call for Content Opens 21 July</a:t>
            </a:r>
          </a:p>
          <a:p>
            <a:pPr marL="685800" marR="0" lvl="1" indent="-2286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1800" b="0" i="0" u="none" strike="noStrike" kern="100" cap="none" spc="0" normalizeH="0" baseline="0" noProof="0" dirty="0">
                <a:ln>
                  <a:noFill/>
                </a:ln>
                <a:solidFill>
                  <a:srgbClr val="FFFFFF"/>
                </a:solidFill>
                <a:effectLst/>
                <a:uLnTx/>
                <a:uFillTx/>
                <a:latin typeface="Figtree" pitchFamily="2" charset="0"/>
                <a:ea typeface="Aptos" panose="020B0004020202020204" pitchFamily="34" charset="0"/>
                <a:cs typeface="Times New Roman" panose="02020603050405020304" pitchFamily="18" charset="0"/>
              </a:rPr>
              <a:t>Call for Papers Due to Kim Grant 9 June</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200" b="0" i="0" u="none" strike="noStrike" kern="100" cap="none" spc="0" normalizeH="0" baseline="0" noProof="0" dirty="0">
                <a:ln>
                  <a:noFill/>
                </a:ln>
                <a:solidFill>
                  <a:srgbClr val="FFFFFF"/>
                </a:solidFill>
                <a:effectLst/>
                <a:uLnTx/>
                <a:uFillTx/>
                <a:latin typeface="Figtree" pitchFamily="2" charset="0"/>
                <a:ea typeface="Aptos" panose="020B0004020202020204" pitchFamily="34" charset="0"/>
                <a:cs typeface="Times New Roman" panose="02020603050405020304" pitchFamily="18" charset="0"/>
              </a:rPr>
              <a:t>AVIATION Call for Content Opens 15 September</a:t>
            </a:r>
          </a:p>
          <a:p>
            <a:pPr marL="685800" marR="0" lvl="1" indent="-22860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1800" b="0" i="0" u="none" strike="noStrike" kern="100" cap="none" spc="0" normalizeH="0" baseline="0" noProof="0" dirty="0">
                <a:ln>
                  <a:noFill/>
                </a:ln>
                <a:solidFill>
                  <a:srgbClr val="FFFFFF"/>
                </a:solidFill>
                <a:effectLst/>
                <a:uLnTx/>
                <a:uFillTx/>
                <a:latin typeface="Figtree" pitchFamily="2" charset="0"/>
                <a:ea typeface="Aptos" panose="020B0004020202020204" pitchFamily="34" charset="0"/>
                <a:cs typeface="Times New Roman" panose="02020603050405020304" pitchFamily="18" charset="0"/>
              </a:rPr>
              <a:t>Call for Papers Due to Kim Grant 6 August</a:t>
            </a:r>
          </a:p>
          <a:p>
            <a:pPr marL="0" marR="0" lvl="0" indent="0" algn="l" defTabSz="914400" rtl="0" eaLnBrk="1" fontAlgn="auto" latinLnBrk="0" hangingPunct="1">
              <a:lnSpc>
                <a:spcPct val="115000"/>
              </a:lnSpc>
              <a:spcBef>
                <a:spcPts val="1000"/>
              </a:spcBef>
              <a:spcAft>
                <a:spcPts val="0"/>
              </a:spcAft>
              <a:buClrTx/>
              <a:buSzTx/>
              <a:buFont typeface="Arial" panose="020B0604020202020204" pitchFamily="34" charset="0"/>
              <a:buNone/>
              <a:tabLst/>
              <a:defRPr/>
            </a:pPr>
            <a:endParaRPr kumimoji="0" lang="en-US" sz="2800" b="0" i="0" u="none" strike="noStrike" kern="100" cap="none" spc="0" normalizeH="0" baseline="0" noProof="0" dirty="0">
              <a:ln>
                <a:noFill/>
              </a:ln>
              <a:solidFill>
                <a:srgbClr val="000000"/>
              </a:solidFill>
              <a:effectLst/>
              <a:uLnTx/>
              <a:uFillTx/>
              <a:latin typeface="Figtree"/>
              <a:ea typeface="Aptos" panose="020B0004020202020204" pitchFamily="34" charset="0"/>
              <a:cs typeface="Times New Roman"/>
            </a:endParaRPr>
          </a:p>
          <a:p>
            <a:pPr marL="228600" marR="0" lvl="0" indent="-228600" algn="l" defTabSz="914400" rtl="0" eaLnBrk="1" fontAlgn="auto" latinLnBrk="0" hangingPunct="1">
              <a:lnSpc>
                <a:spcPct val="115000"/>
              </a:lnSpc>
              <a:spcBef>
                <a:spcPts val="1000"/>
              </a:spcBef>
              <a:spcAft>
                <a:spcPts val="0"/>
              </a:spcAft>
              <a:buClrTx/>
              <a:buSzTx/>
              <a:buFont typeface="Arial" panose="020B0604020202020204" pitchFamily="34" charset="0"/>
              <a:buChar char="•"/>
              <a:tabLst/>
              <a:defRPr/>
            </a:pPr>
            <a:endParaRPr kumimoji="0" lang="en-US" sz="2800" b="0" i="0" u="none" strike="noStrike" kern="100" cap="none" spc="0" normalizeH="0" baseline="0" noProof="0" dirty="0">
              <a:ln>
                <a:noFill/>
              </a:ln>
              <a:solidFill>
                <a:srgbClr val="1B3D6C"/>
              </a:solidFill>
              <a:effectLst/>
              <a:uLnTx/>
              <a:uFillTx/>
              <a:latin typeface="Aptos" panose="02110004020202020204"/>
              <a:ea typeface="Aptos" panose="020B000402020202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823869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07997-178E-752E-ABDF-03FBB7CD8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6C1D2-40D0-450D-177C-47F3A5A90D0E}"/>
              </a:ext>
            </a:extLst>
          </p:cNvPr>
          <p:cNvSpPr>
            <a:spLocks noGrp="1"/>
          </p:cNvSpPr>
          <p:nvPr>
            <p:ph type="title"/>
          </p:nvPr>
        </p:nvSpPr>
        <p:spPr/>
        <p:txBody>
          <a:bodyPr/>
          <a:lstStyle/>
          <a:p>
            <a:r>
              <a:rPr lang="en-US" sz="4800" dirty="0">
                <a:latin typeface="Arial" panose="020B0604020202020204" pitchFamily="34" charset="0"/>
                <a:cs typeface="Arial" panose="020B0604020202020204" pitchFamily="34" charset="0"/>
              </a:rPr>
              <a:t>Miscellaneous Updates</a:t>
            </a:r>
          </a:p>
        </p:txBody>
      </p:sp>
      <p:sp>
        <p:nvSpPr>
          <p:cNvPr id="3" name="Slide Number Placeholder 2">
            <a:extLst>
              <a:ext uri="{FF2B5EF4-FFF2-40B4-BE49-F238E27FC236}">
                <a16:creationId xmlns:a16="http://schemas.microsoft.com/office/drawing/2014/main" id="{67E7B2C2-C21B-5445-C160-EEFD7EC45F37}"/>
              </a:ext>
            </a:extLst>
          </p:cNvPr>
          <p:cNvSpPr>
            <a:spLocks noGrp="1"/>
          </p:cNvSpPr>
          <p:nvPr>
            <p:ph type="sldNum" sz="quarter" idx="12"/>
          </p:nvPr>
        </p:nvSpPr>
        <p:spPr/>
        <p:txBody>
          <a:bodyPr/>
          <a:lstStyle/>
          <a:p>
            <a:fld id="{8FBCB428-D880-FC4A-9B26-64132A65A030}" type="slidenum">
              <a:rPr lang="en-US" smtClean="0"/>
              <a:pPr/>
              <a:t>68</a:t>
            </a:fld>
            <a:endParaRPr lang="en-US" dirty="0"/>
          </a:p>
        </p:txBody>
      </p:sp>
      <p:sp>
        <p:nvSpPr>
          <p:cNvPr id="4" name="Slide Number Placeholder 5">
            <a:extLst>
              <a:ext uri="{FF2B5EF4-FFF2-40B4-BE49-F238E27FC236}">
                <a16:creationId xmlns:a16="http://schemas.microsoft.com/office/drawing/2014/main" id="{CA9663C0-DB6D-9DB9-1F45-202960C85351}"/>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68</a:t>
            </a:fld>
            <a:endParaRPr lang="en-US" sz="1000" dirty="0">
              <a:solidFill>
                <a:srgbClr val="FFFFFF"/>
              </a:solidFill>
            </a:endParaRPr>
          </a:p>
        </p:txBody>
      </p:sp>
      <p:cxnSp>
        <p:nvCxnSpPr>
          <p:cNvPr id="5" name="Straight Connector 4">
            <a:extLst>
              <a:ext uri="{FF2B5EF4-FFF2-40B4-BE49-F238E27FC236}">
                <a16:creationId xmlns:a16="http://schemas.microsoft.com/office/drawing/2014/main" id="{6A0FA290-7F04-C764-A6DE-06B8AA83DDC4}"/>
              </a:ext>
            </a:extLst>
          </p:cNvPr>
          <p:cNvCxnSpPr>
            <a:cxnSpLocks/>
          </p:cNvCxnSpPr>
          <p:nvPr/>
        </p:nvCxnSpPr>
        <p:spPr>
          <a:xfrm>
            <a:off x="11491993" y="6454131"/>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Slide Number Placeholder 1">
            <a:extLst>
              <a:ext uri="{FF2B5EF4-FFF2-40B4-BE49-F238E27FC236}">
                <a16:creationId xmlns:a16="http://schemas.microsoft.com/office/drawing/2014/main" id="{D94DB7F0-DCBD-1692-E376-838A926FB60A}"/>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68</a:t>
            </a:fld>
            <a:endParaRPr lang="en-US" dirty="0">
              <a:solidFill>
                <a:srgbClr val="FFFFFF"/>
              </a:solidFill>
            </a:endParaRPr>
          </a:p>
        </p:txBody>
      </p:sp>
      <p:cxnSp>
        <p:nvCxnSpPr>
          <p:cNvPr id="7" name="Straight Connector 6">
            <a:extLst>
              <a:ext uri="{FF2B5EF4-FFF2-40B4-BE49-F238E27FC236}">
                <a16:creationId xmlns:a16="http://schemas.microsoft.com/office/drawing/2014/main" id="{A374AE4E-ECCD-9A31-4E9F-87494BCB1CF7}"/>
              </a:ext>
            </a:extLst>
          </p:cNvPr>
          <p:cNvCxnSpPr>
            <a:cxnSpLocks/>
          </p:cNvCxnSpPr>
          <p:nvPr/>
        </p:nvCxnSpPr>
        <p:spPr>
          <a:xfrm>
            <a:off x="11494008" y="6455664"/>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5315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7B728-BBE1-2A6B-E72E-7FC9B5574496}"/>
              </a:ext>
            </a:extLst>
          </p:cNvPr>
          <p:cNvSpPr>
            <a:spLocks noGrp="1"/>
          </p:cNvSpPr>
          <p:nvPr>
            <p:ph type="title"/>
          </p:nvPr>
        </p:nvSpPr>
        <p:spPr>
          <a:xfrm>
            <a:off x="350005" y="2"/>
            <a:ext cx="11491993" cy="1169207"/>
          </a:xfrm>
        </p:spPr>
        <p:txBody>
          <a:bodyPr/>
          <a:lstStyle/>
          <a:p>
            <a:r>
              <a:rPr lang="en-US" dirty="0"/>
              <a:t>Important Dates to Remember</a:t>
            </a:r>
          </a:p>
        </p:txBody>
      </p:sp>
      <p:sp>
        <p:nvSpPr>
          <p:cNvPr id="4" name="Content Placeholder 2">
            <a:extLst>
              <a:ext uri="{FF2B5EF4-FFF2-40B4-BE49-F238E27FC236}">
                <a16:creationId xmlns:a16="http://schemas.microsoft.com/office/drawing/2014/main" id="{FA0EAC11-2689-7A8C-A20A-63FC1DA9B2AC}"/>
              </a:ext>
            </a:extLst>
          </p:cNvPr>
          <p:cNvSpPr>
            <a:spLocks noGrp="1"/>
          </p:cNvSpPr>
          <p:nvPr>
            <p:ph idx="1"/>
          </p:nvPr>
        </p:nvSpPr>
        <p:spPr>
          <a:xfrm>
            <a:off x="727365" y="984902"/>
            <a:ext cx="5057887" cy="4888199"/>
          </a:xfrm>
        </p:spPr>
        <p:txBody>
          <a:bodyPr lIns="0" tIns="0" rIns="0" bIns="0" anchor="t">
            <a:noAutofit/>
          </a:bodyPr>
          <a:lstStyle/>
          <a:p>
            <a:pPr>
              <a:lnSpc>
                <a:spcPct val="80000"/>
              </a:lnSpc>
            </a:pPr>
            <a:r>
              <a:rPr lang="en-US" sz="1600" b="1" dirty="0">
                <a:latin typeface="Calibri"/>
                <a:ea typeface="Calibri"/>
                <a:cs typeface="Calibri"/>
              </a:rPr>
              <a:t>January</a:t>
            </a:r>
          </a:p>
          <a:p>
            <a:pPr marL="285744" indent="-285744">
              <a:lnSpc>
                <a:spcPct val="80000"/>
              </a:lnSpc>
              <a:buFont typeface="Arial" panose="020B0604020202020204" pitchFamily="34" charset="0"/>
              <a:buChar char="•"/>
            </a:pPr>
            <a:r>
              <a:rPr lang="en-US" sz="1600" dirty="0">
                <a:latin typeface="Calibri"/>
                <a:ea typeface="Calibri"/>
                <a:cs typeface="Calibri"/>
              </a:rPr>
              <a:t>READ/IOD/TAD and Council Meetings</a:t>
            </a:r>
          </a:p>
          <a:p>
            <a:pPr>
              <a:lnSpc>
                <a:spcPct val="80000"/>
              </a:lnSpc>
            </a:pPr>
            <a:r>
              <a:rPr lang="en-US" sz="1600" b="1" dirty="0">
                <a:latin typeface="Calibri"/>
                <a:ea typeface="Calibri"/>
                <a:cs typeface="Calibri"/>
              </a:rPr>
              <a:t>January 31</a:t>
            </a:r>
          </a:p>
          <a:p>
            <a:pPr marL="285744" indent="-285744">
              <a:lnSpc>
                <a:spcPct val="80000"/>
              </a:lnSpc>
              <a:buFont typeface="Arial" panose="020B0604020202020204" pitchFamily="34" charset="0"/>
              <a:buChar char="•"/>
            </a:pPr>
            <a:r>
              <a:rPr lang="en-US" sz="1600" dirty="0">
                <a:latin typeface="Calibri"/>
                <a:ea typeface="Calibri"/>
                <a:cs typeface="Calibri"/>
              </a:rPr>
              <a:t>Committee rosters due to HQ and Director</a:t>
            </a:r>
          </a:p>
          <a:p>
            <a:pPr>
              <a:lnSpc>
                <a:spcPct val="80000"/>
              </a:lnSpc>
            </a:pPr>
            <a:r>
              <a:rPr lang="en-US" sz="1600" b="1" dirty="0">
                <a:latin typeface="Calibri"/>
                <a:ea typeface="Calibri"/>
                <a:cs typeface="Calibri"/>
              </a:rPr>
              <a:t>February 27</a:t>
            </a:r>
          </a:p>
          <a:p>
            <a:pPr marL="285744" indent="-285744">
              <a:lnSpc>
                <a:spcPct val="80000"/>
              </a:lnSpc>
              <a:buFont typeface="Arial" panose="020B0604020202020204" pitchFamily="34" charset="0"/>
              <a:buChar char="•"/>
            </a:pPr>
            <a:r>
              <a:rPr lang="en-US" sz="1600" dirty="0">
                <a:latin typeface="Calibri"/>
                <a:ea typeface="Calibri"/>
                <a:cs typeface="Calibri"/>
              </a:rPr>
              <a:t>Annual Report online submission</a:t>
            </a:r>
          </a:p>
          <a:p>
            <a:pPr>
              <a:lnSpc>
                <a:spcPct val="80000"/>
              </a:lnSpc>
            </a:pPr>
            <a:r>
              <a:rPr lang="en-US" sz="1600" b="1" dirty="0">
                <a:latin typeface="Calibri"/>
                <a:ea typeface="Calibri"/>
                <a:cs typeface="Calibri"/>
              </a:rPr>
              <a:t>April 1</a:t>
            </a:r>
          </a:p>
          <a:p>
            <a:pPr marL="285744" indent="-285744">
              <a:lnSpc>
                <a:spcPct val="80000"/>
              </a:lnSpc>
              <a:buFont typeface="Arial" panose="020B0604020202020204" pitchFamily="34" charset="0"/>
              <a:buChar char="•"/>
            </a:pPr>
            <a:r>
              <a:rPr lang="en-US" sz="1600" dirty="0">
                <a:latin typeface="Calibri"/>
                <a:ea typeface="Calibri"/>
                <a:cs typeface="Calibri"/>
              </a:rPr>
              <a:t>TC Charter refresh deadline</a:t>
            </a:r>
          </a:p>
          <a:p>
            <a:pPr>
              <a:lnSpc>
                <a:spcPct val="80000"/>
              </a:lnSpc>
            </a:pPr>
            <a:r>
              <a:rPr lang="en-US" sz="1600" b="1" dirty="0">
                <a:latin typeface="Calibri"/>
                <a:ea typeface="Calibri"/>
                <a:cs typeface="Calibri"/>
              </a:rPr>
              <a:t>April 15</a:t>
            </a:r>
          </a:p>
          <a:p>
            <a:pPr marL="285744" indent="-285744">
              <a:lnSpc>
                <a:spcPct val="80000"/>
              </a:lnSpc>
              <a:buFont typeface="Arial" panose="020B0604020202020204" pitchFamily="34" charset="0"/>
              <a:buChar char="•"/>
            </a:pPr>
            <a:r>
              <a:rPr lang="en-US" sz="1600" dirty="0">
                <a:latin typeface="Calibri"/>
                <a:ea typeface="Calibri"/>
                <a:cs typeface="Calibri"/>
              </a:rPr>
              <a:t>Associate Fellow Nominations Due</a:t>
            </a:r>
          </a:p>
          <a:p>
            <a:pPr>
              <a:lnSpc>
                <a:spcPct val="80000"/>
              </a:lnSpc>
            </a:pPr>
            <a:r>
              <a:rPr lang="en-US" sz="1600" b="1" dirty="0">
                <a:latin typeface="Calibri"/>
                <a:ea typeface="Calibri"/>
                <a:cs typeface="Calibri"/>
              </a:rPr>
              <a:t>May 15</a:t>
            </a:r>
          </a:p>
          <a:p>
            <a:pPr marL="285744" indent="-285744">
              <a:lnSpc>
                <a:spcPct val="80000"/>
              </a:lnSpc>
              <a:buFont typeface="Arial" panose="020B0604020202020204" pitchFamily="34" charset="0"/>
              <a:buChar char="•"/>
            </a:pPr>
            <a:r>
              <a:rPr lang="en-US" sz="1600" dirty="0">
                <a:latin typeface="Calibri"/>
                <a:ea typeface="Calibri"/>
                <a:cs typeface="Calibri"/>
              </a:rPr>
              <a:t>Associate Fellow References</a:t>
            </a:r>
          </a:p>
          <a:p>
            <a:pPr>
              <a:lnSpc>
                <a:spcPct val="80000"/>
              </a:lnSpc>
            </a:pPr>
            <a:r>
              <a:rPr lang="en-US" sz="1600" b="1" dirty="0">
                <a:latin typeface="Calibri"/>
                <a:ea typeface="Calibri"/>
                <a:cs typeface="Calibri"/>
              </a:rPr>
              <a:t>May 17-18 - Spring Business Meetings</a:t>
            </a:r>
          </a:p>
          <a:p>
            <a:pPr marL="285744" indent="-285744">
              <a:lnSpc>
                <a:spcPct val="80000"/>
              </a:lnSpc>
              <a:buFont typeface="Arial" panose="020B0604020202020204" pitchFamily="34" charset="0"/>
              <a:buChar char="•"/>
            </a:pPr>
            <a:r>
              <a:rPr lang="en-US" sz="1600" dirty="0">
                <a:latin typeface="Calibri"/>
                <a:ea typeface="Calibri"/>
                <a:cs typeface="Calibri"/>
              </a:rPr>
              <a:t>READ/IOD/TAD/Council/Board Meetings</a:t>
            </a:r>
          </a:p>
          <a:p>
            <a:endParaRPr lang="en-US" dirty="0">
              <a:latin typeface="Calibri"/>
              <a:ea typeface="Calibri"/>
              <a:cs typeface="Calibri"/>
            </a:endParaRPr>
          </a:p>
        </p:txBody>
      </p:sp>
      <p:sp>
        <p:nvSpPr>
          <p:cNvPr id="5" name="Content Placeholder 2">
            <a:extLst>
              <a:ext uri="{FF2B5EF4-FFF2-40B4-BE49-F238E27FC236}">
                <a16:creationId xmlns:a16="http://schemas.microsoft.com/office/drawing/2014/main" id="{77D951D0-F38C-E706-9A3E-9D4AD241B9B6}"/>
              </a:ext>
            </a:extLst>
          </p:cNvPr>
          <p:cNvSpPr txBox="1">
            <a:spLocks/>
          </p:cNvSpPr>
          <p:nvPr/>
        </p:nvSpPr>
        <p:spPr>
          <a:xfrm>
            <a:off x="6777937" y="984900"/>
            <a:ext cx="4686700" cy="4568653"/>
          </a:xfrm>
          <a:prstGeom prst="rect">
            <a:avLst/>
          </a:prstGeom>
        </p:spPr>
        <p:txBody>
          <a:bodyPr lIns="0" tIns="0" rIns="0" bIns="0">
            <a:noAutofit/>
          </a:bodyPr>
          <a:lstStyle>
            <a:lvl1pPr marL="0" indent="0" algn="l" defTabSz="914400" rtl="0" eaLnBrk="1" latinLnBrk="0" hangingPunct="1">
              <a:lnSpc>
                <a:spcPct val="90000"/>
              </a:lnSpc>
              <a:spcBef>
                <a:spcPts val="1000"/>
              </a:spcBef>
              <a:buFontTx/>
              <a:buNone/>
              <a:defRPr sz="1800" b="0" i="0" kern="1200">
                <a:solidFill>
                  <a:schemeClr val="bg1"/>
                </a:solidFill>
                <a:latin typeface="Figtree" pitchFamily="2" charset="0"/>
                <a:ea typeface="+mn-ea"/>
                <a:cs typeface="+mn-cs"/>
              </a:defRPr>
            </a:lvl1pPr>
            <a:lvl2pPr marL="742950" indent="-28575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Figtree" pitchFamily="2" charset="0"/>
                <a:ea typeface="+mn-ea"/>
                <a:cs typeface="+mn-cs"/>
              </a:defRPr>
            </a:lvl2pPr>
            <a:lvl3pPr marL="1200150" indent="-28575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Figtree" pitchFamily="2" charset="0"/>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Figtree" pitchFamily="2" charset="0"/>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Figtree"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sz="1600" b="1" dirty="0">
                <a:solidFill>
                  <a:schemeClr val="accent1"/>
                </a:solidFill>
              </a:rPr>
              <a:t>June 11</a:t>
            </a:r>
          </a:p>
          <a:p>
            <a:pPr marL="285744" indent="-285744">
              <a:lnSpc>
                <a:spcPct val="80000"/>
              </a:lnSpc>
              <a:buFont typeface="Arial" panose="020B0604020202020204" pitchFamily="34" charset="0"/>
              <a:buChar char="•"/>
            </a:pPr>
            <a:r>
              <a:rPr lang="en-US" sz="1600" dirty="0">
                <a:solidFill>
                  <a:schemeClr val="accent1"/>
                </a:solidFill>
              </a:rPr>
              <a:t>Fellow/Honorary Fellow Nomination Due</a:t>
            </a:r>
          </a:p>
          <a:p>
            <a:pPr>
              <a:lnSpc>
                <a:spcPct val="80000"/>
              </a:lnSpc>
            </a:pPr>
            <a:r>
              <a:rPr lang="en-US" sz="1600" b="1" dirty="0">
                <a:solidFill>
                  <a:schemeClr val="accent1"/>
                </a:solidFill>
              </a:rPr>
              <a:t>July</a:t>
            </a:r>
          </a:p>
          <a:p>
            <a:pPr marL="285744" indent="-285744">
              <a:lnSpc>
                <a:spcPct val="80000"/>
              </a:lnSpc>
              <a:buFont typeface="Arial" panose="020B0604020202020204" pitchFamily="34" charset="0"/>
              <a:buChar char="•"/>
            </a:pPr>
            <a:r>
              <a:rPr lang="en-US" sz="1600" dirty="0">
                <a:solidFill>
                  <a:schemeClr val="accent1"/>
                </a:solidFill>
              </a:rPr>
              <a:t>Nominations for AIAA Board of Trustees</a:t>
            </a:r>
          </a:p>
          <a:p>
            <a:pPr>
              <a:lnSpc>
                <a:spcPct val="80000"/>
              </a:lnSpc>
            </a:pPr>
            <a:r>
              <a:rPr lang="en-US" sz="1600" b="1" dirty="0">
                <a:solidFill>
                  <a:schemeClr val="accent1"/>
                </a:solidFill>
              </a:rPr>
              <a:t>July 1</a:t>
            </a:r>
          </a:p>
          <a:p>
            <a:pPr marL="285744" indent="-285744">
              <a:lnSpc>
                <a:spcPct val="80000"/>
              </a:lnSpc>
              <a:buFont typeface="Arial" panose="020B0604020202020204" pitchFamily="34" charset="0"/>
              <a:buChar char="•"/>
            </a:pPr>
            <a:r>
              <a:rPr lang="en-US" sz="1600" dirty="0">
                <a:solidFill>
                  <a:schemeClr val="accent1"/>
                </a:solidFill>
              </a:rPr>
              <a:t>Fellow/Honorary Fellow References</a:t>
            </a:r>
          </a:p>
          <a:p>
            <a:pPr>
              <a:lnSpc>
                <a:spcPct val="80000"/>
              </a:lnSpc>
            </a:pPr>
            <a:r>
              <a:rPr lang="en-US" sz="1600" b="1" dirty="0">
                <a:solidFill>
                  <a:schemeClr val="accent1"/>
                </a:solidFill>
              </a:rPr>
              <a:t>August</a:t>
            </a:r>
          </a:p>
          <a:p>
            <a:pPr marL="285744" indent="-285744">
              <a:lnSpc>
                <a:spcPct val="80000"/>
              </a:lnSpc>
              <a:buFont typeface="Arial" panose="020B0604020202020204" pitchFamily="34" charset="0"/>
              <a:buChar char="•"/>
            </a:pPr>
            <a:r>
              <a:rPr lang="en-US" sz="1600" dirty="0">
                <a:solidFill>
                  <a:schemeClr val="accent1"/>
                </a:solidFill>
              </a:rPr>
              <a:t>READ/IOD/TAD/Council/Board Meetings</a:t>
            </a:r>
          </a:p>
          <a:p>
            <a:pPr>
              <a:lnSpc>
                <a:spcPct val="80000"/>
              </a:lnSpc>
            </a:pPr>
            <a:r>
              <a:rPr lang="en-US" sz="1600" b="1" dirty="0">
                <a:solidFill>
                  <a:schemeClr val="accent1"/>
                </a:solidFill>
              </a:rPr>
              <a:t>September 1			</a:t>
            </a:r>
          </a:p>
          <a:p>
            <a:pPr marL="285744" indent="-285744">
              <a:lnSpc>
                <a:spcPct val="80000"/>
              </a:lnSpc>
              <a:buFont typeface="Arial" panose="020B0604020202020204" pitchFamily="34" charset="0"/>
              <a:buChar char="•"/>
            </a:pPr>
            <a:r>
              <a:rPr lang="en-US" sz="1600" dirty="0">
                <a:solidFill>
                  <a:schemeClr val="accent1"/>
                </a:solidFill>
              </a:rPr>
              <a:t>Aerospace America YIR Article (YIR) to AIAA Headquarters</a:t>
            </a:r>
          </a:p>
          <a:p>
            <a:pPr>
              <a:lnSpc>
                <a:spcPct val="80000"/>
              </a:lnSpc>
            </a:pPr>
            <a:r>
              <a:rPr lang="en-US" sz="1600" b="1" dirty="0">
                <a:solidFill>
                  <a:schemeClr val="accent1"/>
                </a:solidFill>
              </a:rPr>
              <a:t>Oct/Nov</a:t>
            </a:r>
          </a:p>
          <a:p>
            <a:pPr marL="285744" indent="-285744">
              <a:lnSpc>
                <a:spcPct val="80000"/>
              </a:lnSpc>
              <a:buFont typeface="Arial" panose="020B0604020202020204" pitchFamily="34" charset="0"/>
              <a:buChar char="•"/>
            </a:pPr>
            <a:r>
              <a:rPr lang="en-US" sz="1600" dirty="0">
                <a:solidFill>
                  <a:schemeClr val="accent1"/>
                </a:solidFill>
              </a:rPr>
              <a:t>TAD Meeting w/TC Chair Roundtable</a:t>
            </a:r>
          </a:p>
          <a:p>
            <a:pPr marL="285744" indent="-285744">
              <a:lnSpc>
                <a:spcPct val="80000"/>
              </a:lnSpc>
              <a:buFont typeface="Arial" panose="020B0604020202020204" pitchFamily="34" charset="0"/>
              <a:buChar char="•"/>
            </a:pPr>
            <a:r>
              <a:rPr lang="en-US" sz="1600" dirty="0">
                <a:solidFill>
                  <a:schemeClr val="accent1"/>
                </a:solidFill>
              </a:rPr>
              <a:t>Council Meeting</a:t>
            </a:r>
          </a:p>
          <a:p>
            <a:pPr>
              <a:lnSpc>
                <a:spcPct val="80000"/>
              </a:lnSpc>
            </a:pPr>
            <a:r>
              <a:rPr lang="en-US" sz="1600" b="1" dirty="0">
                <a:solidFill>
                  <a:schemeClr val="accent1"/>
                </a:solidFill>
              </a:rPr>
              <a:t>As Appropriate</a:t>
            </a:r>
          </a:p>
          <a:p>
            <a:pPr marL="285744" indent="-285744">
              <a:lnSpc>
                <a:spcPct val="80000"/>
              </a:lnSpc>
              <a:buFont typeface="Arial" panose="020B0604020202020204" pitchFamily="34" charset="0"/>
              <a:buChar char="•"/>
            </a:pPr>
            <a:r>
              <a:rPr lang="en-US" sz="1600" dirty="0">
                <a:solidFill>
                  <a:schemeClr val="accent1"/>
                </a:solidFill>
              </a:rPr>
              <a:t>AIAA Award Recipient Recommendations</a:t>
            </a:r>
          </a:p>
          <a:p>
            <a:pPr marL="285744" indent="-285744">
              <a:lnSpc>
                <a:spcPct val="80000"/>
              </a:lnSpc>
              <a:buFont typeface="Arial" panose="020B0604020202020204" pitchFamily="34" charset="0"/>
              <a:buChar char="•"/>
            </a:pPr>
            <a:r>
              <a:rPr lang="en-US" sz="1600" dirty="0">
                <a:solidFill>
                  <a:schemeClr val="accent1"/>
                </a:solidFill>
              </a:rPr>
              <a:t>Senior Member Applications (anytime)</a:t>
            </a:r>
          </a:p>
          <a:p>
            <a:endParaRPr lang="en-US" dirty="0"/>
          </a:p>
        </p:txBody>
      </p:sp>
      <p:sp>
        <p:nvSpPr>
          <p:cNvPr id="8" name="TextBox 7">
            <a:extLst>
              <a:ext uri="{FF2B5EF4-FFF2-40B4-BE49-F238E27FC236}">
                <a16:creationId xmlns:a16="http://schemas.microsoft.com/office/drawing/2014/main" id="{51CD03D7-2DE5-E9F9-FE21-4B3D6826B6F4}"/>
              </a:ext>
            </a:extLst>
          </p:cNvPr>
          <p:cNvSpPr txBox="1"/>
          <p:nvPr/>
        </p:nvSpPr>
        <p:spPr>
          <a:xfrm>
            <a:off x="4962227" y="1545216"/>
            <a:ext cx="1569251" cy="646331"/>
          </a:xfrm>
          <a:prstGeom prst="rect">
            <a:avLst/>
          </a:prstGeom>
          <a:noFill/>
        </p:spPr>
        <p:txBody>
          <a:bodyPr wrap="square" rtlCol="0">
            <a:spAutoFit/>
          </a:bodyPr>
          <a:lstStyle/>
          <a:p>
            <a:pPr algn="r"/>
            <a:r>
              <a:rPr lang="en-US" dirty="0">
                <a:solidFill>
                  <a:srgbClr val="FF0000"/>
                </a:solidFill>
              </a:rPr>
              <a:t>Upcoming  </a:t>
            </a:r>
          </a:p>
          <a:p>
            <a:pPr algn="r"/>
            <a:r>
              <a:rPr lang="en-US" dirty="0">
                <a:solidFill>
                  <a:srgbClr val="FF0000"/>
                </a:solidFill>
              </a:rPr>
              <a:t>Deadlines!</a:t>
            </a:r>
          </a:p>
        </p:txBody>
      </p:sp>
      <p:sp>
        <p:nvSpPr>
          <p:cNvPr id="9" name="Rectangle: Rounded Corners 8">
            <a:extLst>
              <a:ext uri="{FF2B5EF4-FFF2-40B4-BE49-F238E27FC236}">
                <a16:creationId xmlns:a16="http://schemas.microsoft.com/office/drawing/2014/main" id="{5AC5E9B8-D349-8A7C-C34F-98BCEE4313A3}"/>
              </a:ext>
            </a:extLst>
          </p:cNvPr>
          <p:cNvSpPr/>
          <p:nvPr/>
        </p:nvSpPr>
        <p:spPr>
          <a:xfrm>
            <a:off x="6539418" y="886442"/>
            <a:ext cx="4239491" cy="196388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7FB784A8-98D5-83B4-E03C-E2C9E1629AD2}"/>
              </a:ext>
            </a:extLst>
          </p:cNvPr>
          <p:cNvSpPr txBox="1"/>
          <p:nvPr/>
        </p:nvSpPr>
        <p:spPr>
          <a:xfrm>
            <a:off x="6153785" y="6099127"/>
            <a:ext cx="5935003" cy="646331"/>
          </a:xfrm>
          <a:prstGeom prst="rect">
            <a:avLst/>
          </a:prstGeom>
          <a:solidFill>
            <a:schemeClr val="bg1"/>
          </a:solidFill>
        </p:spPr>
        <p:txBody>
          <a:bodyPr wrap="square" rtlCol="0">
            <a:spAutoFit/>
          </a:bodyPr>
          <a:lstStyle/>
          <a:p>
            <a:pPr algn="ctr"/>
            <a:r>
              <a:rPr lang="en-US" b="1" dirty="0"/>
              <a:t>Questions or Need Help? </a:t>
            </a:r>
          </a:p>
          <a:p>
            <a:pPr algn="ctr"/>
            <a:r>
              <a:rPr lang="en-US" b="1" dirty="0"/>
              <a:t>Contact AIAA Staff via </a:t>
            </a:r>
            <a:r>
              <a:rPr lang="en-US" b="1" dirty="0">
                <a:hlinkClick r:id="rId3"/>
              </a:rPr>
              <a:t>committeehelp@aiaa.org</a:t>
            </a:r>
            <a:r>
              <a:rPr lang="en-US" b="1" dirty="0"/>
              <a:t> </a:t>
            </a:r>
          </a:p>
        </p:txBody>
      </p:sp>
      <p:sp>
        <p:nvSpPr>
          <p:cNvPr id="7" name="Slide Number Placeholder 6">
            <a:extLst>
              <a:ext uri="{FF2B5EF4-FFF2-40B4-BE49-F238E27FC236}">
                <a16:creationId xmlns:a16="http://schemas.microsoft.com/office/drawing/2014/main" id="{2758D77C-E90A-B8C2-13C6-7C25319EF64E}"/>
              </a:ext>
            </a:extLst>
          </p:cNvPr>
          <p:cNvSpPr>
            <a:spLocks noGrp="1"/>
          </p:cNvSpPr>
          <p:nvPr>
            <p:ph type="sldNum" sz="quarter" idx="12"/>
          </p:nvPr>
        </p:nvSpPr>
        <p:spPr/>
        <p:txBody>
          <a:bodyPr/>
          <a:lstStyle/>
          <a:p>
            <a:fld id="{8FBCB428-D880-FC4A-9B26-64132A65A030}" type="slidenum">
              <a:rPr lang="en-US" smtClean="0"/>
              <a:pPr/>
              <a:t>69</a:t>
            </a:fld>
            <a:endParaRPr lang="en-US" dirty="0"/>
          </a:p>
        </p:txBody>
      </p:sp>
    </p:spTree>
    <p:extLst>
      <p:ext uri="{BB962C8B-B14F-4D97-AF65-F5344CB8AC3E}">
        <p14:creationId xmlns:p14="http://schemas.microsoft.com/office/powerpoint/2010/main" val="15580637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92C17-DD42-14F5-91C3-54A9302F23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F8DC85-1601-E4DE-F5A7-33A41A735EBE}"/>
              </a:ext>
            </a:extLst>
          </p:cNvPr>
          <p:cNvSpPr>
            <a:spLocks noGrp="1"/>
          </p:cNvSpPr>
          <p:nvPr>
            <p:ph type="title"/>
          </p:nvPr>
        </p:nvSpPr>
        <p:spPr/>
        <p:txBody>
          <a:bodyPr/>
          <a:lstStyle/>
          <a:p>
            <a:r>
              <a:rPr lang="en-US" dirty="0"/>
              <a:t>New TC Member Cycle</a:t>
            </a:r>
          </a:p>
        </p:txBody>
      </p:sp>
      <p:sp>
        <p:nvSpPr>
          <p:cNvPr id="5" name="Content Placeholder 4">
            <a:extLst>
              <a:ext uri="{FF2B5EF4-FFF2-40B4-BE49-F238E27FC236}">
                <a16:creationId xmlns:a16="http://schemas.microsoft.com/office/drawing/2014/main" id="{4FD2D5B4-9944-1DDB-0939-E2EEE301DBD4}"/>
              </a:ext>
            </a:extLst>
          </p:cNvPr>
          <p:cNvSpPr>
            <a:spLocks noGrp="1"/>
          </p:cNvSpPr>
          <p:nvPr>
            <p:ph idx="1"/>
          </p:nvPr>
        </p:nvSpPr>
        <p:spPr>
          <a:xfrm>
            <a:off x="831793" y="1636777"/>
            <a:ext cx="10515600" cy="3438144"/>
          </a:xfrm>
        </p:spPr>
        <p:txBody>
          <a:bodyPr/>
          <a:lstStyle/>
          <a:p>
            <a:pPr>
              <a:spcAft>
                <a:spcPts val="600"/>
              </a:spcAft>
            </a:pPr>
            <a:r>
              <a:rPr lang="en-US" sz="2800" b="1" dirty="0">
                <a:solidFill>
                  <a:schemeClr val="accent5"/>
                </a:solidFill>
                <a:latin typeface="Figtree SemiBold" pitchFamily="2" charset="0"/>
              </a:rPr>
              <a:t>IMPORTANT DATES TO REMEMBER</a:t>
            </a:r>
          </a:p>
          <a:p>
            <a:r>
              <a:rPr lang="en-US" sz="2200" b="1" dirty="0"/>
              <a:t>1 Sept 		</a:t>
            </a:r>
            <a:r>
              <a:rPr lang="en-US" sz="2200" dirty="0"/>
              <a:t>Online application portal opens </a:t>
            </a:r>
          </a:p>
          <a:p>
            <a:r>
              <a:rPr lang="en-US" sz="2200" b="1" dirty="0"/>
              <a:t>~15 Oct  </a:t>
            </a:r>
            <a:r>
              <a:rPr lang="en-US" sz="2200" dirty="0"/>
              <a:t>	Online application portal closes</a:t>
            </a:r>
          </a:p>
          <a:p>
            <a:r>
              <a:rPr lang="en-US" sz="2200" b="1" dirty="0"/>
              <a:t>~15 Oct  </a:t>
            </a:r>
            <a:r>
              <a:rPr lang="en-US" sz="2200" dirty="0"/>
              <a:t>	Judge Teams and Judge Team Managers get access</a:t>
            </a:r>
          </a:p>
          <a:p>
            <a:r>
              <a:rPr lang="en-US" sz="2200" b="1" dirty="0"/>
              <a:t>31 Jan  </a:t>
            </a:r>
            <a:r>
              <a:rPr lang="en-US" sz="2200" dirty="0"/>
              <a:t>		</a:t>
            </a:r>
            <a:r>
              <a:rPr lang="en-US" sz="2200" u="sng" dirty="0"/>
              <a:t>All applications have final approval/decline in online portal</a:t>
            </a:r>
          </a:p>
          <a:p>
            <a:r>
              <a:rPr lang="en-US" sz="2200" b="1" dirty="0"/>
              <a:t>31 Jan  </a:t>
            </a:r>
            <a:r>
              <a:rPr lang="en-US" sz="2200" dirty="0"/>
              <a:t>		Rosters due to AIAA Staff and Group Director</a:t>
            </a:r>
          </a:p>
          <a:p>
            <a:endParaRPr lang="en-US" sz="2200" dirty="0"/>
          </a:p>
          <a:p>
            <a:r>
              <a:rPr lang="en-US" sz="2200" b="1" dirty="0"/>
              <a:t>Reminder</a:t>
            </a:r>
            <a:r>
              <a:rPr lang="en-US" sz="2200" dirty="0"/>
              <a:t>: Request TAD Group Director approval to exceed the 50-member roster limit</a:t>
            </a:r>
          </a:p>
        </p:txBody>
      </p:sp>
      <p:sp>
        <p:nvSpPr>
          <p:cNvPr id="3" name="Right Brace 2">
            <a:extLst>
              <a:ext uri="{FF2B5EF4-FFF2-40B4-BE49-F238E27FC236}">
                <a16:creationId xmlns:a16="http://schemas.microsoft.com/office/drawing/2014/main" id="{FE25FCA0-8F18-C2CD-9766-8EF5047755B1}"/>
              </a:ext>
            </a:extLst>
          </p:cNvPr>
          <p:cNvSpPr/>
          <p:nvPr/>
        </p:nvSpPr>
        <p:spPr>
          <a:xfrm>
            <a:off x="9403907" y="3429001"/>
            <a:ext cx="500912" cy="95634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p>
        </p:txBody>
      </p:sp>
      <p:sp>
        <p:nvSpPr>
          <p:cNvPr id="7" name="TextBox 6">
            <a:extLst>
              <a:ext uri="{FF2B5EF4-FFF2-40B4-BE49-F238E27FC236}">
                <a16:creationId xmlns:a16="http://schemas.microsoft.com/office/drawing/2014/main" id="{C7A13296-B9F6-3548-C192-A2A61A61A781}"/>
              </a:ext>
            </a:extLst>
          </p:cNvPr>
          <p:cNvSpPr txBox="1"/>
          <p:nvPr/>
        </p:nvSpPr>
        <p:spPr>
          <a:xfrm>
            <a:off x="9945360" y="3288993"/>
            <a:ext cx="2208837" cy="1200329"/>
          </a:xfrm>
          <a:prstGeom prst="rect">
            <a:avLst/>
          </a:prstGeom>
          <a:solidFill>
            <a:schemeClr val="accent2"/>
          </a:solidFill>
        </p:spPr>
        <p:txBody>
          <a:bodyPr wrap="square" rtlCol="0">
            <a:spAutoFit/>
          </a:bodyPr>
          <a:lstStyle/>
          <a:p>
            <a:r>
              <a:rPr lang="en-US" sz="2400" dirty="0">
                <a:solidFill>
                  <a:schemeClr val="bg1"/>
                </a:solidFill>
              </a:rPr>
              <a:t>Please be sure to meet these dates!</a:t>
            </a:r>
          </a:p>
        </p:txBody>
      </p:sp>
      <p:sp>
        <p:nvSpPr>
          <p:cNvPr id="8" name="Slide Number Placeholder 5">
            <a:extLst>
              <a:ext uri="{FF2B5EF4-FFF2-40B4-BE49-F238E27FC236}">
                <a16:creationId xmlns:a16="http://schemas.microsoft.com/office/drawing/2014/main" id="{A1F48571-7892-F2A1-A895-7BADFDBC7972}"/>
              </a:ext>
            </a:extLst>
          </p:cNvPr>
          <p:cNvSpPr txBox="1">
            <a:spLocks/>
          </p:cNvSpPr>
          <p:nvPr/>
        </p:nvSpPr>
        <p:spPr>
          <a:xfrm>
            <a:off x="11629485" y="6456059"/>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lumMod val="65000"/>
                  </a:schemeClr>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BCB428-D880-FC4A-9B26-64132A65A030}" type="slidenum">
              <a:rPr lang="en-US" sz="907" b="1">
                <a:solidFill>
                  <a:srgbClr val="0070C0"/>
                </a:solidFill>
              </a:rPr>
              <a:pPr/>
              <a:t>70</a:t>
            </a:fld>
            <a:endParaRPr lang="en-US" sz="907" b="1" dirty="0">
              <a:solidFill>
                <a:srgbClr val="0070C0"/>
              </a:solidFill>
            </a:endParaRPr>
          </a:p>
        </p:txBody>
      </p:sp>
      <p:sp>
        <p:nvSpPr>
          <p:cNvPr id="6" name="Slide Number Placeholder 5">
            <a:extLst>
              <a:ext uri="{FF2B5EF4-FFF2-40B4-BE49-F238E27FC236}">
                <a16:creationId xmlns:a16="http://schemas.microsoft.com/office/drawing/2014/main" id="{CDC37EAE-3D43-9186-8C6D-215AFB051959}"/>
              </a:ext>
            </a:extLst>
          </p:cNvPr>
          <p:cNvSpPr>
            <a:spLocks noGrp="1"/>
          </p:cNvSpPr>
          <p:nvPr>
            <p:ph type="sldNum" sz="quarter" idx="12"/>
          </p:nvPr>
        </p:nvSpPr>
        <p:spPr/>
        <p:txBody>
          <a:bodyPr/>
          <a:lstStyle/>
          <a:p>
            <a:fld id="{8FBCB428-D880-FC4A-9B26-64132A65A030}" type="slidenum">
              <a:rPr lang="en-US" smtClean="0"/>
              <a:pPr/>
              <a:t>70</a:t>
            </a:fld>
            <a:endParaRPr lang="en-US" dirty="0"/>
          </a:p>
        </p:txBody>
      </p:sp>
    </p:spTree>
    <p:extLst>
      <p:ext uri="{BB962C8B-B14F-4D97-AF65-F5344CB8AC3E}">
        <p14:creationId xmlns:p14="http://schemas.microsoft.com/office/powerpoint/2010/main" val="41225133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9EE3E-6A89-4FD6-9FF7-C1379B33165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QUESTIONS?</a:t>
            </a:r>
          </a:p>
        </p:txBody>
      </p:sp>
      <p:sp>
        <p:nvSpPr>
          <p:cNvPr id="3" name="Subtitle 2">
            <a:extLst>
              <a:ext uri="{FF2B5EF4-FFF2-40B4-BE49-F238E27FC236}">
                <a16:creationId xmlns:a16="http://schemas.microsoft.com/office/drawing/2014/main" id="{C5050C6E-3D49-4C10-9D5A-46266F1FF253}"/>
              </a:ext>
            </a:extLst>
          </p:cNvPr>
          <p:cNvSpPr>
            <a:spLocks noGrp="1"/>
          </p:cNvSpPr>
          <p:nvPr>
            <p:ph type="body" idx="1"/>
          </p:nvPr>
        </p:nvSpPr>
        <p:spPr/>
        <p:txBody>
          <a:bodyPr/>
          <a:lstStyle/>
          <a:p>
            <a:r>
              <a:rPr lang="en-US" dirty="0">
                <a:hlinkClick r:id="rId2">
                  <a:extLst>
                    <a:ext uri="{A12FA001-AC4F-418D-AE19-62706E023703}">
                      <ahyp:hlinkClr xmlns:ahyp="http://schemas.microsoft.com/office/drawing/2018/hyperlinkcolor" val="tx"/>
                    </a:ext>
                  </a:extLst>
                </a:hlinkClick>
              </a:rPr>
              <a:t>stephen.blanchette@aero.org</a:t>
            </a:r>
            <a:endParaRPr lang="en-US" dirty="0"/>
          </a:p>
        </p:txBody>
      </p:sp>
    </p:spTree>
    <p:extLst>
      <p:ext uri="{BB962C8B-B14F-4D97-AF65-F5344CB8AC3E}">
        <p14:creationId xmlns:p14="http://schemas.microsoft.com/office/powerpoint/2010/main" val="18402921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728744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D975BD-8027-B79B-FECB-8C3E73B33F65}"/>
              </a:ext>
            </a:extLst>
          </p:cNvPr>
          <p:cNvSpPr>
            <a:spLocks noGrp="1"/>
          </p:cNvSpPr>
          <p:nvPr>
            <p:ph type="title"/>
          </p:nvPr>
        </p:nvSpPr>
        <p:spPr/>
        <p:txBody>
          <a:bodyPr/>
          <a:lstStyle/>
          <a:p>
            <a:r>
              <a:rPr lang="en-US" dirty="0">
                <a:latin typeface="Figtree SemiBold"/>
              </a:rPr>
              <a:t>BACKUP</a:t>
            </a:r>
          </a:p>
        </p:txBody>
      </p:sp>
      <p:sp>
        <p:nvSpPr>
          <p:cNvPr id="4" name="Text Placeholder 3">
            <a:extLst>
              <a:ext uri="{FF2B5EF4-FFF2-40B4-BE49-F238E27FC236}">
                <a16:creationId xmlns:a16="http://schemas.microsoft.com/office/drawing/2014/main" id="{EB159CB7-96E3-A38B-AED1-1C0099F0CDC5}"/>
              </a:ext>
            </a:extLst>
          </p:cNvPr>
          <p:cNvSpPr>
            <a:spLocks noGrp="1"/>
          </p:cNvSpPr>
          <p:nvPr>
            <p:ph type="body" idx="1"/>
          </p:nvPr>
        </p:nvSpPr>
        <p:spPr/>
        <p:txBody>
          <a:bodyPr/>
          <a:lstStyle/>
          <a:p>
            <a:endParaRPr lang="en-US" dirty="0"/>
          </a:p>
        </p:txBody>
      </p:sp>
      <p:sp>
        <p:nvSpPr>
          <p:cNvPr id="3" name="Slide Number Placeholder 2">
            <a:extLst>
              <a:ext uri="{FF2B5EF4-FFF2-40B4-BE49-F238E27FC236}">
                <a16:creationId xmlns:a16="http://schemas.microsoft.com/office/drawing/2014/main" id="{EE32AE9A-BD37-D0F6-6E4A-20AFDAE45580}"/>
              </a:ext>
            </a:extLst>
          </p:cNvPr>
          <p:cNvSpPr>
            <a:spLocks noGrp="1"/>
          </p:cNvSpPr>
          <p:nvPr>
            <p:ph type="sldNum" sz="quarter" idx="12"/>
          </p:nvPr>
        </p:nvSpPr>
        <p:spPr/>
        <p:txBody>
          <a:bodyPr/>
          <a:lstStyle/>
          <a:p>
            <a:fld id="{8FBCB428-D880-FC4A-9B26-64132A65A030}" type="slidenum">
              <a:rPr lang="en-US" smtClean="0"/>
              <a:pPr/>
              <a:t>73</a:t>
            </a:fld>
            <a:endParaRPr lang="en-US" dirty="0"/>
          </a:p>
        </p:txBody>
      </p:sp>
      <p:sp>
        <p:nvSpPr>
          <p:cNvPr id="2" name="Slide Number Placeholder 5">
            <a:extLst>
              <a:ext uri="{FF2B5EF4-FFF2-40B4-BE49-F238E27FC236}">
                <a16:creationId xmlns:a16="http://schemas.microsoft.com/office/drawing/2014/main" id="{C8D67324-B853-0648-E2E5-876113FAB2D5}"/>
              </a:ext>
            </a:extLst>
          </p:cNvPr>
          <p:cNvSpPr txBox="1">
            <a:spLocks/>
          </p:cNvSpPr>
          <p:nvPr/>
        </p:nvSpPr>
        <p:spPr>
          <a:xfrm>
            <a:off x="11615982" y="6454131"/>
            <a:ext cx="576020" cy="228600"/>
          </a:xfrm>
          <a:prstGeom prst="rect">
            <a:avLst/>
          </a:prstGeom>
        </p:spPr>
        <p:txBody>
          <a:bodyPr lIns="0" tIns="0" rIns="0" bIns="0" anchor="ctr"/>
          <a:lstStyle>
            <a:defPPr>
              <a:defRPr lang="en-US"/>
            </a:defPPr>
            <a:lvl1pPr algn="l" rtl="0" fontAlgn="base">
              <a:spcBef>
                <a:spcPct val="0"/>
              </a:spcBef>
              <a:spcAft>
                <a:spcPct val="0"/>
              </a:spcAft>
              <a:defRPr sz="750" b="0" i="0" kern="1200">
                <a:solidFill>
                  <a:schemeClr val="bg1">
                    <a:lumMod val="65000"/>
                  </a:schemeClr>
                </a:solidFill>
                <a:latin typeface="Figtree" pitchFamily="2" charset="0"/>
                <a:ea typeface="ＭＳ Ｐゴシック" charset="-128"/>
                <a:cs typeface="Arial" charset="0"/>
              </a:defRPr>
            </a:lvl1pPr>
            <a:lvl2pPr marL="342900" algn="l" rtl="0" fontAlgn="base">
              <a:spcBef>
                <a:spcPct val="0"/>
              </a:spcBef>
              <a:spcAft>
                <a:spcPct val="0"/>
              </a:spcAft>
              <a:defRPr sz="1800" kern="1200">
                <a:solidFill>
                  <a:schemeClr val="tx1"/>
                </a:solidFill>
                <a:latin typeface="Arial" charset="0"/>
                <a:ea typeface="ＭＳ Ｐゴシック" charset="-128"/>
                <a:cs typeface="Arial" charset="0"/>
              </a:defRPr>
            </a:lvl2pPr>
            <a:lvl3pPr marL="685800" algn="l" rtl="0" fontAlgn="base">
              <a:spcBef>
                <a:spcPct val="0"/>
              </a:spcBef>
              <a:spcAft>
                <a:spcPct val="0"/>
              </a:spcAft>
              <a:defRPr sz="1800" kern="1200">
                <a:solidFill>
                  <a:schemeClr val="tx1"/>
                </a:solidFill>
                <a:latin typeface="Arial" charset="0"/>
                <a:ea typeface="ＭＳ Ｐゴシック" charset="-128"/>
                <a:cs typeface="Arial" charset="0"/>
              </a:defRPr>
            </a:lvl3pPr>
            <a:lvl4pPr marL="1028700" algn="l" rtl="0" fontAlgn="base">
              <a:spcBef>
                <a:spcPct val="0"/>
              </a:spcBef>
              <a:spcAft>
                <a:spcPct val="0"/>
              </a:spcAft>
              <a:defRPr sz="1800" kern="1200">
                <a:solidFill>
                  <a:schemeClr val="tx1"/>
                </a:solidFill>
                <a:latin typeface="Arial" charset="0"/>
                <a:ea typeface="ＭＳ Ｐゴシック" charset="-128"/>
                <a:cs typeface="Arial" charset="0"/>
              </a:defRPr>
            </a:lvl4pPr>
            <a:lvl5pPr marL="1371600" algn="l" rtl="0" fontAlgn="base">
              <a:spcBef>
                <a:spcPct val="0"/>
              </a:spcBef>
              <a:spcAft>
                <a:spcPct val="0"/>
              </a:spcAft>
              <a:defRPr sz="1800" kern="1200">
                <a:solidFill>
                  <a:schemeClr val="tx1"/>
                </a:solidFill>
                <a:latin typeface="Arial" charset="0"/>
                <a:ea typeface="ＭＳ Ｐゴシック" charset="-128"/>
                <a:cs typeface="Arial" charset="0"/>
              </a:defRPr>
            </a:lvl5pPr>
            <a:lvl6pPr marL="1714500" algn="l" defTabSz="685800" rtl="0" eaLnBrk="1" latinLnBrk="0" hangingPunct="1">
              <a:defRPr sz="1800" kern="1200">
                <a:solidFill>
                  <a:schemeClr val="tx1"/>
                </a:solidFill>
                <a:latin typeface="Arial" charset="0"/>
                <a:ea typeface="ＭＳ Ｐゴシック" charset="-128"/>
                <a:cs typeface="Arial" charset="0"/>
              </a:defRPr>
            </a:lvl6pPr>
            <a:lvl7pPr marL="2057400" algn="l" defTabSz="685800" rtl="0" eaLnBrk="1" latinLnBrk="0" hangingPunct="1">
              <a:defRPr sz="1800" kern="1200">
                <a:solidFill>
                  <a:schemeClr val="tx1"/>
                </a:solidFill>
                <a:latin typeface="Arial" charset="0"/>
                <a:ea typeface="ＭＳ Ｐゴシック" charset="-128"/>
                <a:cs typeface="Arial" charset="0"/>
              </a:defRPr>
            </a:lvl7pPr>
            <a:lvl8pPr marL="2400300" algn="l" defTabSz="685800" rtl="0" eaLnBrk="1" latinLnBrk="0" hangingPunct="1">
              <a:defRPr sz="1800" kern="1200">
                <a:solidFill>
                  <a:schemeClr val="tx1"/>
                </a:solidFill>
                <a:latin typeface="Arial" charset="0"/>
                <a:ea typeface="ＭＳ Ｐゴシック" charset="-128"/>
                <a:cs typeface="Arial" charset="0"/>
              </a:defRPr>
            </a:lvl8pPr>
            <a:lvl9pPr marL="2743200" algn="l" defTabSz="685800" rtl="0" eaLnBrk="1" latinLnBrk="0" hangingPunct="1">
              <a:defRPr sz="1800" kern="1200">
                <a:solidFill>
                  <a:schemeClr val="tx1"/>
                </a:solidFill>
                <a:latin typeface="Arial" charset="0"/>
                <a:ea typeface="ＭＳ Ｐゴシック" charset="-128"/>
                <a:cs typeface="Arial" charset="0"/>
              </a:defRPr>
            </a:lvl9pPr>
          </a:lstStyle>
          <a:p>
            <a:pPr defTabSz="1219140">
              <a:defRPr/>
            </a:pPr>
            <a:fld id="{8FBCB428-D880-FC4A-9B26-64132A65A030}" type="slidenum">
              <a:rPr lang="en-US" sz="1000">
                <a:solidFill>
                  <a:srgbClr val="FFFFFF"/>
                </a:solidFill>
              </a:rPr>
              <a:pPr defTabSz="1219140">
                <a:defRPr/>
              </a:pPr>
              <a:t>73</a:t>
            </a:fld>
            <a:endParaRPr lang="en-US" sz="1000" dirty="0">
              <a:solidFill>
                <a:srgbClr val="FFFFFF"/>
              </a:solidFill>
            </a:endParaRPr>
          </a:p>
        </p:txBody>
      </p:sp>
      <p:sp>
        <p:nvSpPr>
          <p:cNvPr id="6" name="Slide Number Placeholder 1">
            <a:extLst>
              <a:ext uri="{FF2B5EF4-FFF2-40B4-BE49-F238E27FC236}">
                <a16:creationId xmlns:a16="http://schemas.microsoft.com/office/drawing/2014/main" id="{58DDA74B-4958-BA77-F0EC-D4C5F894A291}"/>
              </a:ext>
            </a:extLst>
          </p:cNvPr>
          <p:cNvSpPr txBox="1">
            <a:spLocks/>
          </p:cNvSpPr>
          <p:nvPr/>
        </p:nvSpPr>
        <p:spPr>
          <a:xfrm>
            <a:off x="11612881" y="6455664"/>
            <a:ext cx="576020" cy="228600"/>
          </a:xfrm>
          <a:prstGeom prst="rect">
            <a:avLst/>
          </a:prstGeom>
        </p:spPr>
        <p:txBody>
          <a:bodyPr lIns="0" tIns="0" rIns="0" bIns="0" anchor="ctr"/>
          <a:lstStyle>
            <a:defPPr>
              <a:defRPr lang="en-US"/>
            </a:defPPr>
            <a:lvl1pPr marL="0" algn="l" defTabSz="914400" rtl="0" eaLnBrk="1" latinLnBrk="0" hangingPunct="1">
              <a:defRPr sz="1000" b="0" i="0" kern="1200">
                <a:solidFill>
                  <a:schemeClr val="bg1"/>
                </a:solidFill>
                <a:latin typeface="Figtree"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fld id="{817B14E4-4B8C-424C-800A-68AABDD4E70E}" type="slidenum">
              <a:rPr lang="en-US">
                <a:solidFill>
                  <a:srgbClr val="FFFFFF"/>
                </a:solidFill>
              </a:rPr>
              <a:pPr defTabSz="914377">
                <a:defRPr/>
              </a:pPr>
              <a:t>73</a:t>
            </a:fld>
            <a:endParaRPr lang="en-US" dirty="0">
              <a:solidFill>
                <a:srgbClr val="FFFFFF"/>
              </a:solidFill>
            </a:endParaRPr>
          </a:p>
        </p:txBody>
      </p:sp>
    </p:spTree>
    <p:extLst>
      <p:ext uri="{BB962C8B-B14F-4D97-AF65-F5344CB8AC3E}">
        <p14:creationId xmlns:p14="http://schemas.microsoft.com/office/powerpoint/2010/main" val="13564084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2B87-F6ED-D691-A8E5-4556CCE9EEBC}"/>
              </a:ext>
            </a:extLst>
          </p:cNvPr>
          <p:cNvSpPr>
            <a:spLocks noGrp="1"/>
          </p:cNvSpPr>
          <p:nvPr>
            <p:ph type="title"/>
          </p:nvPr>
        </p:nvSpPr>
        <p:spPr/>
        <p:txBody>
          <a:bodyPr/>
          <a:lstStyle/>
          <a:p>
            <a:r>
              <a:rPr lang="en-US" dirty="0"/>
              <a:t>SMG Refresh – Potential Gaps Under Consideration</a:t>
            </a:r>
          </a:p>
        </p:txBody>
      </p:sp>
      <p:sp>
        <p:nvSpPr>
          <p:cNvPr id="3" name="Text Placeholder 2">
            <a:extLst>
              <a:ext uri="{FF2B5EF4-FFF2-40B4-BE49-F238E27FC236}">
                <a16:creationId xmlns:a16="http://schemas.microsoft.com/office/drawing/2014/main" id="{97B266D3-5E11-7612-5207-5C5DE606AC6F}"/>
              </a:ext>
            </a:extLst>
          </p:cNvPr>
          <p:cNvSpPr>
            <a:spLocks noGrp="1"/>
          </p:cNvSpPr>
          <p:nvPr>
            <p:ph type="body" idx="1"/>
          </p:nvPr>
        </p:nvSpPr>
        <p:spPr/>
        <p:txBody>
          <a:bodyPr/>
          <a:lstStyle/>
          <a:p>
            <a:r>
              <a:rPr lang="en-US" dirty="0"/>
              <a:t>More Investigation/Discussion Needed</a:t>
            </a:r>
          </a:p>
        </p:txBody>
      </p:sp>
      <p:sp>
        <p:nvSpPr>
          <p:cNvPr id="5" name="Slide Number Placeholder 4">
            <a:extLst>
              <a:ext uri="{FF2B5EF4-FFF2-40B4-BE49-F238E27FC236}">
                <a16:creationId xmlns:a16="http://schemas.microsoft.com/office/drawing/2014/main" id="{951C2EDE-619C-9014-412F-C00DBCA862F6}"/>
              </a:ext>
            </a:extLst>
          </p:cNvPr>
          <p:cNvSpPr>
            <a:spLocks noGrp="1"/>
          </p:cNvSpPr>
          <p:nvPr>
            <p:ph type="sldNum" sz="quarter" idx="12"/>
          </p:nvPr>
        </p:nvSpPr>
        <p:spPr/>
        <p:txBody>
          <a:bodyPr/>
          <a:lstStyle/>
          <a:p>
            <a:fld id="{8FBCB428-D880-FC4A-9B26-64132A65A030}" type="slidenum">
              <a:rPr lang="en-US" smtClean="0"/>
              <a:pPr/>
              <a:t>74</a:t>
            </a:fld>
            <a:endParaRPr lang="en-US" dirty="0"/>
          </a:p>
        </p:txBody>
      </p:sp>
    </p:spTree>
    <p:extLst>
      <p:ext uri="{BB962C8B-B14F-4D97-AF65-F5344CB8AC3E}">
        <p14:creationId xmlns:p14="http://schemas.microsoft.com/office/powerpoint/2010/main" val="21604358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BD31D-1BE4-73C7-E26C-DD4C7A604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F1831-3EF1-6F5F-14C8-7EB974AC534A}"/>
              </a:ext>
            </a:extLst>
          </p:cNvPr>
          <p:cNvSpPr>
            <a:spLocks noGrp="1"/>
          </p:cNvSpPr>
          <p:nvPr>
            <p:ph type="title"/>
          </p:nvPr>
        </p:nvSpPr>
        <p:spPr/>
        <p:txBody>
          <a:bodyPr>
            <a:normAutofit/>
          </a:bodyPr>
          <a:lstStyle/>
          <a:p>
            <a:r>
              <a:rPr lang="en-US" dirty="0"/>
              <a:t>Communications and Space Data Infrastructure</a:t>
            </a:r>
            <a:br>
              <a:rPr lang="en-US" dirty="0"/>
            </a:br>
            <a:r>
              <a:rPr lang="en-US" dirty="0"/>
              <a:t>(CSDI TC)</a:t>
            </a:r>
          </a:p>
        </p:txBody>
      </p:sp>
      <p:sp>
        <p:nvSpPr>
          <p:cNvPr id="3" name="Content Placeholder 2">
            <a:extLst>
              <a:ext uri="{FF2B5EF4-FFF2-40B4-BE49-F238E27FC236}">
                <a16:creationId xmlns:a16="http://schemas.microsoft.com/office/drawing/2014/main" id="{698259E0-72B8-D37E-632E-E177345162B9}"/>
              </a:ext>
            </a:extLst>
          </p:cNvPr>
          <p:cNvSpPr>
            <a:spLocks noGrp="1"/>
          </p:cNvSpPr>
          <p:nvPr>
            <p:ph idx="1"/>
          </p:nvPr>
        </p:nvSpPr>
        <p:spPr/>
        <p:txBody>
          <a:bodyPr/>
          <a:lstStyle/>
          <a:p>
            <a:r>
              <a:rPr lang="en-US" dirty="0"/>
              <a:t>Advance resilient space and ground communications architectures supporting missions across Earth orbit, cislunar, and deep-space environments. Scope includes RF, optical/laser, and quantum communications, crosslinks and inter-satellite networking, delay-/disruption-tolerant networking (DTN), software-defined and reconfigurable payloads, and spectrum strategy. The TC also covers ground-segment systems and integration, including antennas, gateways, network orchestration, cybersecurity, and edge and space/ground data-center infrastructure that enable mission operations, scientific return, and commercial services.</a:t>
            </a:r>
          </a:p>
          <a:p>
            <a:pPr marL="285750" indent="-285750">
              <a:buFont typeface="Arial" panose="020B0604020202020204" pitchFamily="34" charset="0"/>
              <a:buChar char="•"/>
            </a:pPr>
            <a:r>
              <a:rPr lang="en-US" sz="1600" dirty="0"/>
              <a:t>Payload sensing and mission operations remain with EPSA and MORR, respectively. Spacecraft platform design remains with SSCCS.</a:t>
            </a:r>
            <a:endParaRPr lang="en-US" sz="1050" dirty="0"/>
          </a:p>
        </p:txBody>
      </p:sp>
      <p:sp>
        <p:nvSpPr>
          <p:cNvPr id="5" name="Explosion: 8 Points 4">
            <a:extLst>
              <a:ext uri="{FF2B5EF4-FFF2-40B4-BE49-F238E27FC236}">
                <a16:creationId xmlns:a16="http://schemas.microsoft.com/office/drawing/2014/main" id="{3CB634B2-B2BA-E222-1ED3-A6C47E360A74}"/>
              </a:ext>
            </a:extLst>
          </p:cNvPr>
          <p:cNvSpPr/>
          <p:nvPr/>
        </p:nvSpPr>
        <p:spPr>
          <a:xfrm rot="626500">
            <a:off x="8041595" y="3785787"/>
            <a:ext cx="3828516" cy="2657743"/>
          </a:xfrm>
          <a:prstGeom prst="irregularSeal1">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Scope being considered for Communications TC in ISG</a:t>
            </a:r>
          </a:p>
        </p:txBody>
      </p:sp>
      <p:sp>
        <p:nvSpPr>
          <p:cNvPr id="6" name="Slide Number Placeholder 5">
            <a:extLst>
              <a:ext uri="{FF2B5EF4-FFF2-40B4-BE49-F238E27FC236}">
                <a16:creationId xmlns:a16="http://schemas.microsoft.com/office/drawing/2014/main" id="{1A58F628-AFF6-9FD9-496B-26059145D0DA}"/>
              </a:ext>
            </a:extLst>
          </p:cNvPr>
          <p:cNvSpPr>
            <a:spLocks noGrp="1"/>
          </p:cNvSpPr>
          <p:nvPr>
            <p:ph type="sldNum" sz="quarter" idx="12"/>
          </p:nvPr>
        </p:nvSpPr>
        <p:spPr/>
        <p:txBody>
          <a:bodyPr/>
          <a:lstStyle/>
          <a:p>
            <a:fld id="{8FBCB428-D880-FC4A-9B26-64132A65A030}" type="slidenum">
              <a:rPr lang="en-US" smtClean="0"/>
              <a:pPr/>
              <a:t>75</a:t>
            </a:fld>
            <a:endParaRPr lang="en-US" dirty="0"/>
          </a:p>
        </p:txBody>
      </p:sp>
    </p:spTree>
    <p:extLst>
      <p:ext uri="{BB962C8B-B14F-4D97-AF65-F5344CB8AC3E}">
        <p14:creationId xmlns:p14="http://schemas.microsoft.com/office/powerpoint/2010/main" val="33960514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02037-D1A8-B9BF-19E8-D7194FD28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C18FF-6F86-C4D9-BA74-D0CDB335295C}"/>
              </a:ext>
            </a:extLst>
          </p:cNvPr>
          <p:cNvSpPr>
            <a:spLocks noGrp="1"/>
          </p:cNvSpPr>
          <p:nvPr>
            <p:ph type="title"/>
          </p:nvPr>
        </p:nvSpPr>
        <p:spPr/>
        <p:txBody>
          <a:bodyPr>
            <a:normAutofit/>
          </a:bodyPr>
          <a:lstStyle/>
          <a:p>
            <a:r>
              <a:rPr lang="en-US" dirty="0"/>
              <a:t>Earth and Planetary Science and Applications</a:t>
            </a:r>
            <a:br>
              <a:rPr lang="en-US" dirty="0"/>
            </a:br>
            <a:r>
              <a:rPr lang="en-US" dirty="0"/>
              <a:t>(EPSA TC)</a:t>
            </a:r>
          </a:p>
        </p:txBody>
      </p:sp>
      <p:sp>
        <p:nvSpPr>
          <p:cNvPr id="3" name="Content Placeholder 2">
            <a:extLst>
              <a:ext uri="{FF2B5EF4-FFF2-40B4-BE49-F238E27FC236}">
                <a16:creationId xmlns:a16="http://schemas.microsoft.com/office/drawing/2014/main" id="{8C526EAF-D7D4-9424-9EB7-B1E505A6D4D2}"/>
              </a:ext>
            </a:extLst>
          </p:cNvPr>
          <p:cNvSpPr>
            <a:spLocks noGrp="1"/>
          </p:cNvSpPr>
          <p:nvPr>
            <p:ph idx="1"/>
          </p:nvPr>
        </p:nvSpPr>
        <p:spPr>
          <a:prstGeom prst="rect">
            <a:avLst/>
          </a:prstGeom>
        </p:spPr>
        <p:txBody>
          <a:bodyPr/>
          <a:lstStyle/>
          <a:p>
            <a:r>
              <a:rPr lang="en-US" dirty="0"/>
              <a:t>Advance missions and data exploitation for Earth observation and planetary exploration. Focus areas include atmospheric and environmental monitoring, agriculture and food systems, hazards and disaster response applications (weather, wildfires, etc.), lunar/planetary surface and subsurface sensing missions (e.g., SAR, LiDAR, IR, hyperspectral), and science-to-application transition. Addresses tasking, calibration/validation, and application-driven requirements. </a:t>
            </a:r>
          </a:p>
          <a:p>
            <a:pPr marL="285750" indent="-285750">
              <a:buFont typeface="Arial" panose="020B0604020202020204" pitchFamily="34" charset="0"/>
              <a:buChar char="•"/>
            </a:pPr>
            <a:r>
              <a:rPr lang="en-US" sz="1600" dirty="0"/>
              <a:t>Spacecraft platforms and commoditized buses remain with SSCCS</a:t>
            </a:r>
          </a:p>
          <a:p>
            <a:pPr marL="285750" indent="-285750">
              <a:buFont typeface="Arial" panose="020B0604020202020204" pitchFamily="34" charset="0"/>
              <a:buChar char="•"/>
            </a:pPr>
            <a:r>
              <a:rPr lang="en-US" sz="1600" dirty="0"/>
              <a:t>Mission equipment remains with SSIF in ISG </a:t>
            </a:r>
          </a:p>
          <a:p>
            <a:pPr marL="285750" indent="-285750">
              <a:buFont typeface="Arial" panose="020B0604020202020204" pitchFamily="34" charset="0"/>
              <a:buChar char="•"/>
            </a:pPr>
            <a:r>
              <a:rPr lang="en-US" sz="1600" dirty="0"/>
              <a:t>Comms and data infrastructures remain with CSDI (or equivalent) in ISG</a:t>
            </a:r>
            <a:endParaRPr lang="en-US" sz="1050" dirty="0"/>
          </a:p>
        </p:txBody>
      </p:sp>
      <p:sp>
        <p:nvSpPr>
          <p:cNvPr id="5" name="Slide Number Placeholder 4">
            <a:extLst>
              <a:ext uri="{FF2B5EF4-FFF2-40B4-BE49-F238E27FC236}">
                <a16:creationId xmlns:a16="http://schemas.microsoft.com/office/drawing/2014/main" id="{62CA6ECA-F8BF-DFFB-CE93-AAD106D83038}"/>
              </a:ext>
            </a:extLst>
          </p:cNvPr>
          <p:cNvSpPr>
            <a:spLocks noGrp="1"/>
          </p:cNvSpPr>
          <p:nvPr>
            <p:ph type="sldNum" sz="quarter" idx="12"/>
          </p:nvPr>
        </p:nvSpPr>
        <p:spPr/>
        <p:txBody>
          <a:bodyPr/>
          <a:lstStyle/>
          <a:p>
            <a:fld id="{8FBCB428-D880-FC4A-9B26-64132A65A030}" type="slidenum">
              <a:rPr lang="en-US" smtClean="0"/>
              <a:pPr/>
              <a:t>76</a:t>
            </a:fld>
            <a:endParaRPr lang="en-US" dirty="0"/>
          </a:p>
        </p:txBody>
      </p:sp>
    </p:spTree>
    <p:extLst>
      <p:ext uri="{BB962C8B-B14F-4D97-AF65-F5344CB8AC3E}">
        <p14:creationId xmlns:p14="http://schemas.microsoft.com/office/powerpoint/2010/main" val="41085247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9C06B-9985-7EF5-EFE7-C621215B0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090DD-15DB-CD0B-0522-E58C772DA0B9}"/>
              </a:ext>
            </a:extLst>
          </p:cNvPr>
          <p:cNvSpPr>
            <a:spLocks noGrp="1"/>
          </p:cNvSpPr>
          <p:nvPr>
            <p:ph type="title"/>
          </p:nvPr>
        </p:nvSpPr>
        <p:spPr/>
        <p:txBody>
          <a:bodyPr>
            <a:normAutofit/>
          </a:bodyPr>
          <a:lstStyle/>
          <a:p>
            <a:r>
              <a:rPr lang="en-US" dirty="0"/>
              <a:t>Lunar Surface &amp; Cislunar Exploration (LSCE TC)</a:t>
            </a:r>
          </a:p>
        </p:txBody>
      </p:sp>
      <p:sp>
        <p:nvSpPr>
          <p:cNvPr id="3" name="Content Placeholder 2">
            <a:extLst>
              <a:ext uri="{FF2B5EF4-FFF2-40B4-BE49-F238E27FC236}">
                <a16:creationId xmlns:a16="http://schemas.microsoft.com/office/drawing/2014/main" id="{823EA99C-830D-E817-8DEC-1C269E22F852}"/>
              </a:ext>
            </a:extLst>
          </p:cNvPr>
          <p:cNvSpPr>
            <a:spLocks noGrp="1"/>
          </p:cNvSpPr>
          <p:nvPr>
            <p:ph idx="1"/>
          </p:nvPr>
        </p:nvSpPr>
        <p:spPr>
          <a:prstGeom prst="rect">
            <a:avLst/>
          </a:prstGeom>
        </p:spPr>
        <p:txBody>
          <a:bodyPr/>
          <a:lstStyle/>
          <a:p>
            <a:r>
              <a:rPr lang="en-US" dirty="0"/>
              <a:t>Advance the technologies, mission architectures, and operational concepts that enable sustained scientific, commercial, and human activities across the cislunar domain and on the lunar surface. The TC focuses on exploration systems, mobility and surface operations, navigation and transfer architectures, landing and ascent systems, science payload deployment, campaign planning, and mission integration elements supporting long-duration presence. It emphasizes interoperability, international and commercial coordination, and alignment with long-term space infrastructure, logistics, and resource utilization strategies.</a:t>
            </a:r>
          </a:p>
          <a:p>
            <a:r>
              <a:rPr lang="en-US" i="1" dirty="0"/>
              <a:t>Position, navigation, and timing (PNT), an area currently not addressed directly within TAD, could be represented here, perhaps initially as a Working Group.</a:t>
            </a:r>
          </a:p>
          <a:p>
            <a:pPr marL="285750" indent="-285750">
              <a:buFont typeface="Arial" panose="020B0604020202020204" pitchFamily="34" charset="0"/>
              <a:buChar char="•"/>
            </a:pPr>
            <a:r>
              <a:rPr lang="en-US" sz="1600" dirty="0"/>
              <a:t>Space resources utilization remain with SRU TC</a:t>
            </a:r>
          </a:p>
          <a:p>
            <a:pPr marL="285750" indent="-285750">
              <a:buFont typeface="Arial" panose="020B0604020202020204" pitchFamily="34" charset="0"/>
              <a:buChar char="•"/>
            </a:pPr>
            <a:r>
              <a:rPr lang="en-US" sz="1600" dirty="0"/>
              <a:t>Coordinates with CSDI TC for communications infrastructure and SAH TC for habitats</a:t>
            </a:r>
          </a:p>
          <a:p>
            <a:pPr marL="285750" indent="-285750">
              <a:buFont typeface="Arial" panose="020B0604020202020204" pitchFamily="34" charset="0"/>
              <a:buChar char="•"/>
            </a:pPr>
            <a:r>
              <a:rPr lang="en-US" sz="1600" dirty="0"/>
              <a:t>Coordinates with MORR for mission operations</a:t>
            </a:r>
            <a:endParaRPr lang="en-US" sz="400" dirty="0"/>
          </a:p>
        </p:txBody>
      </p:sp>
      <p:sp>
        <p:nvSpPr>
          <p:cNvPr id="5" name="Slide Number Placeholder 4">
            <a:extLst>
              <a:ext uri="{FF2B5EF4-FFF2-40B4-BE49-F238E27FC236}">
                <a16:creationId xmlns:a16="http://schemas.microsoft.com/office/drawing/2014/main" id="{00DC945D-8269-CB95-F2F9-ECE4F13CF963}"/>
              </a:ext>
            </a:extLst>
          </p:cNvPr>
          <p:cNvSpPr>
            <a:spLocks noGrp="1"/>
          </p:cNvSpPr>
          <p:nvPr>
            <p:ph type="sldNum" sz="quarter" idx="12"/>
          </p:nvPr>
        </p:nvSpPr>
        <p:spPr/>
        <p:txBody>
          <a:bodyPr/>
          <a:lstStyle/>
          <a:p>
            <a:fld id="{8FBCB428-D880-FC4A-9B26-64132A65A030}" type="slidenum">
              <a:rPr lang="en-US" smtClean="0"/>
              <a:pPr/>
              <a:t>77</a:t>
            </a:fld>
            <a:endParaRPr lang="en-US" dirty="0"/>
          </a:p>
        </p:txBody>
      </p:sp>
    </p:spTree>
    <p:extLst>
      <p:ext uri="{BB962C8B-B14F-4D97-AF65-F5344CB8AC3E}">
        <p14:creationId xmlns:p14="http://schemas.microsoft.com/office/powerpoint/2010/main" val="36705114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E0EBB-D76F-BAF6-6EA1-45BBD0ECE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4EED7-0C5D-E2A3-9359-643CEE34240D}"/>
              </a:ext>
            </a:extLst>
          </p:cNvPr>
          <p:cNvSpPr>
            <a:spLocks noGrp="1"/>
          </p:cNvSpPr>
          <p:nvPr>
            <p:ph type="title"/>
          </p:nvPr>
        </p:nvSpPr>
        <p:spPr/>
        <p:txBody>
          <a:bodyPr>
            <a:normAutofit/>
          </a:bodyPr>
          <a:lstStyle/>
          <a:p>
            <a:r>
              <a:rPr lang="en-US" dirty="0"/>
              <a:t>In-Situ Servicing, Assembly, and Manufacturing (ISAM TC)</a:t>
            </a:r>
          </a:p>
        </p:txBody>
      </p:sp>
      <p:sp>
        <p:nvSpPr>
          <p:cNvPr id="3" name="Content Placeholder 2">
            <a:extLst>
              <a:ext uri="{FF2B5EF4-FFF2-40B4-BE49-F238E27FC236}">
                <a16:creationId xmlns:a16="http://schemas.microsoft.com/office/drawing/2014/main" id="{4975881C-1378-53E0-035A-DCEC3DE18834}"/>
              </a:ext>
            </a:extLst>
          </p:cNvPr>
          <p:cNvSpPr>
            <a:spLocks noGrp="1"/>
          </p:cNvSpPr>
          <p:nvPr>
            <p:ph idx="1"/>
          </p:nvPr>
        </p:nvSpPr>
        <p:spPr>
          <a:prstGeom prst="rect">
            <a:avLst/>
          </a:prstGeom>
        </p:spPr>
        <p:txBody>
          <a:bodyPr/>
          <a:lstStyle/>
          <a:p>
            <a:r>
              <a:rPr lang="en-US" dirty="0"/>
              <a:t>Advance technologies, architectures, standards, and operations enabling autonomous and crew-assisted assembly, manufacturing, inspection, repair, refueling, reconfiguration, and lifetime extension of space systems. Includes modular structures, robotic manipulation, in-situ fabrication using Earth-supplied or ISRU feedstock, standardized interfaces, materials processing, quality assurance, and autonomous control frameworks. </a:t>
            </a:r>
          </a:p>
          <a:p>
            <a:pPr marL="285750" indent="-285750">
              <a:buFont typeface="Arial" panose="020B0604020202020204" pitchFamily="34" charset="0"/>
              <a:buChar char="•"/>
            </a:pPr>
            <a:r>
              <a:rPr lang="en-US" sz="1600" dirty="0"/>
              <a:t>Coordinates with SRE for feedstock and logistics integration, and with MORR for proximity operations and safety-of-flight rules and procedures</a:t>
            </a:r>
            <a:endParaRPr lang="en-US" sz="400" dirty="0"/>
          </a:p>
        </p:txBody>
      </p:sp>
      <p:sp>
        <p:nvSpPr>
          <p:cNvPr id="5" name="Slide Number Placeholder 4">
            <a:extLst>
              <a:ext uri="{FF2B5EF4-FFF2-40B4-BE49-F238E27FC236}">
                <a16:creationId xmlns:a16="http://schemas.microsoft.com/office/drawing/2014/main" id="{DB1A1AF2-C433-F1E6-55A5-A9ACC6CDBECD}"/>
              </a:ext>
            </a:extLst>
          </p:cNvPr>
          <p:cNvSpPr>
            <a:spLocks noGrp="1"/>
          </p:cNvSpPr>
          <p:nvPr>
            <p:ph type="sldNum" sz="quarter" idx="12"/>
          </p:nvPr>
        </p:nvSpPr>
        <p:spPr/>
        <p:txBody>
          <a:bodyPr/>
          <a:lstStyle/>
          <a:p>
            <a:fld id="{8FBCB428-D880-FC4A-9B26-64132A65A030}" type="slidenum">
              <a:rPr lang="en-US" smtClean="0"/>
              <a:pPr/>
              <a:t>78</a:t>
            </a:fld>
            <a:endParaRPr lang="en-US" dirty="0"/>
          </a:p>
        </p:txBody>
      </p:sp>
    </p:spTree>
    <p:extLst>
      <p:ext uri="{BB962C8B-B14F-4D97-AF65-F5344CB8AC3E}">
        <p14:creationId xmlns:p14="http://schemas.microsoft.com/office/powerpoint/2010/main" val="13860813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F5688-6A5F-A46A-A981-C06C20C45564}"/>
            </a:ext>
          </a:extLst>
        </p:cNvPr>
        <p:cNvGrpSpPr/>
        <p:nvPr/>
      </p:nvGrpSpPr>
      <p:grpSpPr>
        <a:xfrm>
          <a:off x="0" y="0"/>
          <a:ext cx="0" cy="0"/>
          <a:chOff x="0" y="0"/>
          <a:chExt cx="0" cy="0"/>
        </a:xfrm>
      </p:grpSpPr>
      <p:sp>
        <p:nvSpPr>
          <p:cNvPr id="8" name="Explosion: 8 Points 7">
            <a:extLst>
              <a:ext uri="{FF2B5EF4-FFF2-40B4-BE49-F238E27FC236}">
                <a16:creationId xmlns:a16="http://schemas.microsoft.com/office/drawing/2014/main" id="{EA032041-FD3C-4407-FD67-58032470AA6B}"/>
              </a:ext>
            </a:extLst>
          </p:cNvPr>
          <p:cNvSpPr/>
          <p:nvPr/>
        </p:nvSpPr>
        <p:spPr>
          <a:xfrm rot="626500">
            <a:off x="8041595" y="3785787"/>
            <a:ext cx="3828516" cy="2657743"/>
          </a:xfrm>
          <a:prstGeom prst="irregularSeal1">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Debris applications of tethers would be captured here</a:t>
            </a:r>
          </a:p>
        </p:txBody>
      </p:sp>
      <p:sp>
        <p:nvSpPr>
          <p:cNvPr id="2" name="Title 1">
            <a:extLst>
              <a:ext uri="{FF2B5EF4-FFF2-40B4-BE49-F238E27FC236}">
                <a16:creationId xmlns:a16="http://schemas.microsoft.com/office/drawing/2014/main" id="{80CF719D-5651-3D6A-EEB0-9141818BB2E8}"/>
              </a:ext>
            </a:extLst>
          </p:cNvPr>
          <p:cNvSpPr>
            <a:spLocks noGrp="1"/>
          </p:cNvSpPr>
          <p:nvPr>
            <p:ph type="title"/>
          </p:nvPr>
        </p:nvSpPr>
        <p:spPr/>
        <p:txBody>
          <a:bodyPr>
            <a:normAutofit/>
          </a:bodyPr>
          <a:lstStyle/>
          <a:p>
            <a:r>
              <a:rPr lang="en-US" dirty="0"/>
              <a:t>Space Domain Awareness and Orbital Sustainability (SDAOS)</a:t>
            </a:r>
          </a:p>
        </p:txBody>
      </p:sp>
      <p:sp>
        <p:nvSpPr>
          <p:cNvPr id="3" name="Content Placeholder 2">
            <a:extLst>
              <a:ext uri="{FF2B5EF4-FFF2-40B4-BE49-F238E27FC236}">
                <a16:creationId xmlns:a16="http://schemas.microsoft.com/office/drawing/2014/main" id="{E3351E55-9C63-73B4-212A-64281BF3B4DF}"/>
              </a:ext>
            </a:extLst>
          </p:cNvPr>
          <p:cNvSpPr>
            <a:spLocks noGrp="1"/>
          </p:cNvSpPr>
          <p:nvPr>
            <p:ph idx="1"/>
          </p:nvPr>
        </p:nvSpPr>
        <p:spPr>
          <a:prstGeom prst="rect">
            <a:avLst/>
          </a:prstGeom>
        </p:spPr>
        <p:txBody>
          <a:bodyPr/>
          <a:lstStyle/>
          <a:p>
            <a:r>
              <a:rPr lang="en-US" dirty="0"/>
              <a:t>Advance space domain awareness and space traffic management across LEO-to-cislunar regimes, including sensing techniques (optical, radar, RF), cataloging, characterization, conjunction assessment, maneuver coordination, and decision support. Promote design-for-demisability, end-of-life planning, debris mitigation and remediation (including tether and drag augmentation concepts), stewardship norms, and ethics of orbital sustainability. </a:t>
            </a:r>
          </a:p>
          <a:p>
            <a:pPr marL="285750" indent="-285750">
              <a:buFont typeface="Arial" panose="020B0604020202020204" pitchFamily="34" charset="0"/>
              <a:buChar char="•"/>
            </a:pPr>
            <a:r>
              <a:rPr lang="en-US" sz="1600" dirty="0"/>
              <a:t>Interfaces with MORR on operational procedures and with LVES on vehicle design features enabling SDA/STM compliance</a:t>
            </a:r>
          </a:p>
          <a:p>
            <a:pPr marL="285750" indent="-285750">
              <a:buFont typeface="Arial" panose="020B0604020202020204" pitchFamily="34" charset="0"/>
              <a:buChar char="•"/>
            </a:pPr>
            <a:r>
              <a:rPr lang="en-US" sz="1600" dirty="0"/>
              <a:t>Coordinates with CSDI on data management/decision support</a:t>
            </a:r>
          </a:p>
          <a:p>
            <a:pPr marL="285750" indent="-285750">
              <a:buFont typeface="Arial" panose="020B0604020202020204" pitchFamily="34" charset="0"/>
              <a:buChar char="•"/>
            </a:pPr>
            <a:r>
              <a:rPr lang="en-US" sz="1600" dirty="0"/>
              <a:t>Contributes to the Sustainability Integration Committee in the Integration and Outreach Division (IOD) on full-spectrum space sustainability issues</a:t>
            </a:r>
            <a:endParaRPr lang="en-US" sz="1400" dirty="0"/>
          </a:p>
        </p:txBody>
      </p:sp>
      <p:sp>
        <p:nvSpPr>
          <p:cNvPr id="5" name="Slide Number Placeholder 4">
            <a:extLst>
              <a:ext uri="{FF2B5EF4-FFF2-40B4-BE49-F238E27FC236}">
                <a16:creationId xmlns:a16="http://schemas.microsoft.com/office/drawing/2014/main" id="{8A1DDF29-EFD3-759B-D922-61534A45A833}"/>
              </a:ext>
            </a:extLst>
          </p:cNvPr>
          <p:cNvSpPr>
            <a:spLocks noGrp="1"/>
          </p:cNvSpPr>
          <p:nvPr>
            <p:ph type="sldNum" sz="quarter" idx="12"/>
          </p:nvPr>
        </p:nvSpPr>
        <p:spPr/>
        <p:txBody>
          <a:bodyPr/>
          <a:lstStyle/>
          <a:p>
            <a:fld id="{8FBCB428-D880-FC4A-9B26-64132A65A030}" type="slidenum">
              <a:rPr lang="en-US" smtClean="0"/>
              <a:pPr/>
              <a:t>79</a:t>
            </a:fld>
            <a:endParaRPr lang="en-US" dirty="0"/>
          </a:p>
        </p:txBody>
      </p:sp>
    </p:spTree>
    <p:extLst>
      <p:ext uri="{BB962C8B-B14F-4D97-AF65-F5344CB8AC3E}">
        <p14:creationId xmlns:p14="http://schemas.microsoft.com/office/powerpoint/2010/main" val="756079713"/>
      </p:ext>
    </p:extLst>
  </p:cSld>
  <p:clrMapOvr>
    <a:masterClrMapping/>
  </p:clrMapOvr>
</p:sld>
</file>

<file path=ppt/theme/theme1.xml><?xml version="1.0" encoding="utf-8"?>
<a:theme xmlns:a="http://schemas.openxmlformats.org/drawingml/2006/main" name="AIAA-9_2025-PreBuilt-Logo-PPT-Template-R1">
  <a:themeElements>
    <a:clrScheme name="AIAA 2025">
      <a:dk1>
        <a:srgbClr val="000000"/>
      </a:dk1>
      <a:lt1>
        <a:srgbClr val="FFFFFF"/>
      </a:lt1>
      <a:dk2>
        <a:srgbClr val="1A3C6D"/>
      </a:dk2>
      <a:lt2>
        <a:srgbClr val="E8E8E8"/>
      </a:lt2>
      <a:accent1>
        <a:srgbClr val="1A3C6D"/>
      </a:accent1>
      <a:accent2>
        <a:srgbClr val="3079A7"/>
      </a:accent2>
      <a:accent3>
        <a:srgbClr val="742A88"/>
      </a:accent3>
      <a:accent4>
        <a:srgbClr val="F1B82C"/>
      </a:accent4>
      <a:accent5>
        <a:srgbClr val="65A602"/>
      </a:accent5>
      <a:accent6>
        <a:srgbClr val="CC4100"/>
      </a:accent6>
      <a:hlink>
        <a:srgbClr val="3079A7"/>
      </a:hlink>
      <a:folHlink>
        <a:srgbClr val="3079A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AIAA 2025">
      <a:dk1>
        <a:srgbClr val="000000"/>
      </a:dk1>
      <a:lt1>
        <a:srgbClr val="FFFFFF"/>
      </a:lt1>
      <a:dk2>
        <a:srgbClr val="1A3C6D"/>
      </a:dk2>
      <a:lt2>
        <a:srgbClr val="E8E8E8"/>
      </a:lt2>
      <a:accent1>
        <a:srgbClr val="1A3C6D"/>
      </a:accent1>
      <a:accent2>
        <a:srgbClr val="3079A7"/>
      </a:accent2>
      <a:accent3>
        <a:srgbClr val="742A88"/>
      </a:accent3>
      <a:accent4>
        <a:srgbClr val="F1B82C"/>
      </a:accent4>
      <a:accent5>
        <a:srgbClr val="65A602"/>
      </a:accent5>
      <a:accent6>
        <a:srgbClr val="CC4100"/>
      </a:accent6>
      <a:hlink>
        <a:srgbClr val="3079A7"/>
      </a:hlink>
      <a:folHlink>
        <a:srgbClr val="3079A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AIAA 2025">
      <a:dk1>
        <a:srgbClr val="000000"/>
      </a:dk1>
      <a:lt1>
        <a:srgbClr val="FFFFFF"/>
      </a:lt1>
      <a:dk2>
        <a:srgbClr val="1A3C6D"/>
      </a:dk2>
      <a:lt2>
        <a:srgbClr val="E8E8E8"/>
      </a:lt2>
      <a:accent1>
        <a:srgbClr val="1A3C6D"/>
      </a:accent1>
      <a:accent2>
        <a:srgbClr val="3079A7"/>
      </a:accent2>
      <a:accent3>
        <a:srgbClr val="742A88"/>
      </a:accent3>
      <a:accent4>
        <a:srgbClr val="F1B82C"/>
      </a:accent4>
      <a:accent5>
        <a:srgbClr val="65A602"/>
      </a:accent5>
      <a:accent6>
        <a:srgbClr val="CC4100"/>
      </a:accent6>
      <a:hlink>
        <a:srgbClr val="3079A7"/>
      </a:hlink>
      <a:folHlink>
        <a:srgbClr val="3079A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AIAA 2025">
      <a:dk1>
        <a:srgbClr val="000000"/>
      </a:dk1>
      <a:lt1>
        <a:srgbClr val="FFFFFF"/>
      </a:lt1>
      <a:dk2>
        <a:srgbClr val="1A3C6D"/>
      </a:dk2>
      <a:lt2>
        <a:srgbClr val="E8E8E8"/>
      </a:lt2>
      <a:accent1>
        <a:srgbClr val="1A3C6D"/>
      </a:accent1>
      <a:accent2>
        <a:srgbClr val="3079A7"/>
      </a:accent2>
      <a:accent3>
        <a:srgbClr val="742A88"/>
      </a:accent3>
      <a:accent4>
        <a:srgbClr val="F1B82C"/>
      </a:accent4>
      <a:accent5>
        <a:srgbClr val="65A602"/>
      </a:accent5>
      <a:accent6>
        <a:srgbClr val="CC4100"/>
      </a:accent6>
      <a:hlink>
        <a:srgbClr val="3079A7"/>
      </a:hlink>
      <a:folHlink>
        <a:srgbClr val="3079A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6581</TotalTime>
  <Words>6689</Words>
  <Application>Microsoft Office PowerPoint</Application>
  <PresentationFormat>Widescreen</PresentationFormat>
  <Paragraphs>827</Paragraphs>
  <Slides>79</Slides>
  <Notes>14</Notes>
  <HiddenSlides>0</HiddenSlides>
  <MMClips>0</MMClips>
  <ScaleCrop>false</ScaleCrop>
  <HeadingPairs>
    <vt:vector size="6" baseType="variant">
      <vt:variant>
        <vt:lpstr>Fonts Used</vt:lpstr>
      </vt:variant>
      <vt:variant>
        <vt:i4>16</vt:i4>
      </vt:variant>
      <vt:variant>
        <vt:lpstr>Theme</vt:lpstr>
      </vt:variant>
      <vt:variant>
        <vt:i4>4</vt:i4>
      </vt:variant>
      <vt:variant>
        <vt:lpstr>Slide Titles</vt:lpstr>
      </vt:variant>
      <vt:variant>
        <vt:i4>79</vt:i4>
      </vt:variant>
    </vt:vector>
  </HeadingPairs>
  <TitlesOfParts>
    <vt:vector size="99" baseType="lpstr">
      <vt:lpstr>ＭＳ Ｐゴシック</vt:lpstr>
      <vt:lpstr>Aptos</vt:lpstr>
      <vt:lpstr>Aptos Display</vt:lpstr>
      <vt:lpstr>Aptos Narrow</vt:lpstr>
      <vt:lpstr>Arial</vt:lpstr>
      <vt:lpstr>Arial Narrow</vt:lpstr>
      <vt:lpstr>Calibri</vt:lpstr>
      <vt:lpstr>Courier New</vt:lpstr>
      <vt:lpstr>Figtree</vt:lpstr>
      <vt:lpstr>Figtree Light</vt:lpstr>
      <vt:lpstr>Figtree Medium</vt:lpstr>
      <vt:lpstr>Figtree SemiBold</vt:lpstr>
      <vt:lpstr>Helvetica</vt:lpstr>
      <vt:lpstr>Symbol</vt:lpstr>
      <vt:lpstr>Times</vt:lpstr>
      <vt:lpstr>Wingdings</vt:lpstr>
      <vt:lpstr>AIAA-9_2025-PreBuilt-Logo-PPT-Template-R1</vt:lpstr>
      <vt:lpstr>1_Office Theme</vt:lpstr>
      <vt:lpstr>2_Office Theme</vt:lpstr>
      <vt:lpstr>Office Theme</vt:lpstr>
      <vt:lpstr>SMG General Meeting @ ASCEND</vt:lpstr>
      <vt:lpstr>PowerPoint Presentation</vt:lpstr>
      <vt:lpstr>Agenda</vt:lpstr>
      <vt:lpstr>PowerPoint Presentation</vt:lpstr>
      <vt:lpstr>SMG Director’s Priorities – 2026</vt:lpstr>
      <vt:lpstr>AIAA Governance Overview</vt:lpstr>
      <vt:lpstr>Governance Model (Stephen’s Bootleg Version)</vt:lpstr>
      <vt:lpstr>2026-2027 TAD Leadership Team</vt:lpstr>
      <vt:lpstr>PowerPoint Presentation</vt:lpstr>
      <vt:lpstr>Many Thanks to our Outgoing TC Chairs</vt:lpstr>
      <vt:lpstr>SMG Space-Related TC Refresh</vt:lpstr>
      <vt:lpstr>PowerPoint Presentation</vt:lpstr>
      <vt:lpstr>TC Refresh: Objective and Rationale</vt:lpstr>
      <vt:lpstr>TAD Expectations for TCs</vt:lpstr>
      <vt:lpstr>Space TC Refresh: Where We Are Now</vt:lpstr>
      <vt:lpstr>SMG is Stepping into the New Space Era</vt:lpstr>
      <vt:lpstr>We’re Mapping Old Space to New Space</vt:lpstr>
      <vt:lpstr>Spacefaring Health &amp; Performance (SHP TC)</vt:lpstr>
      <vt:lpstr>Gravity-Dependent Sciences and Technology (GDST TC) </vt:lpstr>
      <vt:lpstr>Launch Vehicle and Entry Systems (LVES TC) </vt:lpstr>
      <vt:lpstr>Mission Operations, Rendezvous, and Rescue (MORR TC) </vt:lpstr>
      <vt:lpstr>Space Resources Exploitation (SRE TC)</vt:lpstr>
      <vt:lpstr>Space Architecture and Habitats (SAH TC)</vt:lpstr>
      <vt:lpstr>Space Industrial Logistics and Manufacturing  (SILM TC)</vt:lpstr>
      <vt:lpstr>Small Satellites, Constellations, and Commoditized Systems (SSCCS TC)</vt:lpstr>
      <vt:lpstr>Space Settlement (SpSet TC) [P*]</vt:lpstr>
      <vt:lpstr>Moving to TAD/ISG</vt:lpstr>
      <vt:lpstr>Moving to AIED</vt:lpstr>
      <vt:lpstr>Sunsetting</vt:lpstr>
      <vt:lpstr>Missile Systems TC (No Change)</vt:lpstr>
      <vt:lpstr>Weapons Systems Effectiveness TC (No Change)</vt:lpstr>
      <vt:lpstr>The Refreshed SMG</vt:lpstr>
      <vt:lpstr>We Have a Phased Implementation Plan</vt:lpstr>
      <vt:lpstr>TAD Expectations for TCs</vt:lpstr>
      <vt:lpstr>TAD Updates</vt:lpstr>
      <vt:lpstr>New TAD Chief</vt:lpstr>
      <vt:lpstr>Incoming TAD Chief Vision</vt:lpstr>
      <vt:lpstr>Incoming TAD Chief Vision (Cont)</vt:lpstr>
      <vt:lpstr>AIAA Director’s Report</vt:lpstr>
      <vt:lpstr>Institute Financial Update</vt:lpstr>
      <vt:lpstr>IT Survey Update</vt:lpstr>
      <vt:lpstr>Important Dates to Remember</vt:lpstr>
      <vt:lpstr>Save the Date! New Chair Orientation </vt:lpstr>
      <vt:lpstr>AIAA Open Volunteer Positions – We Need You!</vt:lpstr>
      <vt:lpstr>BONUS: DEFENSE Forum Call for Technical Briefings</vt:lpstr>
      <vt:lpstr>AIAA Brand Center</vt:lpstr>
      <vt:lpstr>AIAA Updates</vt:lpstr>
      <vt:lpstr>AIAA President</vt:lpstr>
      <vt:lpstr>PowerPoint Presentation</vt:lpstr>
      <vt:lpstr>IOD Reorganization Resolution Support Information</vt:lpstr>
      <vt:lpstr>Governance Model (Stephen’s Bootleg Version)</vt:lpstr>
      <vt:lpstr>Reorganization Rationale</vt:lpstr>
      <vt:lpstr>Mission Updated to Reflect Intent of the Division and Promote Cohesiveness Amongst its Groups</vt:lpstr>
      <vt:lpstr>Aerospace Integrated Engagement Division Org Chart</vt:lpstr>
      <vt:lpstr>AIED Short Group Descriptions</vt:lpstr>
      <vt:lpstr>PowerPoint Presentation</vt:lpstr>
      <vt:lpstr>PowerPoint Presentation</vt:lpstr>
      <vt:lpstr>PowerPoint Presentation</vt:lpstr>
      <vt:lpstr>PowerPoint Presentation</vt:lpstr>
      <vt:lpstr>2026 Forums Update</vt:lpstr>
      <vt:lpstr>SciTech Forum 12–16 January, Orlando, Florida</vt:lpstr>
      <vt:lpstr>DEFENSE Forum 17–19 March, Laurel, Maryland</vt:lpstr>
      <vt:lpstr>ASCEND 19–21 May, Washington, D.C.</vt:lpstr>
      <vt:lpstr>AVIATION Forum 8–12 June, San Diego, California</vt:lpstr>
      <vt:lpstr>Future Forum and Event Dates</vt:lpstr>
      <vt:lpstr>International Astronautical Congress (IAC) 2029</vt:lpstr>
      <vt:lpstr>PowerPoint Presentation</vt:lpstr>
      <vt:lpstr>Miscellaneous Updates</vt:lpstr>
      <vt:lpstr>Important Dates to Remember</vt:lpstr>
      <vt:lpstr>New TC Member Cycle</vt:lpstr>
      <vt:lpstr>QUESTIONS?</vt:lpstr>
      <vt:lpstr>PowerPoint Presentation</vt:lpstr>
      <vt:lpstr>BACKUP</vt:lpstr>
      <vt:lpstr>SMG Refresh – Potential Gaps Under Consideration</vt:lpstr>
      <vt:lpstr>Communications and Space Data Infrastructure (CSDI TC)</vt:lpstr>
      <vt:lpstr>Earth and Planetary Science and Applications (EPSA TC)</vt:lpstr>
      <vt:lpstr>Lunar Surface &amp; Cislunar Exploration (LSCE TC)</vt:lpstr>
      <vt:lpstr>In-Situ Servicing, Assembly, and Manufacturing (ISAM TC)</vt:lpstr>
      <vt:lpstr>Space Domain Awareness and Orbital Sustainability (SDAOS)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Blanchette</dc:creator>
  <cp:lastModifiedBy>Stephen Blanchette</cp:lastModifiedBy>
  <cp:revision>61</cp:revision>
  <dcterms:created xsi:type="dcterms:W3CDTF">2026-02-01T13:25:06Z</dcterms:created>
  <dcterms:modified xsi:type="dcterms:W3CDTF">2026-05-20T04:20:22Z</dcterms:modified>
</cp:coreProperties>
</file>