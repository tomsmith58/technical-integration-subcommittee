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1"/>
  </p:sldMasterIdLst>
  <p:notesMasterIdLst>
    <p:notesMasterId r:id="rId16"/>
  </p:notesMasterIdLst>
  <p:sldIdLst>
    <p:sldId id="2098148984" r:id="rId2"/>
    <p:sldId id="2098149044" r:id="rId3"/>
    <p:sldId id="2098149055" r:id="rId4"/>
    <p:sldId id="2098149047" r:id="rId5"/>
    <p:sldId id="2147436177" r:id="rId6"/>
    <p:sldId id="2147436178" r:id="rId7"/>
    <p:sldId id="2098149049" r:id="rId8"/>
    <p:sldId id="2098149051" r:id="rId9"/>
    <p:sldId id="2147436179" r:id="rId10"/>
    <p:sldId id="2098149046" r:id="rId11"/>
    <p:sldId id="2098149050" r:id="rId12"/>
    <p:sldId id="2098149045" r:id="rId13"/>
    <p:sldId id="2098149056" r:id="rId14"/>
    <p:sldId id="209814905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SABP Overview" id="{B4001120-65EA-4AA4-A9BA-E92B3CAE8543}">
          <p14:sldIdLst>
            <p14:sldId id="2098148984"/>
            <p14:sldId id="2098149044"/>
            <p14:sldId id="2098149055"/>
            <p14:sldId id="2098149047"/>
            <p14:sldId id="2147436177"/>
            <p14:sldId id="2147436178"/>
            <p14:sldId id="2098149049"/>
            <p14:sldId id="2098149051"/>
            <p14:sldId id="2147436179"/>
            <p14:sldId id="2098149046"/>
            <p14:sldId id="2098149050"/>
            <p14:sldId id="2098149045"/>
            <p14:sldId id="2098149056"/>
            <p14:sldId id="209814905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3A88434-E061-34C3-AD8D-8A2EBDB21C45}" name="Dr. Lesley A Weitz" initials="LW" userId="S::LWEITZ@MITRE.ORG::6ed395b4-86dc-4bcd-9616-33b40b23faa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18" autoAdjust="0"/>
    <p:restoredTop sz="94604" autoAdjust="0"/>
  </p:normalViewPr>
  <p:slideViewPr>
    <p:cSldViewPr snapToGrid="0">
      <p:cViewPr varScale="1">
        <p:scale>
          <a:sx n="91" d="100"/>
          <a:sy n="91" d="100"/>
        </p:scale>
        <p:origin x="666" y="9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D7C2F6-870D-43D6-AC89-686284ECBB25}" type="datetimeFigureOut">
              <a:rPr lang="en-US" smtClean="0"/>
              <a:t>6/23/2026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7D8A57-7151-4939-9F3E-BDD8BD32ED33}" type="slidenum">
              <a:rPr lang="en-US" smtClean="0"/>
              <a:t>‹#›</a:t>
            </a:fld>
            <a:endParaRPr lang="en-US"/>
          </a:p>
        </p:txBody>
      </p:sp>
    </p:spTree>
    <p:extLst>
      <p:ext uri="{BB962C8B-B14F-4D97-AF65-F5344CB8AC3E}">
        <p14:creationId xmlns:p14="http://schemas.microsoft.com/office/powerpoint/2010/main" val="1557317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DD126F57-748E-49DF-819A-3E6628366E19}" type="slidenum">
              <a:rPr lang="en-US" smtClean="0"/>
              <a:pPr/>
              <a:t>1</a:t>
            </a:fld>
            <a:endParaRPr lang="en-US" dirty="0"/>
          </a:p>
        </p:txBody>
      </p:sp>
      <p:sp>
        <p:nvSpPr>
          <p:cNvPr id="62467" name="Rectangle 2"/>
          <p:cNvSpPr>
            <a:spLocks noGrp="1" noRot="1" noChangeAspect="1" noChangeArrowheads="1" noTextEdit="1"/>
          </p:cNvSpPr>
          <p:nvPr>
            <p:ph type="sldImg"/>
          </p:nvPr>
        </p:nvSpPr>
        <p:spPr>
          <a:xfrm>
            <a:off x="422275" y="695325"/>
            <a:ext cx="6178550" cy="3476625"/>
          </a:xfrm>
          <a:ln/>
        </p:spPr>
      </p:sp>
      <p:sp>
        <p:nvSpPr>
          <p:cNvPr id="62468" name="Rectangle 3"/>
          <p:cNvSpPr>
            <a:spLocks noGrp="1" noChangeArrowheads="1"/>
          </p:cNvSpPr>
          <p:nvPr>
            <p:ph type="body" idx="1"/>
          </p:nvPr>
        </p:nvSpPr>
        <p:spPr>
          <a:xfrm>
            <a:off x="915945" y="4402428"/>
            <a:ext cx="5191985" cy="4247277"/>
          </a:xfrm>
          <a:noFill/>
          <a:ln/>
        </p:spPr>
        <p:txBody>
          <a:bodyPr/>
          <a:lstStyle/>
          <a:p>
            <a:pPr eaLnBrk="1" hangingPunct="1"/>
            <a:endParaRPr lang="en-US" dirty="0"/>
          </a:p>
        </p:txBody>
      </p:sp>
    </p:spTree>
    <p:extLst>
      <p:ext uri="{BB962C8B-B14F-4D97-AF65-F5344CB8AC3E}">
        <p14:creationId xmlns:p14="http://schemas.microsoft.com/office/powerpoint/2010/main" val="220619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TAD Deliverables are tracking well. Very good showing from TCs.</a:t>
            </a:r>
          </a:p>
          <a:p>
            <a:r>
              <a:rPr lang="en-US">
                <a:latin typeface="Calibri"/>
                <a:ea typeface="Calibri"/>
                <a:cs typeface="Calibri"/>
              </a:rPr>
              <a:t>Rosters are 94% complete</a:t>
            </a:r>
          </a:p>
          <a:p>
            <a:r>
              <a:rPr lang="en-US" dirty="0">
                <a:latin typeface="Calibri"/>
                <a:ea typeface="Calibri"/>
                <a:cs typeface="Calibri"/>
              </a:rPr>
              <a:t>Annual Reports are 94% complete, with one TC (Fluid Instability and Transition) not required to submit because they were chartered in November last year.</a:t>
            </a:r>
          </a:p>
          <a:p>
            <a:r>
              <a:rPr lang="en-US">
                <a:latin typeface="Calibri"/>
                <a:ea typeface="Calibri"/>
                <a:cs typeface="Calibri"/>
              </a:rPr>
              <a:t>Charters are 70% complete. Group Directors are reviewing charters and approving/workshopping them with the committees.</a:t>
            </a:r>
          </a:p>
        </p:txBody>
      </p:sp>
      <p:sp>
        <p:nvSpPr>
          <p:cNvPr id="4" name="Slide Number Placeholder 3"/>
          <p:cNvSpPr>
            <a:spLocks noGrp="1"/>
          </p:cNvSpPr>
          <p:nvPr>
            <p:ph type="sldNum" sz="quarter" idx="5"/>
          </p:nvPr>
        </p:nvSpPr>
        <p:spPr/>
        <p:txBody>
          <a:bodyPr/>
          <a:lstStyle/>
          <a:p>
            <a:fld id="{7B12D1A7-0F1D-4A40-88F4-52C9023A4423}" type="slidenum">
              <a:rPr lang="en-US" smtClean="0"/>
              <a:t>5</a:t>
            </a:fld>
            <a:endParaRPr lang="en-US"/>
          </a:p>
        </p:txBody>
      </p:sp>
    </p:spTree>
    <p:extLst>
      <p:ext uri="{BB962C8B-B14F-4D97-AF65-F5344CB8AC3E}">
        <p14:creationId xmlns:p14="http://schemas.microsoft.com/office/powerpoint/2010/main" val="19594700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gradFill>
          <a:gsLst>
            <a:gs pos="0">
              <a:schemeClr val="accent2"/>
            </a:gs>
            <a:gs pos="60000">
              <a:schemeClr val="tx2"/>
            </a:gs>
          </a:gsLst>
          <a:lin ang="3600000" scaled="0"/>
        </a:gradFill>
        <a:effectLst/>
      </p:bgPr>
    </p:bg>
    <p:spTree>
      <p:nvGrpSpPr>
        <p:cNvPr id="1" name=""/>
        <p:cNvGrpSpPr/>
        <p:nvPr/>
      </p:nvGrpSpPr>
      <p:grpSpPr>
        <a:xfrm>
          <a:off x="0" y="0"/>
          <a:ext cx="0" cy="0"/>
          <a:chOff x="0" y="0"/>
          <a:chExt cx="0" cy="0"/>
        </a:xfrm>
      </p:grpSpPr>
      <p:pic>
        <p:nvPicPr>
          <p:cNvPr id="10" name="Picture 9" descr="A white logo with a black background&#10;&#10;AI-generated content may be incorrect.">
            <a:extLst>
              <a:ext uri="{FF2B5EF4-FFF2-40B4-BE49-F238E27FC236}">
                <a16:creationId xmlns:a16="http://schemas.microsoft.com/office/drawing/2014/main" id="{8C7F35EF-1610-E5B0-B764-FC143C8BAAE3}"/>
              </a:ext>
            </a:extLst>
          </p:cNvPr>
          <p:cNvPicPr>
            <a:picLocks noChangeAspect="1"/>
          </p:cNvPicPr>
          <p:nvPr userDrawn="1"/>
        </p:nvPicPr>
        <p:blipFill>
          <a:blip r:embed="rId2" cstate="screen">
            <a:alphaModFix amt="5000"/>
            <a:extLst>
              <a:ext uri="{28A0092B-C50C-407E-A947-70E740481C1C}">
                <a14:useLocalDpi xmlns:a14="http://schemas.microsoft.com/office/drawing/2010/main"/>
              </a:ext>
            </a:extLst>
          </a:blip>
          <a:srcRect r="7339" b="33231"/>
          <a:stretch/>
        </p:blipFill>
        <p:spPr>
          <a:xfrm>
            <a:off x="5897660" y="1509339"/>
            <a:ext cx="6294340" cy="5348660"/>
          </a:xfrm>
          <a:prstGeom prst="rect">
            <a:avLst/>
          </a:prstGeom>
        </p:spPr>
      </p:pic>
      <p:pic>
        <p:nvPicPr>
          <p:cNvPr id="8" name="Picture 7">
            <a:extLst>
              <a:ext uri="{FF2B5EF4-FFF2-40B4-BE49-F238E27FC236}">
                <a16:creationId xmlns:a16="http://schemas.microsoft.com/office/drawing/2014/main" id="{6D8A0025-EFEF-20BF-C80C-85AC36F306C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77607" y="637104"/>
            <a:ext cx="1771864" cy="1115869"/>
          </a:xfrm>
          <a:prstGeom prst="rect">
            <a:avLst/>
          </a:prstGeom>
        </p:spPr>
      </p:pic>
      <p:sp>
        <p:nvSpPr>
          <p:cNvPr id="3" name="Title 1">
            <a:extLst>
              <a:ext uri="{FF2B5EF4-FFF2-40B4-BE49-F238E27FC236}">
                <a16:creationId xmlns:a16="http://schemas.microsoft.com/office/drawing/2014/main" id="{BA0A17DC-774F-3210-530A-47E7C3473B84}"/>
              </a:ext>
            </a:extLst>
          </p:cNvPr>
          <p:cNvSpPr>
            <a:spLocks noGrp="1"/>
          </p:cNvSpPr>
          <p:nvPr>
            <p:ph type="title"/>
          </p:nvPr>
        </p:nvSpPr>
        <p:spPr>
          <a:xfrm>
            <a:off x="831850" y="2355742"/>
            <a:ext cx="8017682" cy="2445200"/>
          </a:xfrm>
          <a:prstGeom prst="rect">
            <a:avLst/>
          </a:prstGeom>
        </p:spPr>
        <p:txBody>
          <a:bodyPr lIns="0" tIns="0" rIns="0" bIns="0" anchor="ctr"/>
          <a:lstStyle>
            <a:lvl1pPr>
              <a:lnSpc>
                <a:spcPct val="80000"/>
              </a:lnSpc>
              <a:defRPr sz="6000" b="1" i="0">
                <a:solidFill>
                  <a:schemeClr val="bg1"/>
                </a:solidFill>
                <a:latin typeface="Figtree" pitchFamily="2" charset="0"/>
              </a:defRPr>
            </a:lvl1pPr>
          </a:lstStyle>
          <a:p>
            <a:r>
              <a:rPr lang="en-US"/>
              <a:t>Click to edit Master title style</a:t>
            </a:r>
          </a:p>
        </p:txBody>
      </p:sp>
      <p:sp>
        <p:nvSpPr>
          <p:cNvPr id="5" name="TextBox 4">
            <a:extLst>
              <a:ext uri="{FF2B5EF4-FFF2-40B4-BE49-F238E27FC236}">
                <a16:creationId xmlns:a16="http://schemas.microsoft.com/office/drawing/2014/main" id="{1F48F0EC-82D2-3C68-E213-5327A1828CFA}"/>
              </a:ext>
            </a:extLst>
          </p:cNvPr>
          <p:cNvSpPr txBox="1"/>
          <p:nvPr userDrawn="1"/>
        </p:nvSpPr>
        <p:spPr>
          <a:xfrm>
            <a:off x="831850" y="6492875"/>
            <a:ext cx="461665"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Figtree SemiBold" pitchFamily="2" charset="0"/>
                <a:ea typeface="+mn-ea"/>
                <a:cs typeface="+mn-cs"/>
              </a:rPr>
              <a:t>aiaa.org</a:t>
            </a:r>
          </a:p>
        </p:txBody>
      </p:sp>
      <p:sp>
        <p:nvSpPr>
          <p:cNvPr id="6" name="Text Placeholder 2">
            <a:extLst>
              <a:ext uri="{FF2B5EF4-FFF2-40B4-BE49-F238E27FC236}">
                <a16:creationId xmlns:a16="http://schemas.microsoft.com/office/drawing/2014/main" id="{7BBBDC11-29FC-667E-0F89-DBB03CF05217}"/>
              </a:ext>
            </a:extLst>
          </p:cNvPr>
          <p:cNvSpPr>
            <a:spLocks noGrp="1"/>
          </p:cNvSpPr>
          <p:nvPr>
            <p:ph type="body" idx="1"/>
          </p:nvPr>
        </p:nvSpPr>
        <p:spPr>
          <a:xfrm>
            <a:off x="831850" y="5017002"/>
            <a:ext cx="8017682" cy="497660"/>
          </a:xfrm>
          <a:prstGeom prst="rect">
            <a:avLst/>
          </a:prstGeom>
        </p:spPr>
        <p:txBody>
          <a:bodyPr lIns="0" tIns="0" rIns="0" bIns="0">
            <a:normAutofit/>
          </a:bodyPr>
          <a:lstStyle>
            <a:lvl1pPr marL="0" indent="0">
              <a:buNone/>
              <a:defRPr sz="2000" b="0" i="0">
                <a:solidFill>
                  <a:schemeClr val="bg1"/>
                </a:solidFill>
                <a:latin typeface="Figtree Light"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1398220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Divider (Navy)">
    <p:bg>
      <p:bgPr>
        <a:gradFill>
          <a:gsLst>
            <a:gs pos="0">
              <a:schemeClr val="accent2"/>
            </a:gs>
            <a:gs pos="60000">
              <a:schemeClr val="tx2"/>
            </a:gs>
          </a:gsLst>
          <a:lin ang="3600000" scaled="0"/>
        </a:gradFill>
        <a:effectLst/>
      </p:bgPr>
    </p:bg>
    <p:spTree>
      <p:nvGrpSpPr>
        <p:cNvPr id="1" name=""/>
        <p:cNvGrpSpPr/>
        <p:nvPr/>
      </p:nvGrpSpPr>
      <p:grpSpPr>
        <a:xfrm>
          <a:off x="0" y="0"/>
          <a:ext cx="0" cy="0"/>
          <a:chOff x="0" y="0"/>
          <a:chExt cx="0" cy="0"/>
        </a:xfrm>
      </p:grpSpPr>
      <p:pic>
        <p:nvPicPr>
          <p:cNvPr id="16" name="Picture 15" descr="A white logo with a black background&#10;&#10;AI-generated content may be incorrect.">
            <a:extLst>
              <a:ext uri="{FF2B5EF4-FFF2-40B4-BE49-F238E27FC236}">
                <a16:creationId xmlns:a16="http://schemas.microsoft.com/office/drawing/2014/main" id="{0E47ED36-DE2D-02CA-3151-94658797C72C}"/>
              </a:ext>
            </a:extLst>
          </p:cNvPr>
          <p:cNvPicPr>
            <a:picLocks noChangeAspect="1"/>
          </p:cNvPicPr>
          <p:nvPr userDrawn="1"/>
        </p:nvPicPr>
        <p:blipFill>
          <a:blip r:embed="rId2" cstate="screen">
            <a:alphaModFix amt="5000"/>
            <a:extLst>
              <a:ext uri="{28A0092B-C50C-407E-A947-70E740481C1C}">
                <a14:useLocalDpi xmlns:a14="http://schemas.microsoft.com/office/drawing/2010/main"/>
              </a:ext>
            </a:extLst>
          </a:blip>
          <a:srcRect r="7339" b="33231"/>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Figtree" pitchFamily="2" charset="0"/>
              <a:ea typeface="+mn-ea"/>
              <a:cs typeface="+mn-cs"/>
            </a:endParaRPr>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2979710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Content (Dark)">
    <p:bg>
      <p:bgPr>
        <a:solidFill>
          <a:schemeClr val="tx2"/>
        </a:solidFill>
        <a:effectLst/>
      </p:bgPr>
    </p:bg>
    <p:spTree>
      <p:nvGrpSpPr>
        <p:cNvPr id="1" name=""/>
        <p:cNvGrpSpPr/>
        <p:nvPr/>
      </p:nvGrpSpPr>
      <p:grpSpPr>
        <a:xfrm>
          <a:off x="0" y="0"/>
          <a:ext cx="0" cy="0"/>
          <a:chOff x="0" y="0"/>
          <a:chExt cx="0" cy="0"/>
        </a:xfrm>
      </p:grpSpPr>
      <p:pic>
        <p:nvPicPr>
          <p:cNvPr id="4" name="Picture 3" descr="A white logo with a black background&#10;&#10;AI-generated content may be incorrect.">
            <a:extLst>
              <a:ext uri="{FF2B5EF4-FFF2-40B4-BE49-F238E27FC236}">
                <a16:creationId xmlns:a16="http://schemas.microsoft.com/office/drawing/2014/main" id="{6009C2D0-8476-5C7C-3698-64F13A93B821}"/>
              </a:ext>
            </a:extLst>
          </p:cNvPr>
          <p:cNvPicPr>
            <a:picLocks noChangeAspect="1"/>
          </p:cNvPicPr>
          <p:nvPr userDrawn="1"/>
        </p:nvPicPr>
        <p:blipFill>
          <a:blip r:embed="rId2" cstate="screen">
            <a:alphaModFix amt="5000"/>
            <a:extLst>
              <a:ext uri="{28A0092B-C50C-407E-A947-70E740481C1C}">
                <a14:useLocalDpi xmlns:a14="http://schemas.microsoft.com/office/drawing/2010/main"/>
              </a:ext>
            </a:extLst>
          </a:blip>
          <a:srcRect r="7339" b="33231"/>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1800" b="0" i="0">
                <a:solidFill>
                  <a:schemeClr val="bg1"/>
                </a:solidFill>
                <a:latin typeface="Figtree" pitchFamily="2" charset="0"/>
              </a:defRPr>
            </a:lvl1pPr>
            <a:lvl2pPr marL="742950" indent="-285750">
              <a:buFont typeface="Arial" panose="020B0604020202020204" pitchFamily="34" charset="0"/>
              <a:buChar char="•"/>
              <a:defRPr sz="1800" b="0" i="0">
                <a:solidFill>
                  <a:schemeClr val="bg1"/>
                </a:solidFill>
                <a:latin typeface="Figtree" pitchFamily="2" charset="0"/>
              </a:defRPr>
            </a:lvl2pPr>
            <a:lvl3pPr marL="1200150" indent="-285750">
              <a:buFont typeface="Arial" panose="020B0604020202020204" pitchFamily="34" charset="0"/>
              <a:buChar char="•"/>
              <a:defRPr sz="1800" b="0" i="0">
                <a:solidFill>
                  <a:schemeClr val="bg1"/>
                </a:solidFill>
                <a:latin typeface="Figtree" pitchFamily="2" charset="0"/>
              </a:defRPr>
            </a:lvl3pPr>
            <a:lvl4pPr marL="1657350" indent="-285750">
              <a:buFont typeface="Arial" panose="020B0604020202020204" pitchFamily="34" charset="0"/>
              <a:buChar char="•"/>
              <a:defRPr sz="1800" b="0" i="0">
                <a:solidFill>
                  <a:schemeClr val="bg1"/>
                </a:solidFill>
                <a:latin typeface="Figtree" pitchFamily="2" charset="0"/>
              </a:defRPr>
            </a:lvl4pPr>
            <a:lvl5pPr marL="2114550" indent="-285750">
              <a:buFont typeface="Arial" panose="020B0604020202020204" pitchFamily="34" charset="0"/>
              <a:buChar char="•"/>
              <a:defRPr sz="1800" b="0" i="0">
                <a:solidFill>
                  <a:schemeClr val="bg1"/>
                </a:solidFill>
                <a:latin typeface="Figtree" pitchFamily="2" charset="0"/>
              </a:defRPr>
            </a:lvl5pPr>
          </a:lstStyle>
          <a:p>
            <a:pPr lvl="0"/>
            <a:r>
              <a:rPr lang="en-US" dirty="0" err="1"/>
              <a:t>Click</a:t>
            </a:r>
            <a:r>
              <a:rPr lang="en-US" dirty="0"/>
              <a:t>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94F72188-A0A9-5F3A-CF20-6B8F5FE585F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938213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 Image Blue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3" name="Freeform 2">
            <a:extLst>
              <a:ext uri="{FF2B5EF4-FFF2-40B4-BE49-F238E27FC236}">
                <a16:creationId xmlns:a16="http://schemas.microsoft.com/office/drawing/2014/main" id="{ABE42761-35EA-CA25-0900-63712C3225FA}"/>
              </a:ext>
            </a:extLst>
          </p:cNvPr>
          <p:cNvSpPr/>
          <p:nvPr userDrawn="1"/>
        </p:nvSpPr>
        <p:spPr>
          <a:xfrm>
            <a:off x="4830121" y="-4"/>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3076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cial Visual 1">
    <p:bg>
      <p:bgPr>
        <a:solidFill>
          <a:schemeClr val="tx2"/>
        </a:solidFill>
        <a:effectLst/>
      </p:bgPr>
    </p:bg>
    <p:spTree>
      <p:nvGrpSpPr>
        <p:cNvPr id="1" name=""/>
        <p:cNvGrpSpPr/>
        <p:nvPr/>
      </p:nvGrpSpPr>
      <p:grpSpPr>
        <a:xfrm>
          <a:off x="0" y="0"/>
          <a:ext cx="0" cy="0"/>
          <a:chOff x="0" y="0"/>
          <a:chExt cx="0" cy="0"/>
        </a:xfrm>
      </p:grpSpPr>
      <p:pic>
        <p:nvPicPr>
          <p:cNvPr id="9" name="Picture 8" descr="A spiral galaxy in space&#10;&#10;AI-generated content may be incorrect.">
            <a:extLst>
              <a:ext uri="{FF2B5EF4-FFF2-40B4-BE49-F238E27FC236}">
                <a16:creationId xmlns:a16="http://schemas.microsoft.com/office/drawing/2014/main" id="{B4257FEA-E4BB-4184-2551-6E913CF483E4}"/>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rcRect/>
          <a:stretch/>
        </p:blipFill>
        <p:spPr>
          <a:xfrm>
            <a:off x="-1" y="-2"/>
            <a:ext cx="12192001" cy="6858001"/>
          </a:xfrm>
          <a:prstGeom prst="rect">
            <a:avLst/>
          </a:prstGeom>
        </p:spPr>
      </p:pic>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11" name="Title 1">
            <a:extLst>
              <a:ext uri="{FF2B5EF4-FFF2-40B4-BE49-F238E27FC236}">
                <a16:creationId xmlns:a16="http://schemas.microsoft.com/office/drawing/2014/main" id="{097A2759-5262-98FC-2BA1-75A1A11F3C9B}"/>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12" name="Content Placeholder 2">
            <a:extLst>
              <a:ext uri="{FF2B5EF4-FFF2-40B4-BE49-F238E27FC236}">
                <a16:creationId xmlns:a16="http://schemas.microsoft.com/office/drawing/2014/main" id="{A4013314-73E8-EBCE-C957-B401AB4F5C75}"/>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2400" b="0" i="0">
                <a:solidFill>
                  <a:schemeClr val="bg1"/>
                </a:solidFill>
                <a:latin typeface="Figtree" pitchFamily="2" charset="0"/>
              </a:defRPr>
            </a:lvl1pPr>
            <a:lvl2pPr marL="742950" indent="-285750">
              <a:buFont typeface="Arial" panose="020B0604020202020204" pitchFamily="34" charset="0"/>
              <a:buChar char="•"/>
              <a:defRPr sz="2400" b="0" i="0">
                <a:solidFill>
                  <a:schemeClr val="bg1"/>
                </a:solidFill>
                <a:latin typeface="Figtree" pitchFamily="2" charset="0"/>
              </a:defRPr>
            </a:lvl2pPr>
            <a:lvl3pPr marL="1200150" indent="-285750">
              <a:buFont typeface="Arial" panose="020B0604020202020204" pitchFamily="34" charset="0"/>
              <a:buChar char="•"/>
              <a:defRPr sz="2400" b="0" i="0">
                <a:solidFill>
                  <a:schemeClr val="bg1"/>
                </a:solidFill>
                <a:latin typeface="Figtree" pitchFamily="2" charset="0"/>
              </a:defRPr>
            </a:lvl3pPr>
            <a:lvl4pPr marL="1657350" indent="-285750">
              <a:buFont typeface="Arial" panose="020B0604020202020204" pitchFamily="34" charset="0"/>
              <a:buChar char="•"/>
              <a:defRPr sz="2400" b="0" i="0">
                <a:solidFill>
                  <a:schemeClr val="bg1"/>
                </a:solidFill>
                <a:latin typeface="Figtree" pitchFamily="2" charset="0"/>
              </a:defRPr>
            </a:lvl4pPr>
            <a:lvl5pPr marL="2114550" indent="-285750">
              <a:buFont typeface="Arial" panose="020B0604020202020204" pitchFamily="34" charset="0"/>
              <a:buChar char="•"/>
              <a:defRPr sz="2400" b="0" i="0">
                <a:solidFill>
                  <a:schemeClr val="bg1"/>
                </a:solidFill>
                <a:latin typeface="Figtree" pitchFamily="2" charset="0"/>
              </a:defRPr>
            </a:lvl5pPr>
          </a:lstStyle>
          <a:p>
            <a:pPr lvl="0"/>
            <a:r>
              <a:rPr lang="en-US" dirty="0" err="1"/>
              <a:t>Click</a:t>
            </a:r>
            <a:r>
              <a:rPr lang="en-US" dirty="0"/>
              <a:t>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29389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pecial Visual 2">
    <p:bg>
      <p:bgPr>
        <a:solidFill>
          <a:schemeClr val="tx2"/>
        </a:solidFill>
        <a:effectLst/>
      </p:bgPr>
    </p:bg>
    <p:spTree>
      <p:nvGrpSpPr>
        <p:cNvPr id="1" name=""/>
        <p:cNvGrpSpPr/>
        <p:nvPr/>
      </p:nvGrpSpPr>
      <p:grpSpPr>
        <a:xfrm>
          <a:off x="0" y="0"/>
          <a:ext cx="0" cy="0"/>
          <a:chOff x="0" y="0"/>
          <a:chExt cx="0" cy="0"/>
        </a:xfrm>
      </p:grpSpPr>
      <p:pic>
        <p:nvPicPr>
          <p:cNvPr id="11" name="Picture 10" descr="A blue sky with stars&#10;&#10;AI-generated content may be incorrect.">
            <a:extLst>
              <a:ext uri="{FF2B5EF4-FFF2-40B4-BE49-F238E27FC236}">
                <a16:creationId xmlns:a16="http://schemas.microsoft.com/office/drawing/2014/main" id="{58E6D3C4-DD7C-11D1-CC5C-C7C19C2E03FC}"/>
              </a:ext>
            </a:extLst>
          </p:cNvPr>
          <p:cNvPicPr>
            <a:picLocks noChangeAspect="1"/>
          </p:cNvPicPr>
          <p:nvPr userDrawn="1"/>
        </p:nvPicPr>
        <p:blipFill>
          <a:blip r:embed="rId2" cstate="screen">
            <a:alphaModFix amt="40000"/>
            <a:extLst>
              <a:ext uri="{28A0092B-C50C-407E-A947-70E740481C1C}">
                <a14:useLocalDpi xmlns:a14="http://schemas.microsoft.com/office/drawing/2010/main"/>
              </a:ext>
            </a:extLst>
          </a:blip>
          <a:srcRect/>
          <a:stretch/>
        </p:blipFill>
        <p:spPr>
          <a:xfrm>
            <a:off x="0" y="-1"/>
            <a:ext cx="12165488" cy="6858001"/>
          </a:xfrm>
          <a:prstGeom prst="rect">
            <a:avLst/>
          </a:prstGeom>
        </p:spPr>
      </p:pic>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ooter Placeholder 4">
            <a:extLst>
              <a:ext uri="{FF2B5EF4-FFF2-40B4-BE49-F238E27FC236}">
                <a16:creationId xmlns:a16="http://schemas.microsoft.com/office/drawing/2014/main" id="{BB4B291A-88AF-2996-D687-D14BAEE37C8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12" name="Title 1">
            <a:extLst>
              <a:ext uri="{FF2B5EF4-FFF2-40B4-BE49-F238E27FC236}">
                <a16:creationId xmlns:a16="http://schemas.microsoft.com/office/drawing/2014/main" id="{00752B1A-76E1-75DA-9E43-9F36E6609A77}"/>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13" name="Content Placeholder 2">
            <a:extLst>
              <a:ext uri="{FF2B5EF4-FFF2-40B4-BE49-F238E27FC236}">
                <a16:creationId xmlns:a16="http://schemas.microsoft.com/office/drawing/2014/main" id="{CA605919-F812-D6B7-6733-93A21095D65A}"/>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2400" b="0" i="0">
                <a:solidFill>
                  <a:schemeClr val="bg1"/>
                </a:solidFill>
                <a:latin typeface="Figtree" pitchFamily="2" charset="0"/>
              </a:defRPr>
            </a:lvl1pPr>
            <a:lvl2pPr marL="742950" indent="-285750">
              <a:buFont typeface="Arial" panose="020B0604020202020204" pitchFamily="34" charset="0"/>
              <a:buChar char="•"/>
              <a:defRPr sz="2400" b="0" i="0">
                <a:solidFill>
                  <a:schemeClr val="bg1"/>
                </a:solidFill>
                <a:latin typeface="Figtree" pitchFamily="2" charset="0"/>
              </a:defRPr>
            </a:lvl2pPr>
            <a:lvl3pPr marL="1200150" indent="-285750">
              <a:buFont typeface="Arial" panose="020B0604020202020204" pitchFamily="34" charset="0"/>
              <a:buChar char="•"/>
              <a:defRPr sz="2400" b="0" i="0">
                <a:solidFill>
                  <a:schemeClr val="bg1"/>
                </a:solidFill>
                <a:latin typeface="Figtree" pitchFamily="2" charset="0"/>
              </a:defRPr>
            </a:lvl3pPr>
            <a:lvl4pPr marL="1657350" indent="-285750">
              <a:buFont typeface="Arial" panose="020B0604020202020204" pitchFamily="34" charset="0"/>
              <a:buChar char="•"/>
              <a:defRPr sz="2400" b="0" i="0">
                <a:solidFill>
                  <a:schemeClr val="bg1"/>
                </a:solidFill>
                <a:latin typeface="Figtree" pitchFamily="2" charset="0"/>
              </a:defRPr>
            </a:lvl4pPr>
            <a:lvl5pPr marL="2114550" indent="-285750">
              <a:buFont typeface="Arial" panose="020B0604020202020204" pitchFamily="34" charset="0"/>
              <a:buChar char="•"/>
              <a:defRPr sz="2400" b="0" i="0">
                <a:solidFill>
                  <a:schemeClr val="bg1"/>
                </a:solidFill>
                <a:latin typeface="Figtree" pitchFamily="2" charset="0"/>
              </a:defRPr>
            </a:lvl5pPr>
          </a:lstStyle>
          <a:p>
            <a:pPr lvl="0"/>
            <a:r>
              <a:rPr lang="en-US" dirty="0" err="1"/>
              <a:t>Click</a:t>
            </a:r>
            <a:r>
              <a:rPr lang="en-US" dirty="0"/>
              <a:t>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2058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Dark)">
    <p:bg>
      <p:bgPr>
        <a:solidFill>
          <a:schemeClr val="tx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728F9DD8-18B8-E17F-4A81-93C4DD686CEB}"/>
              </a:ext>
            </a:extLst>
          </p:cNvPr>
          <p:cNvSpPr>
            <a:spLocks noGrp="1"/>
          </p:cNvSpPr>
          <p:nvPr>
            <p:ph type="title"/>
          </p:nvPr>
        </p:nvSpPr>
        <p:spPr>
          <a:xfrm>
            <a:off x="343597" y="365125"/>
            <a:ext cx="11491993" cy="1207953"/>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2" name="Footer Placeholder 4">
            <a:extLst>
              <a:ext uri="{FF2B5EF4-FFF2-40B4-BE49-F238E27FC236}">
                <a16:creationId xmlns:a16="http://schemas.microsoft.com/office/drawing/2014/main" id="{74E2FE70-C1DA-31EB-EEA3-F73AC1A92AD3}"/>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3" name="Slide Number Placeholder 5">
            <a:extLst>
              <a:ext uri="{FF2B5EF4-FFF2-40B4-BE49-F238E27FC236}">
                <a16:creationId xmlns:a16="http://schemas.microsoft.com/office/drawing/2014/main" id="{FF8F2ECD-EA50-2550-0B02-4B2C953442E4}"/>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pic>
        <p:nvPicPr>
          <p:cNvPr id="4" name="Picture 3">
            <a:extLst>
              <a:ext uri="{FF2B5EF4-FFF2-40B4-BE49-F238E27FC236}">
                <a16:creationId xmlns:a16="http://schemas.microsoft.com/office/drawing/2014/main" id="{2153AC61-82C3-E5FF-66C1-161CB2EFC3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481338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oter Only (Dark)">
    <p:bg>
      <p:bgPr>
        <a:solidFill>
          <a:schemeClr val="tx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 name="Footer Placeholder 4">
            <a:extLst>
              <a:ext uri="{FF2B5EF4-FFF2-40B4-BE49-F238E27FC236}">
                <a16:creationId xmlns:a16="http://schemas.microsoft.com/office/drawing/2014/main" id="{4824F201-E457-E817-0DA2-9E61ACCA72D4}"/>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3" name="Slide Number Placeholder 5">
            <a:extLst>
              <a:ext uri="{FF2B5EF4-FFF2-40B4-BE49-F238E27FC236}">
                <a16:creationId xmlns:a16="http://schemas.microsoft.com/office/drawing/2014/main" id="{9EDE1051-0FED-5451-0D36-8DE7C56B7287}"/>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pic>
        <p:nvPicPr>
          <p:cNvPr id="4" name="Picture 3">
            <a:extLst>
              <a:ext uri="{FF2B5EF4-FFF2-40B4-BE49-F238E27FC236}">
                <a16:creationId xmlns:a16="http://schemas.microsoft.com/office/drawing/2014/main" id="{C595D178-B3AE-EA2C-9A08-EB6D085096F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25898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Dark)">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3419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ull Quote Blue">
    <p:bg>
      <p:bgPr>
        <a:gradFill>
          <a:gsLst>
            <a:gs pos="0">
              <a:schemeClr val="accent2"/>
            </a:gs>
            <a:gs pos="54000">
              <a:schemeClr val="tx2"/>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screen">
            <a:alphaModFix amt="6000"/>
            <a:extLst>
              <a:ext uri="{28A0092B-C50C-407E-A947-70E740481C1C}">
                <a14:useLocalDpi xmlns:a14="http://schemas.microsoft.com/office/drawing/2010/main"/>
              </a:ext>
            </a:extLst>
          </a:blip>
          <a:srcRect r="7339" b="20091"/>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9" name="Footer Placeholder 4">
            <a:extLst>
              <a:ext uri="{FF2B5EF4-FFF2-40B4-BE49-F238E27FC236}">
                <a16:creationId xmlns:a16="http://schemas.microsoft.com/office/drawing/2014/main" id="{09FD9171-277F-DDF9-1325-B01478A3416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10" name="Slide Number Placeholder 5">
            <a:extLst>
              <a:ext uri="{FF2B5EF4-FFF2-40B4-BE49-F238E27FC236}">
                <a16:creationId xmlns:a16="http://schemas.microsoft.com/office/drawing/2014/main" id="{7F502D63-98F2-0192-9694-5687D8D05AD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Figtree" pitchFamily="2" charset="0"/>
              <a:ea typeface="+mn-ea"/>
              <a:cs typeface="+mn-cs"/>
            </a:endParaRPr>
          </a:p>
        </p:txBody>
      </p:sp>
      <p:cxnSp>
        <p:nvCxnSpPr>
          <p:cNvPr id="11" name="Straight Connector 10">
            <a:extLst>
              <a:ext uri="{FF2B5EF4-FFF2-40B4-BE49-F238E27FC236}">
                <a16:creationId xmlns:a16="http://schemas.microsoft.com/office/drawing/2014/main" id="{80622538-DB89-0185-9E98-C8D31813769B}"/>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F0FF596D-CC26-E4B0-EC5C-182E1E7E40D3}"/>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860752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CDF5FA7B-72FB-B64A-A69A-D4755A185809}"/>
              </a:ext>
            </a:extLst>
          </p:cNvPr>
          <p:cNvPicPr>
            <a:picLocks noChangeAspect="1"/>
          </p:cNvPicPr>
          <p:nvPr userDrawn="1"/>
        </p:nvPicPr>
        <p:blipFill>
          <a:blip r:embed="rId2" cstate="screen">
            <a:alphaModFix amt="6000"/>
            <a:extLst>
              <a:ext uri="{28A0092B-C50C-407E-A947-70E740481C1C}">
                <a14:useLocalDpi xmlns:a14="http://schemas.microsoft.com/office/drawing/2010/main"/>
              </a:ext>
            </a:extLst>
          </a:blip>
          <a:srcRect t="-88" r="7548" b="33468"/>
          <a:stretch/>
        </p:blipFill>
        <p:spPr>
          <a:xfrm>
            <a:off x="5897660" y="1502250"/>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accent2"/>
                </a:solidFill>
                <a:latin typeface="Figtree SemiBold"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1800" b="0" i="0">
                <a:solidFill>
                  <a:schemeClr val="tx2"/>
                </a:solidFill>
                <a:latin typeface="Figtree" pitchFamily="2" charset="0"/>
              </a:defRPr>
            </a:lvl1pPr>
            <a:lvl2pPr marL="742950" indent="-285750">
              <a:buFont typeface="Arial" panose="020B0604020202020204" pitchFamily="34" charset="0"/>
              <a:buChar char="•"/>
              <a:defRPr sz="1800" b="0" i="0">
                <a:solidFill>
                  <a:schemeClr val="tx2"/>
                </a:solidFill>
                <a:latin typeface="Figtree" pitchFamily="2" charset="0"/>
              </a:defRPr>
            </a:lvl2pPr>
            <a:lvl3pPr marL="1200150" indent="-285750">
              <a:buFont typeface="Arial" panose="020B0604020202020204" pitchFamily="34" charset="0"/>
              <a:buChar char="•"/>
              <a:defRPr sz="1800" b="0" i="0">
                <a:solidFill>
                  <a:schemeClr val="tx2"/>
                </a:solidFill>
                <a:latin typeface="Figtree" pitchFamily="2" charset="0"/>
              </a:defRPr>
            </a:lvl3pPr>
            <a:lvl4pPr marL="1657350" indent="-285750">
              <a:buFont typeface="Arial" panose="020B0604020202020204" pitchFamily="34" charset="0"/>
              <a:buChar char="•"/>
              <a:defRPr sz="1800" b="0" i="0">
                <a:solidFill>
                  <a:schemeClr val="tx2"/>
                </a:solidFill>
                <a:latin typeface="Figtree" pitchFamily="2" charset="0"/>
              </a:defRPr>
            </a:lvl4pPr>
            <a:lvl5pPr marL="2114550" indent="-285750">
              <a:buFont typeface="Arial" panose="020B0604020202020204" pitchFamily="34" charset="0"/>
              <a:buChar char="•"/>
              <a:defRPr sz="1800" b="0" i="0">
                <a:solidFill>
                  <a:schemeClr val="tx2"/>
                </a:solidFill>
                <a:latin typeface="Figtree" pitchFamily="2" charset="0"/>
              </a:defRPr>
            </a:lvl5pPr>
          </a:lstStyle>
          <a:p>
            <a:pPr lvl="0"/>
            <a:r>
              <a:rPr lang="en-US" dirty="0" err="1"/>
              <a:t>Click</a:t>
            </a:r>
            <a:r>
              <a:rPr lang="en-US" dirty="0"/>
              <a:t>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C6F355BC-998E-5A09-3C72-65E885D3B876}"/>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descr="A blue and black logo&#10;&#10;AI-generated content may be incorrect.">
            <a:extLst>
              <a:ext uri="{FF2B5EF4-FFF2-40B4-BE49-F238E27FC236}">
                <a16:creationId xmlns:a16="http://schemas.microsoft.com/office/drawing/2014/main" id="{94F72188-A0A9-5F3A-CF20-6B8F5FE585F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Tree>
    <p:extLst>
      <p:ext uri="{BB962C8B-B14F-4D97-AF65-F5344CB8AC3E}">
        <p14:creationId xmlns:p14="http://schemas.microsoft.com/office/powerpoint/2010/main" val="1076899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 Image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2" cy="685800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17" name="Freeform 16">
            <a:extLst>
              <a:ext uri="{FF2B5EF4-FFF2-40B4-BE49-F238E27FC236}">
                <a16:creationId xmlns:a16="http://schemas.microsoft.com/office/drawing/2014/main" id="{43C4FB2F-E7D0-EBC7-4DDB-6CC86298818F}"/>
              </a:ext>
            </a:extLst>
          </p:cNvPr>
          <p:cNvSpPr/>
          <p:nvPr userDrawn="1"/>
        </p:nvSpPr>
        <p:spPr>
          <a:xfrm>
            <a:off x="4809511" y="-5"/>
            <a:ext cx="3605100" cy="6858005"/>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14669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E160181-F020-3F03-9EDF-F40CFE13BB0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8" name="Slide Number Placeholder 5">
            <a:extLst>
              <a:ext uri="{FF2B5EF4-FFF2-40B4-BE49-F238E27FC236}">
                <a16:creationId xmlns:a16="http://schemas.microsoft.com/office/drawing/2014/main" id="{D8CCF58C-6D75-29B7-7B8C-B77608243CB1}"/>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A blue and black logo&#10;&#10;AI-generated content may be incorrect.">
            <a:extLst>
              <a:ext uri="{FF2B5EF4-FFF2-40B4-BE49-F238E27FC236}">
                <a16:creationId xmlns:a16="http://schemas.microsoft.com/office/drawing/2014/main" id="{2FEB4F50-7FD4-5B00-02DD-264E75D45C3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12" name="Title 1">
            <a:extLst>
              <a:ext uri="{FF2B5EF4-FFF2-40B4-BE49-F238E27FC236}">
                <a16:creationId xmlns:a16="http://schemas.microsoft.com/office/drawing/2014/main" id="{728F9DD8-18B8-E17F-4A81-93C4DD686CEB}"/>
              </a:ext>
            </a:extLst>
          </p:cNvPr>
          <p:cNvSpPr>
            <a:spLocks noGrp="1"/>
          </p:cNvSpPr>
          <p:nvPr>
            <p:ph type="title"/>
          </p:nvPr>
        </p:nvSpPr>
        <p:spPr>
          <a:xfrm>
            <a:off x="343597" y="365125"/>
            <a:ext cx="11491993" cy="1207953"/>
          </a:xfrm>
          <a:prstGeom prst="rect">
            <a:avLst/>
          </a:prstGeom>
        </p:spPr>
        <p:txBody>
          <a:bodyPr lIns="0" tIns="0" rIns="0" bIns="0" anchor="ctr">
            <a:noAutofit/>
          </a:bodyPr>
          <a:lstStyle>
            <a:lvl1pPr>
              <a:lnSpc>
                <a:spcPct val="80000"/>
              </a:lnSpc>
              <a:defRPr b="1" i="0">
                <a:solidFill>
                  <a:schemeClr val="accent2"/>
                </a:solidFill>
                <a:latin typeface="Figtree SemiBold" pitchFamily="2" charset="0"/>
              </a:defRPr>
            </a:lvl1pPr>
          </a:lstStyle>
          <a:p>
            <a:r>
              <a:rPr lang="en-US"/>
              <a:t>Click to edit Master title style</a:t>
            </a:r>
          </a:p>
        </p:txBody>
      </p:sp>
    </p:spTree>
    <p:extLst>
      <p:ext uri="{BB962C8B-B14F-4D97-AF65-F5344CB8AC3E}">
        <p14:creationId xmlns:p14="http://schemas.microsoft.com/office/powerpoint/2010/main" val="445278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E160181-F020-3F03-9EDF-F40CFE13BB0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8" name="Slide Number Placeholder 5">
            <a:extLst>
              <a:ext uri="{FF2B5EF4-FFF2-40B4-BE49-F238E27FC236}">
                <a16:creationId xmlns:a16="http://schemas.microsoft.com/office/drawing/2014/main" id="{D8CCF58C-6D75-29B7-7B8C-B77608243CB1}"/>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A blue and black logo&#10;&#10;AI-generated content may be incorrect.">
            <a:extLst>
              <a:ext uri="{FF2B5EF4-FFF2-40B4-BE49-F238E27FC236}">
                <a16:creationId xmlns:a16="http://schemas.microsoft.com/office/drawing/2014/main" id="{2FEB4F50-7FD4-5B00-02DD-264E75D45C3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Tree>
    <p:extLst>
      <p:ext uri="{BB962C8B-B14F-4D97-AF65-F5344CB8AC3E}">
        <p14:creationId xmlns:p14="http://schemas.microsoft.com/office/powerpoint/2010/main" val="21428429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15335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losing Slide">
    <p:bg>
      <p:bgPr>
        <a:gradFill>
          <a:gsLst>
            <a:gs pos="0">
              <a:schemeClr val="accent2"/>
            </a:gs>
            <a:gs pos="54000">
              <a:schemeClr val="tx2"/>
            </a:gs>
          </a:gsLst>
          <a:lin ang="3600000" scaled="0"/>
        </a:gradFill>
        <a:effectLst/>
      </p:bgPr>
    </p:bg>
    <p:spTree>
      <p:nvGrpSpPr>
        <p:cNvPr id="1" name=""/>
        <p:cNvGrpSpPr/>
        <p:nvPr/>
      </p:nvGrpSpPr>
      <p:grpSpPr>
        <a:xfrm>
          <a:off x="0" y="0"/>
          <a:ext cx="0" cy="0"/>
          <a:chOff x="0" y="0"/>
          <a:chExt cx="0" cy="0"/>
        </a:xfrm>
      </p:grpSpPr>
      <p:pic>
        <p:nvPicPr>
          <p:cNvPr id="10" name="Picture 9" descr="A white logo with a black background&#10;&#10;AI-generated content may be incorrect.">
            <a:extLst>
              <a:ext uri="{FF2B5EF4-FFF2-40B4-BE49-F238E27FC236}">
                <a16:creationId xmlns:a16="http://schemas.microsoft.com/office/drawing/2014/main" id="{8C7F35EF-1610-E5B0-B764-FC143C8BAAE3}"/>
              </a:ext>
            </a:extLst>
          </p:cNvPr>
          <p:cNvPicPr>
            <a:picLocks noChangeAspect="1"/>
          </p:cNvPicPr>
          <p:nvPr userDrawn="1"/>
        </p:nvPicPr>
        <p:blipFill>
          <a:blip r:embed="rId2" cstate="screen">
            <a:alphaModFix amt="5000"/>
            <a:extLst>
              <a:ext uri="{28A0092B-C50C-407E-A947-70E740481C1C}">
                <a14:useLocalDpi xmlns:a14="http://schemas.microsoft.com/office/drawing/2010/main"/>
              </a:ext>
            </a:extLst>
          </a:blip>
          <a:srcRect r="7339" b="33231"/>
          <a:stretch/>
        </p:blipFill>
        <p:spPr>
          <a:xfrm>
            <a:off x="5897660" y="1509339"/>
            <a:ext cx="6294340" cy="5348660"/>
          </a:xfrm>
          <a:prstGeom prst="rect">
            <a:avLst/>
          </a:prstGeom>
        </p:spPr>
      </p:pic>
      <p:pic>
        <p:nvPicPr>
          <p:cNvPr id="8" name="Picture 7">
            <a:extLst>
              <a:ext uri="{FF2B5EF4-FFF2-40B4-BE49-F238E27FC236}">
                <a16:creationId xmlns:a16="http://schemas.microsoft.com/office/drawing/2014/main" id="{6D8A0025-EFEF-20BF-C80C-85AC36F306C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77607" y="637104"/>
            <a:ext cx="1771864" cy="1115869"/>
          </a:xfrm>
          <a:prstGeom prst="rect">
            <a:avLst/>
          </a:prstGeom>
        </p:spPr>
      </p:pic>
      <p:sp>
        <p:nvSpPr>
          <p:cNvPr id="5" name="TextBox 4">
            <a:extLst>
              <a:ext uri="{FF2B5EF4-FFF2-40B4-BE49-F238E27FC236}">
                <a16:creationId xmlns:a16="http://schemas.microsoft.com/office/drawing/2014/main" id="{1F48F0EC-82D2-3C68-E213-5327A1828CFA}"/>
              </a:ext>
            </a:extLst>
          </p:cNvPr>
          <p:cNvSpPr txBox="1"/>
          <p:nvPr userDrawn="1"/>
        </p:nvSpPr>
        <p:spPr>
          <a:xfrm>
            <a:off x="831850" y="6492875"/>
            <a:ext cx="461665"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Figtree SemiBold" pitchFamily="2" charset="0"/>
                <a:ea typeface="+mn-ea"/>
                <a:cs typeface="+mn-cs"/>
              </a:rPr>
              <a:t>aiaa.org</a:t>
            </a:r>
          </a:p>
        </p:txBody>
      </p:sp>
      <p:sp>
        <p:nvSpPr>
          <p:cNvPr id="7" name="TextBox 6">
            <a:extLst>
              <a:ext uri="{FF2B5EF4-FFF2-40B4-BE49-F238E27FC236}">
                <a16:creationId xmlns:a16="http://schemas.microsoft.com/office/drawing/2014/main" id="{77674F01-5FF3-D372-A30F-3AA70A84088C}"/>
              </a:ext>
            </a:extLst>
          </p:cNvPr>
          <p:cNvSpPr txBox="1"/>
          <p:nvPr userDrawn="1"/>
        </p:nvSpPr>
        <p:spPr>
          <a:xfrm>
            <a:off x="777607" y="4118432"/>
            <a:ext cx="4456348" cy="110799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a:ln>
                  <a:noFill/>
                </a:ln>
                <a:solidFill>
                  <a:srgbClr val="FFFFFF"/>
                </a:solidFill>
                <a:effectLst/>
                <a:uLnTx/>
                <a:uFillTx/>
                <a:latin typeface="Figtree" pitchFamily="2" charset="0"/>
                <a:ea typeface="+mn-ea"/>
                <a:cs typeface="+mn-cs"/>
              </a:rPr>
              <a:t>Thank You</a:t>
            </a:r>
          </a:p>
        </p:txBody>
      </p:sp>
    </p:spTree>
    <p:extLst>
      <p:ext uri="{BB962C8B-B14F-4D97-AF65-F5344CB8AC3E}">
        <p14:creationId xmlns:p14="http://schemas.microsoft.com/office/powerpoint/2010/main" val="3738613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E4B9CDF1-F933-DFA5-6E10-DBF77CE5BB8D}"/>
              </a:ext>
            </a:extLst>
          </p:cNvPr>
          <p:cNvSpPr>
            <a:spLocks noGrp="1"/>
          </p:cNvSpPr>
          <p:nvPr>
            <p:ph type="sldNum" sz="quarter" idx="4"/>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Figtree" pitchFamily="2" charset="0"/>
              <a:ea typeface="+mn-ea"/>
              <a:cs typeface="+mn-cs"/>
            </a:endParaRPr>
          </a:p>
        </p:txBody>
      </p:sp>
    </p:spTree>
    <p:extLst>
      <p:ext uri="{BB962C8B-B14F-4D97-AF65-F5344CB8AC3E}">
        <p14:creationId xmlns:p14="http://schemas.microsoft.com/office/powerpoint/2010/main" val="1236748986"/>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5" r:id="rId3"/>
    <p:sldLayoutId id="2147483726" r:id="rId4"/>
    <p:sldLayoutId id="2147483731" r:id="rId5"/>
    <p:sldLayoutId id="2147483732" r:id="rId6"/>
    <p:sldLayoutId id="2147483735" r:id="rId7"/>
    <p:sldLayoutId id="2147483736" r:id="rId8"/>
    <p:sldLayoutId id="2147483737" r:id="rId9"/>
    <p:sldLayoutId id="2147483738" r:id="rId10"/>
    <p:sldLayoutId id="2147483743" r:id="rId11"/>
    <p:sldLayoutId id="2147483744" r:id="rId12"/>
    <p:sldLayoutId id="2147483749" r:id="rId13"/>
    <p:sldLayoutId id="2147483750" r:id="rId14"/>
    <p:sldLayoutId id="2147483751" r:id="rId15"/>
    <p:sldLayoutId id="2147483752"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package" Target="../embeddings/Microsoft_Excel_Worksheet.xlsx"/><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hyperlink" Target="mailto:Valasek@tamu.edu" TargetMode="Externa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hyperlink" Target="https://drive.google.com/drive/folders/1qVzgT3BEHDCNVJVptEkWIKRvNFBesXLk?usp=drive_link" TargetMode="Externa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14"/>
          <p:cNvSpPr>
            <a:spLocks noGrp="1" noChangeArrowheads="1"/>
          </p:cNvSpPr>
          <p:nvPr>
            <p:ph type="title"/>
          </p:nvPr>
        </p:nvSpPr>
        <p:spPr>
          <a:xfrm>
            <a:off x="513218" y="2396257"/>
            <a:ext cx="11349540" cy="2445200"/>
          </a:xfrm>
        </p:spPr>
        <p:txBody>
          <a:bodyPr/>
          <a:lstStyle/>
          <a:p>
            <a:r>
              <a:rPr lang="en-US" sz="6600" dirty="0"/>
              <a:t>Technical Integration Subcommittee</a:t>
            </a:r>
          </a:p>
        </p:txBody>
      </p:sp>
      <p:sp>
        <p:nvSpPr>
          <p:cNvPr id="4" name="Text Placeholder 3"/>
          <p:cNvSpPr>
            <a:spLocks noGrp="1"/>
          </p:cNvSpPr>
          <p:nvPr>
            <p:ph type="body" idx="1"/>
          </p:nvPr>
        </p:nvSpPr>
        <p:spPr>
          <a:xfrm>
            <a:off x="831850" y="5017002"/>
            <a:ext cx="1938510" cy="369332"/>
          </a:xfrm>
        </p:spPr>
        <p:txBody>
          <a:bodyPr>
            <a:normAutofit/>
          </a:bodyPr>
          <a:lstStyle/>
          <a:p>
            <a:pPr algn="l"/>
            <a:r>
              <a:rPr lang="en-US" b="1" dirty="0"/>
              <a:t>Tom Smith,  Chair </a:t>
            </a:r>
            <a:endParaRPr lang="en-US" dirty="0"/>
          </a:p>
        </p:txBody>
      </p:sp>
      <p:sp>
        <p:nvSpPr>
          <p:cNvPr id="2" name="TextBox 1">
            <a:extLst>
              <a:ext uri="{FF2B5EF4-FFF2-40B4-BE49-F238E27FC236}">
                <a16:creationId xmlns:a16="http://schemas.microsoft.com/office/drawing/2014/main" id="{D4315743-FF91-DE5B-813F-95E418F352A6}"/>
              </a:ext>
            </a:extLst>
          </p:cNvPr>
          <p:cNvSpPr txBox="1"/>
          <p:nvPr/>
        </p:nvSpPr>
        <p:spPr>
          <a:xfrm>
            <a:off x="7713552" y="5017002"/>
            <a:ext cx="3328925" cy="369332"/>
          </a:xfrm>
          <a:prstGeom prst="rect">
            <a:avLst/>
          </a:prstGeom>
          <a:noFill/>
        </p:spPr>
        <p:txBody>
          <a:bodyPr wrap="none" rtlCol="0">
            <a:spAutoFit/>
          </a:bodyPr>
          <a:lstStyle/>
          <a:p>
            <a:pPr>
              <a:lnSpc>
                <a:spcPct val="90000"/>
              </a:lnSpc>
              <a:spcBef>
                <a:spcPts val="1000"/>
              </a:spcBef>
            </a:pPr>
            <a:r>
              <a:rPr lang="en-US" sz="2000" b="1" dirty="0">
                <a:solidFill>
                  <a:schemeClr val="bg1"/>
                </a:solidFill>
                <a:latin typeface="Figtree Light" pitchFamily="2" charset="0"/>
              </a:rPr>
              <a:t>Fourth Tuesday of the month </a:t>
            </a:r>
          </a:p>
        </p:txBody>
      </p:sp>
    </p:spTree>
    <p:extLst>
      <p:ext uri="{BB962C8B-B14F-4D97-AF65-F5344CB8AC3E}">
        <p14:creationId xmlns:p14="http://schemas.microsoft.com/office/powerpoint/2010/main" val="278338649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8F55C-C062-47AC-A76C-6CFE964FA8DC}"/>
              </a:ext>
            </a:extLst>
          </p:cNvPr>
          <p:cNvSpPr>
            <a:spLocks noGrp="1"/>
          </p:cNvSpPr>
          <p:nvPr>
            <p:ph type="title"/>
          </p:nvPr>
        </p:nvSpPr>
        <p:spPr/>
        <p:txBody>
          <a:bodyPr/>
          <a:lstStyle/>
          <a:p>
            <a:r>
              <a:rPr lang="en-US" dirty="0"/>
              <a:t>Roster</a:t>
            </a:r>
          </a:p>
        </p:txBody>
      </p:sp>
      <p:graphicFrame>
        <p:nvGraphicFramePr>
          <p:cNvPr id="3" name="Object 2">
            <a:extLst>
              <a:ext uri="{FF2B5EF4-FFF2-40B4-BE49-F238E27FC236}">
                <a16:creationId xmlns:a16="http://schemas.microsoft.com/office/drawing/2014/main" id="{8F86A9C1-0DAD-432E-B4D2-48509C0E328C}"/>
              </a:ext>
            </a:extLst>
          </p:cNvPr>
          <p:cNvGraphicFramePr>
            <a:graphicFrameLocks noChangeAspect="1"/>
          </p:cNvGraphicFramePr>
          <p:nvPr>
            <p:extLst>
              <p:ext uri="{D42A27DB-BD31-4B8C-83A1-F6EECF244321}">
                <p14:modId xmlns:p14="http://schemas.microsoft.com/office/powerpoint/2010/main" val="158735270"/>
              </p:ext>
            </p:extLst>
          </p:nvPr>
        </p:nvGraphicFramePr>
        <p:xfrm>
          <a:off x="2605088" y="1517650"/>
          <a:ext cx="6981825" cy="3819525"/>
        </p:xfrm>
        <a:graphic>
          <a:graphicData uri="http://schemas.openxmlformats.org/presentationml/2006/ole">
            <mc:AlternateContent xmlns:mc="http://schemas.openxmlformats.org/markup-compatibility/2006">
              <mc:Choice xmlns:v="urn:schemas-microsoft-com:vml" Requires="v">
                <p:oleObj name="Worksheet" r:id="rId2" imgW="6981869" imgH="3819446" progId="Excel.Sheet.12">
                  <p:embed/>
                </p:oleObj>
              </mc:Choice>
              <mc:Fallback>
                <p:oleObj name="Worksheet" r:id="rId2" imgW="6981869" imgH="3819446" progId="Excel.Sheet.12">
                  <p:embed/>
                  <p:pic>
                    <p:nvPicPr>
                      <p:cNvPr id="0" name=""/>
                      <p:cNvPicPr/>
                      <p:nvPr/>
                    </p:nvPicPr>
                    <p:blipFill>
                      <a:blip r:embed="rId3"/>
                      <a:stretch>
                        <a:fillRect/>
                      </a:stretch>
                    </p:blipFill>
                    <p:spPr>
                      <a:xfrm>
                        <a:off x="2605088" y="1517650"/>
                        <a:ext cx="6981825" cy="3819525"/>
                      </a:xfrm>
                      <a:prstGeom prst="rect">
                        <a:avLst/>
                      </a:prstGeom>
                    </p:spPr>
                  </p:pic>
                </p:oleObj>
              </mc:Fallback>
            </mc:AlternateContent>
          </a:graphicData>
        </a:graphic>
      </p:graphicFrame>
    </p:spTree>
    <p:extLst>
      <p:ext uri="{BB962C8B-B14F-4D97-AF65-F5344CB8AC3E}">
        <p14:creationId xmlns:p14="http://schemas.microsoft.com/office/powerpoint/2010/main" val="3589799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320A0-C452-7DEB-4F00-3DBD4CA4852E}"/>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AB16F8F7-C1AA-F91F-0D81-57AE46A4281E}"/>
              </a:ext>
            </a:extLst>
          </p:cNvPr>
          <p:cNvSpPr>
            <a:spLocks noGrp="1"/>
          </p:cNvSpPr>
          <p:nvPr>
            <p:ph idx="1"/>
          </p:nvPr>
        </p:nvSpPr>
        <p:spPr/>
        <p:txBody>
          <a:bodyPr/>
          <a:lstStyle/>
          <a:p>
            <a:pPr marL="285750" indent="-285750">
              <a:buFont typeface="Arial" panose="020B0604020202020204" pitchFamily="34" charset="0"/>
              <a:buChar char="•"/>
            </a:pPr>
            <a:r>
              <a:rPr lang="en-US" sz="2400" dirty="0"/>
              <a:t>June 23</a:t>
            </a:r>
          </a:p>
          <a:p>
            <a:pPr marL="285750" indent="-285750">
              <a:buFont typeface="Arial" panose="020B0604020202020204" pitchFamily="34" charset="0"/>
              <a:buChar char="•"/>
            </a:pPr>
            <a:r>
              <a:rPr lang="en-US" sz="2400" dirty="0"/>
              <a:t>Quick report out on each of the seven initiatives</a:t>
            </a:r>
          </a:p>
          <a:p>
            <a:pPr marL="285750" indent="-285750">
              <a:buFont typeface="Arial" panose="020B0604020202020204" pitchFamily="34" charset="0"/>
              <a:buChar char="•"/>
            </a:pPr>
            <a:r>
              <a:rPr lang="en-US" sz="2400" dirty="0"/>
              <a:t>Focus on Emerging Technologies for the majority of the meeting</a:t>
            </a:r>
          </a:p>
        </p:txBody>
      </p:sp>
    </p:spTree>
    <p:extLst>
      <p:ext uri="{BB962C8B-B14F-4D97-AF65-F5344CB8AC3E}">
        <p14:creationId xmlns:p14="http://schemas.microsoft.com/office/powerpoint/2010/main" val="2559784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70890-5ACD-42B5-AF70-744F914D400A}"/>
              </a:ext>
            </a:extLst>
          </p:cNvPr>
          <p:cNvSpPr>
            <a:spLocks noGrp="1"/>
          </p:cNvSpPr>
          <p:nvPr>
            <p:ph type="title"/>
          </p:nvPr>
        </p:nvSpPr>
        <p:spPr/>
        <p:txBody>
          <a:bodyPr/>
          <a:lstStyle/>
          <a:p>
            <a:r>
              <a:rPr lang="en-US" dirty="0"/>
              <a:t>2-3. TC Charter Refresh and Health Metrics</a:t>
            </a:r>
            <a:br>
              <a:rPr lang="en-US" dirty="0"/>
            </a:br>
            <a:endParaRPr lang="en-US" dirty="0"/>
          </a:p>
        </p:txBody>
      </p:sp>
      <p:sp>
        <p:nvSpPr>
          <p:cNvPr id="3" name="Content Placeholder 2">
            <a:extLst>
              <a:ext uri="{FF2B5EF4-FFF2-40B4-BE49-F238E27FC236}">
                <a16:creationId xmlns:a16="http://schemas.microsoft.com/office/drawing/2014/main" id="{215EB8A2-24C3-4389-8E12-B5956D2D4982}"/>
              </a:ext>
            </a:extLst>
          </p:cNvPr>
          <p:cNvSpPr>
            <a:spLocks noGrp="1"/>
          </p:cNvSpPr>
          <p:nvPr>
            <p:ph idx="1"/>
          </p:nvPr>
        </p:nvSpPr>
        <p:spPr/>
        <p:txBody>
          <a:bodyPr/>
          <a:lstStyle/>
          <a:p>
            <a:r>
              <a:rPr lang="en-US" b="1" dirty="0"/>
              <a:t>TC Charter Refresh</a:t>
            </a:r>
          </a:p>
          <a:p>
            <a:pPr marL="285750" indent="-285750">
              <a:buFont typeface="Arial" panose="020B0604020202020204" pitchFamily="34" charset="0"/>
              <a:buChar char="•"/>
            </a:pPr>
            <a:r>
              <a:rPr lang="en-US" dirty="0"/>
              <a:t>Action TIS members: Keep after the TCs to get the Charters in</a:t>
            </a:r>
          </a:p>
          <a:p>
            <a:r>
              <a:rPr lang="en-US" dirty="0"/>
              <a:t>TC Health metrics</a:t>
            </a:r>
          </a:p>
          <a:p>
            <a:pPr marL="285750" indent="-285750">
              <a:buFont typeface="Arial" panose="020B0604020202020204" pitchFamily="34" charset="0"/>
              <a:buChar char="•"/>
            </a:pPr>
            <a:r>
              <a:rPr lang="en-US" b="1" dirty="0"/>
              <a:t> </a:t>
            </a:r>
            <a:r>
              <a:rPr lang="en-US" dirty="0"/>
              <a:t>Vlad is on it and the work is ongoing.</a:t>
            </a:r>
          </a:p>
          <a:p>
            <a:pPr marL="285750" indent="-285750">
              <a:buFont typeface="Arial" panose="020B0604020202020204" pitchFamily="34" charset="0"/>
              <a:buChar char="•"/>
            </a:pPr>
            <a:r>
              <a:rPr lang="en-US" dirty="0"/>
              <a:t>Health metrics come from the TC annual report which is a questionnaire</a:t>
            </a:r>
          </a:p>
          <a:p>
            <a:pPr marL="285750" indent="-285750">
              <a:buFont typeface="Arial" panose="020B0604020202020204" pitchFamily="34" charset="0"/>
              <a:buChar char="•"/>
            </a:pPr>
            <a:r>
              <a:rPr lang="en-US" dirty="0"/>
              <a:t>He received a list from Angie in Excel that was helpful</a:t>
            </a:r>
          </a:p>
          <a:p>
            <a:pPr marL="285750" indent="-285750">
              <a:buFont typeface="Arial" panose="020B0604020202020204" pitchFamily="34" charset="0"/>
              <a:buChar char="•"/>
            </a:pPr>
            <a:r>
              <a:rPr lang="en-US" dirty="0"/>
              <a:t>Mike previously mentioned AIAA will migrate from </a:t>
            </a:r>
            <a:r>
              <a:rPr lang="en-US" dirty="0" err="1"/>
              <a:t>NetForum</a:t>
            </a:r>
            <a:r>
              <a:rPr lang="en-US" dirty="0"/>
              <a:t> to Altai Systems 4</a:t>
            </a:r>
            <a:r>
              <a:rPr lang="en-US" baseline="30000" dirty="0"/>
              <a:t>th</a:t>
            </a:r>
            <a:r>
              <a:rPr lang="en-US" dirty="0"/>
              <a:t> </a:t>
            </a:r>
            <a:r>
              <a:rPr lang="en-US" dirty="0" err="1"/>
              <a:t>qtr</a:t>
            </a:r>
            <a:r>
              <a:rPr lang="en-US" dirty="0"/>
              <a:t> this year</a:t>
            </a:r>
          </a:p>
          <a:p>
            <a:pPr marL="1028700" lvl="1"/>
            <a:r>
              <a:rPr lang="en-US" dirty="0"/>
              <a:t>We can talk about improvements and automation then</a:t>
            </a:r>
          </a:p>
          <a:p>
            <a:pPr marL="285750" indent="-285750">
              <a:buFont typeface="Arial" panose="020B0604020202020204" pitchFamily="34" charset="0"/>
              <a:buChar char="•"/>
            </a:pPr>
            <a:endParaRPr lang="en-US" dirty="0"/>
          </a:p>
          <a:p>
            <a:endParaRPr lang="en-US" b="1" dirty="0"/>
          </a:p>
          <a:p>
            <a:endParaRPr lang="en-US" dirty="0"/>
          </a:p>
          <a:p>
            <a:endParaRPr lang="en-US" dirty="0"/>
          </a:p>
        </p:txBody>
      </p:sp>
    </p:spTree>
    <p:extLst>
      <p:ext uri="{BB962C8B-B14F-4D97-AF65-F5344CB8AC3E}">
        <p14:creationId xmlns:p14="http://schemas.microsoft.com/office/powerpoint/2010/main" val="1299090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5DAB-6D6E-E790-975F-B0CB7C5645D9}"/>
              </a:ext>
            </a:extLst>
          </p:cNvPr>
          <p:cNvSpPr>
            <a:spLocks noGrp="1"/>
          </p:cNvSpPr>
          <p:nvPr>
            <p:ph type="title"/>
          </p:nvPr>
        </p:nvSpPr>
        <p:spPr/>
        <p:txBody>
          <a:bodyPr/>
          <a:lstStyle/>
          <a:p>
            <a:r>
              <a:rPr lang="en-US" dirty="0">
                <a:latin typeface="Figtree SemiBold"/>
              </a:rPr>
              <a:t>Key Deliverables </a:t>
            </a:r>
            <a:r>
              <a:rPr lang="en-US">
                <a:latin typeface="Figtree SemiBold"/>
              </a:rPr>
              <a:t>Submissions*</a:t>
            </a:r>
            <a:endParaRPr lang="en-US" dirty="0"/>
          </a:p>
        </p:txBody>
      </p:sp>
      <p:sp>
        <p:nvSpPr>
          <p:cNvPr id="3" name="Content Placeholder 2">
            <a:extLst>
              <a:ext uri="{FF2B5EF4-FFF2-40B4-BE49-F238E27FC236}">
                <a16:creationId xmlns:a16="http://schemas.microsoft.com/office/drawing/2014/main" id="{7445900A-AAC9-DAAB-2309-7126E21E2F5B}"/>
              </a:ext>
            </a:extLst>
          </p:cNvPr>
          <p:cNvSpPr>
            <a:spLocks noGrp="1"/>
          </p:cNvSpPr>
          <p:nvPr>
            <p:ph idx="1"/>
          </p:nvPr>
        </p:nvSpPr>
        <p:spPr/>
        <p:txBody>
          <a:bodyPr lIns="0" tIns="0" rIns="0" bIns="0" anchor="t">
            <a:noAutofit/>
          </a:bodyPr>
          <a:lstStyle/>
          <a:p>
            <a:pPr marL="285750" indent="-285750">
              <a:buFont typeface="Arial"/>
              <a:buChar char="•"/>
            </a:pPr>
            <a:endParaRPr lang="en-US"/>
          </a:p>
          <a:p>
            <a:pPr marL="285750" indent="-285750">
              <a:buFont typeface="Arial"/>
              <a:buChar char="•"/>
            </a:pPr>
            <a:endParaRPr lang="en-US"/>
          </a:p>
          <a:p>
            <a:endParaRPr lang="en-US"/>
          </a:p>
        </p:txBody>
      </p:sp>
      <p:sp>
        <p:nvSpPr>
          <p:cNvPr id="4" name="Slide Number Placeholder 3">
            <a:extLst>
              <a:ext uri="{FF2B5EF4-FFF2-40B4-BE49-F238E27FC236}">
                <a16:creationId xmlns:a16="http://schemas.microsoft.com/office/drawing/2014/main" id="{0EA02F0B-A894-A2EB-1A13-FEA1C441979D}"/>
              </a:ext>
            </a:extLst>
          </p:cNvPr>
          <p:cNvSpPr>
            <a:spLocks noGrp="1"/>
          </p:cNvSpPr>
          <p:nvPr>
            <p:ph type="sldNum" sz="quarter" idx="12"/>
          </p:nvPr>
        </p:nvSpPr>
        <p:spPr/>
        <p:txBody>
          <a:bodyPr/>
          <a:lstStyle/>
          <a:p>
            <a:fld id="{8FBCB428-D880-FC4A-9B26-64132A65A030}" type="slidenum">
              <a:rPr lang="en-US" smtClean="0"/>
              <a:pPr/>
              <a:t>5</a:t>
            </a:fld>
            <a:endParaRPr lang="en-US"/>
          </a:p>
        </p:txBody>
      </p:sp>
      <p:pic>
        <p:nvPicPr>
          <p:cNvPr id="5" name="Picture 4" descr="A graph of a number of blue and orange bars&#10;&#10;AI-generated content may be incorrect.">
            <a:extLst>
              <a:ext uri="{FF2B5EF4-FFF2-40B4-BE49-F238E27FC236}">
                <a16:creationId xmlns:a16="http://schemas.microsoft.com/office/drawing/2014/main" id="{30EC97DF-D0DD-D82F-10E1-04FC6DA3DE71}"/>
              </a:ext>
            </a:extLst>
          </p:cNvPr>
          <p:cNvPicPr>
            <a:picLocks noChangeAspect="1"/>
          </p:cNvPicPr>
          <p:nvPr/>
        </p:nvPicPr>
        <p:blipFill>
          <a:blip r:embed="rId3"/>
          <a:stretch>
            <a:fillRect/>
          </a:stretch>
        </p:blipFill>
        <p:spPr>
          <a:xfrm>
            <a:off x="2557639" y="1523999"/>
            <a:ext cx="7048501" cy="4727223"/>
          </a:xfrm>
          <a:prstGeom prst="rect">
            <a:avLst/>
          </a:prstGeom>
        </p:spPr>
      </p:pic>
      <p:sp>
        <p:nvSpPr>
          <p:cNvPr id="6" name="TextBox 5">
            <a:extLst>
              <a:ext uri="{FF2B5EF4-FFF2-40B4-BE49-F238E27FC236}">
                <a16:creationId xmlns:a16="http://schemas.microsoft.com/office/drawing/2014/main" id="{A525DB49-647B-4D62-4FDF-84FF38CCAA30}"/>
              </a:ext>
            </a:extLst>
          </p:cNvPr>
          <p:cNvSpPr txBox="1"/>
          <p:nvPr/>
        </p:nvSpPr>
        <p:spPr>
          <a:xfrm>
            <a:off x="9766904" y="4439394"/>
            <a:ext cx="2137317"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a:solidFill>
                  <a:srgbClr val="FF0000"/>
                </a:solidFill>
              </a:rPr>
              <a:t>*Fluid Instability and Transition was not required to submit an annual report; Space Transportation is classified inactive and has not been included as part of this data call.</a:t>
            </a:r>
          </a:p>
        </p:txBody>
      </p:sp>
      <p:sp>
        <p:nvSpPr>
          <p:cNvPr id="7" name="Rectangle 6">
            <a:extLst>
              <a:ext uri="{FF2B5EF4-FFF2-40B4-BE49-F238E27FC236}">
                <a16:creationId xmlns:a16="http://schemas.microsoft.com/office/drawing/2014/main" id="{ADB08224-DA24-109D-652E-0849D4EE848A}"/>
              </a:ext>
            </a:extLst>
          </p:cNvPr>
          <p:cNvSpPr/>
          <p:nvPr/>
        </p:nvSpPr>
        <p:spPr>
          <a:xfrm rot="19722172">
            <a:off x="4045856" y="2875001"/>
            <a:ext cx="3357907" cy="1107996"/>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6600" b="1" cap="none" spc="0" dirty="0">
                <a:ln/>
                <a:solidFill>
                  <a:srgbClr val="FFFF00"/>
                </a:solidFill>
                <a:effectLst/>
              </a:rPr>
              <a:t>Ongoing</a:t>
            </a:r>
          </a:p>
        </p:txBody>
      </p:sp>
    </p:spTree>
    <p:extLst>
      <p:ext uri="{BB962C8B-B14F-4D97-AF65-F5344CB8AC3E}">
        <p14:creationId xmlns:p14="http://schemas.microsoft.com/office/powerpoint/2010/main" val="1659927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D8E4D-8EE1-CF32-94FF-81109867B5F5}"/>
              </a:ext>
            </a:extLst>
          </p:cNvPr>
          <p:cNvSpPr>
            <a:spLocks noGrp="1"/>
          </p:cNvSpPr>
          <p:nvPr>
            <p:ph type="title"/>
          </p:nvPr>
        </p:nvSpPr>
        <p:spPr/>
        <p:txBody>
          <a:bodyPr/>
          <a:lstStyle/>
          <a:p>
            <a:r>
              <a:rPr lang="en-US" dirty="0"/>
              <a:t>5. Emerging Tech June 23</a:t>
            </a:r>
          </a:p>
        </p:txBody>
      </p:sp>
      <p:sp>
        <p:nvSpPr>
          <p:cNvPr id="3" name="Content Placeholder 2">
            <a:extLst>
              <a:ext uri="{FF2B5EF4-FFF2-40B4-BE49-F238E27FC236}">
                <a16:creationId xmlns:a16="http://schemas.microsoft.com/office/drawing/2014/main" id="{2DF1BB1C-E111-23C4-5569-4033E61842B5}"/>
              </a:ext>
            </a:extLst>
          </p:cNvPr>
          <p:cNvSpPr>
            <a:spLocks noGrp="1"/>
          </p:cNvSpPr>
          <p:nvPr>
            <p:ph idx="1"/>
          </p:nvPr>
        </p:nvSpPr>
        <p:spPr>
          <a:xfrm>
            <a:off x="838200" y="1394234"/>
            <a:ext cx="10515600" cy="4816443"/>
          </a:xfrm>
        </p:spPr>
        <p:txBody>
          <a:bodyPr/>
          <a:lstStyle/>
          <a:p>
            <a:pPr marL="285750" indent="-285750">
              <a:buFont typeface="Arial" panose="020B0604020202020204" pitchFamily="34" charset="0"/>
              <a:buChar char="•"/>
            </a:pPr>
            <a:r>
              <a:rPr lang="en-US" dirty="0"/>
              <a:t>Ron Kohl’s plan for the Space Domain has acquired a list of emerging technologies from NASA. It has 180 emerging technologies. Very complete.</a:t>
            </a:r>
          </a:p>
          <a:p>
            <a:pPr marL="1028700" lvl="1"/>
            <a:r>
              <a:rPr lang="en-US" dirty="0"/>
              <a:t>Use the list,  send it to the TC chairs, and ask them</a:t>
            </a:r>
          </a:p>
          <a:p>
            <a:pPr marL="1485900" lvl="2"/>
            <a:r>
              <a:rPr lang="en-US" dirty="0"/>
              <a:t>Do you consider these important criteria</a:t>
            </a:r>
          </a:p>
          <a:p>
            <a:pPr marL="1485900" lvl="2"/>
            <a:r>
              <a:rPr lang="en-US" dirty="0"/>
              <a:t>Is this something your TC has interest in</a:t>
            </a:r>
          </a:p>
          <a:p>
            <a:pPr marL="1485900" lvl="2"/>
            <a:r>
              <a:rPr lang="en-US" dirty="0"/>
              <a:t>Is there anything you can think of to add to the list?</a:t>
            </a:r>
          </a:p>
          <a:p>
            <a:pPr marL="285750"/>
            <a:r>
              <a:rPr lang="en-US" dirty="0">
                <a:solidFill>
                  <a:srgbClr val="FF0000"/>
                </a:solidFill>
              </a:rPr>
              <a:t>Action</a:t>
            </a:r>
            <a:r>
              <a:rPr lang="en-US" dirty="0"/>
              <a:t>: Ron to send us his list so we can all try to mimic it</a:t>
            </a:r>
          </a:p>
          <a:p>
            <a:pPr marL="285750" indent="-285750">
              <a:buFont typeface="Arial" panose="020B0604020202020204" pitchFamily="34" charset="0"/>
              <a:buChar char="•"/>
            </a:pPr>
            <a:r>
              <a:rPr lang="en-US" dirty="0"/>
              <a:t>We could all try to get lists from NASA, DOW, DARPA, etc. </a:t>
            </a:r>
          </a:p>
          <a:p>
            <a:pPr marL="1028700" lvl="1"/>
            <a:r>
              <a:rPr lang="en-US" dirty="0">
                <a:solidFill>
                  <a:srgbClr val="FF0000"/>
                </a:solidFill>
              </a:rPr>
              <a:t>Action</a:t>
            </a:r>
            <a:r>
              <a:rPr lang="en-US" dirty="0"/>
              <a:t>, All TIS members do their own hunting</a:t>
            </a:r>
          </a:p>
          <a:p>
            <a:pPr marL="285750"/>
            <a:r>
              <a:rPr lang="en-US" dirty="0"/>
              <a:t>Plan of action for now (will evolve later)</a:t>
            </a:r>
          </a:p>
          <a:p>
            <a:pPr marL="571500" indent="-285750">
              <a:buFont typeface="Arial" panose="020B0604020202020204" pitchFamily="34" charset="0"/>
              <a:buChar char="•"/>
            </a:pPr>
            <a:r>
              <a:rPr lang="en-US" dirty="0"/>
              <a:t>Each TIS member gets list</a:t>
            </a:r>
          </a:p>
          <a:p>
            <a:pPr marL="571500" indent="-285750">
              <a:buFont typeface="Arial" panose="020B0604020202020204" pitchFamily="34" charset="0"/>
              <a:buChar char="•"/>
            </a:pPr>
            <a:r>
              <a:rPr lang="en-US" dirty="0"/>
              <a:t>Each TIS member runs list by TCs and gathers responses</a:t>
            </a:r>
          </a:p>
          <a:p>
            <a:pPr marL="571500" indent="-285750">
              <a:buFont typeface="Arial" panose="020B0604020202020204" pitchFamily="34" charset="0"/>
              <a:buChar char="•"/>
            </a:pPr>
            <a:r>
              <a:rPr lang="en-US" dirty="0"/>
              <a:t>Elevate gaps</a:t>
            </a:r>
          </a:p>
          <a:p>
            <a:pPr marL="285750"/>
            <a:r>
              <a:rPr lang="en-US" dirty="0"/>
              <a:t>Contact John Valasek to see what he thinks would be a good use of AI here.</a:t>
            </a:r>
          </a:p>
          <a:p>
            <a:r>
              <a:rPr lang="en-US" dirty="0"/>
              <a:t>	</a:t>
            </a:r>
            <a:r>
              <a:rPr lang="en-US" dirty="0">
                <a:solidFill>
                  <a:srgbClr val="FF0000"/>
                </a:solidFill>
              </a:rPr>
              <a:t>Action</a:t>
            </a:r>
            <a:r>
              <a:rPr lang="en-US" dirty="0"/>
              <a:t> Jim to contact John Valasek (</a:t>
            </a:r>
            <a:r>
              <a:rPr lang="en-US" dirty="0">
                <a:hlinkClick r:id="rId2"/>
              </a:rPr>
              <a:t>Valasek@tamu.edu</a:t>
            </a:r>
            <a:r>
              <a:rPr lang="en-US" dirty="0"/>
              <a:t>) to get him to come to our meeting	</a:t>
            </a:r>
          </a:p>
        </p:txBody>
      </p:sp>
      <p:sp>
        <p:nvSpPr>
          <p:cNvPr id="4" name="Rectangle: Rounded Corners 3">
            <a:extLst>
              <a:ext uri="{FF2B5EF4-FFF2-40B4-BE49-F238E27FC236}">
                <a16:creationId xmlns:a16="http://schemas.microsoft.com/office/drawing/2014/main" id="{7C72BA2B-5FAD-A38C-131D-56AE553E1CF3}"/>
              </a:ext>
            </a:extLst>
          </p:cNvPr>
          <p:cNvSpPr/>
          <p:nvPr/>
        </p:nvSpPr>
        <p:spPr>
          <a:xfrm>
            <a:off x="7987862" y="2165131"/>
            <a:ext cx="3079531" cy="23963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Also consider running this past other parts of the institute, for example the Ascend Guiding Coalition</a:t>
            </a:r>
          </a:p>
          <a:p>
            <a:pPr algn="ctr"/>
            <a:r>
              <a:rPr lang="en-US" dirty="0"/>
              <a:t>Mike could help ID them for us.</a:t>
            </a:r>
          </a:p>
        </p:txBody>
      </p:sp>
    </p:spTree>
    <p:extLst>
      <p:ext uri="{BB962C8B-B14F-4D97-AF65-F5344CB8AC3E}">
        <p14:creationId xmlns:p14="http://schemas.microsoft.com/office/powerpoint/2010/main" val="2832065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CAF31-2ABD-4AEE-8DE5-C02ADD370F26}"/>
              </a:ext>
            </a:extLst>
          </p:cNvPr>
          <p:cNvSpPr>
            <a:spLocks noGrp="1"/>
          </p:cNvSpPr>
          <p:nvPr>
            <p:ph type="title"/>
          </p:nvPr>
        </p:nvSpPr>
        <p:spPr/>
        <p:txBody>
          <a:bodyPr/>
          <a:lstStyle/>
          <a:p>
            <a:r>
              <a:rPr lang="en-US" dirty="0"/>
              <a:t>6. Create TIS server space and collect TIS documents</a:t>
            </a:r>
          </a:p>
        </p:txBody>
      </p:sp>
      <p:sp>
        <p:nvSpPr>
          <p:cNvPr id="3" name="Content Placeholder 2">
            <a:extLst>
              <a:ext uri="{FF2B5EF4-FFF2-40B4-BE49-F238E27FC236}">
                <a16:creationId xmlns:a16="http://schemas.microsoft.com/office/drawing/2014/main" id="{DBD671F6-12CC-4E20-AA37-05F430C8FDD9}"/>
              </a:ext>
            </a:extLst>
          </p:cNvPr>
          <p:cNvSpPr>
            <a:spLocks noGrp="1"/>
          </p:cNvSpPr>
          <p:nvPr>
            <p:ph idx="1"/>
          </p:nvPr>
        </p:nvSpPr>
        <p:spPr>
          <a:xfrm>
            <a:off x="831793" y="1812373"/>
            <a:ext cx="10515600" cy="4125722"/>
          </a:xfrm>
        </p:spPr>
        <p:txBody>
          <a:bodyPr/>
          <a:lstStyle/>
          <a:p>
            <a:r>
              <a:rPr lang="en-US" dirty="0"/>
              <a:t>Mike started an AIAA Google Drive</a:t>
            </a:r>
          </a:p>
          <a:p>
            <a:r>
              <a:rPr lang="en-US" dirty="0"/>
              <a:t>We can use our Home Laptops to do this</a:t>
            </a:r>
          </a:p>
          <a:p>
            <a:r>
              <a:rPr lang="en-US" dirty="0">
                <a:hlinkClick r:id="rId2" tooltip="https://drive.google.com/drive/folders/1qvzgt3behdcnvjvptekwikrvnfbesxlk?usp=drive_link"/>
              </a:rPr>
              <a:t>https://drive.google.com/drive/folders/1qVzgT3BEHDCNVJVptEkWIKRvNFBesXLk?usp=drive_link</a:t>
            </a:r>
            <a:endParaRPr lang="en-US" dirty="0"/>
          </a:p>
          <a:p>
            <a:endParaRPr lang="en-US" dirty="0"/>
          </a:p>
          <a:p>
            <a:r>
              <a:rPr lang="en-US" dirty="0"/>
              <a:t>We are suggesting that we use GitHub</a:t>
            </a:r>
          </a:p>
          <a:p>
            <a:r>
              <a:rPr lang="en-US" dirty="0"/>
              <a:t>Ron says that the AIAA CIO spoke of our challenges and how we might solve them, like Engage, etc. He might solve this.</a:t>
            </a:r>
          </a:p>
          <a:p>
            <a:endParaRPr lang="en-US" dirty="0"/>
          </a:p>
          <a:p>
            <a:r>
              <a:rPr lang="en-US" dirty="0"/>
              <a:t>Tom created a TIS site on GitHub and sent it to the group to join</a:t>
            </a:r>
          </a:p>
          <a:p>
            <a:r>
              <a:rPr lang="en-US" dirty="0">
                <a:solidFill>
                  <a:srgbClr val="FF0000"/>
                </a:solidFill>
              </a:rPr>
              <a:t>Action TIS members </a:t>
            </a:r>
            <a:r>
              <a:rPr lang="en-US" dirty="0"/>
              <a:t>to try to join the GitHub site.</a:t>
            </a:r>
          </a:p>
        </p:txBody>
      </p:sp>
    </p:spTree>
    <p:extLst>
      <p:ext uri="{BB962C8B-B14F-4D97-AF65-F5344CB8AC3E}">
        <p14:creationId xmlns:p14="http://schemas.microsoft.com/office/powerpoint/2010/main" val="3293343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8ED48-6AB0-4F6B-86CE-2891FF93BE45}"/>
              </a:ext>
            </a:extLst>
          </p:cNvPr>
          <p:cNvSpPr>
            <a:spLocks noGrp="1"/>
          </p:cNvSpPr>
          <p:nvPr>
            <p:ph type="title"/>
          </p:nvPr>
        </p:nvSpPr>
        <p:spPr/>
        <p:txBody>
          <a:bodyPr/>
          <a:lstStyle/>
          <a:p>
            <a:r>
              <a:rPr lang="en-US" dirty="0"/>
              <a:t>7. Get familiar with what AIED doing and how it relates to TIS</a:t>
            </a:r>
          </a:p>
        </p:txBody>
      </p:sp>
      <p:sp>
        <p:nvSpPr>
          <p:cNvPr id="3" name="Content Placeholder 2">
            <a:extLst>
              <a:ext uri="{FF2B5EF4-FFF2-40B4-BE49-F238E27FC236}">
                <a16:creationId xmlns:a16="http://schemas.microsoft.com/office/drawing/2014/main" id="{46EDE203-5777-4F7B-A570-CA82D0D877FD}"/>
              </a:ext>
            </a:extLst>
          </p:cNvPr>
          <p:cNvSpPr>
            <a:spLocks noGrp="1"/>
          </p:cNvSpPr>
          <p:nvPr>
            <p:ph idx="1"/>
          </p:nvPr>
        </p:nvSpPr>
        <p:spPr/>
        <p:txBody>
          <a:bodyPr/>
          <a:lstStyle/>
          <a:p>
            <a:r>
              <a:rPr lang="en-US" b="1" dirty="0"/>
              <a:t>June 23 Vlad Reported. Contacted Jeanette </a:t>
            </a:r>
            <a:r>
              <a:rPr lang="en-US" b="1" dirty="0" err="1"/>
              <a:t>Domber</a:t>
            </a:r>
            <a:r>
              <a:rPr lang="en-US" b="1" dirty="0"/>
              <a:t>. </a:t>
            </a:r>
            <a:r>
              <a:rPr lang="en-US" b="1" dirty="0">
                <a:solidFill>
                  <a:srgbClr val="FF0000"/>
                </a:solidFill>
              </a:rPr>
              <a:t>Waiting for reply</a:t>
            </a:r>
          </a:p>
          <a:p>
            <a:r>
              <a:rPr lang="en-US" b="1" dirty="0"/>
              <a:t>  </a:t>
            </a:r>
          </a:p>
          <a:p>
            <a:pPr marL="285750" indent="-285750">
              <a:buFont typeface="Arial" panose="020B0604020202020204" pitchFamily="34" charset="0"/>
              <a:buChar char="•"/>
            </a:pPr>
            <a:r>
              <a:rPr lang="en-US" dirty="0"/>
              <a:t>The AIED redesign is happening. An update at the next AIED meeting at Aviation.</a:t>
            </a:r>
          </a:p>
          <a:p>
            <a:r>
              <a:rPr lang="en-US" b="1" dirty="0"/>
              <a:t>	</a:t>
            </a:r>
          </a:p>
          <a:p>
            <a:r>
              <a:rPr lang="en-US" dirty="0"/>
              <a:t>Vladimir volunteered</a:t>
            </a:r>
          </a:p>
          <a:p>
            <a:r>
              <a:rPr lang="en-US" dirty="0"/>
              <a:t>Ron  may help him. Ron is in two OCs and an IC. There is an effort to redesign the AIED.</a:t>
            </a:r>
          </a:p>
          <a:p>
            <a:r>
              <a:rPr lang="en-US" dirty="0"/>
              <a:t>AIED is Aerospace Integrated Engagement Division</a:t>
            </a:r>
          </a:p>
          <a:p>
            <a:endParaRPr lang="en-US" dirty="0"/>
          </a:p>
          <a:p>
            <a:r>
              <a:rPr lang="en-US" dirty="0"/>
              <a:t>AIED meeting April 2. IOD will be presented with the redesign results</a:t>
            </a:r>
          </a:p>
        </p:txBody>
      </p:sp>
      <p:sp>
        <p:nvSpPr>
          <p:cNvPr id="4" name="Rectangle 3">
            <a:extLst>
              <a:ext uri="{FF2B5EF4-FFF2-40B4-BE49-F238E27FC236}">
                <a16:creationId xmlns:a16="http://schemas.microsoft.com/office/drawing/2014/main" id="{47122141-7F49-1D8E-A576-75FD6324C3FE}"/>
              </a:ext>
            </a:extLst>
          </p:cNvPr>
          <p:cNvSpPr/>
          <p:nvPr/>
        </p:nvSpPr>
        <p:spPr>
          <a:xfrm rot="19722172">
            <a:off x="5909873" y="2128532"/>
            <a:ext cx="3357907" cy="1107996"/>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6600" b="1" cap="none" spc="0" dirty="0">
                <a:ln/>
                <a:solidFill>
                  <a:srgbClr val="FFFF00"/>
                </a:solidFill>
                <a:effectLst/>
              </a:rPr>
              <a:t>Ongoing</a:t>
            </a:r>
          </a:p>
        </p:txBody>
      </p:sp>
    </p:spTree>
    <p:extLst>
      <p:ext uri="{BB962C8B-B14F-4D97-AF65-F5344CB8AC3E}">
        <p14:creationId xmlns:p14="http://schemas.microsoft.com/office/powerpoint/2010/main" val="1093781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496E5C-1ECC-8363-1E45-0533C94082DC}"/>
              </a:ext>
            </a:extLst>
          </p:cNvPr>
          <p:cNvSpPr>
            <a:spLocks noGrp="1"/>
          </p:cNvSpPr>
          <p:nvPr>
            <p:ph type="title"/>
          </p:nvPr>
        </p:nvSpPr>
        <p:spPr/>
        <p:txBody>
          <a:bodyPr/>
          <a:lstStyle/>
          <a:p>
            <a:r>
              <a:rPr lang="en-US" dirty="0"/>
              <a:t>Archive or Backup</a:t>
            </a:r>
          </a:p>
        </p:txBody>
      </p:sp>
    </p:spTree>
    <p:extLst>
      <p:ext uri="{BB962C8B-B14F-4D97-AF65-F5344CB8AC3E}">
        <p14:creationId xmlns:p14="http://schemas.microsoft.com/office/powerpoint/2010/main" val="1233422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5592D-5FAD-4C61-932D-CDCB1D3E4F06}"/>
              </a:ext>
            </a:extLst>
          </p:cNvPr>
          <p:cNvSpPr>
            <a:spLocks noGrp="1"/>
          </p:cNvSpPr>
          <p:nvPr>
            <p:ph type="title"/>
          </p:nvPr>
        </p:nvSpPr>
        <p:spPr/>
        <p:txBody>
          <a:bodyPr/>
          <a:lstStyle/>
          <a:p>
            <a:r>
              <a:rPr lang="en-US" dirty="0"/>
              <a:t>1. Establish the “General TC Guideline”</a:t>
            </a:r>
          </a:p>
        </p:txBody>
      </p:sp>
      <p:sp>
        <p:nvSpPr>
          <p:cNvPr id="3" name="Content Placeholder 2">
            <a:extLst>
              <a:ext uri="{FF2B5EF4-FFF2-40B4-BE49-F238E27FC236}">
                <a16:creationId xmlns:a16="http://schemas.microsoft.com/office/drawing/2014/main" id="{613A0A5D-05FA-4E97-B9B7-0C0096DA9884}"/>
              </a:ext>
            </a:extLst>
          </p:cNvPr>
          <p:cNvSpPr>
            <a:spLocks noGrp="1"/>
          </p:cNvSpPr>
          <p:nvPr>
            <p:ph idx="1"/>
          </p:nvPr>
        </p:nvSpPr>
        <p:spPr>
          <a:xfrm>
            <a:off x="831793" y="1888999"/>
            <a:ext cx="10515600" cy="4125722"/>
          </a:xfrm>
        </p:spPr>
        <p:txBody>
          <a:bodyPr/>
          <a:lstStyle/>
          <a:p>
            <a:pPr lvl="0"/>
            <a:r>
              <a:rPr lang="en-US" b="1" dirty="0"/>
              <a:t>April 28 - No change from March</a:t>
            </a:r>
          </a:p>
          <a:p>
            <a:r>
              <a:rPr lang="en-US" dirty="0"/>
              <a:t>Tom Volunteered</a:t>
            </a:r>
            <a:endParaRPr lang="en-US" b="1" dirty="0"/>
          </a:p>
          <a:p>
            <a:pPr lvl="1"/>
            <a:r>
              <a:rPr lang="en-US" b="1" dirty="0"/>
              <a:t>	</a:t>
            </a:r>
            <a:r>
              <a:rPr lang="en-US" dirty="0"/>
              <a:t>Tom reviewed and marked up and Mike and Lesley are editing. Ball’s in their court.</a:t>
            </a:r>
          </a:p>
          <a:p>
            <a:pPr lvl="0"/>
            <a:r>
              <a:rPr lang="en-US" b="1" dirty="0"/>
              <a:t>Establish the “General TC Guideline”.</a:t>
            </a:r>
          </a:p>
          <a:p>
            <a:pPr lvl="1"/>
            <a:r>
              <a:rPr lang="en-US" b="1" u="sng" dirty="0"/>
              <a:t>Starting point:</a:t>
            </a:r>
            <a:r>
              <a:rPr lang="en-US" dirty="0"/>
              <a:t> There is an existing TC Chair’s Manual. </a:t>
            </a:r>
            <a:br>
              <a:rPr lang="en-US" dirty="0"/>
            </a:br>
            <a:r>
              <a:rPr lang="en-US" b="1" i="1" dirty="0"/>
              <a:t>Michael </a:t>
            </a:r>
            <a:r>
              <a:rPr lang="en-US" b="1" i="1" dirty="0" err="1"/>
              <a:t>Lagana</a:t>
            </a:r>
            <a:r>
              <a:rPr lang="en-US" dirty="0"/>
              <a:t> (AIAA) noted that it needs an update, which is in TIS’s scope. TIS should review and propose updates/edits, which could include incorporating information from other documents (e.g., the Structures TC document) as well as the additional sections (below).</a:t>
            </a:r>
          </a:p>
          <a:p>
            <a:pPr lvl="1"/>
            <a:r>
              <a:rPr lang="en-US" dirty="0"/>
              <a:t>Structures TC has their own “General TC Guideline”</a:t>
            </a:r>
          </a:p>
          <a:p>
            <a:pPr lvl="1"/>
            <a:r>
              <a:rPr lang="en-US" dirty="0"/>
              <a:t>TC Chair Exit Interview Process could be a part of that guideline with suggested questions to be answered by outgoing TC Chair</a:t>
            </a:r>
          </a:p>
          <a:p>
            <a:pPr lvl="1"/>
            <a:r>
              <a:rPr lang="en-US" dirty="0"/>
              <a:t>MDO TC has a process where they elect TC Vice Chair who automatically becomes TC Chair after 2 years and works with TC Chair while being Vice Chair.  Therefore, TC votes for the Vice Chair, which effectively becomes a 4-year commitment.</a:t>
            </a:r>
          </a:p>
          <a:p>
            <a:endParaRPr lang="en-US" dirty="0"/>
          </a:p>
        </p:txBody>
      </p:sp>
      <p:sp>
        <p:nvSpPr>
          <p:cNvPr id="4" name="Rectangle 3">
            <a:extLst>
              <a:ext uri="{FF2B5EF4-FFF2-40B4-BE49-F238E27FC236}">
                <a16:creationId xmlns:a16="http://schemas.microsoft.com/office/drawing/2014/main" id="{01144026-0D01-EC2F-2EC8-D8AF6F5FC7D4}"/>
              </a:ext>
            </a:extLst>
          </p:cNvPr>
          <p:cNvSpPr/>
          <p:nvPr/>
        </p:nvSpPr>
        <p:spPr>
          <a:xfrm rot="19722172">
            <a:off x="4609759" y="2875001"/>
            <a:ext cx="2230098" cy="1107996"/>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6600" b="1" cap="none" spc="0" dirty="0">
                <a:ln/>
                <a:solidFill>
                  <a:srgbClr val="00B050"/>
                </a:solidFill>
                <a:effectLst/>
              </a:rPr>
              <a:t>Done</a:t>
            </a:r>
          </a:p>
        </p:txBody>
      </p:sp>
    </p:spTree>
    <p:extLst>
      <p:ext uri="{BB962C8B-B14F-4D97-AF65-F5344CB8AC3E}">
        <p14:creationId xmlns:p14="http://schemas.microsoft.com/office/powerpoint/2010/main" val="3275790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3440E-E4C0-46E8-B260-5AD92725F5B0}"/>
              </a:ext>
            </a:extLst>
          </p:cNvPr>
          <p:cNvSpPr>
            <a:spLocks noGrp="1"/>
          </p:cNvSpPr>
          <p:nvPr>
            <p:ph type="title"/>
          </p:nvPr>
        </p:nvSpPr>
        <p:spPr/>
        <p:txBody>
          <a:bodyPr/>
          <a:lstStyle/>
          <a:p>
            <a:r>
              <a:rPr lang="en-US" dirty="0"/>
              <a:t>4. Work with TCs to communicate to them the important aspects leadership </a:t>
            </a:r>
            <a:r>
              <a:rPr lang="en-US" dirty="0" err="1"/>
              <a:t>flowdown</a:t>
            </a:r>
            <a:endParaRPr lang="en-US" dirty="0"/>
          </a:p>
        </p:txBody>
      </p:sp>
      <p:sp>
        <p:nvSpPr>
          <p:cNvPr id="3" name="Content Placeholder 2">
            <a:extLst>
              <a:ext uri="{FF2B5EF4-FFF2-40B4-BE49-F238E27FC236}">
                <a16:creationId xmlns:a16="http://schemas.microsoft.com/office/drawing/2014/main" id="{793A1AB1-CCF0-4999-BDCA-911B1F36DACB}"/>
              </a:ext>
            </a:extLst>
          </p:cNvPr>
          <p:cNvSpPr>
            <a:spLocks noGrp="1"/>
          </p:cNvSpPr>
          <p:nvPr>
            <p:ph idx="1"/>
          </p:nvPr>
        </p:nvSpPr>
        <p:spPr/>
        <p:txBody>
          <a:bodyPr/>
          <a:lstStyle/>
          <a:p>
            <a:pPr lvl="0"/>
            <a:r>
              <a:rPr lang="en-US" b="1" dirty="0"/>
              <a:t>April 28 - No report for April</a:t>
            </a:r>
          </a:p>
          <a:p>
            <a:pPr lvl="0"/>
            <a:endParaRPr lang="en-US" b="1" dirty="0"/>
          </a:p>
          <a:p>
            <a:pPr lvl="0"/>
            <a:r>
              <a:rPr lang="en-US" b="1" dirty="0"/>
              <a:t>Mike Volunteered. Matches his current activities anyway</a:t>
            </a:r>
          </a:p>
          <a:p>
            <a:pPr lvl="0"/>
            <a:r>
              <a:rPr lang="en-US" b="1" dirty="0"/>
              <a:t>Ongoing: Work with TCs to communicate to them the important aspects of: - Mike</a:t>
            </a:r>
          </a:p>
          <a:p>
            <a:pPr lvl="1"/>
            <a:r>
              <a:rPr lang="en-US" dirty="0"/>
              <a:t>TAD Director’s Roundtable</a:t>
            </a:r>
          </a:p>
          <a:p>
            <a:pPr lvl="1"/>
            <a:r>
              <a:rPr lang="en-US" dirty="0"/>
              <a:t>TAD Leadership Positions</a:t>
            </a:r>
          </a:p>
          <a:p>
            <a:pPr lvl="1"/>
            <a:r>
              <a:rPr lang="en-US" dirty="0"/>
              <a:t>TAD Exec mtg agenda/summary, </a:t>
            </a:r>
            <a:r>
              <a:rPr lang="en-US" dirty="0" err="1"/>
              <a:t>CoD</a:t>
            </a:r>
            <a:r>
              <a:rPr lang="en-US" dirty="0"/>
              <a:t> mtg summary. </a:t>
            </a:r>
          </a:p>
          <a:p>
            <a:pPr lvl="2"/>
            <a:r>
              <a:rPr lang="en-US" dirty="0"/>
              <a:t>Compile Documentation on TAD Leadership Positions.</a:t>
            </a:r>
            <a:br>
              <a:rPr lang="en-US" dirty="0"/>
            </a:br>
            <a:r>
              <a:rPr lang="en-US" dirty="0"/>
              <a:t>Follow-up Actions from AIAA CTO Summit on AI Applications  </a:t>
            </a:r>
          </a:p>
          <a:p>
            <a:pPr lvl="2"/>
            <a:r>
              <a:rPr lang="en-US" dirty="0"/>
              <a:t>Collect TC’s response and proposals and communicate that to TAD and Directors.  Work closely with Michael </a:t>
            </a:r>
            <a:r>
              <a:rPr lang="en-US" dirty="0" err="1"/>
              <a:t>Lagana</a:t>
            </a:r>
            <a:r>
              <a:rPr lang="en-US" dirty="0"/>
              <a:t> and his monthly committee newsletter.</a:t>
            </a:r>
          </a:p>
          <a:p>
            <a:endParaRPr lang="en-US" dirty="0"/>
          </a:p>
          <a:p>
            <a:endParaRPr lang="en-US" dirty="0"/>
          </a:p>
        </p:txBody>
      </p:sp>
      <p:sp>
        <p:nvSpPr>
          <p:cNvPr id="4" name="Rectangle 3">
            <a:extLst>
              <a:ext uri="{FF2B5EF4-FFF2-40B4-BE49-F238E27FC236}">
                <a16:creationId xmlns:a16="http://schemas.microsoft.com/office/drawing/2014/main" id="{F2CA416B-EE8E-4003-89FF-48BA59C7F0F9}"/>
              </a:ext>
            </a:extLst>
          </p:cNvPr>
          <p:cNvSpPr/>
          <p:nvPr/>
        </p:nvSpPr>
        <p:spPr>
          <a:xfrm rot="19722172">
            <a:off x="1448546" y="2367170"/>
            <a:ext cx="8552534" cy="2123658"/>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6600" b="1" cap="none" spc="0" dirty="0">
                <a:ln/>
                <a:solidFill>
                  <a:srgbClr val="00B050"/>
                </a:solidFill>
                <a:effectLst/>
              </a:rPr>
              <a:t>Done</a:t>
            </a:r>
          </a:p>
          <a:p>
            <a:pPr algn="ctr"/>
            <a:r>
              <a:rPr lang="en-US" sz="6600" b="1" dirty="0">
                <a:ln/>
                <a:solidFill>
                  <a:srgbClr val="00B050"/>
                </a:solidFill>
              </a:rPr>
              <a:t>TC News letter does it</a:t>
            </a:r>
            <a:endParaRPr lang="en-US" sz="6600" b="1" cap="none" spc="0" dirty="0">
              <a:ln/>
              <a:solidFill>
                <a:srgbClr val="00B050"/>
              </a:solidFill>
              <a:effectLst/>
            </a:endParaRPr>
          </a:p>
        </p:txBody>
      </p:sp>
    </p:spTree>
    <p:extLst>
      <p:ext uri="{BB962C8B-B14F-4D97-AF65-F5344CB8AC3E}">
        <p14:creationId xmlns:p14="http://schemas.microsoft.com/office/powerpoint/2010/main" val="3835866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E771A-6636-46FB-8BCA-04CD092C77CC}"/>
              </a:ext>
            </a:extLst>
          </p:cNvPr>
          <p:cNvSpPr>
            <a:spLocks noGrp="1"/>
          </p:cNvSpPr>
          <p:nvPr>
            <p:ph type="title"/>
          </p:nvPr>
        </p:nvSpPr>
        <p:spPr/>
        <p:txBody>
          <a:bodyPr/>
          <a:lstStyle/>
          <a:p>
            <a:r>
              <a:rPr lang="en-US" dirty="0"/>
              <a:t>5. Capture Emerging Technologies and Trends</a:t>
            </a:r>
          </a:p>
        </p:txBody>
      </p:sp>
      <p:sp>
        <p:nvSpPr>
          <p:cNvPr id="3" name="Content Placeholder 2">
            <a:extLst>
              <a:ext uri="{FF2B5EF4-FFF2-40B4-BE49-F238E27FC236}">
                <a16:creationId xmlns:a16="http://schemas.microsoft.com/office/drawing/2014/main" id="{7201A18B-86B3-46A6-8D29-F643C72ACCB2}"/>
              </a:ext>
            </a:extLst>
          </p:cNvPr>
          <p:cNvSpPr>
            <a:spLocks noGrp="1"/>
          </p:cNvSpPr>
          <p:nvPr>
            <p:ph idx="1"/>
          </p:nvPr>
        </p:nvSpPr>
        <p:spPr>
          <a:xfrm>
            <a:off x="838200" y="1404512"/>
            <a:ext cx="10515600" cy="4755655"/>
          </a:xfrm>
        </p:spPr>
        <p:txBody>
          <a:bodyPr/>
          <a:lstStyle/>
          <a:p>
            <a:pPr marL="285750"/>
            <a:r>
              <a:rPr lang="en-US" dirty="0"/>
              <a:t>Three domains: Space,  Aviation and R&amp;D and Defense</a:t>
            </a:r>
          </a:p>
          <a:p>
            <a:pPr marL="285750"/>
            <a:r>
              <a:rPr lang="en-US" dirty="0"/>
              <a:t>Ron agreed to Space</a:t>
            </a:r>
          </a:p>
          <a:p>
            <a:pPr marL="285750"/>
            <a:r>
              <a:rPr lang="en-US" dirty="0"/>
              <a:t>Phil Ansell agreed to Aviation</a:t>
            </a:r>
          </a:p>
          <a:p>
            <a:pPr marL="285750"/>
            <a:r>
              <a:rPr lang="en-US" dirty="0"/>
              <a:t>Brian Freno agreed to R&amp;D and Defense</a:t>
            </a:r>
          </a:p>
          <a:p>
            <a:pPr marL="285750"/>
            <a:r>
              <a:rPr lang="en-US" dirty="0"/>
              <a:t>Ron told of the survey sent to TCs about emerging technologies. Got some responses.</a:t>
            </a:r>
          </a:p>
          <a:p>
            <a:pPr marL="285750"/>
            <a:r>
              <a:rPr lang="en-US" dirty="0"/>
              <a:t>How does searching for ETT look like</a:t>
            </a:r>
          </a:p>
          <a:p>
            <a:pPr marL="1028700" lvl="1"/>
            <a:r>
              <a:rPr lang="en-US" dirty="0"/>
              <a:t>AAA was going to do a LLM deep dive into the literature to find ETT. Lots of good topics. Still not as much as we would like.</a:t>
            </a:r>
          </a:p>
          <a:p>
            <a:pPr marL="1028700" lvl="1"/>
            <a:r>
              <a:rPr lang="en-US" dirty="0"/>
              <a:t>Last fall AIAA Tech Survey. </a:t>
            </a:r>
          </a:p>
          <a:p>
            <a:pPr marL="285750"/>
            <a:r>
              <a:rPr lang="en-US" dirty="0"/>
              <a:t>How about we require TCs to keep their own Emerging Technologies list and submit it to TIS every year to coordinate? Maybe keep this at the group level. This list should percolate into the TCs Call for Papers. Add this to the TC charter and CFP.</a:t>
            </a:r>
          </a:p>
          <a:p>
            <a:pPr marL="285750"/>
            <a:r>
              <a:rPr lang="en-US" sz="2000" b="1" dirty="0"/>
              <a:t>Ultimate goal is to comb the technologies and see if they fit in existing TCs or warrant a new TC, working group, IC, Panel Session</a:t>
            </a:r>
          </a:p>
        </p:txBody>
      </p:sp>
    </p:spTree>
    <p:extLst>
      <p:ext uri="{BB962C8B-B14F-4D97-AF65-F5344CB8AC3E}">
        <p14:creationId xmlns:p14="http://schemas.microsoft.com/office/powerpoint/2010/main" val="3220881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F65BD-A09C-BAC9-21BD-D0612C4405F6}"/>
              </a:ext>
            </a:extLst>
          </p:cNvPr>
          <p:cNvSpPr>
            <a:spLocks noGrp="1"/>
          </p:cNvSpPr>
          <p:nvPr>
            <p:ph type="title"/>
          </p:nvPr>
        </p:nvSpPr>
        <p:spPr>
          <a:xfrm>
            <a:off x="350003" y="220269"/>
            <a:ext cx="11491993" cy="1169207"/>
          </a:xfrm>
        </p:spPr>
        <p:txBody>
          <a:bodyPr/>
          <a:lstStyle/>
          <a:p>
            <a:r>
              <a:rPr lang="en-US" dirty="0"/>
              <a:t>Emerging Tech April 28</a:t>
            </a:r>
          </a:p>
        </p:txBody>
      </p:sp>
      <p:sp>
        <p:nvSpPr>
          <p:cNvPr id="3" name="Content Placeholder 2">
            <a:extLst>
              <a:ext uri="{FF2B5EF4-FFF2-40B4-BE49-F238E27FC236}">
                <a16:creationId xmlns:a16="http://schemas.microsoft.com/office/drawing/2014/main" id="{58BA9693-C7F2-9ABE-DA92-A058D1D4C9A5}"/>
              </a:ext>
            </a:extLst>
          </p:cNvPr>
          <p:cNvSpPr>
            <a:spLocks noGrp="1"/>
          </p:cNvSpPr>
          <p:nvPr>
            <p:ph idx="1"/>
          </p:nvPr>
        </p:nvSpPr>
        <p:spPr>
          <a:xfrm>
            <a:off x="756719" y="1264310"/>
            <a:ext cx="10515600" cy="5109330"/>
          </a:xfrm>
        </p:spPr>
        <p:txBody>
          <a:bodyPr/>
          <a:lstStyle/>
          <a:p>
            <a:r>
              <a:rPr lang="en-US" sz="1600" dirty="0"/>
              <a:t>Ron </a:t>
            </a:r>
          </a:p>
          <a:p>
            <a:pPr marL="571500" indent="-285750">
              <a:buFont typeface="Arial" panose="020B0604020202020204" pitchFamily="34" charset="0"/>
              <a:buChar char="•"/>
            </a:pPr>
            <a:r>
              <a:rPr lang="en-US" sz="1600" dirty="0"/>
              <a:t>Converge on what is the problem we are trying to solve</a:t>
            </a:r>
          </a:p>
          <a:p>
            <a:pPr marL="571500" indent="-285750">
              <a:buFont typeface="Arial" panose="020B0604020202020204" pitchFamily="34" charset="0"/>
              <a:buChar char="•"/>
            </a:pPr>
            <a:r>
              <a:rPr lang="en-US" sz="1600" dirty="0"/>
              <a:t>Could start by building the ETT list</a:t>
            </a:r>
          </a:p>
          <a:p>
            <a:pPr marL="571500" indent="-285750">
              <a:buFont typeface="Arial" panose="020B0604020202020204" pitchFamily="34" charset="0"/>
              <a:buChar char="•"/>
            </a:pPr>
            <a:r>
              <a:rPr lang="en-US" sz="1600" dirty="0"/>
              <a:t>Bounce list off of the TCs buckets and see which technologies are not addressed by any TCs. These are gaps.</a:t>
            </a:r>
          </a:p>
          <a:p>
            <a:pPr marL="571500" indent="-285750">
              <a:buFont typeface="Arial" panose="020B0604020202020204" pitchFamily="34" charset="0"/>
              <a:buChar char="•"/>
            </a:pPr>
            <a:r>
              <a:rPr lang="en-US" sz="1600" dirty="0" err="1"/>
              <a:t>Groundrule</a:t>
            </a:r>
            <a:r>
              <a:rPr lang="en-US" sz="1600" dirty="0"/>
              <a:t> – Use this list to maintain the value of AIAA vs. other societies like SAE</a:t>
            </a:r>
          </a:p>
          <a:p>
            <a:pPr marL="571500" indent="-285750">
              <a:buFont typeface="Arial" panose="020B0604020202020204" pitchFamily="34" charset="0"/>
              <a:buChar char="•"/>
            </a:pPr>
            <a:r>
              <a:rPr lang="en-US" sz="1600" dirty="0"/>
              <a:t>Will share with TCs, ICs, etc.</a:t>
            </a:r>
          </a:p>
          <a:p>
            <a:pPr marL="571500" indent="-285750">
              <a:buFont typeface="Arial" panose="020B0604020202020204" pitchFamily="34" charset="0"/>
              <a:buChar char="•"/>
            </a:pPr>
            <a:r>
              <a:rPr lang="en-US" sz="1600" dirty="0"/>
              <a:t>Could share list with Domain leads. Domains are in charge of future thinking for the institute. Ryan Patrick, R&amp;D is aware of our ETT activity but has not reached out to us yet. </a:t>
            </a:r>
          </a:p>
          <a:p>
            <a:pPr marL="571500" indent="-285750">
              <a:buFont typeface="Arial" panose="020B0604020202020204" pitchFamily="34" charset="0"/>
              <a:buChar char="•"/>
            </a:pPr>
            <a:r>
              <a:rPr lang="en-US" sz="1600" dirty="0"/>
              <a:t>Could share with the Corporate Advisory Board as well.</a:t>
            </a:r>
          </a:p>
          <a:p>
            <a:r>
              <a:rPr lang="en-US" sz="1600" dirty="0"/>
              <a:t>Phil</a:t>
            </a:r>
          </a:p>
          <a:p>
            <a:pPr marL="285750" indent="-285750">
              <a:buFont typeface="Arial" panose="020B0604020202020204" pitchFamily="34" charset="0"/>
              <a:buChar char="•"/>
            </a:pPr>
            <a:r>
              <a:rPr lang="en-US" sz="1600" dirty="0"/>
              <a:t>Here is what Phil assumed to be the purposes of the emerging tech tracking process:</a:t>
            </a:r>
          </a:p>
          <a:p>
            <a:pPr marL="285750" indent="-285750">
              <a:buFont typeface="Arial" panose="020B0604020202020204" pitchFamily="34" charset="0"/>
              <a:buChar char="•"/>
            </a:pPr>
            <a:r>
              <a:rPr lang="en-US" sz="1600" dirty="0"/>
              <a:t>This tracking process serves two pivotal purposes:</a:t>
            </a:r>
          </a:p>
          <a:p>
            <a:pPr marL="285750" indent="-285750">
              <a:buFont typeface="Arial" panose="020B0604020202020204" pitchFamily="34" charset="0"/>
              <a:buChar char="•"/>
            </a:pPr>
            <a:r>
              <a:rPr lang="en-US" sz="1600" dirty="0"/>
              <a:t>Avoids confusion and cross-talk across TCs and IOCs when new topics emerge (where does a topic "fit" and how can we co-sponsor across groups?).</a:t>
            </a:r>
          </a:p>
          <a:p>
            <a:pPr marL="285750" indent="-285750">
              <a:buFont typeface="Arial" panose="020B0604020202020204" pitchFamily="34" charset="0"/>
              <a:buChar char="•"/>
            </a:pPr>
            <a:r>
              <a:rPr lang="en-US" sz="1600" dirty="0"/>
              <a:t>Ensures we are keeping a pulse on new, high-impact developments and not missing opportunities to expand what AIAA has to offer to the aerospace community.</a:t>
            </a:r>
          </a:p>
          <a:p>
            <a:r>
              <a:rPr lang="en-US" sz="1600" dirty="0"/>
              <a:t> </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659485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23D3B-F07B-2A2B-F739-B6D424FB15BC}"/>
              </a:ext>
            </a:extLst>
          </p:cNvPr>
          <p:cNvSpPr>
            <a:spLocks noGrp="1"/>
          </p:cNvSpPr>
          <p:nvPr>
            <p:ph type="title"/>
          </p:nvPr>
        </p:nvSpPr>
        <p:spPr/>
        <p:txBody>
          <a:bodyPr/>
          <a:lstStyle/>
          <a:p>
            <a:r>
              <a:rPr lang="en-US" dirty="0"/>
              <a:t>New Business April 28</a:t>
            </a:r>
          </a:p>
        </p:txBody>
      </p:sp>
      <p:sp>
        <p:nvSpPr>
          <p:cNvPr id="3" name="Content Placeholder 2">
            <a:extLst>
              <a:ext uri="{FF2B5EF4-FFF2-40B4-BE49-F238E27FC236}">
                <a16:creationId xmlns:a16="http://schemas.microsoft.com/office/drawing/2014/main" id="{2C031240-2576-6450-16FF-6EAF56C4CABE}"/>
              </a:ext>
            </a:extLst>
          </p:cNvPr>
          <p:cNvSpPr>
            <a:spLocks noGrp="1"/>
          </p:cNvSpPr>
          <p:nvPr>
            <p:ph idx="1"/>
          </p:nvPr>
        </p:nvSpPr>
        <p:spPr>
          <a:xfrm>
            <a:off x="838200" y="1258432"/>
            <a:ext cx="10515600" cy="4692915"/>
          </a:xfrm>
        </p:spPr>
        <p:txBody>
          <a:bodyPr/>
          <a:lstStyle/>
          <a:p>
            <a:r>
              <a:rPr lang="en-US" dirty="0"/>
              <a:t>Emerging Trends</a:t>
            </a:r>
          </a:p>
          <a:p>
            <a:pPr lvl="1"/>
            <a:r>
              <a:rPr lang="en-US" dirty="0"/>
              <a:t>In Space Disaster Management. </a:t>
            </a:r>
          </a:p>
          <a:p>
            <a:pPr lvl="1"/>
            <a:r>
              <a:rPr lang="en-US" dirty="0"/>
              <a:t>In Space Health Care</a:t>
            </a:r>
          </a:p>
          <a:p>
            <a:r>
              <a:rPr lang="en-US" dirty="0"/>
              <a:t>Ron thinks these might end up in IOD. </a:t>
            </a:r>
          </a:p>
          <a:p>
            <a:pPr marL="285750" indent="-285750">
              <a:buFont typeface="Arial" panose="020B0604020202020204" pitchFamily="34" charset="0"/>
              <a:buChar char="•"/>
            </a:pPr>
            <a:r>
              <a:rPr lang="en-US" dirty="0"/>
              <a:t>Ron has introduced to his Space Settlement TC. The </a:t>
            </a:r>
            <a:r>
              <a:rPr lang="en-US"/>
              <a:t>TC vice chair </a:t>
            </a:r>
            <a:r>
              <a:rPr lang="en-US" dirty="0"/>
              <a:t>is a space nurse who has created a subcommittee around Space Health Care. </a:t>
            </a:r>
          </a:p>
          <a:p>
            <a:pPr marL="285750" indent="-285750">
              <a:buFont typeface="Arial" panose="020B0604020202020204" pitchFamily="34" charset="0"/>
              <a:buChar char="•"/>
            </a:pPr>
            <a:r>
              <a:rPr lang="en-US" dirty="0"/>
              <a:t>Ron has taken on Space Disaster Management. Stuck so far. Could be a subcommittee. Could evolve into a TC or IC. Building it as a Community of Interest (used to be a thing).</a:t>
            </a:r>
          </a:p>
          <a:p>
            <a:pPr marL="285750" indent="-285750">
              <a:buFont typeface="Arial" panose="020B0604020202020204" pitchFamily="34" charset="0"/>
              <a:buChar char="•"/>
            </a:pPr>
            <a:r>
              <a:rPr lang="en-US" dirty="0"/>
              <a:t>Ron says that the focus on Technology oriented TCs versus capability-oriented groups is somewhat of a gap for AIAA. Maybe make ICs more capability-oriented.</a:t>
            </a:r>
          </a:p>
          <a:p>
            <a:r>
              <a:rPr lang="en-US" dirty="0"/>
              <a:t>Brian has started a computational physics community. There was a meeting in Feb with great turnout. Will have a SciTech 2027 session. Will have a meeting at Aviation. Goal is to evolve it into a TC. Getting traction in TAD, with CFD standards group and others.</a:t>
            </a:r>
          </a:p>
          <a:p>
            <a:endParaRPr lang="en-US" dirty="0"/>
          </a:p>
        </p:txBody>
      </p:sp>
    </p:spTree>
    <p:extLst>
      <p:ext uri="{BB962C8B-B14F-4D97-AF65-F5344CB8AC3E}">
        <p14:creationId xmlns:p14="http://schemas.microsoft.com/office/powerpoint/2010/main" val="396352318"/>
      </p:ext>
    </p:extLst>
  </p:cSld>
  <p:clrMapOvr>
    <a:masterClrMapping/>
  </p:clrMapOvr>
</p:sld>
</file>

<file path=ppt/theme/theme1.xml><?xml version="1.0" encoding="utf-8"?>
<a:theme xmlns:a="http://schemas.openxmlformats.org/drawingml/2006/main" name="1_Office Theme">
  <a:themeElements>
    <a:clrScheme name="AIAA 2025">
      <a:dk1>
        <a:srgbClr val="000000"/>
      </a:dk1>
      <a:lt1>
        <a:srgbClr val="FFFFFF"/>
      </a:lt1>
      <a:dk2>
        <a:srgbClr val="1A3C6D"/>
      </a:dk2>
      <a:lt2>
        <a:srgbClr val="E8E8E8"/>
      </a:lt2>
      <a:accent1>
        <a:srgbClr val="1A3C6D"/>
      </a:accent1>
      <a:accent2>
        <a:srgbClr val="3079A7"/>
      </a:accent2>
      <a:accent3>
        <a:srgbClr val="742A88"/>
      </a:accent3>
      <a:accent4>
        <a:srgbClr val="F1B82C"/>
      </a:accent4>
      <a:accent5>
        <a:srgbClr val="65A602"/>
      </a:accent5>
      <a:accent6>
        <a:srgbClr val="CC4100"/>
      </a:accent6>
      <a:hlink>
        <a:srgbClr val="3079A7"/>
      </a:hlink>
      <a:folHlink>
        <a:srgbClr val="3079A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4035</TotalTime>
  <Words>1467</Words>
  <Application>Microsoft Office PowerPoint</Application>
  <PresentationFormat>Widescreen</PresentationFormat>
  <Paragraphs>126</Paragraphs>
  <Slides>14</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3" baseType="lpstr">
      <vt:lpstr>Aptos</vt:lpstr>
      <vt:lpstr>Arial</vt:lpstr>
      <vt:lpstr>Calibri</vt:lpstr>
      <vt:lpstr>Figtree</vt:lpstr>
      <vt:lpstr>Figtree Light</vt:lpstr>
      <vt:lpstr>Figtree Medium</vt:lpstr>
      <vt:lpstr>Figtree SemiBold</vt:lpstr>
      <vt:lpstr>1_Office Theme</vt:lpstr>
      <vt:lpstr>Worksheet</vt:lpstr>
      <vt:lpstr>Technical Integration Subcommittee</vt:lpstr>
      <vt:lpstr>Roster</vt:lpstr>
      <vt:lpstr>Agenda</vt:lpstr>
      <vt:lpstr>2-3. TC Charter Refresh and Health Metrics </vt:lpstr>
      <vt:lpstr>Key Deliverables Submissions*</vt:lpstr>
      <vt:lpstr>5. Emerging Tech June 23</vt:lpstr>
      <vt:lpstr>6. Create TIS server space and collect TIS documents</vt:lpstr>
      <vt:lpstr>7. Get familiar with what AIED doing and how it relates to TIS</vt:lpstr>
      <vt:lpstr>Archive or Backup</vt:lpstr>
      <vt:lpstr>1. Establish the “General TC Guideline”</vt:lpstr>
      <vt:lpstr>4. Work with TCs to communicate to them the important aspects leadership flowdown</vt:lpstr>
      <vt:lpstr>5. Capture Emerging Technologies and Trends</vt:lpstr>
      <vt:lpstr>Emerging Tech April 28</vt:lpstr>
      <vt:lpstr>New Business April 28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AIAA Updates for TCs at 2025 SciTech</dc:title>
  <dc:creator>Dr. Lesley A Weitz</dc:creator>
  <cp:keywords>Category=C1 : ExportControl=N : Markings=N</cp:keywords>
  <cp:lastModifiedBy>Smith (US), Thomas R</cp:lastModifiedBy>
  <cp:revision>45</cp:revision>
  <dcterms:created xsi:type="dcterms:W3CDTF">2024-08-12T01:03:15Z</dcterms:created>
  <dcterms:modified xsi:type="dcterms:W3CDTF">2026-06-23T18:40:27Z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182d89b7-24fe-4742-8cf6-4b4571a81c6b</vt:lpwstr>
  </property>
  <property fmtid="{D5CDD505-2E9C-101B-9397-08002B2CF9AE}" pid="3" name="Category">
    <vt:lpwstr>C1</vt:lpwstr>
  </property>
  <property fmtid="{D5CDD505-2E9C-101B-9397-08002B2CF9AE}" pid="4" name="ExportControl">
    <vt:lpwstr>N</vt:lpwstr>
  </property>
  <property fmtid="{D5CDD505-2E9C-101B-9397-08002B2CF9AE}" pid="5" name="Markings">
    <vt:lpwstr>N</vt:lpwstr>
  </property>
  <property fmtid="{D5CDD505-2E9C-101B-9397-08002B2CF9AE}" pid="6" name="MSIP_Label_a8646e0b-a435-48bd-bb2e-6a777753dede_Enabled">
    <vt:lpwstr>true</vt:lpwstr>
  </property>
  <property fmtid="{D5CDD505-2E9C-101B-9397-08002B2CF9AE}" pid="7" name="MSIP_Label_a8646e0b-a435-48bd-bb2e-6a777753dede_SetDate">
    <vt:lpwstr>2025-12-09T14:22:24Z</vt:lpwstr>
  </property>
  <property fmtid="{D5CDD505-2E9C-101B-9397-08002B2CF9AE}" pid="8" name="MSIP_Label_a8646e0b-a435-48bd-bb2e-6a777753dede_Method">
    <vt:lpwstr>Privileged</vt:lpwstr>
  </property>
  <property fmtid="{D5CDD505-2E9C-101B-9397-08002B2CF9AE}" pid="9" name="MSIP_Label_a8646e0b-a435-48bd-bb2e-6a777753dede_Name">
    <vt:lpwstr>Unrestricted</vt:lpwstr>
  </property>
  <property fmtid="{D5CDD505-2E9C-101B-9397-08002B2CF9AE}" pid="10" name="MSIP_Label_a8646e0b-a435-48bd-bb2e-6a777753dede_SiteId">
    <vt:lpwstr>ba488c5e-f105-4a2b-a8b1-b57b26a44117</vt:lpwstr>
  </property>
  <property fmtid="{D5CDD505-2E9C-101B-9397-08002B2CF9AE}" pid="11" name="MSIP_Label_a8646e0b-a435-48bd-bb2e-6a777753dede_ActionId">
    <vt:lpwstr>40480d25-0029-469a-87a8-f1c5d12f201e</vt:lpwstr>
  </property>
  <property fmtid="{D5CDD505-2E9C-101B-9397-08002B2CF9AE}" pid="12" name="MSIP_Label_a8646e0b-a435-48bd-bb2e-6a777753dede_ContentBits">
    <vt:lpwstr>0</vt:lpwstr>
  </property>
  <property fmtid="{D5CDD505-2E9C-101B-9397-08002B2CF9AE}" pid="13" name="MSIP_Label_a8646e0b-a435-48bd-bb2e-6a777753dede_Tag">
    <vt:lpwstr>10, 0, 1, 1</vt:lpwstr>
  </property>
</Properties>
</file>