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14"/>
  </p:notesMasterIdLst>
  <p:sldIdLst>
    <p:sldId id="2098148984" r:id="rId2"/>
    <p:sldId id="2098149044" r:id="rId3"/>
    <p:sldId id="2098149055" r:id="rId4"/>
    <p:sldId id="2098149046" r:id="rId5"/>
    <p:sldId id="2098149047" r:id="rId6"/>
    <p:sldId id="2098149048" r:id="rId7"/>
    <p:sldId id="2098149050" r:id="rId8"/>
    <p:sldId id="2098149045" r:id="rId9"/>
    <p:sldId id="2098149056" r:id="rId10"/>
    <p:sldId id="2098149049" r:id="rId11"/>
    <p:sldId id="2098149051" r:id="rId12"/>
    <p:sldId id="209814905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SABP Overview" id="{B4001120-65EA-4AA4-A9BA-E92B3CAE8543}">
          <p14:sldIdLst>
            <p14:sldId id="2098148984"/>
            <p14:sldId id="2098149044"/>
            <p14:sldId id="2098149055"/>
            <p14:sldId id="2098149046"/>
            <p14:sldId id="2098149047"/>
            <p14:sldId id="2098149048"/>
            <p14:sldId id="2098149050"/>
            <p14:sldId id="2098149045"/>
            <p14:sldId id="2098149056"/>
            <p14:sldId id="2098149049"/>
            <p14:sldId id="2098149051"/>
            <p14:sldId id="209814905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A88434-E061-34C3-AD8D-8A2EBDB21C45}" name="Dr. Lesley A Weitz" initials="LW" userId="S::LWEITZ@MITRE.ORG::6ed395b4-86dc-4bcd-9616-33b40b23faa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18" autoAdjust="0"/>
    <p:restoredTop sz="94604" autoAdjust="0"/>
  </p:normalViewPr>
  <p:slideViewPr>
    <p:cSldViewPr snapToGrid="0">
      <p:cViewPr varScale="1">
        <p:scale>
          <a:sx n="85" d="100"/>
          <a:sy n="85" d="100"/>
        </p:scale>
        <p:origin x="114" y="54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D7C2F6-870D-43D6-AC89-686284ECBB25}"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D8A57-7151-4939-9F3E-BDD8BD32ED33}" type="slidenum">
              <a:rPr lang="en-US" smtClean="0"/>
              <a:t>‹#›</a:t>
            </a:fld>
            <a:endParaRPr lang="en-US"/>
          </a:p>
        </p:txBody>
      </p:sp>
    </p:spTree>
    <p:extLst>
      <p:ext uri="{BB962C8B-B14F-4D97-AF65-F5344CB8AC3E}">
        <p14:creationId xmlns:p14="http://schemas.microsoft.com/office/powerpoint/2010/main" val="1557317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DD126F57-748E-49DF-819A-3E6628366E19}" type="slidenum">
              <a:rPr lang="en-US" smtClean="0"/>
              <a:pPr/>
              <a:t>1</a:t>
            </a:fld>
            <a:endParaRPr lang="en-US" dirty="0"/>
          </a:p>
        </p:txBody>
      </p:sp>
      <p:sp>
        <p:nvSpPr>
          <p:cNvPr id="62467" name="Rectangle 2"/>
          <p:cNvSpPr>
            <a:spLocks noGrp="1" noRot="1" noChangeAspect="1" noChangeArrowheads="1" noTextEdit="1"/>
          </p:cNvSpPr>
          <p:nvPr>
            <p:ph type="sldImg"/>
          </p:nvPr>
        </p:nvSpPr>
        <p:spPr>
          <a:xfrm>
            <a:off x="422275" y="695325"/>
            <a:ext cx="6178550" cy="3476625"/>
          </a:xfrm>
          <a:ln/>
        </p:spPr>
      </p:sp>
      <p:sp>
        <p:nvSpPr>
          <p:cNvPr id="62468" name="Rectangle 3"/>
          <p:cNvSpPr>
            <a:spLocks noGrp="1" noChangeArrowheads="1"/>
          </p:cNvSpPr>
          <p:nvPr>
            <p:ph type="body" idx="1"/>
          </p:nvPr>
        </p:nvSpPr>
        <p:spPr>
          <a:xfrm>
            <a:off x="915945" y="4402428"/>
            <a:ext cx="5191985" cy="4247277"/>
          </a:xfrm>
          <a:noFill/>
          <a:ln/>
        </p:spPr>
        <p:txBody>
          <a:bodyPr/>
          <a:lstStyle/>
          <a:p>
            <a:pPr eaLnBrk="1" hangingPunct="1"/>
            <a:endParaRPr lang="en-US" dirty="0"/>
          </a:p>
        </p:txBody>
      </p:sp>
    </p:spTree>
    <p:extLst>
      <p:ext uri="{BB962C8B-B14F-4D97-AF65-F5344CB8AC3E}">
        <p14:creationId xmlns:p14="http://schemas.microsoft.com/office/powerpoint/2010/main" val="2206193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3" name="Title 1">
            <a:extLst>
              <a:ext uri="{FF2B5EF4-FFF2-40B4-BE49-F238E27FC236}">
                <a16:creationId xmlns:a16="http://schemas.microsoft.com/office/drawing/2014/main" id="{BA0A17DC-774F-3210-530A-47E7C3473B84}"/>
              </a:ext>
            </a:extLst>
          </p:cNvPr>
          <p:cNvSpPr>
            <a:spLocks noGrp="1"/>
          </p:cNvSpPr>
          <p:nvPr>
            <p:ph type="title"/>
          </p:nvPr>
        </p:nvSpPr>
        <p:spPr>
          <a:xfrm>
            <a:off x="831850" y="2355742"/>
            <a:ext cx="8017682" cy="2445200"/>
          </a:xfrm>
          <a:prstGeom prst="rect">
            <a:avLst/>
          </a:prstGeom>
        </p:spPr>
        <p:txBody>
          <a:bodyPr lIns="0" tIns="0" rIns="0" bIns="0" anchor="ctr"/>
          <a:lstStyle>
            <a:lvl1pPr>
              <a:lnSpc>
                <a:spcPct val="80000"/>
              </a:lnSpc>
              <a:defRPr sz="6000" b="1" i="0">
                <a:solidFill>
                  <a:schemeClr val="bg1"/>
                </a:solidFill>
                <a:latin typeface="Figtree" pitchFamily="2" charset="0"/>
              </a:defRPr>
            </a:lvl1pPr>
          </a:lstStyle>
          <a:p>
            <a:r>
              <a:rPr lang="en-US"/>
              <a:t>Click to edit Master title style</a:t>
            </a:r>
          </a:p>
        </p:txBody>
      </p:sp>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igtree SemiBold" pitchFamily="2" charset="0"/>
                <a:ea typeface="+mn-ea"/>
                <a:cs typeface="+mn-cs"/>
              </a:rPr>
              <a:t>aiaa.org</a:t>
            </a:r>
          </a:p>
        </p:txBody>
      </p:sp>
      <p:sp>
        <p:nvSpPr>
          <p:cNvPr id="6" name="Text Placeholder 2">
            <a:extLst>
              <a:ext uri="{FF2B5EF4-FFF2-40B4-BE49-F238E27FC236}">
                <a16:creationId xmlns:a16="http://schemas.microsoft.com/office/drawing/2014/main" id="{7BBBDC11-29FC-667E-0F89-DBB03CF05217}"/>
              </a:ext>
            </a:extLst>
          </p:cNvPr>
          <p:cNvSpPr>
            <a:spLocks noGrp="1"/>
          </p:cNvSpPr>
          <p:nvPr>
            <p:ph type="body" idx="1"/>
          </p:nvPr>
        </p:nvSpPr>
        <p:spPr>
          <a:xfrm>
            <a:off x="831850" y="5017002"/>
            <a:ext cx="8017682" cy="497660"/>
          </a:xfrm>
          <a:prstGeom prst="rect">
            <a:avLst/>
          </a:prstGeom>
        </p:spPr>
        <p:txBody>
          <a:bodyPr lIns="0" tIns="0" rIns="0" bIns="0">
            <a:normAutofit/>
          </a:bodyPr>
          <a:lstStyle>
            <a:lvl1pPr marL="0" indent="0">
              <a:buNone/>
              <a:defRPr sz="2000" b="0" i="0">
                <a:solidFill>
                  <a:schemeClr val="bg1"/>
                </a:solidFill>
                <a:latin typeface="Figtree Light"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398220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Divider (Navy)">
    <p:bg>
      <p:bgPr>
        <a:gradFill>
          <a:gsLst>
            <a:gs pos="0">
              <a:schemeClr val="accent2"/>
            </a:gs>
            <a:gs pos="60000">
              <a:schemeClr val="tx2"/>
            </a:gs>
          </a:gsLst>
          <a:lin ang="3600000" scaled="0"/>
        </a:gradFill>
        <a:effectLst/>
      </p:bgPr>
    </p:bg>
    <p:spTree>
      <p:nvGrpSpPr>
        <p:cNvPr id="1" name=""/>
        <p:cNvGrpSpPr/>
        <p:nvPr/>
      </p:nvGrpSpPr>
      <p:grpSpPr>
        <a:xfrm>
          <a:off x="0" y="0"/>
          <a:ext cx="0" cy="0"/>
          <a:chOff x="0" y="0"/>
          <a:chExt cx="0" cy="0"/>
        </a:xfrm>
      </p:grpSpPr>
      <p:pic>
        <p:nvPicPr>
          <p:cNvPr id="16" name="Picture 15" descr="A white logo with a black background&#10;&#10;AI-generated content may be incorrect.">
            <a:extLst>
              <a:ext uri="{FF2B5EF4-FFF2-40B4-BE49-F238E27FC236}">
                <a16:creationId xmlns:a16="http://schemas.microsoft.com/office/drawing/2014/main" id="{0E47ED36-DE2D-02CA-3151-94658797C72C}"/>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A4286E4-0185-F5C7-1A34-42944A5E9A8C}"/>
              </a:ext>
            </a:extLst>
          </p:cNvPr>
          <p:cNvSpPr>
            <a:spLocks noGrp="1"/>
          </p:cNvSpPr>
          <p:nvPr>
            <p:ph type="title"/>
          </p:nvPr>
        </p:nvSpPr>
        <p:spPr>
          <a:xfrm>
            <a:off x="831850" y="1446125"/>
            <a:ext cx="10515600" cy="2852737"/>
          </a:xfrm>
          <a:prstGeom prst="rect">
            <a:avLst/>
          </a:prstGeom>
        </p:spPr>
        <p:txBody>
          <a:bodyPr lIns="0" tIns="0" rIns="0" bIns="0" anchor="b"/>
          <a:lstStyle>
            <a:lvl1pPr>
              <a:lnSpc>
                <a:spcPct val="90000"/>
              </a:lnSpc>
              <a:defRPr sz="6000" b="1" i="0">
                <a:solidFill>
                  <a:schemeClr val="bg1"/>
                </a:solidFill>
                <a:latin typeface="Figtree SemiBold"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0AF87F5B-E6CA-3D49-EEDE-A4FC382F3419}"/>
              </a:ext>
            </a:extLst>
          </p:cNvPr>
          <p:cNvSpPr>
            <a:spLocks noGrp="1"/>
          </p:cNvSpPr>
          <p:nvPr>
            <p:ph type="body" idx="1"/>
          </p:nvPr>
        </p:nvSpPr>
        <p:spPr>
          <a:xfrm>
            <a:off x="831850" y="4463371"/>
            <a:ext cx="10515600" cy="777514"/>
          </a:xfrm>
          <a:prstGeom prst="rect">
            <a:avLst/>
          </a:prstGeom>
        </p:spPr>
        <p:txBody>
          <a:bodyPr lIns="0" tIns="0" rIns="0" bIns="0"/>
          <a:lstStyle>
            <a:lvl1pPr marL="0" indent="0">
              <a:buNone/>
              <a:defRPr sz="2400" b="0" i="0">
                <a:solidFill>
                  <a:schemeClr val="bg1"/>
                </a:solidFill>
                <a:latin typeface="Figtree"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9" name="Slide Number Placeholder 5">
            <a:extLst>
              <a:ext uri="{FF2B5EF4-FFF2-40B4-BE49-F238E27FC236}">
                <a16:creationId xmlns:a16="http://schemas.microsoft.com/office/drawing/2014/main" id="{0E0A20CF-1575-8C64-8E6F-319EBEB89E3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270011EF-BAE9-8319-9C4B-A0136ED34F1F}"/>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FED0390E-9CED-12AA-C621-F40B86459E8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979710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Content (Dark)">
    <p:bg>
      <p:bgPr>
        <a:solidFill>
          <a:schemeClr val="tx2"/>
        </a:solidFill>
        <a:effectLst/>
      </p:bgPr>
    </p:bg>
    <p:spTree>
      <p:nvGrpSpPr>
        <p:cNvPr id="1" name=""/>
        <p:cNvGrpSpPr/>
        <p:nvPr/>
      </p:nvGrpSpPr>
      <p:grpSpPr>
        <a:xfrm>
          <a:off x="0" y="0"/>
          <a:ext cx="0" cy="0"/>
          <a:chOff x="0" y="0"/>
          <a:chExt cx="0" cy="0"/>
        </a:xfrm>
      </p:grpSpPr>
      <p:pic>
        <p:nvPicPr>
          <p:cNvPr id="4" name="Picture 3" descr="A white logo with a black background&#10;&#10;AI-generated content may be incorrect.">
            <a:extLst>
              <a:ext uri="{FF2B5EF4-FFF2-40B4-BE49-F238E27FC236}">
                <a16:creationId xmlns:a16="http://schemas.microsoft.com/office/drawing/2014/main" id="{6009C2D0-8476-5C7C-3698-64F13A93B821}"/>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bg1"/>
                </a:solidFill>
                <a:latin typeface="Figtree" pitchFamily="2" charset="0"/>
              </a:defRPr>
            </a:lvl1pPr>
            <a:lvl2pPr marL="742950" indent="-285750">
              <a:buFont typeface="Arial" panose="020B0604020202020204" pitchFamily="34" charset="0"/>
              <a:buChar char="•"/>
              <a:defRPr sz="1800" b="0" i="0">
                <a:solidFill>
                  <a:schemeClr val="bg1"/>
                </a:solidFill>
                <a:latin typeface="Figtree" pitchFamily="2" charset="0"/>
              </a:defRPr>
            </a:lvl2pPr>
            <a:lvl3pPr marL="1200150" indent="-285750">
              <a:buFont typeface="Arial" panose="020B0604020202020204" pitchFamily="34" charset="0"/>
              <a:buChar char="•"/>
              <a:defRPr sz="1800" b="0" i="0">
                <a:solidFill>
                  <a:schemeClr val="bg1"/>
                </a:solidFill>
                <a:latin typeface="Figtree" pitchFamily="2" charset="0"/>
              </a:defRPr>
            </a:lvl3pPr>
            <a:lvl4pPr marL="1657350" indent="-285750">
              <a:buFont typeface="Arial" panose="020B0604020202020204" pitchFamily="34" charset="0"/>
              <a:buChar char="•"/>
              <a:defRPr sz="1800" b="0" i="0">
                <a:solidFill>
                  <a:schemeClr val="bg1"/>
                </a:solidFill>
                <a:latin typeface="Figtree" pitchFamily="2" charset="0"/>
              </a:defRPr>
            </a:lvl4pPr>
            <a:lvl5pPr marL="2114550" indent="-285750">
              <a:buFont typeface="Arial" panose="020B0604020202020204" pitchFamily="34" charset="0"/>
              <a:buChar char="•"/>
              <a:defRPr sz="18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94F72188-A0A9-5F3A-CF20-6B8F5FE585F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93821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 Image Blue (Dark)">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29382" y="0"/>
            <a:ext cx="6862618" cy="686662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2939983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39983 w 6731902"/>
              <a:gd name="connsiteY5" fmla="*/ 0 h 6276807"/>
              <a:gd name="connsiteX0" fmla="*/ 2949130 w 6731902"/>
              <a:gd name="connsiteY0" fmla="*/ 0 h 6276807"/>
              <a:gd name="connsiteX1" fmla="*/ 6731902 w 6731902"/>
              <a:gd name="connsiteY1" fmla="*/ 0 h 6276807"/>
              <a:gd name="connsiteX2" fmla="*/ 6731902 w 6731902"/>
              <a:gd name="connsiteY2" fmla="*/ 6276807 h 6276807"/>
              <a:gd name="connsiteX3" fmla="*/ 173786 w 6731902"/>
              <a:gd name="connsiteY3" fmla="*/ 6276807 h 6276807"/>
              <a:gd name="connsiteX4" fmla="*/ 0 w 6731902"/>
              <a:gd name="connsiteY4" fmla="*/ 6242427 h 6276807"/>
              <a:gd name="connsiteX5" fmla="*/ 2949130 w 6731902"/>
              <a:gd name="connsiteY5" fmla="*/ 0 h 6276807"/>
              <a:gd name="connsiteX0" fmla="*/ 2967300 w 6750072"/>
              <a:gd name="connsiteY0" fmla="*/ 0 h 6284696"/>
              <a:gd name="connsiteX1" fmla="*/ 6750072 w 6750072"/>
              <a:gd name="connsiteY1" fmla="*/ 0 h 6284696"/>
              <a:gd name="connsiteX2" fmla="*/ 6750072 w 6750072"/>
              <a:gd name="connsiteY2" fmla="*/ 6276807 h 6284696"/>
              <a:gd name="connsiteX3" fmla="*/ 191956 w 6750072"/>
              <a:gd name="connsiteY3" fmla="*/ 6276807 h 6284696"/>
              <a:gd name="connsiteX4" fmla="*/ 0 w 6750072"/>
              <a:gd name="connsiteY4" fmla="*/ 6284696 h 6284696"/>
              <a:gd name="connsiteX5" fmla="*/ 2967300 w 6750072"/>
              <a:gd name="connsiteY5" fmla="*/ 0 h 628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072" h="6284696">
                <a:moveTo>
                  <a:pt x="2967300" y="0"/>
                </a:moveTo>
                <a:lnTo>
                  <a:pt x="6750072" y="0"/>
                </a:lnTo>
                <a:lnTo>
                  <a:pt x="6750072" y="6276807"/>
                </a:lnTo>
                <a:lnTo>
                  <a:pt x="191956" y="6276807"/>
                </a:lnTo>
                <a:lnTo>
                  <a:pt x="0" y="6284696"/>
                </a:lnTo>
                <a:cubicBezTo>
                  <a:pt x="922066" y="4192616"/>
                  <a:pt x="2045234" y="2092080"/>
                  <a:pt x="2967300" y="0"/>
                </a:cubicBezTo>
                <a:close/>
              </a:path>
            </a:pathLst>
          </a:custGeom>
          <a:pattFill prst="smConfetti">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bg1"/>
                </a:solidFill>
                <a:latin typeface="Figtree SemiBold" pitchFamily="2" charset="0"/>
              </a:defRPr>
            </a:lvl1pPr>
          </a:lstStyle>
          <a:p>
            <a:r>
              <a:rPr lang="en-US"/>
              <a:t>Click to edit Master title style</a:t>
            </a:r>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bg1"/>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11" name="Picture 10">
            <a:extLst>
              <a:ext uri="{FF2B5EF4-FFF2-40B4-BE49-F238E27FC236}">
                <a16:creationId xmlns:a16="http://schemas.microsoft.com/office/drawing/2014/main" id="{FB6BC089-6024-60CC-51A6-E270462E81F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3" name="Freeform 2">
            <a:extLst>
              <a:ext uri="{FF2B5EF4-FFF2-40B4-BE49-F238E27FC236}">
                <a16:creationId xmlns:a16="http://schemas.microsoft.com/office/drawing/2014/main" id="{ABE42761-35EA-CA25-0900-63712C3225FA}"/>
              </a:ext>
            </a:extLst>
          </p:cNvPr>
          <p:cNvSpPr/>
          <p:nvPr userDrawn="1"/>
        </p:nvSpPr>
        <p:spPr>
          <a:xfrm>
            <a:off x="4830121" y="-4"/>
            <a:ext cx="3566904" cy="6858004"/>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3076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cial Visual 1">
    <p:bg>
      <p:bgPr>
        <a:solidFill>
          <a:schemeClr val="tx2"/>
        </a:solidFill>
        <a:effectLst/>
      </p:bgPr>
    </p:bg>
    <p:spTree>
      <p:nvGrpSpPr>
        <p:cNvPr id="1" name=""/>
        <p:cNvGrpSpPr/>
        <p:nvPr/>
      </p:nvGrpSpPr>
      <p:grpSpPr>
        <a:xfrm>
          <a:off x="0" y="0"/>
          <a:ext cx="0" cy="0"/>
          <a:chOff x="0" y="0"/>
          <a:chExt cx="0" cy="0"/>
        </a:xfrm>
      </p:grpSpPr>
      <p:pic>
        <p:nvPicPr>
          <p:cNvPr id="9" name="Picture 8" descr="A spiral galaxy in space&#10;&#10;AI-generated content may be incorrect.">
            <a:extLst>
              <a:ext uri="{FF2B5EF4-FFF2-40B4-BE49-F238E27FC236}">
                <a16:creationId xmlns:a16="http://schemas.microsoft.com/office/drawing/2014/main" id="{B4257FEA-E4BB-4184-2551-6E913CF483E4}"/>
              </a:ext>
            </a:extLst>
          </p:cNvPr>
          <p:cNvPicPr>
            <a:picLocks noChangeAspect="1"/>
          </p:cNvPicPr>
          <p:nvPr userDrawn="1"/>
        </p:nvPicPr>
        <p:blipFill>
          <a:blip r:embed="rId2" cstate="screen">
            <a:alphaModFix amt="30000"/>
            <a:extLst>
              <a:ext uri="{28A0092B-C50C-407E-A947-70E740481C1C}">
                <a14:useLocalDpi xmlns:a14="http://schemas.microsoft.com/office/drawing/2010/main"/>
              </a:ext>
            </a:extLst>
          </a:blip>
          <a:srcRect/>
          <a:stretch/>
        </p:blipFill>
        <p:spPr>
          <a:xfrm>
            <a:off x="-1" y="-2"/>
            <a:ext cx="12192001"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1" name="Title 1">
            <a:extLst>
              <a:ext uri="{FF2B5EF4-FFF2-40B4-BE49-F238E27FC236}">
                <a16:creationId xmlns:a16="http://schemas.microsoft.com/office/drawing/2014/main" id="{097A2759-5262-98FC-2BA1-75A1A11F3C9B}"/>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2" name="Content Placeholder 2">
            <a:extLst>
              <a:ext uri="{FF2B5EF4-FFF2-40B4-BE49-F238E27FC236}">
                <a16:creationId xmlns:a16="http://schemas.microsoft.com/office/drawing/2014/main" id="{A4013314-73E8-EBCE-C957-B401AB4F5C75}"/>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29389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pecial Visual 2">
    <p:bg>
      <p:bgPr>
        <a:solidFill>
          <a:schemeClr val="tx2"/>
        </a:solidFill>
        <a:effectLst/>
      </p:bgPr>
    </p:bg>
    <p:spTree>
      <p:nvGrpSpPr>
        <p:cNvPr id="1" name=""/>
        <p:cNvGrpSpPr/>
        <p:nvPr/>
      </p:nvGrpSpPr>
      <p:grpSpPr>
        <a:xfrm>
          <a:off x="0" y="0"/>
          <a:ext cx="0" cy="0"/>
          <a:chOff x="0" y="0"/>
          <a:chExt cx="0" cy="0"/>
        </a:xfrm>
      </p:grpSpPr>
      <p:pic>
        <p:nvPicPr>
          <p:cNvPr id="11" name="Picture 10" descr="A blue sky with stars&#10;&#10;AI-generated content may be incorrect.">
            <a:extLst>
              <a:ext uri="{FF2B5EF4-FFF2-40B4-BE49-F238E27FC236}">
                <a16:creationId xmlns:a16="http://schemas.microsoft.com/office/drawing/2014/main" id="{58E6D3C4-DD7C-11D1-CC5C-C7C19C2E03FC}"/>
              </a:ext>
            </a:extLst>
          </p:cNvPr>
          <p:cNvPicPr>
            <a:picLocks noChangeAspect="1"/>
          </p:cNvPicPr>
          <p:nvPr userDrawn="1"/>
        </p:nvPicPr>
        <p:blipFill>
          <a:blip r:embed="rId2" cstate="screen">
            <a:alphaModFix amt="40000"/>
            <a:extLst>
              <a:ext uri="{28A0092B-C50C-407E-A947-70E740481C1C}">
                <a14:useLocalDpi xmlns:a14="http://schemas.microsoft.com/office/drawing/2010/main"/>
              </a:ext>
            </a:extLst>
          </a:blip>
          <a:srcRect/>
          <a:stretch/>
        </p:blipFill>
        <p:spPr>
          <a:xfrm>
            <a:off x="0" y="-1"/>
            <a:ext cx="12165488" cy="6858001"/>
          </a:xfrm>
          <a:prstGeom prst="rect">
            <a:avLst/>
          </a:prstGeom>
        </p:spPr>
      </p:pic>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 name="Footer Placeholder 4">
            <a:extLst>
              <a:ext uri="{FF2B5EF4-FFF2-40B4-BE49-F238E27FC236}">
                <a16:creationId xmlns:a16="http://schemas.microsoft.com/office/drawing/2014/main" id="{BB4B291A-88AF-2996-D687-D14BAEE37C8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5" name="Slide Number Placeholder 5">
            <a:extLst>
              <a:ext uri="{FF2B5EF4-FFF2-40B4-BE49-F238E27FC236}">
                <a16:creationId xmlns:a16="http://schemas.microsoft.com/office/drawing/2014/main" id="{18BF65B6-1EC6-0050-C338-5991974A4FA9}"/>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6" name="Picture 5">
            <a:extLst>
              <a:ext uri="{FF2B5EF4-FFF2-40B4-BE49-F238E27FC236}">
                <a16:creationId xmlns:a16="http://schemas.microsoft.com/office/drawing/2014/main" id="{146951CC-9176-5B3E-0EA1-1A8F0BBD046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
        <p:nvSpPr>
          <p:cNvPr id="12" name="Title 1">
            <a:extLst>
              <a:ext uri="{FF2B5EF4-FFF2-40B4-BE49-F238E27FC236}">
                <a16:creationId xmlns:a16="http://schemas.microsoft.com/office/drawing/2014/main" id="{00752B1A-76E1-75DA-9E43-9F36E6609A77}"/>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13" name="Content Placeholder 2">
            <a:extLst>
              <a:ext uri="{FF2B5EF4-FFF2-40B4-BE49-F238E27FC236}">
                <a16:creationId xmlns:a16="http://schemas.microsoft.com/office/drawing/2014/main" id="{CA605919-F812-D6B7-6733-93A21095D65A}"/>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2400" b="0" i="0">
                <a:solidFill>
                  <a:schemeClr val="bg1"/>
                </a:solidFill>
                <a:latin typeface="Figtree" pitchFamily="2" charset="0"/>
              </a:defRPr>
            </a:lvl1pPr>
            <a:lvl2pPr marL="742950" indent="-285750">
              <a:buFont typeface="Arial" panose="020B0604020202020204" pitchFamily="34" charset="0"/>
              <a:buChar char="•"/>
              <a:defRPr sz="2400" b="0" i="0">
                <a:solidFill>
                  <a:schemeClr val="bg1"/>
                </a:solidFill>
                <a:latin typeface="Figtree" pitchFamily="2" charset="0"/>
              </a:defRPr>
            </a:lvl2pPr>
            <a:lvl3pPr marL="1200150" indent="-285750">
              <a:buFont typeface="Arial" panose="020B0604020202020204" pitchFamily="34" charset="0"/>
              <a:buChar char="•"/>
              <a:defRPr sz="2400" b="0" i="0">
                <a:solidFill>
                  <a:schemeClr val="bg1"/>
                </a:solidFill>
                <a:latin typeface="Figtree" pitchFamily="2" charset="0"/>
              </a:defRPr>
            </a:lvl3pPr>
            <a:lvl4pPr marL="1657350" indent="-285750">
              <a:buFont typeface="Arial" panose="020B0604020202020204" pitchFamily="34" charset="0"/>
              <a:buChar char="•"/>
              <a:defRPr sz="2400" b="0" i="0">
                <a:solidFill>
                  <a:schemeClr val="bg1"/>
                </a:solidFill>
                <a:latin typeface="Figtree" pitchFamily="2" charset="0"/>
              </a:defRPr>
            </a:lvl4pPr>
            <a:lvl5pPr marL="2114550" indent="-285750">
              <a:buFont typeface="Arial" panose="020B0604020202020204" pitchFamily="34" charset="0"/>
              <a:buChar char="•"/>
              <a:defRPr sz="2400" b="0" i="0">
                <a:solidFill>
                  <a:schemeClr val="bg1"/>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2058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bg1"/>
                </a:solidFill>
                <a:latin typeface="Figtree SemiBold" pitchFamily="2" charset="0"/>
              </a:defRPr>
            </a:lvl1pPr>
          </a:lstStyle>
          <a:p>
            <a:r>
              <a:rPr lang="en-US"/>
              <a:t>Click to edit Master title style</a:t>
            </a:r>
          </a:p>
        </p:txBody>
      </p:sp>
      <p:sp>
        <p:nvSpPr>
          <p:cNvPr id="2" name="Footer Placeholder 4">
            <a:extLst>
              <a:ext uri="{FF2B5EF4-FFF2-40B4-BE49-F238E27FC236}">
                <a16:creationId xmlns:a16="http://schemas.microsoft.com/office/drawing/2014/main" id="{74E2FE70-C1DA-31EB-EEA3-F73AC1A92AD3}"/>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3" name="Slide Number Placeholder 5">
            <a:extLst>
              <a:ext uri="{FF2B5EF4-FFF2-40B4-BE49-F238E27FC236}">
                <a16:creationId xmlns:a16="http://schemas.microsoft.com/office/drawing/2014/main" id="{FF8F2ECD-EA50-2550-0B02-4B2C953442E4}"/>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4" name="Picture 3">
            <a:extLst>
              <a:ext uri="{FF2B5EF4-FFF2-40B4-BE49-F238E27FC236}">
                <a16:creationId xmlns:a16="http://schemas.microsoft.com/office/drawing/2014/main" id="{2153AC61-82C3-E5FF-66C1-161CB2EFC3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34813389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oter Only (Dark)">
    <p:bg>
      <p:bgPr>
        <a:solidFill>
          <a:schemeClr val="tx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Footer Placeholder 4">
            <a:extLst>
              <a:ext uri="{FF2B5EF4-FFF2-40B4-BE49-F238E27FC236}">
                <a16:creationId xmlns:a16="http://schemas.microsoft.com/office/drawing/2014/main" id="{4824F201-E457-E817-0DA2-9E61ACCA72D4}"/>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3" name="Slide Number Placeholder 5">
            <a:extLst>
              <a:ext uri="{FF2B5EF4-FFF2-40B4-BE49-F238E27FC236}">
                <a16:creationId xmlns:a16="http://schemas.microsoft.com/office/drawing/2014/main" id="{9EDE1051-0FED-5451-0D36-8DE7C56B7287}"/>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pic>
        <p:nvPicPr>
          <p:cNvPr id="4" name="Picture 3">
            <a:extLst>
              <a:ext uri="{FF2B5EF4-FFF2-40B4-BE49-F238E27FC236}">
                <a16:creationId xmlns:a16="http://schemas.microsoft.com/office/drawing/2014/main" id="{C595D178-B3AE-EA2C-9A08-EB6D085096F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25898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Dark)">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41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ull Quote Blu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2" name="Picture 1" descr="A white logo with a black background&#10;&#10;AI-generated content may be incorrect.">
            <a:extLst>
              <a:ext uri="{FF2B5EF4-FFF2-40B4-BE49-F238E27FC236}">
                <a16:creationId xmlns:a16="http://schemas.microsoft.com/office/drawing/2014/main" id="{863F30FA-505B-32FE-61E1-90E76DE729E3}"/>
              </a:ext>
            </a:extLst>
          </p:cNvPr>
          <p:cNvPicPr>
            <a:picLocks noChangeAspect="1"/>
          </p:cNvPicPr>
          <p:nvPr userDrawn="1"/>
        </p:nvPicPr>
        <p:blipFill>
          <a:blip r:embed="rId2" cstate="screen">
            <a:alphaModFix amt="6000"/>
            <a:extLst>
              <a:ext uri="{28A0092B-C50C-407E-A947-70E740481C1C}">
                <a14:useLocalDpi xmlns:a14="http://schemas.microsoft.com/office/drawing/2010/main"/>
              </a:ext>
            </a:extLst>
          </a:blip>
          <a:srcRect r="7339" b="20091"/>
          <a:stretch/>
        </p:blipFill>
        <p:spPr>
          <a:xfrm>
            <a:off x="5897660" y="456716"/>
            <a:ext cx="6294340" cy="6401284"/>
          </a:xfrm>
          <a:prstGeom prst="rect">
            <a:avLst/>
          </a:prstGeom>
        </p:spPr>
      </p:pic>
      <p:sp>
        <p:nvSpPr>
          <p:cNvPr id="4" name="Text Placeholder 3">
            <a:extLst>
              <a:ext uri="{FF2B5EF4-FFF2-40B4-BE49-F238E27FC236}">
                <a16:creationId xmlns:a16="http://schemas.microsoft.com/office/drawing/2014/main" id="{229338CB-4134-07F0-A6E3-3EF2DA35184A}"/>
              </a:ext>
            </a:extLst>
          </p:cNvPr>
          <p:cNvSpPr>
            <a:spLocks noGrp="1"/>
          </p:cNvSpPr>
          <p:nvPr>
            <p:ph type="body" sz="quarter" idx="10" hasCustomPrompt="1"/>
          </p:nvPr>
        </p:nvSpPr>
        <p:spPr>
          <a:xfrm>
            <a:off x="2828924" y="2206256"/>
            <a:ext cx="6942397" cy="2445488"/>
          </a:xfrm>
          <a:prstGeom prst="rect">
            <a:avLst/>
          </a:prstGeom>
        </p:spPr>
        <p:txBody>
          <a:bodyPr lIns="0" tIns="0" rIns="0" bIns="0"/>
          <a:lstStyle>
            <a:lvl1pPr marL="0" indent="0">
              <a:buFontTx/>
              <a:buNone/>
              <a:defRPr sz="3600" b="0" i="0">
                <a:solidFill>
                  <a:schemeClr val="bg1"/>
                </a:solidFill>
                <a:latin typeface="Figtree Light" pitchFamily="2" charset="0"/>
              </a:defRPr>
            </a:lvl1pPr>
            <a:lvl2pPr marL="457200" indent="0">
              <a:buFontTx/>
              <a:buNone/>
              <a:defRPr b="0" i="0">
                <a:solidFill>
                  <a:schemeClr val="bg1"/>
                </a:solidFill>
                <a:latin typeface="Figtree Medium" pitchFamily="2" charset="0"/>
              </a:defRPr>
            </a:lvl2pPr>
            <a:lvl3pPr marL="914400" indent="0">
              <a:buFontTx/>
              <a:buNone/>
              <a:defRPr b="0" i="0">
                <a:solidFill>
                  <a:schemeClr val="bg1"/>
                </a:solidFill>
                <a:latin typeface="Figtree Medium" pitchFamily="2" charset="0"/>
              </a:defRPr>
            </a:lvl3pPr>
            <a:lvl4pPr marL="1371600" indent="0">
              <a:buFontTx/>
              <a:buNone/>
              <a:defRPr b="0" i="0">
                <a:solidFill>
                  <a:schemeClr val="bg1"/>
                </a:solidFill>
                <a:latin typeface="Figtree Medium" pitchFamily="2" charset="0"/>
              </a:defRPr>
            </a:lvl4pPr>
            <a:lvl5pPr marL="1828800" indent="0">
              <a:buFontTx/>
              <a:buNone/>
              <a:defRPr b="0" i="0">
                <a:solidFill>
                  <a:schemeClr val="bg1"/>
                </a:solidFill>
                <a:latin typeface="Figtree Medium" pitchFamily="2" charset="0"/>
              </a:defRPr>
            </a:lvl5pPr>
          </a:lstStyle>
          <a:p>
            <a:pPr lvl="0"/>
            <a:r>
              <a:rPr lang="en-US"/>
              <a:t>This is a pull-quote placeholder</a:t>
            </a:r>
          </a:p>
        </p:txBody>
      </p:sp>
      <p:pic>
        <p:nvPicPr>
          <p:cNvPr id="7" name="Picture 6">
            <a:extLst>
              <a:ext uri="{FF2B5EF4-FFF2-40B4-BE49-F238E27FC236}">
                <a16:creationId xmlns:a16="http://schemas.microsoft.com/office/drawing/2014/main" id="{90946C71-CFFD-7494-173E-E1849C44E80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71928" y="1831753"/>
            <a:ext cx="1348751" cy="1039037"/>
          </a:xfrm>
          <a:prstGeom prst="rect">
            <a:avLst/>
          </a:prstGeom>
        </p:spPr>
      </p:pic>
      <p:sp>
        <p:nvSpPr>
          <p:cNvPr id="9" name="Footer Placeholder 4">
            <a:extLst>
              <a:ext uri="{FF2B5EF4-FFF2-40B4-BE49-F238E27FC236}">
                <a16:creationId xmlns:a16="http://schemas.microsoft.com/office/drawing/2014/main" id="{09FD9171-277F-DDF9-1325-B01478A3416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Figtree" pitchFamily="2" charset="0"/>
              <a:ea typeface="+mn-ea"/>
              <a:cs typeface="+mn-cs"/>
            </a:endParaRPr>
          </a:p>
        </p:txBody>
      </p:sp>
      <p:sp>
        <p:nvSpPr>
          <p:cNvPr id="10" name="Slide Number Placeholder 5">
            <a:extLst>
              <a:ext uri="{FF2B5EF4-FFF2-40B4-BE49-F238E27FC236}">
                <a16:creationId xmlns:a16="http://schemas.microsoft.com/office/drawing/2014/main" id="{7F502D63-98F2-0192-9694-5687D8D05AD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cxnSp>
        <p:nvCxnSpPr>
          <p:cNvPr id="11" name="Straight Connector 10">
            <a:extLst>
              <a:ext uri="{FF2B5EF4-FFF2-40B4-BE49-F238E27FC236}">
                <a16:creationId xmlns:a16="http://schemas.microsoft.com/office/drawing/2014/main" id="{80622538-DB89-0185-9E98-C8D31813769B}"/>
              </a:ext>
            </a:extLst>
          </p:cNvPr>
          <p:cNvCxnSpPr>
            <a:cxnSpLocks/>
          </p:cNvCxnSpPr>
          <p:nvPr userDrawn="1"/>
        </p:nvCxnSpPr>
        <p:spPr>
          <a:xfrm>
            <a:off x="11491993" y="6454130"/>
            <a:ext cx="0" cy="228600"/>
          </a:xfrm>
          <a:prstGeom prst="line">
            <a:avLst/>
          </a:prstGeom>
          <a:ln w="1270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F0FF596D-CC26-E4B0-EC5C-182E1E7E40D3}"/>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3598" y="6437960"/>
            <a:ext cx="857519" cy="243268"/>
          </a:xfrm>
          <a:prstGeom prst="rect">
            <a:avLst/>
          </a:prstGeom>
        </p:spPr>
      </p:pic>
    </p:spTree>
    <p:extLst>
      <p:ext uri="{BB962C8B-B14F-4D97-AF65-F5344CB8AC3E}">
        <p14:creationId xmlns:p14="http://schemas.microsoft.com/office/powerpoint/2010/main" val="860752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CDF5FA7B-72FB-B64A-A69A-D4755A185809}"/>
              </a:ext>
            </a:extLst>
          </p:cNvPr>
          <p:cNvPicPr>
            <a:picLocks noChangeAspect="1"/>
          </p:cNvPicPr>
          <p:nvPr userDrawn="1"/>
        </p:nvPicPr>
        <p:blipFill>
          <a:blip r:embed="rId2" cstate="screen">
            <a:alphaModFix amt="6000"/>
            <a:extLst>
              <a:ext uri="{28A0092B-C50C-407E-A947-70E740481C1C}">
                <a14:useLocalDpi xmlns:a14="http://schemas.microsoft.com/office/drawing/2010/main"/>
              </a:ext>
            </a:extLst>
          </a:blip>
          <a:srcRect t="-88" r="7548" b="33468"/>
          <a:stretch/>
        </p:blipFill>
        <p:spPr>
          <a:xfrm>
            <a:off x="5897660" y="1502250"/>
            <a:ext cx="6294340" cy="5348660"/>
          </a:xfrm>
          <a:prstGeom prst="rect">
            <a:avLst/>
          </a:prstGeom>
        </p:spPr>
      </p:pic>
      <p:sp>
        <p:nvSpPr>
          <p:cNvPr id="2" name="Title 1">
            <a:extLst>
              <a:ext uri="{FF2B5EF4-FFF2-40B4-BE49-F238E27FC236}">
                <a16:creationId xmlns:a16="http://schemas.microsoft.com/office/drawing/2014/main" id="{5BD38FA1-D8E9-0B4D-6720-EFD5DD0BAD82}"/>
              </a:ext>
            </a:extLst>
          </p:cNvPr>
          <p:cNvSpPr>
            <a:spLocks noGrp="1"/>
          </p:cNvSpPr>
          <p:nvPr>
            <p:ph type="title"/>
          </p:nvPr>
        </p:nvSpPr>
        <p:spPr>
          <a:xfrm>
            <a:off x="343597" y="365125"/>
            <a:ext cx="11491993" cy="1169207"/>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053389C-B1D7-C694-57D5-6C711FC19806}"/>
              </a:ext>
            </a:extLst>
          </p:cNvPr>
          <p:cNvSpPr>
            <a:spLocks noGrp="1"/>
          </p:cNvSpPr>
          <p:nvPr>
            <p:ph idx="1"/>
          </p:nvPr>
        </p:nvSpPr>
        <p:spPr>
          <a:xfrm>
            <a:off x="838200" y="1825625"/>
            <a:ext cx="10515600" cy="4125722"/>
          </a:xfrm>
          <a:prstGeom prst="rect">
            <a:avLst/>
          </a:prstGeom>
        </p:spPr>
        <p:txBody>
          <a:bodyPr lIns="0" tIns="0" rIns="0" bIns="0">
            <a:noAutofit/>
          </a:bodyPr>
          <a:lstStyle>
            <a:lvl1pPr marL="0" indent="0">
              <a:buFontTx/>
              <a:buNone/>
              <a:defRPr sz="1800" b="0" i="0">
                <a:solidFill>
                  <a:schemeClr val="tx2"/>
                </a:solidFill>
                <a:latin typeface="Figtree" pitchFamily="2" charset="0"/>
              </a:defRPr>
            </a:lvl1pPr>
            <a:lvl2pPr marL="742950" indent="-285750">
              <a:buFont typeface="Arial" panose="020B0604020202020204" pitchFamily="34" charset="0"/>
              <a:buChar char="•"/>
              <a:defRPr sz="1800" b="0" i="0">
                <a:solidFill>
                  <a:schemeClr val="tx2"/>
                </a:solidFill>
                <a:latin typeface="Figtree" pitchFamily="2" charset="0"/>
              </a:defRPr>
            </a:lvl2pPr>
            <a:lvl3pPr marL="1200150" indent="-285750">
              <a:buFont typeface="Arial" panose="020B0604020202020204" pitchFamily="34" charset="0"/>
              <a:buChar char="•"/>
              <a:defRPr sz="1800" b="0" i="0">
                <a:solidFill>
                  <a:schemeClr val="tx2"/>
                </a:solidFill>
                <a:latin typeface="Figtree" pitchFamily="2" charset="0"/>
              </a:defRPr>
            </a:lvl3pPr>
            <a:lvl4pPr marL="1657350" indent="-285750">
              <a:buFont typeface="Arial" panose="020B0604020202020204" pitchFamily="34" charset="0"/>
              <a:buChar char="•"/>
              <a:defRPr sz="1800" b="0" i="0">
                <a:solidFill>
                  <a:schemeClr val="tx2"/>
                </a:solidFill>
                <a:latin typeface="Figtree" pitchFamily="2" charset="0"/>
              </a:defRPr>
            </a:lvl4pPr>
            <a:lvl5pPr marL="2114550" indent="-285750">
              <a:buFont typeface="Arial" panose="020B0604020202020204" pitchFamily="34" charset="0"/>
              <a:buChar char="•"/>
              <a:defRPr sz="1800" b="0" i="0">
                <a:solidFill>
                  <a:schemeClr val="tx2"/>
                </a:solidFill>
                <a:latin typeface="Figtree" pitchFamily="2" charset="0"/>
              </a:defRPr>
            </a:lvl5pPr>
          </a:lstStyle>
          <a:p>
            <a:pPr lvl="0"/>
            <a:r>
              <a:rPr lang="en-US" dirty="0" err="1"/>
              <a:t>Click</a:t>
            </a:r>
            <a:r>
              <a:rPr lang="en-US" dirty="0"/>
              <a:t>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6F355BC-998E-5A09-3C72-65E885D3B876}"/>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6" name="Slide Number Placeholder 5">
            <a:extLst>
              <a:ext uri="{FF2B5EF4-FFF2-40B4-BE49-F238E27FC236}">
                <a16:creationId xmlns:a16="http://schemas.microsoft.com/office/drawing/2014/main" id="{208C3EAA-1CA5-FCD9-354C-BC491AF39B22}"/>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2" name="Straight Connector 11">
            <a:extLst>
              <a:ext uri="{FF2B5EF4-FFF2-40B4-BE49-F238E27FC236}">
                <a16:creationId xmlns:a16="http://schemas.microsoft.com/office/drawing/2014/main" id="{B27D6499-7F82-8950-61E9-B99B5A5DBC7B}"/>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8" name="Picture 17" descr="A blue and black logo&#10;&#10;AI-generated content may be incorrect.">
            <a:extLst>
              <a:ext uri="{FF2B5EF4-FFF2-40B4-BE49-F238E27FC236}">
                <a16:creationId xmlns:a16="http://schemas.microsoft.com/office/drawing/2014/main" id="{94F72188-A0A9-5F3A-CF20-6B8F5FE585F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1076899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Image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38C98-750F-B989-E8A2-47D33F5F8B27}"/>
              </a:ext>
            </a:extLst>
          </p:cNvPr>
          <p:cNvSpPr>
            <a:spLocks noGrp="1"/>
          </p:cNvSpPr>
          <p:nvPr>
            <p:ph type="title"/>
          </p:nvPr>
        </p:nvSpPr>
        <p:spPr>
          <a:xfrm>
            <a:off x="565688" y="457200"/>
            <a:ext cx="4602998" cy="1600200"/>
          </a:xfrm>
          <a:prstGeom prst="rect">
            <a:avLst/>
          </a:prstGeom>
        </p:spPr>
        <p:txBody>
          <a:bodyPr lIns="0" tIns="0" rIns="0" bIns="0" anchor="ctr">
            <a:normAutofit/>
          </a:bodyPr>
          <a:lstStyle>
            <a:lvl1pPr>
              <a:defRPr sz="4000" b="1" i="0">
                <a:solidFill>
                  <a:schemeClr val="accent2"/>
                </a:solidFill>
                <a:latin typeface="Figtree SemiBold" pitchFamily="2" charset="0"/>
              </a:defRPr>
            </a:lvl1pPr>
          </a:lstStyle>
          <a:p>
            <a:r>
              <a:rPr lang="en-US"/>
              <a:t>Click to edit Master title style</a:t>
            </a:r>
          </a:p>
        </p:txBody>
      </p:sp>
      <p:sp>
        <p:nvSpPr>
          <p:cNvPr id="15" name="Picture Placeholder 14">
            <a:extLst>
              <a:ext uri="{FF2B5EF4-FFF2-40B4-BE49-F238E27FC236}">
                <a16:creationId xmlns:a16="http://schemas.microsoft.com/office/drawing/2014/main" id="{32347A47-ADDB-726A-B2AC-AF6601AB3838}"/>
              </a:ext>
            </a:extLst>
          </p:cNvPr>
          <p:cNvSpPr>
            <a:spLocks noGrp="1"/>
          </p:cNvSpPr>
          <p:nvPr>
            <p:ph type="pic" idx="1"/>
          </p:nvPr>
        </p:nvSpPr>
        <p:spPr>
          <a:xfrm>
            <a:off x="5300658" y="1"/>
            <a:ext cx="6891342" cy="6858000"/>
          </a:xfrm>
          <a:custGeom>
            <a:avLst/>
            <a:gdLst>
              <a:gd name="connsiteX0" fmla="*/ 2766197 w 6558116"/>
              <a:gd name="connsiteY0" fmla="*/ 0 h 6276807"/>
              <a:gd name="connsiteX1" fmla="*/ 6558116 w 6558116"/>
              <a:gd name="connsiteY1" fmla="*/ 0 h 6276807"/>
              <a:gd name="connsiteX2" fmla="*/ 6558116 w 6558116"/>
              <a:gd name="connsiteY2" fmla="*/ 6276807 h 6276807"/>
              <a:gd name="connsiteX3" fmla="*/ 0 w 6558116"/>
              <a:gd name="connsiteY3" fmla="*/ 6276807 h 6276807"/>
              <a:gd name="connsiteX4" fmla="*/ 0 w 6558116"/>
              <a:gd name="connsiteY4" fmla="*/ 6276241 h 6276807"/>
              <a:gd name="connsiteX0" fmla="*/ 3043116 w 6835035"/>
              <a:gd name="connsiteY0" fmla="*/ 0 h 6276807"/>
              <a:gd name="connsiteX1" fmla="*/ 6835035 w 6835035"/>
              <a:gd name="connsiteY1" fmla="*/ 0 h 6276807"/>
              <a:gd name="connsiteX2" fmla="*/ 6835035 w 6835035"/>
              <a:gd name="connsiteY2" fmla="*/ 6276807 h 6276807"/>
              <a:gd name="connsiteX3" fmla="*/ 276919 w 6835035"/>
              <a:gd name="connsiteY3" fmla="*/ 6276807 h 6276807"/>
              <a:gd name="connsiteX4" fmla="*/ 0 w 6835035"/>
              <a:gd name="connsiteY4" fmla="*/ 6244460 h 6276807"/>
              <a:gd name="connsiteX5" fmla="*/ 3043116 w 6835035"/>
              <a:gd name="connsiteY5" fmla="*/ 0 h 6276807"/>
              <a:gd name="connsiteX0" fmla="*/ 3077731 w 6869650"/>
              <a:gd name="connsiteY0" fmla="*/ 0 h 6286835"/>
              <a:gd name="connsiteX1" fmla="*/ 6869650 w 6869650"/>
              <a:gd name="connsiteY1" fmla="*/ 0 h 6286835"/>
              <a:gd name="connsiteX2" fmla="*/ 6869650 w 6869650"/>
              <a:gd name="connsiteY2" fmla="*/ 6276807 h 6286835"/>
              <a:gd name="connsiteX3" fmla="*/ 311534 w 6869650"/>
              <a:gd name="connsiteY3" fmla="*/ 6276807 h 6286835"/>
              <a:gd name="connsiteX4" fmla="*/ 0 w 6869650"/>
              <a:gd name="connsiteY4" fmla="*/ 6286835 h 6286835"/>
              <a:gd name="connsiteX5" fmla="*/ 3077731 w 6869650"/>
              <a:gd name="connsiteY5" fmla="*/ 0 h 628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9650" h="6286835">
                <a:moveTo>
                  <a:pt x="3077731" y="0"/>
                </a:moveTo>
                <a:lnTo>
                  <a:pt x="6869650" y="0"/>
                </a:lnTo>
                <a:lnTo>
                  <a:pt x="6869650" y="6276807"/>
                </a:lnTo>
                <a:lnTo>
                  <a:pt x="311534" y="6276807"/>
                </a:lnTo>
                <a:lnTo>
                  <a:pt x="0" y="6286835"/>
                </a:lnTo>
                <a:cubicBezTo>
                  <a:pt x="922066" y="4194755"/>
                  <a:pt x="2155665" y="2092080"/>
                  <a:pt x="3077731" y="0"/>
                </a:cubicBezTo>
                <a:close/>
              </a:path>
            </a:pathLst>
          </a:custGeom>
          <a:pattFill prst="weave">
            <a:fgClr>
              <a:schemeClr val="bg2"/>
            </a:fgClr>
            <a:bgClr>
              <a:schemeClr val="bg1"/>
            </a:bgClr>
          </a:pattFill>
        </p:spPr>
        <p:txBody>
          <a:bodyPr wrap="square" lIns="0" tIns="0" rIns="0" bIns="0" anchor="ctr" anchorCtr="0">
            <a:noAutofit/>
          </a:bodyPr>
          <a:lstStyle>
            <a:lvl1pPr marL="0" indent="0" algn="ctr">
              <a:buNone/>
              <a:defRPr sz="2000" b="0" i="0">
                <a:solidFill>
                  <a:schemeClr val="bg1">
                    <a:lumMod val="50000"/>
                  </a:schemeClr>
                </a:solidFill>
                <a:latin typeface="Figtree Medium"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122D103-5877-6749-18AE-0555B8B458AF}"/>
              </a:ext>
            </a:extLst>
          </p:cNvPr>
          <p:cNvSpPr>
            <a:spLocks noGrp="1"/>
          </p:cNvSpPr>
          <p:nvPr>
            <p:ph type="body" sz="half" idx="2"/>
          </p:nvPr>
        </p:nvSpPr>
        <p:spPr>
          <a:xfrm>
            <a:off x="565688" y="2425490"/>
            <a:ext cx="4602997" cy="3332131"/>
          </a:xfrm>
          <a:prstGeom prst="rect">
            <a:avLst/>
          </a:prstGeom>
        </p:spPr>
        <p:txBody>
          <a:bodyPr lIns="0" tIns="0" rIns="0" bIns="0"/>
          <a:lstStyle>
            <a:lvl1pPr marL="0" indent="0">
              <a:buNone/>
              <a:defRPr sz="1800" b="0" i="0">
                <a:solidFill>
                  <a:schemeClr val="tx2"/>
                </a:solidFill>
                <a:latin typeface="Figtree"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Footer Placeholder 4">
            <a:extLst>
              <a:ext uri="{FF2B5EF4-FFF2-40B4-BE49-F238E27FC236}">
                <a16:creationId xmlns:a16="http://schemas.microsoft.com/office/drawing/2014/main" id="{827B69F9-398F-2D7E-E260-B1CEDB7E75D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9" name="Slide Number Placeholder 5">
            <a:extLst>
              <a:ext uri="{FF2B5EF4-FFF2-40B4-BE49-F238E27FC236}">
                <a16:creationId xmlns:a16="http://schemas.microsoft.com/office/drawing/2014/main" id="{39B28ACF-39D2-C671-C9B4-9D48311B423B}"/>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10" name="Straight Connector 9">
            <a:extLst>
              <a:ext uri="{FF2B5EF4-FFF2-40B4-BE49-F238E27FC236}">
                <a16:creationId xmlns:a16="http://schemas.microsoft.com/office/drawing/2014/main" id="{5ACEC24C-CECD-91CA-2C36-F562C4C98EB5}"/>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1" name="Picture 10" descr="A blue and black logo&#10;&#10;AI-generated content may be incorrect.">
            <a:extLst>
              <a:ext uri="{FF2B5EF4-FFF2-40B4-BE49-F238E27FC236}">
                <a16:creationId xmlns:a16="http://schemas.microsoft.com/office/drawing/2014/main" id="{FB6BC089-6024-60CC-51A6-E270462E81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7" name="Freeform 16">
            <a:extLst>
              <a:ext uri="{FF2B5EF4-FFF2-40B4-BE49-F238E27FC236}">
                <a16:creationId xmlns:a16="http://schemas.microsoft.com/office/drawing/2014/main" id="{43C4FB2F-E7D0-EBC7-4DDB-6CC86298818F}"/>
              </a:ext>
            </a:extLst>
          </p:cNvPr>
          <p:cNvSpPr/>
          <p:nvPr userDrawn="1"/>
        </p:nvSpPr>
        <p:spPr>
          <a:xfrm>
            <a:off x="4809511" y="-5"/>
            <a:ext cx="3605100" cy="6858005"/>
          </a:xfrm>
          <a:custGeom>
            <a:avLst/>
            <a:gdLst>
              <a:gd name="connsiteX0" fmla="*/ 0 w 3200400"/>
              <a:gd name="connsiteY0" fmla="*/ 6276813 h 6276813"/>
              <a:gd name="connsiteX1" fmla="*/ 891153 w 3200400"/>
              <a:gd name="connsiteY1" fmla="*/ 6276813 h 6276813"/>
              <a:gd name="connsiteX2" fmla="*/ 3200400 w 3200400"/>
              <a:gd name="connsiteY2" fmla="*/ 0 h 6276813"/>
              <a:gd name="connsiteX3" fmla="*/ 3115159 w 3200400"/>
              <a:gd name="connsiteY3" fmla="*/ 0 h 6276813"/>
              <a:gd name="connsiteX4" fmla="*/ 0 w 3200400"/>
              <a:gd name="connsiteY4" fmla="*/ 6276813 h 6276813"/>
              <a:gd name="connsiteX0" fmla="*/ 0 w 3254644"/>
              <a:gd name="connsiteY0" fmla="*/ 6284563 h 6284563"/>
              <a:gd name="connsiteX1" fmla="*/ 945397 w 3254644"/>
              <a:gd name="connsiteY1" fmla="*/ 6276813 h 6284563"/>
              <a:gd name="connsiteX2" fmla="*/ 3254644 w 3254644"/>
              <a:gd name="connsiteY2" fmla="*/ 0 h 6284563"/>
              <a:gd name="connsiteX3" fmla="*/ 3169403 w 3254644"/>
              <a:gd name="connsiteY3" fmla="*/ 0 h 6284563"/>
              <a:gd name="connsiteX4" fmla="*/ 0 w 3254644"/>
              <a:gd name="connsiteY4" fmla="*/ 6284563 h 6284563"/>
              <a:gd name="connsiteX0" fmla="*/ 0 w 3285640"/>
              <a:gd name="connsiteY0" fmla="*/ 6284563 h 6284563"/>
              <a:gd name="connsiteX1" fmla="*/ 976393 w 3285640"/>
              <a:gd name="connsiteY1" fmla="*/ 6276813 h 6284563"/>
              <a:gd name="connsiteX2" fmla="*/ 3285640 w 3285640"/>
              <a:gd name="connsiteY2" fmla="*/ 0 h 6284563"/>
              <a:gd name="connsiteX3" fmla="*/ 3200399 w 3285640"/>
              <a:gd name="connsiteY3" fmla="*/ 0 h 6284563"/>
              <a:gd name="connsiteX4" fmla="*/ 0 w 3285640"/>
              <a:gd name="connsiteY4" fmla="*/ 6284563 h 6284563"/>
              <a:gd name="connsiteX0" fmla="*/ 0 w 2812941"/>
              <a:gd name="connsiteY0" fmla="*/ 6292312 h 6292312"/>
              <a:gd name="connsiteX1" fmla="*/ 503694 w 2812941"/>
              <a:gd name="connsiteY1" fmla="*/ 6276813 h 6292312"/>
              <a:gd name="connsiteX2" fmla="*/ 2812941 w 2812941"/>
              <a:gd name="connsiteY2" fmla="*/ 0 h 6292312"/>
              <a:gd name="connsiteX3" fmla="*/ 2727700 w 2812941"/>
              <a:gd name="connsiteY3" fmla="*/ 0 h 6292312"/>
              <a:gd name="connsiteX4" fmla="*/ 0 w 2812941"/>
              <a:gd name="connsiteY4" fmla="*/ 6292312 h 6292312"/>
              <a:gd name="connsiteX0" fmla="*/ 0 w 2809766"/>
              <a:gd name="connsiteY0" fmla="*/ 6276437 h 6276813"/>
              <a:gd name="connsiteX1" fmla="*/ 500519 w 2809766"/>
              <a:gd name="connsiteY1" fmla="*/ 6276813 h 6276813"/>
              <a:gd name="connsiteX2" fmla="*/ 2809766 w 2809766"/>
              <a:gd name="connsiteY2" fmla="*/ 0 h 6276813"/>
              <a:gd name="connsiteX3" fmla="*/ 2724525 w 2809766"/>
              <a:gd name="connsiteY3" fmla="*/ 0 h 6276813"/>
              <a:gd name="connsiteX4" fmla="*/ 0 w 2809766"/>
              <a:gd name="connsiteY4" fmla="*/ 6276437 h 6276813"/>
              <a:gd name="connsiteX0" fmla="*/ 0 w 2809766"/>
              <a:gd name="connsiteY0" fmla="*/ 6276437 h 6276813"/>
              <a:gd name="connsiteX1" fmla="*/ 500519 w 2809766"/>
              <a:gd name="connsiteY1" fmla="*/ 6276813 h 6276813"/>
              <a:gd name="connsiteX2" fmla="*/ 2809766 w 2809766"/>
              <a:gd name="connsiteY2" fmla="*/ 0 h 6276813"/>
              <a:gd name="connsiteX3" fmla="*/ 2768975 w 2809766"/>
              <a:gd name="connsiteY3" fmla="*/ 6350 h 6276813"/>
              <a:gd name="connsiteX4" fmla="*/ 0 w 2809766"/>
              <a:gd name="connsiteY4" fmla="*/ 6276437 h 6276813"/>
              <a:gd name="connsiteX0" fmla="*/ 0 w 3264621"/>
              <a:gd name="connsiteY0" fmla="*/ 6270087 h 6270463"/>
              <a:gd name="connsiteX1" fmla="*/ 500519 w 3264621"/>
              <a:gd name="connsiteY1" fmla="*/ 6270463 h 6270463"/>
              <a:gd name="connsiteX2" fmla="*/ 3264621 w 3264621"/>
              <a:gd name="connsiteY2" fmla="*/ 3028 h 6270463"/>
              <a:gd name="connsiteX3" fmla="*/ 2768975 w 3264621"/>
              <a:gd name="connsiteY3" fmla="*/ 0 h 6270463"/>
              <a:gd name="connsiteX4" fmla="*/ 0 w 3264621"/>
              <a:gd name="connsiteY4" fmla="*/ 6270087 h 6270463"/>
              <a:gd name="connsiteX0" fmla="*/ 0 w 3264621"/>
              <a:gd name="connsiteY0" fmla="*/ 6267059 h 6267435"/>
              <a:gd name="connsiteX1" fmla="*/ 500519 w 3264621"/>
              <a:gd name="connsiteY1" fmla="*/ 6267435 h 6267435"/>
              <a:gd name="connsiteX2" fmla="*/ 3264621 w 3264621"/>
              <a:gd name="connsiteY2" fmla="*/ 0 h 6267435"/>
              <a:gd name="connsiteX3" fmla="*/ 3214452 w 3264621"/>
              <a:gd name="connsiteY3" fmla="*/ 1661 h 6267435"/>
              <a:gd name="connsiteX4" fmla="*/ 0 w 3264621"/>
              <a:gd name="connsiteY4" fmla="*/ 6267059 h 6267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4621" h="6267435">
                <a:moveTo>
                  <a:pt x="0" y="6267059"/>
                </a:moveTo>
                <a:lnTo>
                  <a:pt x="500519" y="6267435"/>
                </a:lnTo>
                <a:lnTo>
                  <a:pt x="3264621" y="0"/>
                </a:lnTo>
                <a:lnTo>
                  <a:pt x="3214452" y="1661"/>
                </a:lnTo>
                <a:lnTo>
                  <a:pt x="0" y="6267059"/>
                </a:lnTo>
                <a:close/>
              </a:path>
            </a:pathLst>
          </a:custGeom>
          <a:gradFill>
            <a:gsLst>
              <a:gs pos="49000">
                <a:schemeClr val="accent2"/>
              </a:gs>
              <a:gs pos="90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1466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
        <p:nvSpPr>
          <p:cNvPr id="12" name="Title 1">
            <a:extLst>
              <a:ext uri="{FF2B5EF4-FFF2-40B4-BE49-F238E27FC236}">
                <a16:creationId xmlns:a16="http://schemas.microsoft.com/office/drawing/2014/main" id="{728F9DD8-18B8-E17F-4A81-93C4DD686CEB}"/>
              </a:ext>
            </a:extLst>
          </p:cNvPr>
          <p:cNvSpPr>
            <a:spLocks noGrp="1"/>
          </p:cNvSpPr>
          <p:nvPr>
            <p:ph type="title"/>
          </p:nvPr>
        </p:nvSpPr>
        <p:spPr>
          <a:xfrm>
            <a:off x="343597" y="365125"/>
            <a:ext cx="11491993" cy="1207953"/>
          </a:xfrm>
          <a:prstGeom prst="rect">
            <a:avLst/>
          </a:prstGeom>
        </p:spPr>
        <p:txBody>
          <a:bodyPr lIns="0" tIns="0" rIns="0" bIns="0" anchor="ctr">
            <a:noAutofit/>
          </a:bodyPr>
          <a:lstStyle>
            <a:lvl1pPr>
              <a:lnSpc>
                <a:spcPct val="80000"/>
              </a:lnSpc>
              <a:defRPr b="1" i="0">
                <a:solidFill>
                  <a:schemeClr val="accent2"/>
                </a:solidFill>
                <a:latin typeface="Figtree SemiBold" pitchFamily="2" charset="0"/>
              </a:defRPr>
            </a:lvl1pPr>
          </a:lstStyle>
          <a:p>
            <a:r>
              <a:rPr lang="en-US"/>
              <a:t>Click to edit Master title style</a:t>
            </a:r>
          </a:p>
        </p:txBody>
      </p:sp>
    </p:spTree>
    <p:extLst>
      <p:ext uri="{BB962C8B-B14F-4D97-AF65-F5344CB8AC3E}">
        <p14:creationId xmlns:p14="http://schemas.microsoft.com/office/powerpoint/2010/main" val="445278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E160181-F020-3F03-9EDF-F40CFE13BB07}"/>
              </a:ext>
            </a:extLst>
          </p:cNvPr>
          <p:cNvSpPr>
            <a:spLocks noGrp="1"/>
          </p:cNvSpPr>
          <p:nvPr>
            <p:ph type="ftr" sz="quarter" idx="11"/>
          </p:nvPr>
        </p:nvSpPr>
        <p:spPr>
          <a:xfrm>
            <a:off x="6096000" y="6454130"/>
            <a:ext cx="5257800" cy="228600"/>
          </a:xfrm>
          <a:prstGeom prst="rect">
            <a:avLst/>
          </a:prstGeom>
        </p:spPr>
        <p:txBody>
          <a:bodyPr lIns="0" tIns="0" rIns="0" bIns="0" anchor="ctr"/>
          <a:lstStyle>
            <a:lvl1pPr algn="r">
              <a:defRPr sz="1000" b="0" i="0">
                <a:solidFill>
                  <a:schemeClr val="bg1">
                    <a:lumMod val="65000"/>
                  </a:schemeClr>
                </a:solidFill>
                <a:latin typeface="Figtree" pitchFamily="2"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FFFFFF">
                  <a:lumMod val="65000"/>
                </a:srgbClr>
              </a:solidFill>
              <a:effectLst/>
              <a:uLnTx/>
              <a:uFillTx/>
              <a:latin typeface="Figtree" pitchFamily="2" charset="0"/>
              <a:ea typeface="+mn-ea"/>
              <a:cs typeface="+mn-cs"/>
            </a:endParaRPr>
          </a:p>
        </p:txBody>
      </p:sp>
      <p:sp>
        <p:nvSpPr>
          <p:cNvPr id="8" name="Slide Number Placeholder 5">
            <a:extLst>
              <a:ext uri="{FF2B5EF4-FFF2-40B4-BE49-F238E27FC236}">
                <a16:creationId xmlns:a16="http://schemas.microsoft.com/office/drawing/2014/main" id="{D8CCF58C-6D75-29B7-7B8C-B77608243CB1}"/>
              </a:ext>
            </a:extLst>
          </p:cNvPr>
          <p:cNvSpPr>
            <a:spLocks noGrp="1"/>
          </p:cNvSpPr>
          <p:nvPr>
            <p:ph type="sldNum" sz="quarter" idx="12"/>
          </p:nvPr>
        </p:nvSpPr>
        <p:spPr>
          <a:xfrm>
            <a:off x="11615980" y="6454130"/>
            <a:ext cx="576020" cy="228600"/>
          </a:xfrm>
          <a:prstGeom prst="rect">
            <a:avLst/>
          </a:prstGeom>
        </p:spPr>
        <p:txBody>
          <a:bodyPr lIns="0" tIns="0" rIns="0" bIns="0" anchor="ctr"/>
          <a:lstStyle>
            <a:lvl1pPr algn="l">
              <a:defRPr sz="1000" b="0" i="0">
                <a:solidFill>
                  <a:schemeClr val="bg1">
                    <a:lumMod val="65000"/>
                  </a:schemeClr>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lumMod val="65000"/>
                  </a:srgbClr>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lumMod val="65000"/>
                </a:srgbClr>
              </a:solidFill>
              <a:effectLst/>
              <a:uLnTx/>
              <a:uFillTx/>
              <a:latin typeface="Figtree" pitchFamily="2" charset="0"/>
              <a:ea typeface="+mn-ea"/>
              <a:cs typeface="+mn-cs"/>
            </a:endParaRPr>
          </a:p>
        </p:txBody>
      </p:sp>
      <p:cxnSp>
        <p:nvCxnSpPr>
          <p:cNvPr id="9" name="Straight Connector 8">
            <a:extLst>
              <a:ext uri="{FF2B5EF4-FFF2-40B4-BE49-F238E27FC236}">
                <a16:creationId xmlns:a16="http://schemas.microsoft.com/office/drawing/2014/main" id="{8BA1374A-4FD1-F1A4-3B49-EFD13560F1C3}"/>
              </a:ext>
            </a:extLst>
          </p:cNvPr>
          <p:cNvCxnSpPr>
            <a:cxnSpLocks/>
          </p:cNvCxnSpPr>
          <p:nvPr userDrawn="1"/>
        </p:nvCxnSpPr>
        <p:spPr>
          <a:xfrm>
            <a:off x="11491993" y="6454130"/>
            <a:ext cx="0" cy="22860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A blue and black logo&#10;&#10;AI-generated content may be incorrect.">
            <a:extLst>
              <a:ext uri="{FF2B5EF4-FFF2-40B4-BE49-F238E27FC236}">
                <a16:creationId xmlns:a16="http://schemas.microsoft.com/office/drawing/2014/main" id="{2FEB4F50-7FD4-5B00-02DD-264E75D45C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3597" y="6437960"/>
            <a:ext cx="857522" cy="243268"/>
          </a:xfrm>
          <a:prstGeom prst="rect">
            <a:avLst/>
          </a:prstGeom>
        </p:spPr>
      </p:pic>
    </p:spTree>
    <p:extLst>
      <p:ext uri="{BB962C8B-B14F-4D97-AF65-F5344CB8AC3E}">
        <p14:creationId xmlns:p14="http://schemas.microsoft.com/office/powerpoint/2010/main" val="2142842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533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Slide">
    <p:bg>
      <p:bgPr>
        <a:gradFill>
          <a:gsLst>
            <a:gs pos="0">
              <a:schemeClr val="accent2"/>
            </a:gs>
            <a:gs pos="54000">
              <a:schemeClr val="tx2"/>
            </a:gs>
          </a:gsLst>
          <a:lin ang="3600000" scaled="0"/>
        </a:gradFill>
        <a:effectLst/>
      </p:bgPr>
    </p:bg>
    <p:spTree>
      <p:nvGrpSpPr>
        <p:cNvPr id="1" name=""/>
        <p:cNvGrpSpPr/>
        <p:nvPr/>
      </p:nvGrpSpPr>
      <p:grpSpPr>
        <a:xfrm>
          <a:off x="0" y="0"/>
          <a:ext cx="0" cy="0"/>
          <a:chOff x="0" y="0"/>
          <a:chExt cx="0" cy="0"/>
        </a:xfrm>
      </p:grpSpPr>
      <p:pic>
        <p:nvPicPr>
          <p:cNvPr id="10" name="Picture 9" descr="A white logo with a black background&#10;&#10;AI-generated content may be incorrect.">
            <a:extLst>
              <a:ext uri="{FF2B5EF4-FFF2-40B4-BE49-F238E27FC236}">
                <a16:creationId xmlns:a16="http://schemas.microsoft.com/office/drawing/2014/main" id="{8C7F35EF-1610-E5B0-B764-FC143C8BAAE3}"/>
              </a:ext>
            </a:extLst>
          </p:cNvPr>
          <p:cNvPicPr>
            <a:picLocks noChangeAspect="1"/>
          </p:cNvPicPr>
          <p:nvPr userDrawn="1"/>
        </p:nvPicPr>
        <p:blipFill>
          <a:blip r:embed="rId2" cstate="screen">
            <a:alphaModFix amt="5000"/>
            <a:extLst>
              <a:ext uri="{28A0092B-C50C-407E-A947-70E740481C1C}">
                <a14:useLocalDpi xmlns:a14="http://schemas.microsoft.com/office/drawing/2010/main"/>
              </a:ext>
            </a:extLst>
          </a:blip>
          <a:srcRect r="7339" b="33231"/>
          <a:stretch/>
        </p:blipFill>
        <p:spPr>
          <a:xfrm>
            <a:off x="5897660" y="1509339"/>
            <a:ext cx="6294340" cy="5348660"/>
          </a:xfrm>
          <a:prstGeom prst="rect">
            <a:avLst/>
          </a:prstGeom>
        </p:spPr>
      </p:pic>
      <p:pic>
        <p:nvPicPr>
          <p:cNvPr id="8" name="Picture 7">
            <a:extLst>
              <a:ext uri="{FF2B5EF4-FFF2-40B4-BE49-F238E27FC236}">
                <a16:creationId xmlns:a16="http://schemas.microsoft.com/office/drawing/2014/main" id="{6D8A0025-EFEF-20BF-C80C-85AC36F306C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7607" y="637104"/>
            <a:ext cx="1771864" cy="1115869"/>
          </a:xfrm>
          <a:prstGeom prst="rect">
            <a:avLst/>
          </a:prstGeom>
        </p:spPr>
      </p:pic>
      <p:sp>
        <p:nvSpPr>
          <p:cNvPr id="5" name="TextBox 4">
            <a:extLst>
              <a:ext uri="{FF2B5EF4-FFF2-40B4-BE49-F238E27FC236}">
                <a16:creationId xmlns:a16="http://schemas.microsoft.com/office/drawing/2014/main" id="{1F48F0EC-82D2-3C68-E213-5327A1828CFA}"/>
              </a:ext>
            </a:extLst>
          </p:cNvPr>
          <p:cNvSpPr txBox="1"/>
          <p:nvPr userDrawn="1"/>
        </p:nvSpPr>
        <p:spPr>
          <a:xfrm>
            <a:off x="831850" y="6492875"/>
            <a:ext cx="461665"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Figtree SemiBold" pitchFamily="2" charset="0"/>
                <a:ea typeface="+mn-ea"/>
                <a:cs typeface="+mn-cs"/>
              </a:rPr>
              <a:t>aiaa.org</a:t>
            </a:r>
          </a:p>
        </p:txBody>
      </p:sp>
      <p:sp>
        <p:nvSpPr>
          <p:cNvPr id="7" name="TextBox 6">
            <a:extLst>
              <a:ext uri="{FF2B5EF4-FFF2-40B4-BE49-F238E27FC236}">
                <a16:creationId xmlns:a16="http://schemas.microsoft.com/office/drawing/2014/main" id="{77674F01-5FF3-D372-A30F-3AA70A84088C}"/>
              </a:ext>
            </a:extLst>
          </p:cNvPr>
          <p:cNvSpPr txBox="1"/>
          <p:nvPr userDrawn="1"/>
        </p:nvSpPr>
        <p:spPr>
          <a:xfrm>
            <a:off x="777607" y="4118432"/>
            <a:ext cx="4456348" cy="1107996"/>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a:ln>
                  <a:noFill/>
                </a:ln>
                <a:solidFill>
                  <a:srgbClr val="FFFFFF"/>
                </a:solidFill>
                <a:effectLst/>
                <a:uLnTx/>
                <a:uFillTx/>
                <a:latin typeface="Figtree" pitchFamily="2" charset="0"/>
                <a:ea typeface="+mn-ea"/>
                <a:cs typeface="+mn-cs"/>
              </a:rPr>
              <a:t>Thank You</a:t>
            </a:r>
          </a:p>
        </p:txBody>
      </p:sp>
    </p:spTree>
    <p:extLst>
      <p:ext uri="{BB962C8B-B14F-4D97-AF65-F5344CB8AC3E}">
        <p14:creationId xmlns:p14="http://schemas.microsoft.com/office/powerpoint/2010/main" val="3738613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E4B9CDF1-F933-DFA5-6E10-DBF77CE5BB8D}"/>
              </a:ext>
            </a:extLst>
          </p:cNvPr>
          <p:cNvSpPr>
            <a:spLocks noGrp="1"/>
          </p:cNvSpPr>
          <p:nvPr>
            <p:ph type="sldNum" sz="quarter" idx="4"/>
          </p:nvPr>
        </p:nvSpPr>
        <p:spPr>
          <a:xfrm>
            <a:off x="11615980" y="6454130"/>
            <a:ext cx="576020" cy="228600"/>
          </a:xfrm>
          <a:prstGeom prst="rect">
            <a:avLst/>
          </a:prstGeom>
        </p:spPr>
        <p:txBody>
          <a:bodyPr lIns="0" tIns="0" rIns="0" bIns="0" anchor="ctr"/>
          <a:lstStyle>
            <a:lvl1pPr algn="l">
              <a:defRPr sz="1000" b="0" i="0">
                <a:solidFill>
                  <a:schemeClr val="bg1"/>
                </a:solidFill>
                <a:latin typeface="Figtre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FBCB428-D880-FC4A-9B26-64132A65A030}" type="slidenum">
              <a:rPr kumimoji="0" lang="en-US" sz="1000" b="0" i="0" u="none" strike="noStrike" kern="1200" cap="none" spc="0" normalizeH="0" baseline="0" noProof="0" smtClean="0">
                <a:ln>
                  <a:noFill/>
                </a:ln>
                <a:solidFill>
                  <a:srgbClr val="FFFFFF"/>
                </a:solidFill>
                <a:effectLst/>
                <a:uLnTx/>
                <a:uFillTx/>
                <a:latin typeface="Figtree"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Figtree" pitchFamily="2" charset="0"/>
              <a:ea typeface="+mn-ea"/>
              <a:cs typeface="+mn-cs"/>
            </a:endParaRPr>
          </a:p>
        </p:txBody>
      </p:sp>
    </p:spTree>
    <p:extLst>
      <p:ext uri="{BB962C8B-B14F-4D97-AF65-F5344CB8AC3E}">
        <p14:creationId xmlns:p14="http://schemas.microsoft.com/office/powerpoint/2010/main" val="1236748986"/>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5" r:id="rId3"/>
    <p:sldLayoutId id="2147483726" r:id="rId4"/>
    <p:sldLayoutId id="2147483731" r:id="rId5"/>
    <p:sldLayoutId id="2147483732" r:id="rId6"/>
    <p:sldLayoutId id="2147483735" r:id="rId7"/>
    <p:sldLayoutId id="2147483736" r:id="rId8"/>
    <p:sldLayoutId id="2147483737" r:id="rId9"/>
    <p:sldLayoutId id="2147483738" r:id="rId10"/>
    <p:sldLayoutId id="2147483743" r:id="rId11"/>
    <p:sldLayoutId id="2147483744" r:id="rId12"/>
    <p:sldLayoutId id="2147483749" r:id="rId13"/>
    <p:sldLayoutId id="2147483750" r:id="rId14"/>
    <p:sldLayoutId id="2147483751" r:id="rId15"/>
    <p:sldLayoutId id="2147483752"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xlsx"/><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hyperlink" Target="https://drive.google.com/drive/folders/1qVzgT3BEHDCNVJVptEkWIKRvNFBesXLk?usp=drive_link" TargetMode="Externa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14"/>
          <p:cNvSpPr>
            <a:spLocks noGrp="1" noChangeArrowheads="1"/>
          </p:cNvSpPr>
          <p:nvPr>
            <p:ph type="title"/>
          </p:nvPr>
        </p:nvSpPr>
        <p:spPr>
          <a:xfrm>
            <a:off x="544749" y="2385747"/>
            <a:ext cx="11349540" cy="2445200"/>
          </a:xfrm>
        </p:spPr>
        <p:txBody>
          <a:bodyPr/>
          <a:lstStyle/>
          <a:p>
            <a:r>
              <a:rPr lang="en-US" sz="6600" dirty="0"/>
              <a:t>Technical Integration Subcommittee</a:t>
            </a:r>
          </a:p>
        </p:txBody>
      </p:sp>
      <p:sp>
        <p:nvSpPr>
          <p:cNvPr id="4" name="Text Placeholder 3"/>
          <p:cNvSpPr>
            <a:spLocks noGrp="1"/>
          </p:cNvSpPr>
          <p:nvPr>
            <p:ph type="body" idx="1"/>
          </p:nvPr>
        </p:nvSpPr>
        <p:spPr>
          <a:xfrm>
            <a:off x="831850" y="5017002"/>
            <a:ext cx="1938510" cy="369332"/>
          </a:xfrm>
        </p:spPr>
        <p:txBody>
          <a:bodyPr>
            <a:normAutofit/>
          </a:bodyPr>
          <a:lstStyle/>
          <a:p>
            <a:pPr algn="l"/>
            <a:r>
              <a:rPr lang="en-US" b="1" dirty="0"/>
              <a:t>Tom Smith,  Chair </a:t>
            </a:r>
            <a:endParaRPr lang="en-US" dirty="0"/>
          </a:p>
        </p:txBody>
      </p:sp>
      <p:sp>
        <p:nvSpPr>
          <p:cNvPr id="2" name="TextBox 1">
            <a:extLst>
              <a:ext uri="{FF2B5EF4-FFF2-40B4-BE49-F238E27FC236}">
                <a16:creationId xmlns:a16="http://schemas.microsoft.com/office/drawing/2014/main" id="{D4315743-FF91-DE5B-813F-95E418F352A6}"/>
              </a:ext>
            </a:extLst>
          </p:cNvPr>
          <p:cNvSpPr txBox="1"/>
          <p:nvPr/>
        </p:nvSpPr>
        <p:spPr>
          <a:xfrm>
            <a:off x="7713552" y="5017002"/>
            <a:ext cx="3405035" cy="369332"/>
          </a:xfrm>
          <a:prstGeom prst="rect">
            <a:avLst/>
          </a:prstGeom>
          <a:noFill/>
        </p:spPr>
        <p:txBody>
          <a:bodyPr wrap="none" rtlCol="0">
            <a:spAutoFit/>
          </a:bodyPr>
          <a:lstStyle/>
          <a:p>
            <a:pPr>
              <a:lnSpc>
                <a:spcPct val="90000"/>
              </a:lnSpc>
              <a:spcBef>
                <a:spcPts val="1000"/>
              </a:spcBef>
            </a:pPr>
            <a:r>
              <a:rPr lang="en-US" sz="2000" b="1" dirty="0">
                <a:solidFill>
                  <a:schemeClr val="bg1"/>
                </a:solidFill>
                <a:latin typeface="Figtree Light" pitchFamily="2" charset="0"/>
              </a:rPr>
              <a:t>Meeting Every Fourth Tuesday</a:t>
            </a:r>
          </a:p>
        </p:txBody>
      </p:sp>
    </p:spTree>
    <p:extLst>
      <p:ext uri="{BB962C8B-B14F-4D97-AF65-F5344CB8AC3E}">
        <p14:creationId xmlns:p14="http://schemas.microsoft.com/office/powerpoint/2010/main" val="278338649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8F55C-C062-47AC-A76C-6CFE964FA8DC}"/>
              </a:ext>
            </a:extLst>
          </p:cNvPr>
          <p:cNvSpPr>
            <a:spLocks noGrp="1"/>
          </p:cNvSpPr>
          <p:nvPr>
            <p:ph type="title"/>
          </p:nvPr>
        </p:nvSpPr>
        <p:spPr/>
        <p:txBody>
          <a:bodyPr/>
          <a:lstStyle/>
          <a:p>
            <a:r>
              <a:rPr lang="en-US" dirty="0"/>
              <a:t>Roster</a:t>
            </a:r>
          </a:p>
        </p:txBody>
      </p:sp>
      <p:graphicFrame>
        <p:nvGraphicFramePr>
          <p:cNvPr id="3" name="Object 2">
            <a:extLst>
              <a:ext uri="{FF2B5EF4-FFF2-40B4-BE49-F238E27FC236}">
                <a16:creationId xmlns:a16="http://schemas.microsoft.com/office/drawing/2014/main" id="{8F86A9C1-0DAD-432E-B4D2-48509C0E328C}"/>
              </a:ext>
            </a:extLst>
          </p:cNvPr>
          <p:cNvGraphicFramePr>
            <a:graphicFrameLocks noChangeAspect="1"/>
          </p:cNvGraphicFramePr>
          <p:nvPr>
            <p:extLst>
              <p:ext uri="{D42A27DB-BD31-4B8C-83A1-F6EECF244321}">
                <p14:modId xmlns:p14="http://schemas.microsoft.com/office/powerpoint/2010/main" val="158735270"/>
              </p:ext>
            </p:extLst>
          </p:nvPr>
        </p:nvGraphicFramePr>
        <p:xfrm>
          <a:off x="2605088" y="1517650"/>
          <a:ext cx="6981825" cy="3819525"/>
        </p:xfrm>
        <a:graphic>
          <a:graphicData uri="http://schemas.openxmlformats.org/presentationml/2006/ole">
            <mc:AlternateContent xmlns:mc="http://schemas.openxmlformats.org/markup-compatibility/2006">
              <mc:Choice xmlns:v="urn:schemas-microsoft-com:vml" Requires="v">
                <p:oleObj name="Worksheet" r:id="rId2" imgW="6981869" imgH="3819446" progId="Excel.Sheet.12">
                  <p:embed/>
                </p:oleObj>
              </mc:Choice>
              <mc:Fallback>
                <p:oleObj name="Worksheet" r:id="rId2" imgW="6981869" imgH="3819446" progId="Excel.Sheet.12">
                  <p:embed/>
                  <p:pic>
                    <p:nvPicPr>
                      <p:cNvPr id="0" name=""/>
                      <p:cNvPicPr/>
                      <p:nvPr/>
                    </p:nvPicPr>
                    <p:blipFill>
                      <a:blip r:embed="rId3"/>
                      <a:stretch>
                        <a:fillRect/>
                      </a:stretch>
                    </p:blipFill>
                    <p:spPr>
                      <a:xfrm>
                        <a:off x="2605088" y="1517650"/>
                        <a:ext cx="6981825" cy="3819525"/>
                      </a:xfrm>
                      <a:prstGeom prst="rect">
                        <a:avLst/>
                      </a:prstGeom>
                    </p:spPr>
                  </p:pic>
                </p:oleObj>
              </mc:Fallback>
            </mc:AlternateContent>
          </a:graphicData>
        </a:graphic>
      </p:graphicFrame>
    </p:spTree>
    <p:extLst>
      <p:ext uri="{BB962C8B-B14F-4D97-AF65-F5344CB8AC3E}">
        <p14:creationId xmlns:p14="http://schemas.microsoft.com/office/powerpoint/2010/main" val="3589799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20A0-C452-7DEB-4F00-3DBD4CA4852E}"/>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AB16F8F7-C1AA-F91F-0D81-57AE46A4281E}"/>
              </a:ext>
            </a:extLst>
          </p:cNvPr>
          <p:cNvSpPr>
            <a:spLocks noGrp="1"/>
          </p:cNvSpPr>
          <p:nvPr>
            <p:ph idx="1"/>
          </p:nvPr>
        </p:nvSpPr>
        <p:spPr/>
        <p:txBody>
          <a:bodyPr/>
          <a:lstStyle/>
          <a:p>
            <a:pPr marL="285750" indent="-285750">
              <a:buFont typeface="Arial" panose="020B0604020202020204" pitchFamily="34" charset="0"/>
              <a:buChar char="•"/>
            </a:pPr>
            <a:r>
              <a:rPr lang="en-US" sz="2400" dirty="0"/>
              <a:t>April 28</a:t>
            </a:r>
          </a:p>
          <a:p>
            <a:pPr marL="285750" indent="-285750">
              <a:buFont typeface="Arial" panose="020B0604020202020204" pitchFamily="34" charset="0"/>
              <a:buChar char="•"/>
            </a:pPr>
            <a:r>
              <a:rPr lang="en-US" sz="2400" dirty="0"/>
              <a:t>Quick report out on each of the seven initiatives</a:t>
            </a:r>
          </a:p>
          <a:p>
            <a:pPr marL="285750" indent="-285750">
              <a:buFont typeface="Arial" panose="020B0604020202020204" pitchFamily="34" charset="0"/>
              <a:buChar char="•"/>
            </a:pPr>
            <a:r>
              <a:rPr lang="en-US" sz="2400" dirty="0"/>
              <a:t>Focus on Emerging Technologies for the majority of the meeting</a:t>
            </a:r>
          </a:p>
        </p:txBody>
      </p:sp>
    </p:spTree>
    <p:extLst>
      <p:ext uri="{BB962C8B-B14F-4D97-AF65-F5344CB8AC3E}">
        <p14:creationId xmlns:p14="http://schemas.microsoft.com/office/powerpoint/2010/main" val="255978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5592D-5FAD-4C61-932D-CDCB1D3E4F06}"/>
              </a:ext>
            </a:extLst>
          </p:cNvPr>
          <p:cNvSpPr>
            <a:spLocks noGrp="1"/>
          </p:cNvSpPr>
          <p:nvPr>
            <p:ph type="title"/>
          </p:nvPr>
        </p:nvSpPr>
        <p:spPr/>
        <p:txBody>
          <a:bodyPr/>
          <a:lstStyle/>
          <a:p>
            <a:r>
              <a:rPr lang="en-US" dirty="0"/>
              <a:t>1. Establish the “General TC Guideline”</a:t>
            </a:r>
          </a:p>
        </p:txBody>
      </p:sp>
      <p:sp>
        <p:nvSpPr>
          <p:cNvPr id="3" name="Content Placeholder 2">
            <a:extLst>
              <a:ext uri="{FF2B5EF4-FFF2-40B4-BE49-F238E27FC236}">
                <a16:creationId xmlns:a16="http://schemas.microsoft.com/office/drawing/2014/main" id="{613A0A5D-05FA-4E97-B9B7-0C0096DA9884}"/>
              </a:ext>
            </a:extLst>
          </p:cNvPr>
          <p:cNvSpPr>
            <a:spLocks noGrp="1"/>
          </p:cNvSpPr>
          <p:nvPr>
            <p:ph idx="1"/>
          </p:nvPr>
        </p:nvSpPr>
        <p:spPr/>
        <p:txBody>
          <a:bodyPr/>
          <a:lstStyle/>
          <a:p>
            <a:pPr lvl="0"/>
            <a:r>
              <a:rPr lang="en-US" b="1" dirty="0"/>
              <a:t>April 28 - No change from March</a:t>
            </a:r>
          </a:p>
          <a:p>
            <a:r>
              <a:rPr lang="en-US" dirty="0"/>
              <a:t>Tom Volunteered</a:t>
            </a:r>
            <a:endParaRPr lang="en-US" b="1" dirty="0"/>
          </a:p>
          <a:p>
            <a:pPr lvl="1"/>
            <a:r>
              <a:rPr lang="en-US" b="1" dirty="0"/>
              <a:t>	</a:t>
            </a:r>
            <a:r>
              <a:rPr lang="en-US" dirty="0"/>
              <a:t>Tom reviewed and marked up and Mike and Lesley are editing. Ball’s in their court.</a:t>
            </a:r>
          </a:p>
          <a:p>
            <a:pPr lvl="0"/>
            <a:r>
              <a:rPr lang="en-US" b="1" dirty="0"/>
              <a:t>Establish the “General TC Guideline”.</a:t>
            </a:r>
          </a:p>
          <a:p>
            <a:pPr lvl="1"/>
            <a:r>
              <a:rPr lang="en-US" b="1" u="sng" dirty="0"/>
              <a:t>Starting point:</a:t>
            </a:r>
            <a:r>
              <a:rPr lang="en-US" dirty="0"/>
              <a:t> There is an existing TC Chair’s Manual. </a:t>
            </a:r>
            <a:br>
              <a:rPr lang="en-US" dirty="0"/>
            </a:br>
            <a:r>
              <a:rPr lang="en-US" b="1" i="1" dirty="0"/>
              <a:t>Michael </a:t>
            </a:r>
            <a:r>
              <a:rPr lang="en-US" b="1" i="1" dirty="0" err="1"/>
              <a:t>Lagana</a:t>
            </a:r>
            <a:r>
              <a:rPr lang="en-US" dirty="0"/>
              <a:t> (AIAA) noted that it needs an update, which is in TIS’s scope. TIS should review and propose updates/edits, which could include incorporating information from other documents (e.g., the Structures TC document) as well as the additional sections (below).</a:t>
            </a:r>
          </a:p>
          <a:p>
            <a:pPr lvl="1"/>
            <a:r>
              <a:rPr lang="en-US" dirty="0"/>
              <a:t>Structures TC has their own “General TC Guideline”</a:t>
            </a:r>
          </a:p>
          <a:p>
            <a:pPr lvl="1"/>
            <a:r>
              <a:rPr lang="en-US" dirty="0"/>
              <a:t>TC Chair Exit Interview Process could be a part of that guideline with suggested questions to be answered by outgoing TC Chair</a:t>
            </a:r>
          </a:p>
          <a:p>
            <a:pPr lvl="1"/>
            <a:r>
              <a:rPr lang="en-US" dirty="0"/>
              <a:t>MDO TC has a process where they elect TC Vice Chair who automatically becomes TC Chair after 2 years and works with TC Chair while being Vice Chair.  Therefore, TC votes for the Vice Chair, which effectively becomes a 4-year commitment.</a:t>
            </a:r>
          </a:p>
          <a:p>
            <a:endParaRPr lang="en-US" dirty="0"/>
          </a:p>
        </p:txBody>
      </p:sp>
    </p:spTree>
    <p:extLst>
      <p:ext uri="{BB962C8B-B14F-4D97-AF65-F5344CB8AC3E}">
        <p14:creationId xmlns:p14="http://schemas.microsoft.com/office/powerpoint/2010/main" val="327579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70890-5ACD-42B5-AF70-744F914D400A}"/>
              </a:ext>
            </a:extLst>
          </p:cNvPr>
          <p:cNvSpPr>
            <a:spLocks noGrp="1"/>
          </p:cNvSpPr>
          <p:nvPr>
            <p:ph type="title"/>
          </p:nvPr>
        </p:nvSpPr>
        <p:spPr/>
        <p:txBody>
          <a:bodyPr/>
          <a:lstStyle/>
          <a:p>
            <a:r>
              <a:rPr lang="en-US" dirty="0"/>
              <a:t>2. Monitor the progress of the TC Charter Refresh</a:t>
            </a:r>
            <a:br>
              <a:rPr lang="en-US" dirty="0"/>
            </a:br>
            <a:endParaRPr lang="en-US" dirty="0"/>
          </a:p>
        </p:txBody>
      </p:sp>
      <p:sp>
        <p:nvSpPr>
          <p:cNvPr id="3" name="Content Placeholder 2">
            <a:extLst>
              <a:ext uri="{FF2B5EF4-FFF2-40B4-BE49-F238E27FC236}">
                <a16:creationId xmlns:a16="http://schemas.microsoft.com/office/drawing/2014/main" id="{215EB8A2-24C3-4389-8E12-B5956D2D4982}"/>
              </a:ext>
            </a:extLst>
          </p:cNvPr>
          <p:cNvSpPr>
            <a:spLocks noGrp="1"/>
          </p:cNvSpPr>
          <p:nvPr>
            <p:ph idx="1"/>
          </p:nvPr>
        </p:nvSpPr>
        <p:spPr/>
        <p:txBody>
          <a:bodyPr/>
          <a:lstStyle/>
          <a:p>
            <a:r>
              <a:rPr lang="en-US" b="1" dirty="0"/>
              <a:t>April 28 - </a:t>
            </a:r>
            <a:r>
              <a:rPr lang="en-US" dirty="0"/>
              <a:t>Mike has allowed an extension to the May time frame.</a:t>
            </a:r>
          </a:p>
          <a:p>
            <a:r>
              <a:rPr lang="en-US" dirty="0"/>
              <a:t>	Maybe review the charters for adherence to the TC Guidelines.</a:t>
            </a:r>
          </a:p>
          <a:p>
            <a:endParaRPr lang="en-US" dirty="0"/>
          </a:p>
          <a:p>
            <a:r>
              <a:rPr lang="en-US" dirty="0"/>
              <a:t>Jim </a:t>
            </a:r>
            <a:r>
              <a:rPr lang="en-US" dirty="0" err="1"/>
              <a:t>Puanicka</a:t>
            </a:r>
            <a:r>
              <a:rPr lang="en-US" dirty="0"/>
              <a:t> agreed to this one</a:t>
            </a:r>
          </a:p>
          <a:p>
            <a:r>
              <a:rPr lang="en-US" dirty="0"/>
              <a:t>Monitor the progress of the TC Charter Refresh</a:t>
            </a:r>
            <a:br>
              <a:rPr lang="en-US" dirty="0"/>
            </a:br>
            <a:r>
              <a:rPr lang="en-US" dirty="0"/>
              <a:t>(Low level effort – monitoring, sending email with reminders and providing guidance and example if needed)</a:t>
            </a:r>
          </a:p>
          <a:p>
            <a:r>
              <a:rPr lang="en-US" dirty="0"/>
              <a:t>Deadline is April 1 to May</a:t>
            </a:r>
          </a:p>
          <a:p>
            <a:r>
              <a:rPr lang="en-US" dirty="0"/>
              <a:t>Mike has the list of submitted charters</a:t>
            </a:r>
          </a:p>
          <a:p>
            <a:endParaRPr lang="en-US" dirty="0"/>
          </a:p>
          <a:p>
            <a:r>
              <a:rPr lang="en-US" dirty="0"/>
              <a:t>Some have trickled in</a:t>
            </a:r>
          </a:p>
          <a:p>
            <a:endParaRPr lang="en-US" dirty="0"/>
          </a:p>
          <a:p>
            <a:endParaRPr lang="en-US" dirty="0"/>
          </a:p>
        </p:txBody>
      </p:sp>
    </p:spTree>
    <p:extLst>
      <p:ext uri="{BB962C8B-B14F-4D97-AF65-F5344CB8AC3E}">
        <p14:creationId xmlns:p14="http://schemas.microsoft.com/office/powerpoint/2010/main" val="1299090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CF75F-62FD-486A-B2C4-466C1EFB0DE2}"/>
              </a:ext>
            </a:extLst>
          </p:cNvPr>
          <p:cNvSpPr>
            <a:spLocks noGrp="1"/>
          </p:cNvSpPr>
          <p:nvPr>
            <p:ph type="title"/>
          </p:nvPr>
        </p:nvSpPr>
        <p:spPr/>
        <p:txBody>
          <a:bodyPr/>
          <a:lstStyle/>
          <a:p>
            <a:r>
              <a:rPr lang="en-US" dirty="0"/>
              <a:t>3. Standardize and Automate Annual Compilation of TC Health Metrics</a:t>
            </a:r>
          </a:p>
        </p:txBody>
      </p:sp>
      <p:sp>
        <p:nvSpPr>
          <p:cNvPr id="3" name="Content Placeholder 2">
            <a:extLst>
              <a:ext uri="{FF2B5EF4-FFF2-40B4-BE49-F238E27FC236}">
                <a16:creationId xmlns:a16="http://schemas.microsoft.com/office/drawing/2014/main" id="{7946A1D4-0715-4E9B-A45D-E07CDA71D816}"/>
              </a:ext>
            </a:extLst>
          </p:cNvPr>
          <p:cNvSpPr>
            <a:spLocks noGrp="1"/>
          </p:cNvSpPr>
          <p:nvPr>
            <p:ph idx="1"/>
          </p:nvPr>
        </p:nvSpPr>
        <p:spPr/>
        <p:txBody>
          <a:bodyPr/>
          <a:lstStyle/>
          <a:p>
            <a:pPr lvl="0"/>
            <a:r>
              <a:rPr lang="en-US" b="1" dirty="0"/>
              <a:t>April 28 - No report for April</a:t>
            </a:r>
          </a:p>
          <a:p>
            <a:pPr lvl="0"/>
            <a:endParaRPr lang="en-US" b="1" dirty="0"/>
          </a:p>
          <a:p>
            <a:pPr lvl="0"/>
            <a:r>
              <a:rPr lang="en-US" b="1" dirty="0"/>
              <a:t>Vlad will lead</a:t>
            </a:r>
          </a:p>
          <a:p>
            <a:pPr lvl="0"/>
            <a:r>
              <a:rPr lang="en-US" b="1" dirty="0"/>
              <a:t>Standardize and Automate Annual Compilation of TC Health Metrics</a:t>
            </a:r>
          </a:p>
          <a:p>
            <a:pPr marL="285750" indent="-285750">
              <a:buFont typeface="Arial" panose="020B0604020202020204" pitchFamily="34" charset="0"/>
              <a:buChar char="•"/>
            </a:pPr>
            <a:r>
              <a:rPr lang="en-US" dirty="0"/>
              <a:t>Get familiar with the current process, data storage, accessibility, etc.</a:t>
            </a:r>
            <a:br>
              <a:rPr lang="en-US" dirty="0"/>
            </a:br>
            <a:r>
              <a:rPr lang="en-US" dirty="0"/>
              <a:t>Utilize previous health assessment and annual reports. Work closely with Michael </a:t>
            </a:r>
            <a:r>
              <a:rPr lang="en-US" dirty="0" err="1"/>
              <a:t>Lagana</a:t>
            </a:r>
            <a:r>
              <a:rPr lang="en-US" dirty="0"/>
              <a:t>.   Upcoming AIAA database may cause some evolvement.</a:t>
            </a:r>
          </a:p>
          <a:p>
            <a:pPr marL="285750" indent="-285750">
              <a:buFont typeface="Arial" panose="020B0604020202020204" pitchFamily="34" charset="0"/>
              <a:buChar char="•"/>
            </a:pPr>
            <a:r>
              <a:rPr lang="en-US" dirty="0"/>
              <a:t>Discuss with AIAA proposed improvements and automation. Implement agreed improvements and automation.</a:t>
            </a:r>
          </a:p>
          <a:p>
            <a:pPr marL="285750" indent="-285750">
              <a:buFont typeface="Arial" panose="020B0604020202020204" pitchFamily="34" charset="0"/>
              <a:buChar char="•"/>
            </a:pPr>
            <a:r>
              <a:rPr lang="en-US" dirty="0"/>
              <a:t>Mike spoke of our server and IT. We will migrate from </a:t>
            </a:r>
            <a:r>
              <a:rPr lang="en-US" dirty="0" err="1"/>
              <a:t>NetForum</a:t>
            </a:r>
            <a:r>
              <a:rPr lang="en-US" dirty="0"/>
              <a:t> to Altai Systems in order to consolidate more. Should help with this particular task. The switch has planned for 4</a:t>
            </a:r>
            <a:r>
              <a:rPr lang="en-US" baseline="30000" dirty="0"/>
              <a:t>th</a:t>
            </a:r>
            <a:r>
              <a:rPr lang="en-US" dirty="0"/>
              <a:t> </a:t>
            </a:r>
            <a:r>
              <a:rPr lang="en-US" dirty="0" err="1"/>
              <a:t>Qtr</a:t>
            </a:r>
            <a:r>
              <a:rPr lang="en-US" dirty="0"/>
              <a:t> or later.</a:t>
            </a:r>
          </a:p>
          <a:p>
            <a:pPr marL="285750" indent="-285750">
              <a:buFont typeface="Arial" panose="020B0604020202020204" pitchFamily="34" charset="0"/>
              <a:buChar char="•"/>
            </a:pPr>
            <a:r>
              <a:rPr lang="en-US" dirty="0"/>
              <a:t>Can start with the TC annual reports. They are due today, Feb 27, 2026</a:t>
            </a:r>
          </a:p>
          <a:p>
            <a:pPr marL="285750" indent="-285750">
              <a:buFont typeface="Arial" panose="020B0604020202020204" pitchFamily="34" charset="0"/>
              <a:buChar char="•"/>
            </a:pPr>
            <a:r>
              <a:rPr lang="en-US" dirty="0"/>
              <a:t>Vlad says Angie compiled some data in Excel</a:t>
            </a:r>
          </a:p>
          <a:p>
            <a:pPr marL="285750" indent="-285750">
              <a:buFont typeface="Arial" panose="020B0604020202020204" pitchFamily="34" charset="0"/>
              <a:buChar char="•"/>
            </a:pPr>
            <a:r>
              <a:rPr lang="en-US" dirty="0"/>
              <a:t>Peter Hartwich sent Mike a document on this from IOD</a:t>
            </a:r>
          </a:p>
          <a:p>
            <a:endParaRPr lang="en-US" dirty="0"/>
          </a:p>
        </p:txBody>
      </p:sp>
    </p:spTree>
    <p:extLst>
      <p:ext uri="{BB962C8B-B14F-4D97-AF65-F5344CB8AC3E}">
        <p14:creationId xmlns:p14="http://schemas.microsoft.com/office/powerpoint/2010/main" val="720809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440E-E4C0-46E8-B260-5AD92725F5B0}"/>
              </a:ext>
            </a:extLst>
          </p:cNvPr>
          <p:cNvSpPr>
            <a:spLocks noGrp="1"/>
          </p:cNvSpPr>
          <p:nvPr>
            <p:ph type="title"/>
          </p:nvPr>
        </p:nvSpPr>
        <p:spPr/>
        <p:txBody>
          <a:bodyPr/>
          <a:lstStyle/>
          <a:p>
            <a:r>
              <a:rPr lang="en-US" dirty="0"/>
              <a:t>4. Work with TCs to communicate to them the important aspects leadership </a:t>
            </a:r>
            <a:r>
              <a:rPr lang="en-US" dirty="0" err="1"/>
              <a:t>flowdown</a:t>
            </a:r>
            <a:endParaRPr lang="en-US" dirty="0"/>
          </a:p>
        </p:txBody>
      </p:sp>
      <p:sp>
        <p:nvSpPr>
          <p:cNvPr id="3" name="Content Placeholder 2">
            <a:extLst>
              <a:ext uri="{FF2B5EF4-FFF2-40B4-BE49-F238E27FC236}">
                <a16:creationId xmlns:a16="http://schemas.microsoft.com/office/drawing/2014/main" id="{793A1AB1-CCF0-4999-BDCA-911B1F36DACB}"/>
              </a:ext>
            </a:extLst>
          </p:cNvPr>
          <p:cNvSpPr>
            <a:spLocks noGrp="1"/>
          </p:cNvSpPr>
          <p:nvPr>
            <p:ph idx="1"/>
          </p:nvPr>
        </p:nvSpPr>
        <p:spPr/>
        <p:txBody>
          <a:bodyPr/>
          <a:lstStyle/>
          <a:p>
            <a:pPr lvl="0"/>
            <a:r>
              <a:rPr lang="en-US" b="1" dirty="0"/>
              <a:t>April 28 - No report for April</a:t>
            </a:r>
          </a:p>
          <a:p>
            <a:pPr lvl="0"/>
            <a:endParaRPr lang="en-US" b="1" dirty="0"/>
          </a:p>
          <a:p>
            <a:pPr lvl="0"/>
            <a:r>
              <a:rPr lang="en-US" b="1" dirty="0"/>
              <a:t>Mike Volunteered. Matches his current activities anyway</a:t>
            </a:r>
          </a:p>
          <a:p>
            <a:pPr lvl="0"/>
            <a:r>
              <a:rPr lang="en-US" b="1" dirty="0"/>
              <a:t>Ongoing: Work with TCs to communicate to them the important aspects of: - Mike</a:t>
            </a:r>
          </a:p>
          <a:p>
            <a:pPr lvl="1"/>
            <a:r>
              <a:rPr lang="en-US" dirty="0"/>
              <a:t>TAD Director’s Roundtable</a:t>
            </a:r>
          </a:p>
          <a:p>
            <a:pPr lvl="1"/>
            <a:r>
              <a:rPr lang="en-US" dirty="0"/>
              <a:t>TAD Leadership Positions</a:t>
            </a:r>
          </a:p>
          <a:p>
            <a:pPr lvl="1"/>
            <a:r>
              <a:rPr lang="en-US" dirty="0"/>
              <a:t>TAD Exec mtg agenda/summary, </a:t>
            </a:r>
            <a:r>
              <a:rPr lang="en-US" dirty="0" err="1"/>
              <a:t>CoD</a:t>
            </a:r>
            <a:r>
              <a:rPr lang="en-US" dirty="0"/>
              <a:t> mtg summary. </a:t>
            </a:r>
          </a:p>
          <a:p>
            <a:pPr lvl="2"/>
            <a:r>
              <a:rPr lang="en-US" dirty="0"/>
              <a:t>Compile Documentation on TAD Leadership Positions.</a:t>
            </a:r>
            <a:br>
              <a:rPr lang="en-US" dirty="0"/>
            </a:br>
            <a:r>
              <a:rPr lang="en-US" dirty="0"/>
              <a:t>Follow-up Actions from AIAA CTO Summit on AI Applications  </a:t>
            </a:r>
          </a:p>
          <a:p>
            <a:pPr lvl="2"/>
            <a:r>
              <a:rPr lang="en-US" dirty="0"/>
              <a:t>Collect TC’s response and proposals and communicate that to TAD and Directors.  Work closely with Michael </a:t>
            </a:r>
            <a:r>
              <a:rPr lang="en-US" dirty="0" err="1"/>
              <a:t>Lagana</a:t>
            </a:r>
            <a:r>
              <a:rPr lang="en-US" dirty="0"/>
              <a:t> and his monthly committee newsletter.</a:t>
            </a:r>
          </a:p>
          <a:p>
            <a:endParaRPr lang="en-US" dirty="0"/>
          </a:p>
          <a:p>
            <a:endParaRPr lang="en-US" dirty="0"/>
          </a:p>
        </p:txBody>
      </p:sp>
    </p:spTree>
    <p:extLst>
      <p:ext uri="{BB962C8B-B14F-4D97-AF65-F5344CB8AC3E}">
        <p14:creationId xmlns:p14="http://schemas.microsoft.com/office/powerpoint/2010/main" val="3835866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771A-6636-46FB-8BCA-04CD092C77CC}"/>
              </a:ext>
            </a:extLst>
          </p:cNvPr>
          <p:cNvSpPr>
            <a:spLocks noGrp="1"/>
          </p:cNvSpPr>
          <p:nvPr>
            <p:ph type="title"/>
          </p:nvPr>
        </p:nvSpPr>
        <p:spPr/>
        <p:txBody>
          <a:bodyPr/>
          <a:lstStyle/>
          <a:p>
            <a:r>
              <a:rPr lang="en-US" dirty="0"/>
              <a:t>5. Capture Emerging Technologies and Trends</a:t>
            </a:r>
          </a:p>
        </p:txBody>
      </p:sp>
      <p:sp>
        <p:nvSpPr>
          <p:cNvPr id="3" name="Content Placeholder 2">
            <a:extLst>
              <a:ext uri="{FF2B5EF4-FFF2-40B4-BE49-F238E27FC236}">
                <a16:creationId xmlns:a16="http://schemas.microsoft.com/office/drawing/2014/main" id="{7201A18B-86B3-46A6-8D29-F643C72ACCB2}"/>
              </a:ext>
            </a:extLst>
          </p:cNvPr>
          <p:cNvSpPr>
            <a:spLocks noGrp="1"/>
          </p:cNvSpPr>
          <p:nvPr>
            <p:ph idx="1"/>
          </p:nvPr>
        </p:nvSpPr>
        <p:spPr>
          <a:xfrm>
            <a:off x="838200" y="1404512"/>
            <a:ext cx="10515600" cy="4755655"/>
          </a:xfrm>
        </p:spPr>
        <p:txBody>
          <a:bodyPr/>
          <a:lstStyle/>
          <a:p>
            <a:pPr marL="285750"/>
            <a:r>
              <a:rPr lang="en-US" dirty="0"/>
              <a:t>Three domains: Space,  Aviation and R&amp;D and Defense</a:t>
            </a:r>
          </a:p>
          <a:p>
            <a:pPr marL="285750"/>
            <a:r>
              <a:rPr lang="en-US" dirty="0"/>
              <a:t>Ron agreed to Space</a:t>
            </a:r>
          </a:p>
          <a:p>
            <a:pPr marL="285750"/>
            <a:r>
              <a:rPr lang="en-US" dirty="0"/>
              <a:t>Phil Ansell agreed to Aviation</a:t>
            </a:r>
          </a:p>
          <a:p>
            <a:pPr marL="285750"/>
            <a:r>
              <a:rPr lang="en-US" dirty="0"/>
              <a:t>Brian Freno agreed to R&amp;D and Defense</a:t>
            </a:r>
          </a:p>
          <a:p>
            <a:pPr marL="285750"/>
            <a:r>
              <a:rPr lang="en-US" dirty="0"/>
              <a:t>Ron told of the survey sent to TCs about emerging technologies. Got some responses.</a:t>
            </a:r>
          </a:p>
          <a:p>
            <a:pPr marL="285750"/>
            <a:r>
              <a:rPr lang="en-US" dirty="0"/>
              <a:t>How does searching for ETT look like</a:t>
            </a:r>
          </a:p>
          <a:p>
            <a:pPr marL="1028700" lvl="1"/>
            <a:r>
              <a:rPr lang="en-US" dirty="0"/>
              <a:t>AAA was going to do a LLM deep dive into the literature to find ETT. Lots of good topics. Still not as much as we would like.</a:t>
            </a:r>
          </a:p>
          <a:p>
            <a:pPr marL="1028700" lvl="1"/>
            <a:r>
              <a:rPr lang="en-US" dirty="0"/>
              <a:t>Last fall AIAA Tech Survey. </a:t>
            </a:r>
          </a:p>
          <a:p>
            <a:pPr marL="285750"/>
            <a:r>
              <a:rPr lang="en-US" dirty="0"/>
              <a:t>How about we require TCs to keep their own Emerging Technologies list and submit it to TIS every year to coordinate? Maybe keep this at the group level. This list should percolate into the TCs Call for Papers. Add this to the TC charter and CFP.</a:t>
            </a:r>
          </a:p>
          <a:p>
            <a:pPr marL="285750"/>
            <a:r>
              <a:rPr lang="en-US" sz="2000" b="1" dirty="0"/>
              <a:t>Ultimate goal is to comb the technologies and see if they fit in existing TCs or warrant a new TC, working group, IC, Panel Session</a:t>
            </a:r>
          </a:p>
        </p:txBody>
      </p:sp>
    </p:spTree>
    <p:extLst>
      <p:ext uri="{BB962C8B-B14F-4D97-AF65-F5344CB8AC3E}">
        <p14:creationId xmlns:p14="http://schemas.microsoft.com/office/powerpoint/2010/main" val="322088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F65BD-A09C-BAC9-21BD-D0612C4405F6}"/>
              </a:ext>
            </a:extLst>
          </p:cNvPr>
          <p:cNvSpPr>
            <a:spLocks noGrp="1"/>
          </p:cNvSpPr>
          <p:nvPr>
            <p:ph type="title"/>
          </p:nvPr>
        </p:nvSpPr>
        <p:spPr>
          <a:xfrm>
            <a:off x="350003" y="220269"/>
            <a:ext cx="11491993" cy="1169207"/>
          </a:xfrm>
        </p:spPr>
        <p:txBody>
          <a:bodyPr/>
          <a:lstStyle/>
          <a:p>
            <a:r>
              <a:rPr lang="en-US" dirty="0"/>
              <a:t>Emerging Tech April 28</a:t>
            </a:r>
          </a:p>
        </p:txBody>
      </p:sp>
      <p:sp>
        <p:nvSpPr>
          <p:cNvPr id="3" name="Content Placeholder 2">
            <a:extLst>
              <a:ext uri="{FF2B5EF4-FFF2-40B4-BE49-F238E27FC236}">
                <a16:creationId xmlns:a16="http://schemas.microsoft.com/office/drawing/2014/main" id="{58BA9693-C7F2-9ABE-DA92-A058D1D4C9A5}"/>
              </a:ext>
            </a:extLst>
          </p:cNvPr>
          <p:cNvSpPr>
            <a:spLocks noGrp="1"/>
          </p:cNvSpPr>
          <p:nvPr>
            <p:ph idx="1"/>
          </p:nvPr>
        </p:nvSpPr>
        <p:spPr>
          <a:xfrm>
            <a:off x="756719" y="1264310"/>
            <a:ext cx="10515600" cy="5109330"/>
          </a:xfrm>
        </p:spPr>
        <p:txBody>
          <a:bodyPr/>
          <a:lstStyle/>
          <a:p>
            <a:r>
              <a:rPr lang="en-US" sz="1600" dirty="0"/>
              <a:t>Ron </a:t>
            </a:r>
          </a:p>
          <a:p>
            <a:pPr marL="571500" indent="-285750">
              <a:buFont typeface="Arial" panose="020B0604020202020204" pitchFamily="34" charset="0"/>
              <a:buChar char="•"/>
            </a:pPr>
            <a:r>
              <a:rPr lang="en-US" sz="1600" dirty="0"/>
              <a:t>Converge on what is the problem we are trying to solve</a:t>
            </a:r>
          </a:p>
          <a:p>
            <a:pPr marL="571500" indent="-285750">
              <a:buFont typeface="Arial" panose="020B0604020202020204" pitchFamily="34" charset="0"/>
              <a:buChar char="•"/>
            </a:pPr>
            <a:r>
              <a:rPr lang="en-US" sz="1600" dirty="0"/>
              <a:t>Could start by building the ETT list</a:t>
            </a:r>
          </a:p>
          <a:p>
            <a:pPr marL="571500" indent="-285750">
              <a:buFont typeface="Arial" panose="020B0604020202020204" pitchFamily="34" charset="0"/>
              <a:buChar char="•"/>
            </a:pPr>
            <a:r>
              <a:rPr lang="en-US" sz="1600" dirty="0"/>
              <a:t>Bounce list off of the TCs buckets and see which technologies are not addressed by any TCs. These are gaps.</a:t>
            </a:r>
          </a:p>
          <a:p>
            <a:pPr marL="571500" indent="-285750">
              <a:buFont typeface="Arial" panose="020B0604020202020204" pitchFamily="34" charset="0"/>
              <a:buChar char="•"/>
            </a:pPr>
            <a:r>
              <a:rPr lang="en-US" sz="1600" dirty="0" err="1"/>
              <a:t>Groundrule</a:t>
            </a:r>
            <a:r>
              <a:rPr lang="en-US" sz="1600" dirty="0"/>
              <a:t> – Use this list to maintain the value of AIAA vs. other societies like SAE</a:t>
            </a:r>
          </a:p>
          <a:p>
            <a:pPr marL="571500" indent="-285750">
              <a:buFont typeface="Arial" panose="020B0604020202020204" pitchFamily="34" charset="0"/>
              <a:buChar char="•"/>
            </a:pPr>
            <a:r>
              <a:rPr lang="en-US" sz="1600" dirty="0"/>
              <a:t>Will share with TCs, ICs, etc.</a:t>
            </a:r>
          </a:p>
          <a:p>
            <a:pPr marL="571500" indent="-285750">
              <a:buFont typeface="Arial" panose="020B0604020202020204" pitchFamily="34" charset="0"/>
              <a:buChar char="•"/>
            </a:pPr>
            <a:r>
              <a:rPr lang="en-US" sz="1600" dirty="0"/>
              <a:t>Could share list with Domain leads. Domains are in charge of future thinking for the institute. Ryan Patrick, R&amp;D is aware of our ETT activity but has not reached out to us yet. </a:t>
            </a:r>
          </a:p>
          <a:p>
            <a:pPr marL="571500" indent="-285750">
              <a:buFont typeface="Arial" panose="020B0604020202020204" pitchFamily="34" charset="0"/>
              <a:buChar char="•"/>
            </a:pPr>
            <a:r>
              <a:rPr lang="en-US" sz="1600" dirty="0"/>
              <a:t>Could share with the Corporate Advisory Board as well.</a:t>
            </a:r>
          </a:p>
          <a:p>
            <a:r>
              <a:rPr lang="en-US" sz="1600" dirty="0"/>
              <a:t>Phil</a:t>
            </a:r>
          </a:p>
          <a:p>
            <a:pPr marL="285750" indent="-285750">
              <a:buFont typeface="Arial" panose="020B0604020202020204" pitchFamily="34" charset="0"/>
              <a:buChar char="•"/>
            </a:pPr>
            <a:r>
              <a:rPr lang="en-US" sz="1600" dirty="0"/>
              <a:t>Here is what Phil assumed to be the purposes of the emerging tech tracking process:</a:t>
            </a:r>
          </a:p>
          <a:p>
            <a:pPr marL="285750" indent="-285750">
              <a:buFont typeface="Arial" panose="020B0604020202020204" pitchFamily="34" charset="0"/>
              <a:buChar char="•"/>
            </a:pPr>
            <a:r>
              <a:rPr lang="en-US" sz="1600" dirty="0"/>
              <a:t>This tracking process serves two pivotal purposes:</a:t>
            </a:r>
          </a:p>
          <a:p>
            <a:pPr marL="285750" indent="-285750">
              <a:buFont typeface="Arial" panose="020B0604020202020204" pitchFamily="34" charset="0"/>
              <a:buChar char="•"/>
            </a:pPr>
            <a:r>
              <a:rPr lang="en-US" sz="1600" dirty="0"/>
              <a:t>Avoids confusion and cross-talk across TCs and IOCs when new topics emerge (where does a topic "fit" and how can we co-sponsor across groups?).</a:t>
            </a:r>
          </a:p>
          <a:p>
            <a:pPr marL="285750" indent="-285750">
              <a:buFont typeface="Arial" panose="020B0604020202020204" pitchFamily="34" charset="0"/>
              <a:buChar char="•"/>
            </a:pPr>
            <a:r>
              <a:rPr lang="en-US" sz="1600" dirty="0"/>
              <a:t>Ensures we are keeping a pulse on new, high-impact developments and not missing opportunities to expand what AIAA has to offer to the aerospace community.</a:t>
            </a:r>
          </a:p>
          <a:p>
            <a:r>
              <a:rPr lang="en-US" sz="1600" dirty="0"/>
              <a:t> </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65948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AF31-2ABD-4AEE-8DE5-C02ADD370F26}"/>
              </a:ext>
            </a:extLst>
          </p:cNvPr>
          <p:cNvSpPr>
            <a:spLocks noGrp="1"/>
          </p:cNvSpPr>
          <p:nvPr>
            <p:ph type="title"/>
          </p:nvPr>
        </p:nvSpPr>
        <p:spPr/>
        <p:txBody>
          <a:bodyPr/>
          <a:lstStyle/>
          <a:p>
            <a:r>
              <a:rPr lang="en-US" dirty="0"/>
              <a:t>6. Create TIS server space and collect TIS documents</a:t>
            </a:r>
          </a:p>
        </p:txBody>
      </p:sp>
      <p:sp>
        <p:nvSpPr>
          <p:cNvPr id="3" name="Content Placeholder 2">
            <a:extLst>
              <a:ext uri="{FF2B5EF4-FFF2-40B4-BE49-F238E27FC236}">
                <a16:creationId xmlns:a16="http://schemas.microsoft.com/office/drawing/2014/main" id="{DBD671F6-12CC-4E20-AA37-05F430C8FDD9}"/>
              </a:ext>
            </a:extLst>
          </p:cNvPr>
          <p:cNvSpPr>
            <a:spLocks noGrp="1"/>
          </p:cNvSpPr>
          <p:nvPr>
            <p:ph idx="1"/>
          </p:nvPr>
        </p:nvSpPr>
        <p:spPr>
          <a:xfrm>
            <a:off x="831793" y="1812373"/>
            <a:ext cx="10515600" cy="4125722"/>
          </a:xfrm>
        </p:spPr>
        <p:txBody>
          <a:bodyPr/>
          <a:lstStyle/>
          <a:p>
            <a:r>
              <a:rPr lang="en-US" b="1" dirty="0"/>
              <a:t>April 28 - No Report for April</a:t>
            </a:r>
          </a:p>
          <a:p>
            <a:endParaRPr lang="en-US" b="1" dirty="0"/>
          </a:p>
          <a:p>
            <a:r>
              <a:rPr lang="en-US" dirty="0"/>
              <a:t>Mike started an AIAA Google Drive</a:t>
            </a:r>
          </a:p>
          <a:p>
            <a:r>
              <a:rPr lang="en-US" dirty="0"/>
              <a:t>Tom will help</a:t>
            </a:r>
          </a:p>
          <a:p>
            <a:r>
              <a:rPr lang="en-US" dirty="0"/>
              <a:t>Mike will do this</a:t>
            </a:r>
          </a:p>
          <a:p>
            <a:r>
              <a:rPr lang="en-US" dirty="0">
                <a:hlinkClick r:id="rId2" tooltip="https://drive.google.com/drive/folders/1qvzgt3behdcnvjvptekwikrvnfbesxlk?usp=drive_link"/>
              </a:rPr>
              <a:t>https://drive.google.com/drive/folders/1qVzgT3BEHDCNVJVptEkWIKRvNFBesXLk?usp=drive_link</a:t>
            </a:r>
            <a:endParaRPr lang="en-US" dirty="0"/>
          </a:p>
        </p:txBody>
      </p:sp>
    </p:spTree>
    <p:extLst>
      <p:ext uri="{BB962C8B-B14F-4D97-AF65-F5344CB8AC3E}">
        <p14:creationId xmlns:p14="http://schemas.microsoft.com/office/powerpoint/2010/main" val="3293343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ED48-6AB0-4F6B-86CE-2891FF93BE45}"/>
              </a:ext>
            </a:extLst>
          </p:cNvPr>
          <p:cNvSpPr>
            <a:spLocks noGrp="1"/>
          </p:cNvSpPr>
          <p:nvPr>
            <p:ph type="title"/>
          </p:nvPr>
        </p:nvSpPr>
        <p:spPr/>
        <p:txBody>
          <a:bodyPr/>
          <a:lstStyle/>
          <a:p>
            <a:r>
              <a:rPr lang="en-US" dirty="0"/>
              <a:t>7. Get familiar with what IOD doing and how it relates to TIS</a:t>
            </a:r>
          </a:p>
        </p:txBody>
      </p:sp>
      <p:sp>
        <p:nvSpPr>
          <p:cNvPr id="3" name="Content Placeholder 2">
            <a:extLst>
              <a:ext uri="{FF2B5EF4-FFF2-40B4-BE49-F238E27FC236}">
                <a16:creationId xmlns:a16="http://schemas.microsoft.com/office/drawing/2014/main" id="{46EDE203-5777-4F7B-A570-CA82D0D877FD}"/>
              </a:ext>
            </a:extLst>
          </p:cNvPr>
          <p:cNvSpPr>
            <a:spLocks noGrp="1"/>
          </p:cNvSpPr>
          <p:nvPr>
            <p:ph idx="1"/>
          </p:nvPr>
        </p:nvSpPr>
        <p:spPr/>
        <p:txBody>
          <a:bodyPr/>
          <a:lstStyle/>
          <a:p>
            <a:r>
              <a:rPr lang="en-US" b="1" dirty="0"/>
              <a:t>April 28 - Ron reported.  </a:t>
            </a:r>
          </a:p>
          <a:p>
            <a:pPr marL="285750" indent="-285750">
              <a:buFont typeface="Arial" panose="020B0604020202020204" pitchFamily="34" charset="0"/>
              <a:buChar char="•"/>
            </a:pPr>
            <a:r>
              <a:rPr lang="en-US" dirty="0"/>
              <a:t>The IOD redesign is happening. An update at the next IOD meeting at Aviation Monday at 10:30.</a:t>
            </a:r>
          </a:p>
          <a:p>
            <a:r>
              <a:rPr lang="en-US" b="1" dirty="0"/>
              <a:t>	</a:t>
            </a:r>
          </a:p>
          <a:p>
            <a:r>
              <a:rPr lang="en-US" dirty="0"/>
              <a:t>Vladimir volunteered</a:t>
            </a:r>
          </a:p>
          <a:p>
            <a:r>
              <a:rPr lang="en-US" dirty="0"/>
              <a:t>Ron  may help him. Ron is in two OCs and an IC. There is an effort to redesign the IOD.</a:t>
            </a:r>
          </a:p>
          <a:p>
            <a:r>
              <a:rPr lang="en-US" dirty="0"/>
              <a:t>IOD is Integration Outreach Division</a:t>
            </a:r>
          </a:p>
          <a:p>
            <a:endParaRPr lang="en-US" dirty="0"/>
          </a:p>
          <a:p>
            <a:r>
              <a:rPr lang="en-US" dirty="0"/>
              <a:t>IOD meeting April 2. IOD will be presented with the redesign results</a:t>
            </a:r>
          </a:p>
        </p:txBody>
      </p:sp>
    </p:spTree>
    <p:extLst>
      <p:ext uri="{BB962C8B-B14F-4D97-AF65-F5344CB8AC3E}">
        <p14:creationId xmlns:p14="http://schemas.microsoft.com/office/powerpoint/2010/main" val="1093781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23D3B-F07B-2A2B-F739-B6D424FB15BC}"/>
              </a:ext>
            </a:extLst>
          </p:cNvPr>
          <p:cNvSpPr>
            <a:spLocks noGrp="1"/>
          </p:cNvSpPr>
          <p:nvPr>
            <p:ph type="title"/>
          </p:nvPr>
        </p:nvSpPr>
        <p:spPr/>
        <p:txBody>
          <a:bodyPr/>
          <a:lstStyle/>
          <a:p>
            <a:r>
              <a:rPr lang="en-US" dirty="0"/>
              <a:t>New Business April 28</a:t>
            </a:r>
          </a:p>
        </p:txBody>
      </p:sp>
      <p:sp>
        <p:nvSpPr>
          <p:cNvPr id="3" name="Content Placeholder 2">
            <a:extLst>
              <a:ext uri="{FF2B5EF4-FFF2-40B4-BE49-F238E27FC236}">
                <a16:creationId xmlns:a16="http://schemas.microsoft.com/office/drawing/2014/main" id="{2C031240-2576-6450-16FF-6EAF56C4CABE}"/>
              </a:ext>
            </a:extLst>
          </p:cNvPr>
          <p:cNvSpPr>
            <a:spLocks noGrp="1"/>
          </p:cNvSpPr>
          <p:nvPr>
            <p:ph idx="1"/>
          </p:nvPr>
        </p:nvSpPr>
        <p:spPr>
          <a:xfrm>
            <a:off x="838200" y="1258432"/>
            <a:ext cx="10515600" cy="4692915"/>
          </a:xfrm>
        </p:spPr>
        <p:txBody>
          <a:bodyPr/>
          <a:lstStyle/>
          <a:p>
            <a:r>
              <a:rPr lang="en-US" dirty="0"/>
              <a:t>Emerging Trends</a:t>
            </a:r>
          </a:p>
          <a:p>
            <a:pPr lvl="1"/>
            <a:r>
              <a:rPr lang="en-US" dirty="0"/>
              <a:t>In Space Disaster Management. </a:t>
            </a:r>
          </a:p>
          <a:p>
            <a:pPr lvl="1"/>
            <a:r>
              <a:rPr lang="en-US" dirty="0"/>
              <a:t>In Space Health Care</a:t>
            </a:r>
          </a:p>
          <a:p>
            <a:r>
              <a:rPr lang="en-US" dirty="0"/>
              <a:t>Ron thinks these might end up in IOD. </a:t>
            </a:r>
          </a:p>
          <a:p>
            <a:pPr marL="285750" indent="-285750">
              <a:buFont typeface="Arial" panose="020B0604020202020204" pitchFamily="34" charset="0"/>
              <a:buChar char="•"/>
            </a:pPr>
            <a:r>
              <a:rPr lang="en-US" dirty="0"/>
              <a:t>Ron has introduced to his Space Settlement TC. The </a:t>
            </a:r>
            <a:r>
              <a:rPr lang="en-US"/>
              <a:t>TC vice chair </a:t>
            </a:r>
            <a:r>
              <a:rPr lang="en-US" dirty="0"/>
              <a:t>is a space nurse who has created a subcommittee around Space Health Care. </a:t>
            </a:r>
          </a:p>
          <a:p>
            <a:pPr marL="285750" indent="-285750">
              <a:buFont typeface="Arial" panose="020B0604020202020204" pitchFamily="34" charset="0"/>
              <a:buChar char="•"/>
            </a:pPr>
            <a:r>
              <a:rPr lang="en-US" dirty="0"/>
              <a:t>Ron has taken on Space Disaster Management. Stuck so far. Could be a subcommittee. Could evolve into a TC or IC. Building it as a Community of Interest (used to be a thing).</a:t>
            </a:r>
          </a:p>
          <a:p>
            <a:pPr marL="285750" indent="-285750">
              <a:buFont typeface="Arial" panose="020B0604020202020204" pitchFamily="34" charset="0"/>
              <a:buChar char="•"/>
            </a:pPr>
            <a:r>
              <a:rPr lang="en-US" dirty="0"/>
              <a:t>Ron says that the focus on Technology oriented TCs versus capability-oriented groups is somewhat of a gap for AIAA. Maybe make ICs more capability-oriented.</a:t>
            </a:r>
          </a:p>
          <a:p>
            <a:r>
              <a:rPr lang="en-US" dirty="0"/>
              <a:t>Brian has started a computational physics community. There was a meeting in Feb with great turnout. Will have a SciTech 2027 session. Will have a meeting at Aviation. Goal is to evolve it into a TC. Getting traction in TAD, with CFD standards group and others.</a:t>
            </a:r>
          </a:p>
          <a:p>
            <a:endParaRPr lang="en-US" dirty="0"/>
          </a:p>
        </p:txBody>
      </p:sp>
    </p:spTree>
    <p:extLst>
      <p:ext uri="{BB962C8B-B14F-4D97-AF65-F5344CB8AC3E}">
        <p14:creationId xmlns:p14="http://schemas.microsoft.com/office/powerpoint/2010/main" val="396352318"/>
      </p:ext>
    </p:extLst>
  </p:cSld>
  <p:clrMapOvr>
    <a:masterClrMapping/>
  </p:clrMapOvr>
</p:sld>
</file>

<file path=ppt/theme/theme1.xml><?xml version="1.0" encoding="utf-8"?>
<a:theme xmlns:a="http://schemas.openxmlformats.org/drawingml/2006/main" name="1_Office Theme">
  <a:themeElements>
    <a:clrScheme name="AIAA 2025">
      <a:dk1>
        <a:srgbClr val="000000"/>
      </a:dk1>
      <a:lt1>
        <a:srgbClr val="FFFFFF"/>
      </a:lt1>
      <a:dk2>
        <a:srgbClr val="1A3C6D"/>
      </a:dk2>
      <a:lt2>
        <a:srgbClr val="E8E8E8"/>
      </a:lt2>
      <a:accent1>
        <a:srgbClr val="1A3C6D"/>
      </a:accent1>
      <a:accent2>
        <a:srgbClr val="3079A7"/>
      </a:accent2>
      <a:accent3>
        <a:srgbClr val="742A88"/>
      </a:accent3>
      <a:accent4>
        <a:srgbClr val="F1B82C"/>
      </a:accent4>
      <a:accent5>
        <a:srgbClr val="65A602"/>
      </a:accent5>
      <a:accent6>
        <a:srgbClr val="CC4100"/>
      </a:accent6>
      <a:hlink>
        <a:srgbClr val="3079A7"/>
      </a:hlink>
      <a:folHlink>
        <a:srgbClr val="3079A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3937</TotalTime>
  <Words>1243</Words>
  <Application>Microsoft Office PowerPoint</Application>
  <PresentationFormat>Widescreen</PresentationFormat>
  <Paragraphs>100</Paragraphs>
  <Slides>12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0" baseType="lpstr">
      <vt:lpstr>Aptos</vt:lpstr>
      <vt:lpstr>Arial</vt:lpstr>
      <vt:lpstr>Figtree</vt:lpstr>
      <vt:lpstr>Figtree Light</vt:lpstr>
      <vt:lpstr>Figtree Medium</vt:lpstr>
      <vt:lpstr>Figtree SemiBold</vt:lpstr>
      <vt:lpstr>1_Office Theme</vt:lpstr>
      <vt:lpstr>Microsoft Excel Worksheet</vt:lpstr>
      <vt:lpstr>Technical Integration Subcommittee</vt:lpstr>
      <vt:lpstr>Roster</vt:lpstr>
      <vt:lpstr>Agenda</vt:lpstr>
      <vt:lpstr>1. Establish the “General TC Guideline”</vt:lpstr>
      <vt:lpstr>2. Monitor the progress of the TC Charter Refresh </vt:lpstr>
      <vt:lpstr>3. Standardize and Automate Annual Compilation of TC Health Metrics</vt:lpstr>
      <vt:lpstr>4. Work with TCs to communicate to them the important aspects leadership flowdown</vt:lpstr>
      <vt:lpstr>5. Capture Emerging Technologies and Trends</vt:lpstr>
      <vt:lpstr>Emerging Tech April 28</vt:lpstr>
      <vt:lpstr>6. Create TIS server space and collect TIS documents</vt:lpstr>
      <vt:lpstr>7. Get familiar with what IOD doing and how it relates to TIS</vt:lpstr>
      <vt:lpstr>New Business April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AIAA Updates for TCs at 2025 SciTech</dc:title>
  <dc:creator>Dr. Lesley A Weitz</dc:creator>
  <cp:keywords>Category=C1 : ExportControl=N : Markings=N</cp:keywords>
  <cp:lastModifiedBy>Smith (US), Thomas R</cp:lastModifiedBy>
  <cp:revision>44</cp:revision>
  <dcterms:created xsi:type="dcterms:W3CDTF">2024-08-12T01:03:15Z</dcterms:created>
  <dcterms:modified xsi:type="dcterms:W3CDTF">2026-04-29T16:24:43Z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182d89b7-24fe-4742-8cf6-4b4571a81c6b</vt:lpwstr>
  </property>
  <property fmtid="{D5CDD505-2E9C-101B-9397-08002B2CF9AE}" pid="3" name="Category">
    <vt:lpwstr>C1</vt:lpwstr>
  </property>
  <property fmtid="{D5CDD505-2E9C-101B-9397-08002B2CF9AE}" pid="4" name="ExportControl">
    <vt:lpwstr>N</vt:lpwstr>
  </property>
  <property fmtid="{D5CDD505-2E9C-101B-9397-08002B2CF9AE}" pid="5" name="Markings">
    <vt:lpwstr>N</vt:lpwstr>
  </property>
  <property fmtid="{D5CDD505-2E9C-101B-9397-08002B2CF9AE}" pid="6" name="MSIP_Label_a8646e0b-a435-48bd-bb2e-6a777753dede_Enabled">
    <vt:lpwstr>true</vt:lpwstr>
  </property>
  <property fmtid="{D5CDD505-2E9C-101B-9397-08002B2CF9AE}" pid="7" name="MSIP_Label_a8646e0b-a435-48bd-bb2e-6a777753dede_SetDate">
    <vt:lpwstr>2025-12-09T14:22:24Z</vt:lpwstr>
  </property>
  <property fmtid="{D5CDD505-2E9C-101B-9397-08002B2CF9AE}" pid="8" name="MSIP_Label_a8646e0b-a435-48bd-bb2e-6a777753dede_Method">
    <vt:lpwstr>Privileged</vt:lpwstr>
  </property>
  <property fmtid="{D5CDD505-2E9C-101B-9397-08002B2CF9AE}" pid="9" name="MSIP_Label_a8646e0b-a435-48bd-bb2e-6a777753dede_Name">
    <vt:lpwstr>Unrestricted</vt:lpwstr>
  </property>
  <property fmtid="{D5CDD505-2E9C-101B-9397-08002B2CF9AE}" pid="10" name="MSIP_Label_a8646e0b-a435-48bd-bb2e-6a777753dede_SiteId">
    <vt:lpwstr>ba488c5e-f105-4a2b-a8b1-b57b26a44117</vt:lpwstr>
  </property>
  <property fmtid="{D5CDD505-2E9C-101B-9397-08002B2CF9AE}" pid="11" name="MSIP_Label_a8646e0b-a435-48bd-bb2e-6a777753dede_ActionId">
    <vt:lpwstr>40480d25-0029-469a-87a8-f1c5d12f201e</vt:lpwstr>
  </property>
  <property fmtid="{D5CDD505-2E9C-101B-9397-08002B2CF9AE}" pid="12" name="MSIP_Label_a8646e0b-a435-48bd-bb2e-6a777753dede_ContentBits">
    <vt:lpwstr>0</vt:lpwstr>
  </property>
  <property fmtid="{D5CDD505-2E9C-101B-9397-08002B2CF9AE}" pid="13" name="MSIP_Label_a8646e0b-a435-48bd-bb2e-6a777753dede_Tag">
    <vt:lpwstr>10, 0, 1, 1</vt:lpwstr>
  </property>
</Properties>
</file>